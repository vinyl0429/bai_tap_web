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0"/>
  </p:notesMasterIdLst>
  <p:sldIdLst>
    <p:sldId id="256" r:id="rId2"/>
    <p:sldId id="274" r:id="rId3"/>
    <p:sldId id="268" r:id="rId4"/>
    <p:sldId id="278" r:id="rId5"/>
    <p:sldId id="286" r:id="rId6"/>
    <p:sldId id="285" r:id="rId7"/>
    <p:sldId id="284" r:id="rId8"/>
    <p:sldId id="287" r:id="rId9"/>
    <p:sldId id="288" r:id="rId10"/>
    <p:sldId id="291" r:id="rId11"/>
    <p:sldId id="292" r:id="rId12"/>
    <p:sldId id="293" r:id="rId13"/>
    <p:sldId id="294" r:id="rId14"/>
    <p:sldId id="290" r:id="rId15"/>
    <p:sldId id="279" r:id="rId16"/>
    <p:sldId id="289" r:id="rId17"/>
    <p:sldId id="295" r:id="rId18"/>
    <p:sldId id="296" r:id="rId19"/>
    <p:sldId id="297" r:id="rId20"/>
    <p:sldId id="280" r:id="rId21"/>
    <p:sldId id="298" r:id="rId22"/>
    <p:sldId id="299" r:id="rId23"/>
    <p:sldId id="281" r:id="rId24"/>
    <p:sldId id="309" r:id="rId25"/>
    <p:sldId id="300" r:id="rId26"/>
    <p:sldId id="301" r:id="rId27"/>
    <p:sldId id="302" r:id="rId28"/>
    <p:sldId id="303" r:id="rId29"/>
    <p:sldId id="304" r:id="rId30"/>
    <p:sldId id="305" r:id="rId31"/>
    <p:sldId id="307" r:id="rId32"/>
    <p:sldId id="306" r:id="rId33"/>
    <p:sldId id="308" r:id="rId34"/>
    <p:sldId id="283" r:id="rId35"/>
    <p:sldId id="310" r:id="rId36"/>
    <p:sldId id="312" r:id="rId37"/>
    <p:sldId id="313" r:id="rId38"/>
    <p:sldId id="314" r:id="rId39"/>
    <p:sldId id="315" r:id="rId40"/>
    <p:sldId id="316" r:id="rId41"/>
    <p:sldId id="317" r:id="rId42"/>
    <p:sldId id="318" r:id="rId43"/>
    <p:sldId id="319" r:id="rId44"/>
    <p:sldId id="320" r:id="rId45"/>
    <p:sldId id="321" r:id="rId46"/>
    <p:sldId id="322" r:id="rId47"/>
    <p:sldId id="277" r:id="rId48"/>
    <p:sldId id="263" r:id="rId49"/>
  </p:sldIdLst>
  <p:sldSz cx="12192000" cy="6858000"/>
  <p:notesSz cx="6858000" cy="9144000"/>
  <p:embeddedFontLst>
    <p:embeddedFont>
      <p:font typeface="Cambria" panose="02040503050406030204" pitchFamily="18" charset="0"/>
      <p:regular r:id="rId51"/>
      <p:bold r:id="rId52"/>
      <p:italic r:id="rId53"/>
      <p:boldItalic r:id="rId54"/>
    </p:embeddedFont>
    <p:embeddedFont>
      <p:font typeface="Consolas" panose="020B0609020204030204" pitchFamily="49" charset="0"/>
      <p:regular r:id="rId55"/>
      <p:bold r:id="rId56"/>
      <p:italic r:id="rId57"/>
      <p:boldItalic r:id="rId58"/>
    </p:embeddedFont>
    <p:embeddedFont>
      <p:font typeface="Georgia" panose="02040502050405020303" pitchFamily="18" charset="0"/>
      <p:regular r:id="rId59"/>
      <p:bold r:id="rId60"/>
      <p:italic r:id="rId61"/>
      <p:boldItalic r:id="rId62"/>
    </p:embeddedFont>
    <p:embeddedFont>
      <p:font typeface="Lato" panose="020F0502020204030203" pitchFamily="34" charset="0"/>
      <p:regular r:id="rId63"/>
      <p:bold r:id="rId64"/>
      <p:italic r:id="rId65"/>
      <p:boldItalic r:id="rId66"/>
    </p:embeddedFont>
    <p:embeddedFont>
      <p:font typeface="Lato Black" panose="020F0502020204030203" pitchFamily="34" charset="0"/>
      <p:bold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9" roundtripDataSignature="AMtx7mh4VrLQLvjXUsQeVJWWu9hsLYoG6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88" autoAdjust="0"/>
    <p:restoredTop sz="94660"/>
  </p:normalViewPr>
  <p:slideViewPr>
    <p:cSldViewPr snapToGrid="0">
      <p:cViewPr varScale="1">
        <p:scale>
          <a:sx n="111" d="100"/>
          <a:sy n="111" d="100"/>
        </p:scale>
        <p:origin x="754" y="86"/>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3.fntdata"/><Relationship Id="rId68" Type="http://schemas.openxmlformats.org/officeDocument/2006/relationships/font" Target="fonts/font18.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3.fntdata"/><Relationship Id="rId58" Type="http://schemas.openxmlformats.org/officeDocument/2006/relationships/font" Target="fonts/font8.fntdata"/><Relationship Id="rId66" Type="http://schemas.openxmlformats.org/officeDocument/2006/relationships/font" Target="fonts/font16.fntdata"/><Relationship Id="rId5" Type="http://schemas.openxmlformats.org/officeDocument/2006/relationships/slide" Target="slides/slide4.xml"/><Relationship Id="rId61" Type="http://schemas.openxmlformats.org/officeDocument/2006/relationships/font" Target="fonts/font1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6.fntdata"/><Relationship Id="rId64" Type="http://schemas.openxmlformats.org/officeDocument/2006/relationships/font" Target="fonts/font14.fntdata"/><Relationship Id="rId69" Type="http://customschemas.google.com/relationships/presentationmetadata" Target="metadata"/><Relationship Id="rId8" Type="http://schemas.openxmlformats.org/officeDocument/2006/relationships/slide" Target="slides/slide7.xml"/><Relationship Id="rId51" Type="http://schemas.openxmlformats.org/officeDocument/2006/relationships/font" Target="fonts/font1.fntdata"/><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9.fntdata"/><Relationship Id="rId67"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4.fntdata"/><Relationship Id="rId62" Type="http://schemas.openxmlformats.org/officeDocument/2006/relationships/font" Target="fonts/font12.fntdata"/><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7.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2.fntdata"/><Relationship Id="rId60" Type="http://schemas.openxmlformats.org/officeDocument/2006/relationships/font" Target="fonts/font10.fntdata"/><Relationship Id="rId65" Type="http://schemas.openxmlformats.org/officeDocument/2006/relationships/font" Target="fonts/font15.fntdata"/><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notesMaster" Target="notesMasters/notesMaster1.xml"/><Relationship Id="rId55" Type="http://schemas.openxmlformats.org/officeDocument/2006/relationships/font" Target="fonts/font5.fntdata"/><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5816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E712AE6-02EF-E035-64EF-97688342267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4A6402F-08D3-CB90-D4C4-49916D9366B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B5BEF22-1BAF-8120-4AF7-BC98A6079B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17838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9C739FD-36DB-05BF-98D9-1A5A14096A1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6FDE554-22E3-E959-3237-7815068A9E2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110E919-1700-713C-D732-3365B89502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230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DDEB02D-28DB-1DD9-5F65-CA8D8C5F659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61F9EC3-A9C9-FF11-203B-414075D1A30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EE8703E-8C0D-7F49-BAA1-B10D61340CC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3689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BB9263AD-EC4D-13DC-048C-C7401E0371F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78B96588-9FD4-002D-E7E2-32956B9D983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CCC2043-F9F8-D376-15F4-80E209BC1E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50011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64CE5FF-EEF1-DC50-E574-ECA6599254D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73D8741-A8C4-89A7-B28D-3A148358823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7EBD3BD0-3DC8-AE7D-BE1A-1764C74CFD9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64443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47E5D77-EBCC-3AD9-1BD3-1E604BDCDA90}"/>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1D22238-DB5F-3331-8BB7-94C17C5E323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27CD77C-1DC4-ED7B-8872-16B36767CF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9707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61E1F9A-90D1-0A68-36B4-9B66E3733C0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0B742D9-901A-7FB9-BD14-4DED68191F9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20856CD-A277-6B6C-51BB-CD18D1EED1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55679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6AD6302-5E86-7843-1902-A5924BC74BA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BFE1D42-C9E9-11F0-2BC9-C2ACB1921E3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F138F45-92ED-025B-C70C-8435F91CBF0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223335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B9CF9D5-DF0A-F038-80B7-2079D96BE58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5CD624D-21A9-053A-1DAF-82783C86486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5E96A19-22C2-EE5F-FFA0-BD007E93F6C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062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02FF31D-F228-FDD9-5A69-95C960B4E20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05B0A5F-264D-E1C3-DBB3-E96CF709EF0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56AE46E-1C6C-85A2-137E-926F008585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29850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1FF2B33-D8FE-A77B-A24F-C8666A66ABC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3C66B53-5427-2780-5698-1840972CC23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F0E9E3A-C767-F667-04D5-519E63B26EE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39629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AA5EDFA8-1640-21C3-7E87-5AB6A521409A}"/>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EDCD4B42-FF35-6B2B-DC73-DE157093273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E35E5F5-3623-7469-06F3-352386358B7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910306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6FC318B-D6D1-B517-F610-FA9288F05DC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DA04FC50-7ABB-7ED0-9B75-F4F8A3C4DD5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850B958-D93F-301E-9641-649FFBC045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5219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FBB5545-F29F-5644-FFB2-3AC8BB14DEA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C3EBF46-F4B9-028F-77FF-651434897D8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A46B254E-8C21-FF39-387F-D722AAAE6F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76439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942969E-0A60-5BF4-F4EC-101CC313B6C5}"/>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7E1A62F-F669-E1A6-2025-15611BB6FE2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5272FE8D-4A78-EA4A-1853-3BA14EFCBC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73899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EB63FDC-EB46-2FE4-FC8B-93083D32453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C0646944-4321-86F4-95EE-5DF82D160F6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1A293ED-2E3C-2A0A-6F1B-C5889838073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8671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2F780F3-B597-91BC-C08A-D69CB44BDCF7}"/>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E4E7369-3B3D-27D4-C999-5B2F2E30D00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100AF32-71F0-EB5C-55C1-221A6BA60F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49953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7D6320C-E04B-4183-9B65-908B28C68A1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C84B4E7-AB56-3E29-6622-ED93956C2A4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EAC7613-514C-4089-3BBB-747E626E29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27898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B9A12F8-0AD5-EE5A-4871-44A3BE823F6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7E83005-8036-F4F4-7E97-26FF9C2C927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295270C-C46F-383A-6147-B457DAF03A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84286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4E677BB-D138-C9A9-7114-7AAF190E527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12D5A09-5F2F-2FCD-E01A-A5AEF5001AF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978E6E2-2887-A2A5-549F-7C74EEDB41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81205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30853BE3-E15E-E6FA-4E14-05FB04E4B26C}"/>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E4D239C-4F16-2F4E-0FE0-19B0E041EBE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A3523B9-8FC7-E58F-C2C3-93B2521A8E2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15845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68A9C05-E6BD-5238-4078-29195BB43F9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146AA06-205D-BBA5-029A-F53843FCEE8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CE94DF9-CBC7-2C91-A559-4127B054B6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887670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C3D9426-6B75-F6E7-FC74-8A1C566A30D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1AD200CC-3E7E-A954-0BFC-63DA0EA2B8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C807F70-B77E-CC2F-9977-54FB4509E34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55652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6779A7E-E516-766F-DACE-9DF7F597DDC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D348AF7-3AE5-8422-CABE-45BB3DD1F53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21A9AA36-DB5A-A3F4-C332-58D54DC960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91010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05C188D-29B9-77F9-88C9-F20E916B40C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06B18173-21C4-CF8A-1E0D-18AC9F7752F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761BE62-1B06-1B91-4E6B-AE9CCD5BB6E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85595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C665665-EDE7-E066-7853-2F35F4F98F9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A4D12869-5289-DAC4-D194-AF7DF2E6450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DADCA8CE-36F4-FC8D-9700-C557BF1688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13293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AE58243-60C6-160E-3878-99010A17B98D}"/>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994BBF7-04F3-518C-E011-202EB3FC324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02C0A09-C33C-523E-7C68-788F13E861F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485086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0697798-C4B3-FA8B-05E7-25C5AB5A43E3}"/>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82B0485-EC10-84E3-76AE-CA4BC19B0DA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2111442-7304-37A6-9955-0E9DC1C00B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268849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540FB5B8-7E79-1F48-ACE4-34A1CB5EF33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2C42EE48-37C0-223F-3E77-D379336D689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F0A99B2E-EC96-6C00-3AD7-683292E8FBA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303388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68AB19C9-C985-EB1B-B9B0-55FB58134FD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C3D45E2-A6B9-7BD8-2FF3-24F29643B26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46BFF2FC-31D3-2C8A-A991-7E44541F646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895959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4BE4B3B-D689-EDA4-6EA6-8EFD0E74BC0F}"/>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F608A49-4E19-467F-B791-A1C53FD919F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E008DB8-A2A2-402F-7958-9CE4E9D18F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54410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D9679719-AB8C-07D7-452B-CEB979C1447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FFC9C48-F1F2-D95D-0053-EE58A3950C7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07F493D-9CF4-72C1-44A4-B02097D31D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147834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2067435-91A7-D4EF-34BF-E0CB07D3BA6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5412ABD1-D4C0-F626-5DF2-38B1C6955BE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2C6E5B5-641F-17B5-4470-184774E67F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942915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4B025BE2-2661-D478-2DF0-99C59B1FB8C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6D43F49-116E-A8D9-5001-94B4128296F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114FB1BE-50AE-5F94-7445-198EA2C4D1E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721992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2E361313-926E-5DDB-229A-335C83A5037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BFBA75E-9EFE-2CC8-6A82-A31B0B261D4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6E9E2879-A0F8-D72F-C941-E8D5BD418F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395417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1E5312D5-C7B8-A0C1-FD50-8D4EB347546E}"/>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95A896D8-A1F4-75B7-CF4E-8F8DA5E935B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7413646-7988-B74F-C438-8354BA9C205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613442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9AF155A7-F2D2-1EC5-D15D-E027A86BB03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5EE0045-C088-CA74-035E-E924161930F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047A6689-E719-5993-B315-C3897723D2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00445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7D0115AD-4C22-6C31-D201-5C1B600E268B}"/>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F924E5C8-6A6A-54E3-C7C0-D15249E7508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EE49C776-71EC-9D21-CDDF-E52056E085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39248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F9F8F6BA-7D8C-5722-12B2-F6377B4F8726}"/>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33BB32FC-CE90-EF58-66AC-7D99306FD90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8EBC046E-21E2-F5C3-CDF3-A9B1CF2F01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4011296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004516A4-E984-0B8E-2046-8862A93E4C44}"/>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80E32C7E-921F-E51C-5BD2-95A51D1667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072203A-293D-C30D-8D6F-ADD963154A8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18449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0BBDCA5-E757-43BD-674C-1A9CB923CBC8}"/>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B696509A-BFE1-2477-73EA-47B3946F231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923DEC92-1D8F-1FAB-6EC7-3394A9B796B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63231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8A1BD241-FAA1-777F-7237-701BD28E9FC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475D4739-14AE-EFBE-3237-595272F075A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39FDBCAA-3BEF-D00C-FC0D-CA2A390B3D5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455172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a:extLst>
            <a:ext uri="{FF2B5EF4-FFF2-40B4-BE49-F238E27FC236}">
              <a16:creationId xmlns:a16="http://schemas.microsoft.com/office/drawing/2014/main" id="{E708992E-14DD-54CD-3D80-2F6F9A32C242}"/>
            </a:ext>
          </a:extLst>
        </p:cNvPr>
        <p:cNvGrpSpPr/>
        <p:nvPr/>
      </p:nvGrpSpPr>
      <p:grpSpPr>
        <a:xfrm>
          <a:off x="0" y="0"/>
          <a:ext cx="0" cy="0"/>
          <a:chOff x="0" y="0"/>
          <a:chExt cx="0" cy="0"/>
        </a:xfrm>
      </p:grpSpPr>
      <p:sp>
        <p:nvSpPr>
          <p:cNvPr id="102" name="Google Shape;102;p3:notes">
            <a:extLst>
              <a:ext uri="{FF2B5EF4-FFF2-40B4-BE49-F238E27FC236}">
                <a16:creationId xmlns:a16="http://schemas.microsoft.com/office/drawing/2014/main" id="{6BFF88BC-A82F-02ED-ACF7-76A4E0AB3C4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a:extLst>
              <a:ext uri="{FF2B5EF4-FFF2-40B4-BE49-F238E27FC236}">
                <a16:creationId xmlns:a16="http://schemas.microsoft.com/office/drawing/2014/main" id="{B7DCF0B9-03BD-F549-94AD-29A0CCF8A1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23910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5401545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Blank">
  <p:cSld name="2_Blank">
    <p:spTree>
      <p:nvGrpSpPr>
        <p:cNvPr id="1" name="Shape 15"/>
        <p:cNvGrpSpPr/>
        <p:nvPr/>
      </p:nvGrpSpPr>
      <p:grpSpPr>
        <a:xfrm>
          <a:off x="0" y="0"/>
          <a:ext cx="0" cy="0"/>
          <a:chOff x="0" y="0"/>
          <a:chExt cx="0" cy="0"/>
        </a:xfrm>
      </p:grpSpPr>
      <p:pic>
        <p:nvPicPr>
          <p:cNvPr id="17" name="Google Shape;17;p10"/>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18" name="Google Shape;18;p10"/>
          <p:cNvSpPr txBox="1">
            <a:spLocks noGrp="1"/>
          </p:cNvSpPr>
          <p:nvPr>
            <p:ph type="title"/>
          </p:nvPr>
        </p:nvSpPr>
        <p:spPr>
          <a:xfrm>
            <a:off x="1595351" y="2187196"/>
            <a:ext cx="9001297" cy="778583"/>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4400"/>
              <a:buFont typeface="Lato Black"/>
              <a:buNone/>
              <a:defRPr sz="44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0" name="Google Shape;20;p10"/>
          <p:cNvSpPr txBox="1"/>
          <p:nvPr/>
        </p:nvSpPr>
        <p:spPr>
          <a:xfrm>
            <a:off x="1795462" y="1047420"/>
            <a:ext cx="9144000" cy="778583"/>
          </a:xfrm>
          <a:prstGeom prst="rect">
            <a:avLst/>
          </a:prstGeom>
          <a:noFill/>
          <a:ln>
            <a:noFill/>
          </a:ln>
        </p:spPr>
        <p:txBody>
          <a:bodyPr spcFirstLastPara="1" wrap="square" lIns="91425" tIns="45700" rIns="91425" bIns="45700" anchor="b"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2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sz="2200" dirty="0">
              <a:latin typeface="Cambria" panose="02040503050406030204" pitchFamily="18" charset="0"/>
              <a:ea typeface="Cambria" panose="02040503050406030204" pitchFamily="18" charset="0"/>
            </a:endParaRPr>
          </a:p>
        </p:txBody>
      </p:sp>
      <p:pic>
        <p:nvPicPr>
          <p:cNvPr id="9" name="Picture 8" descr="A black background with orange and blue letters&#10;&#10;AI-generated content may be incorrect.">
            <a:extLst>
              <a:ext uri="{FF2B5EF4-FFF2-40B4-BE49-F238E27FC236}">
                <a16:creationId xmlns:a16="http://schemas.microsoft.com/office/drawing/2014/main" id="{50547913-6722-D6E7-E44D-4E515D7A8FF4}"/>
              </a:ext>
            </a:extLst>
          </p:cNvPr>
          <p:cNvPicPr>
            <a:picLocks noChangeAspect="1"/>
          </p:cNvPicPr>
          <p:nvPr userDrawn="1"/>
        </p:nvPicPr>
        <p:blipFill>
          <a:blip r:embed="rId3"/>
          <a:stretch>
            <a:fillRect/>
          </a:stretch>
        </p:blipFill>
        <p:spPr>
          <a:xfrm>
            <a:off x="4810125" y="157529"/>
            <a:ext cx="3114675" cy="837297"/>
          </a:xfrm>
          <a:prstGeom prst="rect">
            <a:avLst/>
          </a:prstGeom>
        </p:spPr>
      </p:pic>
      <p:pic>
        <p:nvPicPr>
          <p:cNvPr id="3" name="Picture 2" descr="A building with trees in the background&#10;&#10;AI-generated content may be incorrect.">
            <a:extLst>
              <a:ext uri="{FF2B5EF4-FFF2-40B4-BE49-F238E27FC236}">
                <a16:creationId xmlns:a16="http://schemas.microsoft.com/office/drawing/2014/main" id="{6DB4ADA3-8D58-FD0D-1C18-5213711602FE}"/>
              </a:ext>
            </a:extLst>
          </p:cNvPr>
          <p:cNvPicPr>
            <a:picLocks noChangeAspect="1"/>
          </p:cNvPicPr>
          <p:nvPr userDrawn="1"/>
        </p:nvPicPr>
        <p:blipFill>
          <a:blip r:embed="rId4"/>
          <a:stretch>
            <a:fillRect/>
          </a:stretch>
        </p:blipFill>
        <p:spPr>
          <a:xfrm>
            <a:off x="0" y="3378635"/>
            <a:ext cx="8673016" cy="347936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0"/>
        <p:cNvGrpSpPr/>
        <p:nvPr/>
      </p:nvGrpSpPr>
      <p:grpSpPr>
        <a:xfrm>
          <a:off x="0" y="0"/>
          <a:ext cx="0" cy="0"/>
          <a:chOff x="0" y="0"/>
          <a:chExt cx="0" cy="0"/>
        </a:xfrm>
      </p:grpSpPr>
      <p:sp>
        <p:nvSpPr>
          <p:cNvPr id="31" name="Google Shape;31;p12"/>
          <p:cNvSpPr txBox="1">
            <a:spLocks noGrp="1"/>
          </p:cNvSpPr>
          <p:nvPr>
            <p:ph type="title"/>
          </p:nvPr>
        </p:nvSpPr>
        <p:spPr>
          <a:xfrm>
            <a:off x="839788" y="659342"/>
            <a:ext cx="3932237" cy="107025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12"/>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33" name="Google Shape;33;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34" name="Google Shape;34;p12"/>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35" name="Google Shape;35;p12"/>
          <p:cNvPicPr preferRelativeResize="0"/>
          <p:nvPr/>
        </p:nvPicPr>
        <p:blipFill rotWithShape="1">
          <a:blip r:embed="rId3">
            <a:alphaModFix/>
          </a:blip>
          <a:srcRect l="15000" t="43307" r="32291" b="37052"/>
          <a:stretch/>
        </p:blipFill>
        <p:spPr>
          <a:xfrm>
            <a:off x="211666" y="6201820"/>
            <a:ext cx="3590248" cy="656180"/>
          </a:xfrm>
          <a:prstGeom prst="rect">
            <a:avLst/>
          </a:prstGeom>
          <a:noFill/>
          <a:ln>
            <a:noFill/>
          </a:ln>
        </p:spPr>
      </p:pic>
      <p:sp>
        <p:nvSpPr>
          <p:cNvPr id="36" name="Google Shape;36;p12"/>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2"/>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70"/>
        <p:cNvGrpSpPr/>
        <p:nvPr/>
      </p:nvGrpSpPr>
      <p:grpSpPr>
        <a:xfrm>
          <a:off x="0" y="0"/>
          <a:ext cx="0" cy="0"/>
          <a:chOff x="0" y="0"/>
          <a:chExt cx="0" cy="0"/>
        </a:xfrm>
      </p:grpSpPr>
      <p:pic>
        <p:nvPicPr>
          <p:cNvPr id="71" name="Google Shape;71;p17"/>
          <p:cNvPicPr preferRelativeResize="0"/>
          <p:nvPr/>
        </p:nvPicPr>
        <p:blipFill rotWithShape="1">
          <a:blip r:embed="rId2">
            <a:alphaModFix/>
          </a:blip>
          <a:srcRect r="-3333" b="87407"/>
          <a:stretch/>
        </p:blipFill>
        <p:spPr>
          <a:xfrm>
            <a:off x="0" y="0"/>
            <a:ext cx="12598400" cy="431800"/>
          </a:xfrm>
          <a:prstGeom prst="rect">
            <a:avLst/>
          </a:prstGeom>
          <a:noFill/>
          <a:ln>
            <a:noFill/>
          </a:ln>
        </p:spPr>
      </p:pic>
      <p:sp>
        <p:nvSpPr>
          <p:cNvPr id="73" name="Google Shape;73;p17"/>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rgbClr val="144E8C"/>
              </a:buClr>
              <a:buSzPts val="9600"/>
              <a:buFont typeface="Lato Black"/>
              <a:buNone/>
              <a:defRPr sz="9600">
                <a:latin typeface="Lato Black"/>
                <a:ea typeface="Lato Black"/>
                <a:cs typeface="Lato Black"/>
                <a:sym typeface="Lato Black"/>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p:nvPr/>
        </p:nvSpPr>
        <p:spPr>
          <a:xfrm>
            <a:off x="2805445" y="1276338"/>
            <a:ext cx="6410498" cy="688410"/>
          </a:xfrm>
          <a:prstGeom prst="rect">
            <a:avLst/>
          </a:prstGeom>
          <a:noFill/>
          <a:ln>
            <a:noFill/>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144E8C"/>
              </a:buClr>
              <a:buSzPts val="2000"/>
              <a:buFont typeface="Lato Black"/>
              <a:buNone/>
            </a:pP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ĐẠI HỌC QUỐC GIA THÀNH PHỐ HỒ CHÍ MINH</a:t>
            </a:r>
            <a:b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br>
            <a:r>
              <a:rPr lang="en-US" sz="2000" b="1" i="0" u="none" strike="noStrike" cap="none" dirty="0">
                <a:solidFill>
                  <a:srgbClr val="144E8C"/>
                </a:solidFill>
                <a:latin typeface="Cambria" panose="02040503050406030204" pitchFamily="18" charset="0"/>
                <a:ea typeface="Cambria" panose="02040503050406030204" pitchFamily="18" charset="0"/>
                <a:cs typeface="Lato Black"/>
                <a:sym typeface="Lato Black"/>
              </a:rPr>
              <a:t>TRƯỜNG ĐẠI HỌC KINH TẾ - LUẬT</a:t>
            </a:r>
            <a:endParaRPr dirty="0">
              <a:latin typeface="Cambria" panose="02040503050406030204" pitchFamily="18" charset="0"/>
              <a:ea typeface="Cambria" panose="02040503050406030204" pitchFamily="18" charset="0"/>
            </a:endParaRPr>
          </a:p>
        </p:txBody>
      </p:sp>
      <p:pic>
        <p:nvPicPr>
          <p:cNvPr id="2" name="Picture 1" descr="A black background with orange and blue letters&#10;&#10;AI-generated content may be incorrect.">
            <a:extLst>
              <a:ext uri="{FF2B5EF4-FFF2-40B4-BE49-F238E27FC236}">
                <a16:creationId xmlns:a16="http://schemas.microsoft.com/office/drawing/2014/main" id="{ED53AD9A-C69E-70AE-0C10-4BD9BD469474}"/>
              </a:ext>
            </a:extLst>
          </p:cNvPr>
          <p:cNvPicPr>
            <a:picLocks noChangeAspect="1"/>
          </p:cNvPicPr>
          <p:nvPr userDrawn="1"/>
        </p:nvPicPr>
        <p:blipFill>
          <a:blip r:embed="rId3"/>
          <a:stretch>
            <a:fillRect/>
          </a:stretch>
        </p:blipFill>
        <p:spPr>
          <a:xfrm>
            <a:off x="4810125" y="282112"/>
            <a:ext cx="3114675" cy="837297"/>
          </a:xfrm>
          <a:prstGeom prst="rect">
            <a:avLst/>
          </a:prstGeom>
        </p:spPr>
      </p:pic>
      <p:pic>
        <p:nvPicPr>
          <p:cNvPr id="4" name="Picture 3" descr="A building with many windows&#10;&#10;AI-generated content may be incorrect.">
            <a:extLst>
              <a:ext uri="{FF2B5EF4-FFF2-40B4-BE49-F238E27FC236}">
                <a16:creationId xmlns:a16="http://schemas.microsoft.com/office/drawing/2014/main" id="{EC1E6BDF-4BEB-2008-DF3B-361BBA44A129}"/>
              </a:ext>
            </a:extLst>
          </p:cNvPr>
          <p:cNvPicPr>
            <a:picLocks noChangeAspect="1"/>
          </p:cNvPicPr>
          <p:nvPr userDrawn="1"/>
        </p:nvPicPr>
        <p:blipFill>
          <a:blip r:embed="rId4"/>
          <a:stretch>
            <a:fillRect/>
          </a:stretch>
        </p:blipFill>
        <p:spPr>
          <a:xfrm>
            <a:off x="175386" y="4743155"/>
            <a:ext cx="11841227" cy="211484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6"/>
        <p:cNvGrpSpPr/>
        <p:nvPr/>
      </p:nvGrpSpPr>
      <p:grpSpPr>
        <a:xfrm>
          <a:off x="0" y="0"/>
          <a:ext cx="0" cy="0"/>
          <a:chOff x="0" y="0"/>
          <a:chExt cx="0" cy="0"/>
        </a:xfrm>
      </p:grpSpPr>
      <p:sp>
        <p:nvSpPr>
          <p:cNvPr id="77" name="Google Shape;77;p18"/>
          <p:cNvSpPr txBox="1">
            <a:spLocks noGrp="1"/>
          </p:cNvSpPr>
          <p:nvPr>
            <p:ph type="title"/>
          </p:nvPr>
        </p:nvSpPr>
        <p:spPr>
          <a:xfrm>
            <a:off x="839788" y="577547"/>
            <a:ext cx="3932237" cy="129225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rgbClr val="144E8C"/>
              </a:buClr>
              <a:buSzPts val="3200"/>
              <a:buFont typeface="Lato Black"/>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8"/>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79" name="Google Shape;79;p18"/>
          <p:cNvSpPr txBox="1">
            <a:spLocks noGrp="1"/>
          </p:cNvSpPr>
          <p:nvPr>
            <p:ph type="body" idx="2"/>
          </p:nvPr>
        </p:nvSpPr>
        <p:spPr>
          <a:xfrm>
            <a:off x="839788" y="2201630"/>
            <a:ext cx="3932237" cy="366735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pic>
        <p:nvPicPr>
          <p:cNvPr id="80" name="Google Shape;80;p18"/>
          <p:cNvPicPr preferRelativeResize="0"/>
          <p:nvPr/>
        </p:nvPicPr>
        <p:blipFill rotWithShape="1">
          <a:blip r:embed="rId2">
            <a:alphaModFix/>
          </a:blip>
          <a:srcRect r="-3333" b="87407"/>
          <a:stretch/>
        </p:blipFill>
        <p:spPr>
          <a:xfrm flipH="1">
            <a:off x="-406400" y="-1"/>
            <a:ext cx="12598400" cy="431800"/>
          </a:xfrm>
          <a:prstGeom prst="rect">
            <a:avLst/>
          </a:prstGeom>
          <a:noFill/>
          <a:ln>
            <a:noFill/>
          </a:ln>
        </p:spPr>
      </p:pic>
      <p:pic>
        <p:nvPicPr>
          <p:cNvPr id="81" name="Google Shape;81;p18"/>
          <p:cNvPicPr preferRelativeResize="0"/>
          <p:nvPr/>
        </p:nvPicPr>
        <p:blipFill rotWithShape="1">
          <a:blip r:embed="rId3">
            <a:alphaModFix/>
          </a:blip>
          <a:srcRect l="24127" t="66898" r="25919" b="25925"/>
          <a:stretch/>
        </p:blipFill>
        <p:spPr>
          <a:xfrm>
            <a:off x="810734" y="1911095"/>
            <a:ext cx="2855494" cy="115369"/>
          </a:xfrm>
          <a:prstGeom prst="rect">
            <a:avLst/>
          </a:prstGeom>
          <a:noFill/>
          <a:ln>
            <a:noFill/>
          </a:ln>
        </p:spPr>
      </p:pic>
      <p:pic>
        <p:nvPicPr>
          <p:cNvPr id="82" name="Google Shape;82;p18"/>
          <p:cNvPicPr preferRelativeResize="0"/>
          <p:nvPr/>
        </p:nvPicPr>
        <p:blipFill rotWithShape="1">
          <a:blip r:embed="rId4">
            <a:alphaModFix/>
          </a:blip>
          <a:srcRect l="15000" t="43307" r="32291" b="37052"/>
          <a:stretch/>
        </p:blipFill>
        <p:spPr>
          <a:xfrm>
            <a:off x="211666" y="6160255"/>
            <a:ext cx="3590248" cy="656180"/>
          </a:xfrm>
          <a:prstGeom prst="rect">
            <a:avLst/>
          </a:prstGeom>
          <a:noFill/>
          <a:ln>
            <a:noFill/>
          </a:ln>
        </p:spPr>
      </p:pic>
      <p:sp>
        <p:nvSpPr>
          <p:cNvPr id="83" name="Google Shape;83;p18"/>
          <p:cNvSpPr txBox="1">
            <a:spLocks noGrp="1"/>
          </p:cNvSpPr>
          <p:nvPr>
            <p:ph type="ftr" idx="11"/>
          </p:nvPr>
        </p:nvSpPr>
        <p:spPr>
          <a:xfrm>
            <a:off x="728132" y="6387798"/>
            <a:ext cx="2370667" cy="261408"/>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b="1" i="1">
                <a:solidFill>
                  <a:schemeClr val="lt2"/>
                </a:solidFill>
                <a:latin typeface="Lato"/>
                <a:ea typeface="Lato"/>
                <a:cs typeface="Lato"/>
                <a:sym typeface="Lato"/>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3098799" y="6335940"/>
            <a:ext cx="397933"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1" i="0" u="none" strike="noStrike" cap="none">
                <a:solidFill>
                  <a:schemeClr val="lt1"/>
                </a:solidFill>
                <a:latin typeface="Lato"/>
                <a:ea typeface="Lato"/>
                <a:cs typeface="Lato"/>
                <a:sym typeface="Lato"/>
              </a:defRPr>
            </a:lvl1pPr>
            <a:lvl2pPr marL="0" lvl="1" indent="0" algn="r">
              <a:spcBef>
                <a:spcPts val="0"/>
              </a:spcBef>
              <a:buNone/>
              <a:defRPr sz="1200" b="1" i="0" u="none" strike="noStrike" cap="none">
                <a:solidFill>
                  <a:schemeClr val="lt1"/>
                </a:solidFill>
                <a:latin typeface="Lato"/>
                <a:ea typeface="Lato"/>
                <a:cs typeface="Lato"/>
                <a:sym typeface="Lato"/>
              </a:defRPr>
            </a:lvl2pPr>
            <a:lvl3pPr marL="0" lvl="2" indent="0" algn="r">
              <a:spcBef>
                <a:spcPts val="0"/>
              </a:spcBef>
              <a:buNone/>
              <a:defRPr sz="1200" b="1" i="0" u="none" strike="noStrike" cap="none">
                <a:solidFill>
                  <a:schemeClr val="lt1"/>
                </a:solidFill>
                <a:latin typeface="Lato"/>
                <a:ea typeface="Lato"/>
                <a:cs typeface="Lato"/>
                <a:sym typeface="Lato"/>
              </a:defRPr>
            </a:lvl3pPr>
            <a:lvl4pPr marL="0" lvl="3" indent="0" algn="r">
              <a:spcBef>
                <a:spcPts val="0"/>
              </a:spcBef>
              <a:buNone/>
              <a:defRPr sz="1200" b="1" i="0" u="none" strike="noStrike" cap="none">
                <a:solidFill>
                  <a:schemeClr val="lt1"/>
                </a:solidFill>
                <a:latin typeface="Lato"/>
                <a:ea typeface="Lato"/>
                <a:cs typeface="Lato"/>
                <a:sym typeface="Lato"/>
              </a:defRPr>
            </a:lvl4pPr>
            <a:lvl5pPr marL="0" lvl="4" indent="0" algn="r">
              <a:spcBef>
                <a:spcPts val="0"/>
              </a:spcBef>
              <a:buNone/>
              <a:defRPr sz="1200" b="1" i="0" u="none" strike="noStrike" cap="none">
                <a:solidFill>
                  <a:schemeClr val="lt1"/>
                </a:solidFill>
                <a:latin typeface="Lato"/>
                <a:ea typeface="Lato"/>
                <a:cs typeface="Lato"/>
                <a:sym typeface="Lato"/>
              </a:defRPr>
            </a:lvl5pPr>
            <a:lvl6pPr marL="0" lvl="5" indent="0" algn="r">
              <a:spcBef>
                <a:spcPts val="0"/>
              </a:spcBef>
              <a:buNone/>
              <a:defRPr sz="1200" b="1" i="0" u="none" strike="noStrike" cap="none">
                <a:solidFill>
                  <a:schemeClr val="lt1"/>
                </a:solidFill>
                <a:latin typeface="Lato"/>
                <a:ea typeface="Lato"/>
                <a:cs typeface="Lato"/>
                <a:sym typeface="Lato"/>
              </a:defRPr>
            </a:lvl6pPr>
            <a:lvl7pPr marL="0" lvl="6" indent="0" algn="r">
              <a:spcBef>
                <a:spcPts val="0"/>
              </a:spcBef>
              <a:buNone/>
              <a:defRPr sz="1200" b="1" i="0" u="none" strike="noStrike" cap="none">
                <a:solidFill>
                  <a:schemeClr val="lt1"/>
                </a:solidFill>
                <a:latin typeface="Lato"/>
                <a:ea typeface="Lato"/>
                <a:cs typeface="Lato"/>
                <a:sym typeface="Lato"/>
              </a:defRPr>
            </a:lvl7pPr>
            <a:lvl8pPr marL="0" lvl="7" indent="0" algn="r">
              <a:spcBef>
                <a:spcPts val="0"/>
              </a:spcBef>
              <a:buNone/>
              <a:defRPr sz="1200" b="1" i="0" u="none" strike="noStrike" cap="none">
                <a:solidFill>
                  <a:schemeClr val="lt1"/>
                </a:solidFill>
                <a:latin typeface="Lato"/>
                <a:ea typeface="Lato"/>
                <a:cs typeface="Lato"/>
                <a:sym typeface="Lato"/>
              </a:defRPr>
            </a:lvl8pPr>
            <a:lvl9pPr marL="0" lvl="8" indent="0" algn="r">
              <a:spcBef>
                <a:spcPts val="0"/>
              </a:spcBef>
              <a:buNone/>
              <a:defRPr sz="1200" b="1" i="0" u="none" strike="noStrike" cap="none">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1_Blank" type="blank">
  <p:cSld name="BLANK">
    <p:spTree>
      <p:nvGrpSpPr>
        <p:cNvPr id="1" name="Shape 85"/>
        <p:cNvGrpSpPr/>
        <p:nvPr/>
      </p:nvGrpSpPr>
      <p:grpSpPr>
        <a:xfrm>
          <a:off x="0" y="0"/>
          <a:ext cx="0" cy="0"/>
          <a:chOff x="0" y="0"/>
          <a:chExt cx="0" cy="0"/>
        </a:xfrm>
      </p:grpSpPr>
      <p:sp>
        <p:nvSpPr>
          <p:cNvPr id="86" name="Google Shape;86;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1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144E8C"/>
              </a:buClr>
              <a:buSzPts val="4400"/>
              <a:buFont typeface="Lato Black"/>
              <a:buNone/>
              <a:defRPr sz="4400" b="1" i="0" u="none" strike="noStrike" cap="none">
                <a:solidFill>
                  <a:srgbClr val="144E8C"/>
                </a:solidFill>
                <a:latin typeface="Lato Black"/>
                <a:ea typeface="Lato Black"/>
                <a:cs typeface="Lato Black"/>
                <a:sym typeface="Lato Black"/>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1" i="0" u="none" strike="noStrike" cap="none">
                <a:solidFill>
                  <a:schemeClr val="dk1"/>
                </a:solidFill>
                <a:latin typeface="Lato"/>
                <a:ea typeface="Lato"/>
                <a:cs typeface="Lato"/>
                <a:sym typeface="Lato"/>
              </a:defRPr>
            </a:lvl1pPr>
            <a:lvl2pPr marL="914400" marR="0" lvl="1" indent="-381000" algn="l" rtl="0">
              <a:lnSpc>
                <a:spcPct val="90000"/>
              </a:lnSpc>
              <a:spcBef>
                <a:spcPts val="500"/>
              </a:spcBef>
              <a:spcAft>
                <a:spcPts val="0"/>
              </a:spcAft>
              <a:buClr>
                <a:schemeClr val="dk1"/>
              </a:buClr>
              <a:buSzPts val="2400"/>
              <a:buFont typeface="Arial"/>
              <a:buChar char="•"/>
              <a:defRPr sz="2400" b="1" i="0" u="none" strike="noStrike" cap="none">
                <a:solidFill>
                  <a:schemeClr val="dk1"/>
                </a:solidFill>
                <a:latin typeface="Lato"/>
                <a:ea typeface="Lato"/>
                <a:cs typeface="Lato"/>
                <a:sym typeface="Lato"/>
              </a:defRPr>
            </a:lvl2pPr>
            <a:lvl3pPr marL="1371600" marR="0" lvl="2" indent="-355600" algn="l" rtl="0">
              <a:lnSpc>
                <a:spcPct val="90000"/>
              </a:lnSpc>
              <a:spcBef>
                <a:spcPts val="500"/>
              </a:spcBef>
              <a:spcAft>
                <a:spcPts val="0"/>
              </a:spcAft>
              <a:buClr>
                <a:schemeClr val="dk1"/>
              </a:buClr>
              <a:buSzPts val="2000"/>
              <a:buFont typeface="Arial"/>
              <a:buChar char="•"/>
              <a:defRPr sz="2000" b="1" i="0" u="none" strike="noStrike" cap="none">
                <a:solidFill>
                  <a:schemeClr val="dk1"/>
                </a:solidFill>
                <a:latin typeface="Lato"/>
                <a:ea typeface="Lato"/>
                <a:cs typeface="Lato"/>
                <a:sym typeface="Lato"/>
              </a:defRPr>
            </a:lvl3pPr>
            <a:lvl4pPr marL="1828800" marR="0" lvl="3"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4pPr>
            <a:lvl5pPr marL="2286000" marR="0" lvl="4" indent="-342900" algn="l" rtl="0">
              <a:lnSpc>
                <a:spcPct val="90000"/>
              </a:lnSpc>
              <a:spcBef>
                <a:spcPts val="500"/>
              </a:spcBef>
              <a:spcAft>
                <a:spcPts val="0"/>
              </a:spcAft>
              <a:buClr>
                <a:schemeClr val="dk1"/>
              </a:buClr>
              <a:buSzPts val="1800"/>
              <a:buFont typeface="Arial"/>
              <a:buChar char="•"/>
              <a:defRPr sz="1800" b="1" i="0" u="none" strike="noStrike" cap="none">
                <a:solidFill>
                  <a:schemeClr val="dk1"/>
                </a:solidFill>
                <a:latin typeface="Lato"/>
                <a:ea typeface="Lato"/>
                <a:cs typeface="Lato"/>
                <a:sym typeface="Lato"/>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
          <p:cNvSpPr txBox="1">
            <a:spLocks noGrp="1"/>
          </p:cNvSpPr>
          <p:nvPr>
            <p:ph type="ftr" idx="11"/>
          </p:nvPr>
        </p:nvSpPr>
        <p:spPr>
          <a:xfrm>
            <a:off x="3581400" y="6356350"/>
            <a:ext cx="50292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Lato"/>
                <a:ea typeface="Lato"/>
                <a:cs typeface="Lato"/>
                <a:sym typeface="Lato"/>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6" r:id="rId3"/>
    <p:sldLayoutId id="2147483657" r:id="rId4"/>
    <p:sldLayoutId id="2147483658"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thanhtd@uel.edu.vn"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tranduythanh.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image" Target="../media/image43.png"/></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4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4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6" name="Title 1">
            <a:extLst>
              <a:ext uri="{FF2B5EF4-FFF2-40B4-BE49-F238E27FC236}">
                <a16:creationId xmlns:a16="http://schemas.microsoft.com/office/drawing/2014/main" id="{7F9BAC58-9AA6-A91A-085E-F1421DCCF43A}"/>
              </a:ext>
            </a:extLst>
          </p:cNvPr>
          <p:cNvSpPr txBox="1">
            <a:spLocks/>
          </p:cNvSpPr>
          <p:nvPr/>
        </p:nvSpPr>
        <p:spPr bwMode="auto">
          <a:xfrm>
            <a:off x="2003449" y="2025748"/>
            <a:ext cx="8763000" cy="151298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ctr" rtl="0" eaLnBrk="1" fontAlgn="base" hangingPunct="1">
              <a:spcBef>
                <a:spcPct val="0"/>
              </a:spcBef>
              <a:spcAft>
                <a:spcPct val="0"/>
              </a:spcAft>
              <a:defRPr sz="4800" b="1">
                <a:solidFill>
                  <a:schemeClr val="bg2"/>
                </a:solidFill>
                <a:latin typeface="+mj-lt"/>
                <a:ea typeface="+mj-ea"/>
                <a:cs typeface="+mj-cs"/>
              </a:defRPr>
            </a:lvl1pPr>
            <a:lvl2pPr algn="ctr" rtl="0" eaLnBrk="1" fontAlgn="base" hangingPunct="1">
              <a:spcBef>
                <a:spcPct val="0"/>
              </a:spcBef>
              <a:spcAft>
                <a:spcPct val="0"/>
              </a:spcAft>
              <a:defRPr sz="3600" b="1">
                <a:solidFill>
                  <a:schemeClr val="bg1"/>
                </a:solidFill>
                <a:latin typeface="Arial" charset="0"/>
              </a:defRPr>
            </a:lvl2pPr>
            <a:lvl3pPr algn="ctr" rtl="0" eaLnBrk="1" fontAlgn="base" hangingPunct="1">
              <a:spcBef>
                <a:spcPct val="0"/>
              </a:spcBef>
              <a:spcAft>
                <a:spcPct val="0"/>
              </a:spcAft>
              <a:defRPr sz="3600" b="1">
                <a:solidFill>
                  <a:schemeClr val="bg1"/>
                </a:solidFill>
                <a:latin typeface="Arial" charset="0"/>
              </a:defRPr>
            </a:lvl3pPr>
            <a:lvl4pPr algn="ctr" rtl="0" eaLnBrk="1" fontAlgn="base" hangingPunct="1">
              <a:spcBef>
                <a:spcPct val="0"/>
              </a:spcBef>
              <a:spcAft>
                <a:spcPct val="0"/>
              </a:spcAft>
              <a:defRPr sz="3600" b="1">
                <a:solidFill>
                  <a:schemeClr val="bg1"/>
                </a:solidFill>
                <a:latin typeface="Arial" charset="0"/>
              </a:defRPr>
            </a:lvl4pPr>
            <a:lvl5pPr algn="ctr" rtl="0" eaLnBrk="1" fontAlgn="base" hangingPunct="1">
              <a:spcBef>
                <a:spcPct val="0"/>
              </a:spcBef>
              <a:spcAft>
                <a:spcPct val="0"/>
              </a:spcAft>
              <a:defRPr sz="3600" b="1">
                <a:solidFill>
                  <a:schemeClr val="bg1"/>
                </a:solidFill>
                <a:latin typeface="Arial" charset="0"/>
              </a:defRPr>
            </a:lvl5pPr>
            <a:lvl6pPr marL="457200" algn="ctr" rtl="0" eaLnBrk="1" fontAlgn="base" hangingPunct="1">
              <a:spcBef>
                <a:spcPct val="0"/>
              </a:spcBef>
              <a:spcAft>
                <a:spcPct val="0"/>
              </a:spcAft>
              <a:defRPr sz="3600" b="1">
                <a:solidFill>
                  <a:schemeClr val="bg1"/>
                </a:solidFill>
                <a:latin typeface="Arial" charset="0"/>
              </a:defRPr>
            </a:lvl6pPr>
            <a:lvl7pPr marL="914400" algn="ctr" rtl="0" eaLnBrk="1" fontAlgn="base" hangingPunct="1">
              <a:spcBef>
                <a:spcPct val="0"/>
              </a:spcBef>
              <a:spcAft>
                <a:spcPct val="0"/>
              </a:spcAft>
              <a:defRPr sz="3600" b="1">
                <a:solidFill>
                  <a:schemeClr val="bg1"/>
                </a:solidFill>
                <a:latin typeface="Arial" charset="0"/>
              </a:defRPr>
            </a:lvl7pPr>
            <a:lvl8pPr marL="1371600" algn="ctr" rtl="0" eaLnBrk="1" fontAlgn="base" hangingPunct="1">
              <a:spcBef>
                <a:spcPct val="0"/>
              </a:spcBef>
              <a:spcAft>
                <a:spcPct val="0"/>
              </a:spcAft>
              <a:defRPr sz="3600" b="1">
                <a:solidFill>
                  <a:schemeClr val="bg1"/>
                </a:solidFill>
                <a:latin typeface="Arial" charset="0"/>
              </a:defRPr>
            </a:lvl8pPr>
            <a:lvl9pPr marL="1828800" algn="ctr" rtl="0" eaLnBrk="1" fontAlgn="base" hangingPunct="1">
              <a:spcBef>
                <a:spcPct val="0"/>
              </a:spcBef>
              <a:spcAft>
                <a:spcPct val="0"/>
              </a:spcAft>
              <a:defRPr sz="3600" b="1">
                <a:solidFill>
                  <a:schemeClr val="bg1"/>
                </a:solidFill>
                <a:latin typeface="Arial" charset="0"/>
              </a:defRPr>
            </a:lvl9pPr>
          </a:lstStyle>
          <a:p>
            <a:pPr>
              <a:lnSpc>
                <a:spcPct val="150000"/>
              </a:lnSpc>
              <a:defRPr/>
            </a:pPr>
            <a:r>
              <a:rPr lang="en-US" sz="2800" b="0" kern="0" dirty="0" err="1">
                <a:solidFill>
                  <a:srgbClr val="002060"/>
                </a:solidFill>
                <a:latin typeface="Times New Roman" panose="02020603050405020304" pitchFamily="18" charset="0"/>
                <a:cs typeface="Times New Roman" panose="02020603050405020304" pitchFamily="18" charset="0"/>
              </a:rPr>
              <a:t>Chương</a:t>
            </a:r>
            <a:r>
              <a:rPr lang="en-US" sz="2800" b="0" kern="0">
                <a:solidFill>
                  <a:srgbClr val="002060"/>
                </a:solidFill>
                <a:latin typeface="Times New Roman" panose="02020603050405020304" pitchFamily="18" charset="0"/>
                <a:cs typeface="Times New Roman" panose="02020603050405020304" pitchFamily="18" charset="0"/>
              </a:rPr>
              <a:t> III:</a:t>
            </a:r>
            <a:endParaRPr lang="en-US" sz="2800" u="sng" dirty="0">
              <a:solidFill>
                <a:srgbClr val="002060"/>
              </a:solidFill>
              <a:latin typeface="Times New Roman" panose="02020603050405020304" pitchFamily="18" charset="0"/>
              <a:cs typeface="Times New Roman" panose="02020603050405020304" pitchFamily="18" charset="0"/>
            </a:endParaRPr>
          </a:p>
          <a:p>
            <a:pPr>
              <a:lnSpc>
                <a:spcPct val="150000"/>
              </a:lnSpc>
              <a:defRPr/>
            </a:pPr>
            <a:r>
              <a:rPr lang="vi-VN" sz="2800" kern="0" dirty="0">
                <a:solidFill>
                  <a:srgbClr val="002060"/>
                </a:solidFill>
                <a:latin typeface="Times New Roman" panose="02020603050405020304" pitchFamily="18" charset="0"/>
                <a:cs typeface="Times New Roman" panose="02020603050405020304" pitchFamily="18" charset="0"/>
              </a:rPr>
              <a:t>Services trong Angular</a:t>
            </a:r>
            <a:endParaRPr lang="en-US" sz="2800" kern="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09B20803-11F7-E1E5-2F3E-F97179298A37}"/>
              </a:ext>
            </a:extLst>
          </p:cNvPr>
          <p:cNvSpPr txBox="1"/>
          <p:nvPr/>
        </p:nvSpPr>
        <p:spPr>
          <a:xfrm>
            <a:off x="7720040" y="4262543"/>
            <a:ext cx="3852337" cy="1785104"/>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200" u="sng" dirty="0" err="1">
                <a:latin typeface="Times New Roman" panose="02020603050405020304" pitchFamily="18" charset="0"/>
                <a:cs typeface="Times New Roman" panose="02020603050405020304" pitchFamily="18" charset="0"/>
              </a:rPr>
              <a:t>Giảng</a:t>
            </a:r>
            <a:r>
              <a:rPr lang="en-US" sz="2200" u="sng" dirty="0">
                <a:latin typeface="Times New Roman" panose="02020603050405020304" pitchFamily="18" charset="0"/>
                <a:cs typeface="Times New Roman" panose="02020603050405020304" pitchFamily="18" charset="0"/>
              </a:rPr>
              <a:t> </a:t>
            </a:r>
            <a:r>
              <a:rPr lang="en-US" sz="2200" u="sng" dirty="0" err="1">
                <a:latin typeface="Times New Roman" panose="02020603050405020304" pitchFamily="18" charset="0"/>
                <a:cs typeface="Times New Roman" panose="02020603050405020304" pitchFamily="18" charset="0"/>
              </a:rPr>
              <a:t>viên</a:t>
            </a:r>
            <a:r>
              <a:rPr lang="en-US" sz="2200" u="sng" dirty="0">
                <a:latin typeface="Times New Roman" panose="02020603050405020304" pitchFamily="18" charset="0"/>
                <a:cs typeface="Times New Roman" panose="02020603050405020304" pitchFamily="18" charset="0"/>
              </a:rPr>
              <a:t>:</a:t>
            </a:r>
          </a:p>
          <a:p>
            <a:r>
              <a:rPr lang="en-US" sz="2200" b="1" dirty="0">
                <a:solidFill>
                  <a:srgbClr val="002060"/>
                </a:solidFill>
                <a:latin typeface="Times New Roman" panose="02020603050405020304" pitchFamily="18" charset="0"/>
                <a:cs typeface="Times New Roman" panose="02020603050405020304" pitchFamily="18" charset="0"/>
              </a:rPr>
              <a:t>TS. Trần Duy Thanh</a:t>
            </a:r>
          </a:p>
          <a:p>
            <a:r>
              <a:rPr lang="en-US" sz="2200" dirty="0">
                <a:latin typeface="Times New Roman" panose="02020603050405020304" pitchFamily="18" charset="0"/>
                <a:cs typeface="Times New Roman" panose="02020603050405020304" pitchFamily="18" charset="0"/>
              </a:rPr>
              <a:t>Email: </a:t>
            </a:r>
            <a:r>
              <a:rPr lang="en-US" sz="2200" dirty="0">
                <a:latin typeface="Times New Roman" panose="02020603050405020304" pitchFamily="18" charset="0"/>
                <a:cs typeface="Times New Roman" panose="02020603050405020304" pitchFamily="18" charset="0"/>
                <a:hlinkClick r:id="rId3"/>
              </a:rPr>
              <a:t>thanhtd@uel.edu.vn</a:t>
            </a:r>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Phone: 0987773061</a:t>
            </a:r>
          </a:p>
          <a:p>
            <a:r>
              <a:rPr lang="en-US" sz="2200" dirty="0">
                <a:latin typeface="Times New Roman" panose="02020603050405020304" pitchFamily="18" charset="0"/>
                <a:cs typeface="Times New Roman" panose="02020603050405020304" pitchFamily="18" charset="0"/>
              </a:rPr>
              <a:t>Blog: </a:t>
            </a:r>
            <a:r>
              <a:rPr lang="en-US" sz="2200" dirty="0">
                <a:latin typeface="Times New Roman" panose="02020603050405020304" pitchFamily="18" charset="0"/>
                <a:cs typeface="Times New Roman" panose="02020603050405020304" pitchFamily="18" charset="0"/>
                <a:hlinkClick r:id="rId4"/>
              </a:rPr>
              <a:t>https://tranduythanh.com</a:t>
            </a:r>
            <a:r>
              <a:rPr lang="en-US" sz="2200"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62128" y="261944"/>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Mục tiêu của Chương III</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Content Placeholder 2">
            <a:extLst>
              <a:ext uri="{FF2B5EF4-FFF2-40B4-BE49-F238E27FC236}">
                <a16:creationId xmlns:a16="http://schemas.microsoft.com/office/drawing/2014/main" id="{8E6E6F45-0E21-2332-E20D-00463EF17E7E}"/>
              </a:ext>
            </a:extLst>
          </p:cNvPr>
          <p:cNvSpPr txBox="1">
            <a:spLocks/>
          </p:cNvSpPr>
          <p:nvPr/>
        </p:nvSpPr>
        <p:spPr>
          <a:xfrm>
            <a:off x="381000" y="821802"/>
            <a:ext cx="11430000" cy="5503844"/>
          </a:xfrm>
          <a:prstGeom prst="rect">
            <a:avLst/>
          </a:prstGeom>
        </p:spPr>
        <p:txBody>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lnSpc>
                <a:spcPct val="150000"/>
              </a:lnSpc>
              <a:buNone/>
            </a:pPr>
            <a:r>
              <a:rPr lang="vi-VN" sz="2400">
                <a:latin typeface="Cambria" panose="02040503050406030204" pitchFamily="18" charset="0"/>
              </a:rPr>
              <a:t>Chương này tập trung vào việc giải quyết bài toán quản lý và chia sẻ dữ liệu tập trung giữa các thành phần (Components) khác nhau trong ứng dụng thông qua Service. Người học sẽ được trang bị kỹ năng khởi tạo, lập trình và sử dụng Dependency Injection để triệu gọi Service hiệu quả. Đặc biệt, chương này đi sâu vào việc tương tác với dữ liệu từ bên ngoài thông qua giao thức HTTP, giúp người học làm chủ quy trình kết nối API, xử lý dữ liệu bất đồng bộ và quản lý lỗi (Error Handling) chuyên nghiệp. Kết thúc chương, </a:t>
            </a:r>
            <a:r>
              <a:rPr lang="en-US" sz="2400">
                <a:latin typeface="Cambria" panose="02040503050406030204" pitchFamily="18" charset="0"/>
              </a:rPr>
              <a:t>Sinh viên</a:t>
            </a:r>
            <a:r>
              <a:rPr lang="vi-VN" sz="2400">
                <a:latin typeface="Cambria" panose="02040503050406030204" pitchFamily="18" charset="0"/>
              </a:rPr>
              <a:t> sẽ có khả năng xây dựng một lớp kiến trúc trung gian vững chắc, giúp mã nguồn dễ bảo trì, tái sử dụng và tối ưu hóa hiệu suất truyền tải dữ liệu trong Angular.</a:t>
            </a:r>
            <a:endParaRPr lang="en-US" sz="2400" dirty="0">
              <a:latin typeface="Cambria" panose="02040503050406030204" pitchFamily="18" charset="0"/>
            </a:endParaRPr>
          </a:p>
        </p:txBody>
      </p:sp>
    </p:spTree>
    <p:extLst>
      <p:ext uri="{BB962C8B-B14F-4D97-AF65-F5344CB8AC3E}">
        <p14:creationId xmlns:p14="http://schemas.microsoft.com/office/powerpoint/2010/main" val="2703459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Nội dung bài học</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BD56F04-295F-5363-D417-108007E712F9}"/>
              </a:ext>
            </a:extLst>
          </p:cNvPr>
          <p:cNvSpPr txBox="1"/>
          <p:nvPr/>
        </p:nvSpPr>
        <p:spPr>
          <a:xfrm>
            <a:off x="415252" y="810009"/>
            <a:ext cx="11564547" cy="2585323"/>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p>
          <a:p>
            <a:pPr marL="457200" indent="-4572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3.2.</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Cách tạo và lập trình Service</a:t>
            </a:r>
          </a:p>
          <a:p>
            <a:pPr marL="457200" indent="-4572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3.3.</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Cách triệu gọi Service</a:t>
            </a:r>
          </a:p>
          <a:p>
            <a:pPr marL="457200" indent="-4572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3.4.</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Cách tạo Service với External Data – HTTP protocol</a:t>
            </a:r>
          </a:p>
          <a:p>
            <a:pPr marL="457200" indent="-4572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3.5. Cách triệu gọi Service – HTTP Protocol</a:t>
            </a:r>
          </a:p>
          <a:p>
            <a:pPr marL="457200" indent="-457200" algn="just">
              <a:lnSpc>
                <a:spcPct val="114000"/>
              </a:lnSpc>
              <a:buFont typeface="Wingdings" panose="05000000000000000000" pitchFamily="2" charset="2"/>
              <a:buChar char="v"/>
            </a:pPr>
            <a:r>
              <a:rPr lang="vi-VN" sz="2400" b="1">
                <a:latin typeface="Times New Roman" panose="02020603050405020304" pitchFamily="18" charset="0"/>
                <a:cs typeface="Times New Roman" panose="02020603050405020304" pitchFamily="18" charset="0"/>
              </a:rPr>
              <a:t>3.6. Cách lập trình Service với Handle Error</a:t>
            </a:r>
          </a:p>
        </p:txBody>
      </p:sp>
    </p:spTree>
    <p:extLst>
      <p:ext uri="{BB962C8B-B14F-4D97-AF65-F5344CB8AC3E}">
        <p14:creationId xmlns:p14="http://schemas.microsoft.com/office/powerpoint/2010/main" val="3166243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CB4987C-0B31-2EBC-E256-C11BECA9F1C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E2A7D5F-4000-F862-8CA3-24677DD0AB8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386A37A7-EBD4-EE96-A67C-ACC692C0433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grpSp>
        <p:nvGrpSpPr>
          <p:cNvPr id="2" name="Group 1">
            <a:extLst>
              <a:ext uri="{FF2B5EF4-FFF2-40B4-BE49-F238E27FC236}">
                <a16:creationId xmlns:a16="http://schemas.microsoft.com/office/drawing/2014/main" id="{9132787B-ADDE-FC0E-2B42-09E834EB5C5E}"/>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DFC6B9A4-67CA-9A6E-2855-24385CB4B7D5}"/>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B9DA2E2-5BB0-93EA-C68B-AFF321FEC0A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7392746-7635-7E8B-5F1A-317EC0CA164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E4A6E4C-1C02-93F8-891D-E2E3A21FBC4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35CFE37-2802-C429-5CB3-7737E154813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4F2A0C42-7762-0689-FA37-DEF3764E619E}"/>
              </a:ext>
            </a:extLst>
          </p:cNvPr>
          <p:cNvSpPr txBox="1"/>
          <p:nvPr/>
        </p:nvSpPr>
        <p:spPr>
          <a:xfrm>
            <a:off x="651837" y="1004275"/>
            <a:ext cx="11015907" cy="3903954"/>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Vấn đề dữ liệu nằm "rải rác" ở nhiều component—thường được gọi là "</a:t>
            </a:r>
            <a:r>
              <a:rPr lang="en-US" sz="2400" b="1">
                <a:latin typeface="Times New Roman" panose="02020603050405020304" pitchFamily="18" charset="0"/>
                <a:cs typeface="Times New Roman" panose="02020603050405020304" pitchFamily="18" charset="0"/>
              </a:rPr>
              <a:t>Spaghetti State</a:t>
            </a:r>
            <a:r>
              <a:rPr lang="en-US" sz="2400">
                <a:latin typeface="Times New Roman" panose="02020603050405020304" pitchFamily="18" charset="0"/>
                <a:cs typeface="Times New Roman" panose="02020603050405020304" pitchFamily="18" charset="0"/>
              </a:rPr>
              <a:t>" /spəˈɡet.i steɪt /—là một trở ngại lớn khi ứng dụng Angular mở rộng. Việc này dẫn đến dữ liệu không đồng nhất, khó debug và mã nguồn bị rối do phải truyền props qua quá nhiều lớp trung gian (Prop drilling).</a:t>
            </a:r>
          </a:p>
          <a:p>
            <a:pPr marL="342900" indent="-342900" algn="just">
              <a:lnSpc>
                <a:spcPct val="150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Trong kỹ thuật phần mềm, "Spaghetti State" (Trạng thái mì ý) là một cách ẩn dụ để mô tả tình trạng dữ liệu của ứng dụng bị mất kiểm soát, phân tán và đan xen chằng chịt giữa các thành phần (components) mà không có một cấu trúc quản lý tập trung.</a:t>
            </a:r>
          </a:p>
        </p:txBody>
      </p:sp>
    </p:spTree>
    <p:extLst>
      <p:ext uri="{BB962C8B-B14F-4D97-AF65-F5344CB8AC3E}">
        <p14:creationId xmlns:p14="http://schemas.microsoft.com/office/powerpoint/2010/main" val="11950206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661841A-B880-ADE1-0A34-3F45F656D5C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33377D7-08BE-273B-6758-4B8A40FA7AA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B5BFF1F-8D29-E8E5-10B3-A390D4B1634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grpSp>
        <p:nvGrpSpPr>
          <p:cNvPr id="2" name="Group 1">
            <a:extLst>
              <a:ext uri="{FF2B5EF4-FFF2-40B4-BE49-F238E27FC236}">
                <a16:creationId xmlns:a16="http://schemas.microsoft.com/office/drawing/2014/main" id="{77EFE910-5723-037E-7245-BC3B343125AF}"/>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A9A28243-E2C5-4931-1662-C7490DFF8050}"/>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3421F07-A15A-FA40-2A92-684AA6FF406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BA68253-8ECF-9789-FCC3-43F81D3C441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58E95E1-CCDA-6326-E50F-FA24C525678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E7B11F0-C62A-25A9-977E-F23694226602}"/>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3" name="TextBox 12">
            <a:extLst>
              <a:ext uri="{FF2B5EF4-FFF2-40B4-BE49-F238E27FC236}">
                <a16:creationId xmlns:a16="http://schemas.microsoft.com/office/drawing/2014/main" id="{EB5ACC95-43FA-6BCA-7670-7B005A59A6F4}"/>
              </a:ext>
            </a:extLst>
          </p:cNvPr>
          <p:cNvSpPr txBox="1"/>
          <p:nvPr/>
        </p:nvSpPr>
        <p:spPr>
          <a:xfrm>
            <a:off x="473093" y="792660"/>
            <a:ext cx="11245814" cy="5617692"/>
          </a:xfrm>
          <a:prstGeom prst="rect">
            <a:avLst/>
          </a:prstGeom>
          <a:noFill/>
        </p:spPr>
        <p:txBody>
          <a:bodyPr wrap="square">
            <a:spAutoFit/>
          </a:bodyPr>
          <a:lstStyle/>
          <a:p>
            <a:pPr marL="342900" indent="-342900" algn="just">
              <a:lnSpc>
                <a:spcPct val="150000"/>
              </a:lnSpc>
              <a:buFont typeface="Wingdings" panose="05000000000000000000" pitchFamily="2" charset="2"/>
              <a:buChar char="q"/>
            </a:pPr>
            <a:r>
              <a:rPr lang="vi-VN" sz="2200">
                <a:latin typeface="Times New Roman" panose="02020603050405020304" pitchFamily="18" charset="0"/>
                <a:cs typeface="Times New Roman" panose="02020603050405020304" pitchFamily="18" charset="0"/>
              </a:rPr>
              <a:t>Khi một dự án rơi vào trạng thái "Spaghetti State", </a:t>
            </a:r>
            <a:r>
              <a:rPr lang="en-US" sz="2200">
                <a:latin typeface="Times New Roman" panose="02020603050405020304" pitchFamily="18" charset="0"/>
                <a:cs typeface="Times New Roman" panose="02020603050405020304" pitchFamily="18" charset="0"/>
              </a:rPr>
              <a:t>Ta sẽ gặp </a:t>
            </a:r>
            <a:r>
              <a:rPr lang="vi-VN" sz="2200">
                <a:latin typeface="Times New Roman" panose="02020603050405020304" pitchFamily="18" charset="0"/>
                <a:cs typeface="Times New Roman" panose="02020603050405020304" pitchFamily="18" charset="0"/>
              </a:rPr>
              <a:t>các dấu hiệu sau:</a:t>
            </a:r>
          </a:p>
          <a:p>
            <a:pPr marL="342900" indent="-342900" algn="just">
              <a:lnSpc>
                <a:spcPct val="150000"/>
              </a:lnSpc>
              <a:buFont typeface="Wingdings" panose="05000000000000000000" pitchFamily="2" charset="2"/>
              <a:buChar char="ü"/>
            </a:pPr>
            <a:r>
              <a:rPr lang="vi-VN" sz="2200" b="1">
                <a:latin typeface="Times New Roman" panose="02020603050405020304" pitchFamily="18" charset="0"/>
                <a:cs typeface="Times New Roman" panose="02020603050405020304" pitchFamily="18" charset="0"/>
              </a:rPr>
              <a:t>Prop Drilling (Truyền tin kiểu "Tam sao thất bản"):</a:t>
            </a:r>
            <a:r>
              <a:rPr lang="vi-VN" sz="2200">
                <a:latin typeface="Times New Roman" panose="02020603050405020304" pitchFamily="18" charset="0"/>
                <a:cs typeface="Times New Roman" panose="02020603050405020304" pitchFamily="18" charset="0"/>
              </a:rPr>
              <a:t> Để Component con ở tầng thứ 5 nhận được dữ liệu, </a:t>
            </a:r>
            <a:r>
              <a:rPr lang="en-US" sz="2200">
                <a:latin typeface="Times New Roman" panose="02020603050405020304" pitchFamily="18" charset="0"/>
                <a:cs typeface="Times New Roman" panose="02020603050405020304" pitchFamily="18" charset="0"/>
              </a:rPr>
              <a:t>Ta</a:t>
            </a:r>
            <a:r>
              <a:rPr lang="vi-VN" sz="2200">
                <a:latin typeface="Times New Roman" panose="02020603050405020304" pitchFamily="18" charset="0"/>
                <a:cs typeface="Times New Roman" panose="02020603050405020304" pitchFamily="18" charset="0"/>
              </a:rPr>
              <a:t> phải truyền nó qua Component tầng 1, 2, 3, và 4 chỉ để làm nhiệm vụ "trung chuyển". Điều này cực kỳ tốn công và dễ sai sót.</a:t>
            </a:r>
          </a:p>
          <a:p>
            <a:pPr marL="342900" indent="-342900" algn="just">
              <a:lnSpc>
                <a:spcPct val="150000"/>
              </a:lnSpc>
              <a:buFont typeface="Wingdings" panose="05000000000000000000" pitchFamily="2" charset="2"/>
              <a:buChar char="ü"/>
            </a:pPr>
            <a:r>
              <a:rPr lang="vi-VN" sz="2200" b="1">
                <a:latin typeface="Times New Roman" panose="02020603050405020304" pitchFamily="18" charset="0"/>
                <a:cs typeface="Times New Roman" panose="02020603050405020304" pitchFamily="18" charset="0"/>
              </a:rPr>
              <a:t>Spooky Action at a Distance:</a:t>
            </a:r>
            <a:r>
              <a:rPr lang="vi-VN" sz="2200">
                <a:latin typeface="Times New Roman" panose="02020603050405020304" pitchFamily="18" charset="0"/>
                <a:cs typeface="Times New Roman" panose="02020603050405020304" pitchFamily="18" charset="0"/>
              </a:rPr>
              <a:t> Một bug xảy ra ở Component X, nhưng nguyên nhân lại nằm ở Component Y cách đó 3 tầng. </a:t>
            </a:r>
            <a:r>
              <a:rPr lang="en-US" sz="2200">
                <a:latin typeface="Times New Roman" panose="02020603050405020304" pitchFamily="18" charset="0"/>
                <a:cs typeface="Times New Roman" panose="02020603050405020304" pitchFamily="18" charset="0"/>
              </a:rPr>
              <a:t>Ta</a:t>
            </a:r>
            <a:r>
              <a:rPr lang="vi-VN" sz="2200">
                <a:latin typeface="Times New Roman" panose="02020603050405020304" pitchFamily="18" charset="0"/>
                <a:cs typeface="Times New Roman" panose="02020603050405020304" pitchFamily="18" charset="0"/>
              </a:rPr>
              <a:t> không thể tìm ra dữ liệu đã bị sửa đổi ở đâu.</a:t>
            </a:r>
          </a:p>
          <a:p>
            <a:pPr marL="342900" indent="-342900" algn="just">
              <a:lnSpc>
                <a:spcPct val="150000"/>
              </a:lnSpc>
              <a:buFont typeface="Wingdings" panose="05000000000000000000" pitchFamily="2" charset="2"/>
              <a:buChar char="ü"/>
            </a:pPr>
            <a:r>
              <a:rPr lang="vi-VN" sz="2200" b="1">
                <a:latin typeface="Times New Roman" panose="02020603050405020304" pitchFamily="18" charset="0"/>
                <a:cs typeface="Times New Roman" panose="02020603050405020304" pitchFamily="18" charset="0"/>
              </a:rPr>
              <a:t>Inconsistent UI:</a:t>
            </a:r>
            <a:r>
              <a:rPr lang="vi-VN" sz="2200">
                <a:latin typeface="Times New Roman" panose="02020603050405020304" pitchFamily="18" charset="0"/>
                <a:cs typeface="Times New Roman" panose="02020603050405020304" pitchFamily="18" charset="0"/>
              </a:rPr>
              <a:t> Cùng là thông tin về "User Profile", nhưng Component Header hiển thị là "Avatar A", trong khi Component UserSetting lại hiển thị là "Avatar B". Dữ liệu không đồng bộ (Desynchronization).</a:t>
            </a:r>
          </a:p>
          <a:p>
            <a:pPr marL="342900" indent="-342900" algn="just">
              <a:lnSpc>
                <a:spcPct val="150000"/>
              </a:lnSpc>
              <a:buFont typeface="Wingdings" panose="05000000000000000000" pitchFamily="2" charset="2"/>
              <a:buChar char="ü"/>
            </a:pPr>
            <a:r>
              <a:rPr lang="vi-VN" sz="2200" b="1">
                <a:latin typeface="Times New Roman" panose="02020603050405020304" pitchFamily="18" charset="0"/>
                <a:cs typeface="Times New Roman" panose="02020603050405020304" pitchFamily="18" charset="0"/>
              </a:rPr>
              <a:t>Nỗi sợ thay đổi:</a:t>
            </a:r>
            <a:r>
              <a:rPr lang="vi-VN" sz="2200">
                <a:latin typeface="Times New Roman" panose="02020603050405020304" pitchFamily="18" charset="0"/>
                <a:cs typeface="Times New Roman" panose="02020603050405020304" pitchFamily="18" charset="0"/>
              </a:rPr>
              <a:t> Khi cần sửa một tính năng nhỏ, lập trình viên </a:t>
            </a:r>
            <a:r>
              <a:rPr lang="vi-VN" sz="2200">
                <a:solidFill>
                  <a:srgbClr val="FF0000"/>
                </a:solidFill>
                <a:latin typeface="Times New Roman" panose="02020603050405020304" pitchFamily="18" charset="0"/>
                <a:cs typeface="Times New Roman" panose="02020603050405020304" pitchFamily="18" charset="0"/>
              </a:rPr>
              <a:t>sợ hãi </a:t>
            </a:r>
            <a:r>
              <a:rPr lang="vi-VN" sz="2200">
                <a:latin typeface="Times New Roman" panose="02020603050405020304" pitchFamily="18" charset="0"/>
                <a:cs typeface="Times New Roman" panose="02020603050405020304" pitchFamily="18" charset="0"/>
              </a:rPr>
              <a:t>vì không biết thay đổi đó sẽ làm "sập" bao nhiêu phần khác của ứng dụng.</a:t>
            </a:r>
          </a:p>
        </p:txBody>
      </p:sp>
    </p:spTree>
    <p:extLst>
      <p:ext uri="{BB962C8B-B14F-4D97-AF65-F5344CB8AC3E}">
        <p14:creationId xmlns:p14="http://schemas.microsoft.com/office/powerpoint/2010/main" val="3019243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3539CF9-4C0F-B2E9-476A-803E0AF9AF0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E82545D-DF15-41DD-1DD0-3866962D18B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D8F504B-A104-6C81-A115-0E0D96109FB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grpSp>
        <p:nvGrpSpPr>
          <p:cNvPr id="2" name="Group 1">
            <a:extLst>
              <a:ext uri="{FF2B5EF4-FFF2-40B4-BE49-F238E27FC236}">
                <a16:creationId xmlns:a16="http://schemas.microsoft.com/office/drawing/2014/main" id="{9D1969A1-F85F-3EE6-F686-E8EC196322F3}"/>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2D7E5E20-D21A-6258-61CC-EAB34B353E33}"/>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ED390A78-51EC-BB3F-F41C-93C4DA378AD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756FABD-882A-4A7D-F141-A51AC811E619}"/>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623F46B8-21FE-C93D-CC36-43DFF375216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0825056-0231-0B74-D123-E77877D908D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8C8D6277-361B-2EB0-AF84-69F98EA764E5}"/>
              </a:ext>
            </a:extLst>
          </p:cNvPr>
          <p:cNvPicPr>
            <a:picLocks noChangeAspect="1"/>
          </p:cNvPicPr>
          <p:nvPr/>
        </p:nvPicPr>
        <p:blipFill>
          <a:blip r:embed="rId3"/>
          <a:stretch>
            <a:fillRect/>
          </a:stretch>
        </p:blipFill>
        <p:spPr>
          <a:xfrm>
            <a:off x="1332359" y="825508"/>
            <a:ext cx="10025659" cy="5500138"/>
          </a:xfrm>
          <a:prstGeom prst="rect">
            <a:avLst/>
          </a:prstGeom>
        </p:spPr>
      </p:pic>
    </p:spTree>
    <p:extLst>
      <p:ext uri="{BB962C8B-B14F-4D97-AF65-F5344CB8AC3E}">
        <p14:creationId xmlns:p14="http://schemas.microsoft.com/office/powerpoint/2010/main" val="17582451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707A979-22A8-96CF-1FD8-19E95459BB9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8EE07EA-CB04-40FA-A24D-F7B1180D125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285B8DF-D0C3-4F67-A84A-5AE16478D7AF}"/>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grpSp>
        <p:nvGrpSpPr>
          <p:cNvPr id="2" name="Group 1">
            <a:extLst>
              <a:ext uri="{FF2B5EF4-FFF2-40B4-BE49-F238E27FC236}">
                <a16:creationId xmlns:a16="http://schemas.microsoft.com/office/drawing/2014/main" id="{2B285DA7-012F-5C9C-9FB2-34CCC58856F1}"/>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38E85EAD-134B-9E04-CCC8-A1F45DAE2E5C}"/>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4A1F077-38F5-8D46-D1EE-14FA9A2926B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C0C5AF0-7A94-D03B-F349-04BDF9815EE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8949BE3-01EE-5D0A-01C1-A3A45752C42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E6E6A93D-E29B-9B91-C8E8-1D01F9DAAAA0}"/>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5D657AEE-AACE-8AAA-A2C7-178CDF946378}"/>
              </a:ext>
            </a:extLst>
          </p:cNvPr>
          <p:cNvSpPr>
            <a:spLocks noChangeArrowheads="1"/>
          </p:cNvSpPr>
          <p:nvPr/>
        </p:nvSpPr>
        <p:spPr bwMode="auto">
          <a:xfrm>
            <a:off x="310025" y="847825"/>
            <a:ext cx="11466724" cy="5565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Service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trong Angular là một lớp (class) được thiết kế để tách biệt logic nghiệp vụ (business logic), quản lý dữ liệu (data management), và các thao tác liên quan đến API khỏi các Component.</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Bản chất:</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Một Service là một lớp TypeScript được đánh dấu bởi Decorator @Injectable().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Vai trò:</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Nó đóng vai trò là "nơi lưu trữ logic chung" hoặc "nguồn dữ liệu tập trung", cho phép các Component khác nhau trong ứng dụng có thể sử dụng lại mà không cần sao chép code.</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Nguyên lý cốt lõi:</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Dependency Injection (DI)</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Thay vì khởi tạo service bằng new, Angular sẽ </a:t>
            </a:r>
            <a:r>
              <a:rPr kumimoji="0" lang="en-US" altLang="en-US" sz="2400" b="0"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"tiêm" instance</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của service đó vào Component </a:t>
            </a:r>
            <a:r>
              <a:rPr kumimoji="0" lang="en-US" altLang="en-US" sz="2400" b="0"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thông qua Constructor</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55824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F89D9AE-3BDC-CC7F-D466-D4101D27391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382C3FB-D444-1566-2C41-33913C731D2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306DB01-2ED1-7FAB-3EFE-EBDC1C782C3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grpSp>
        <p:nvGrpSpPr>
          <p:cNvPr id="2" name="Group 1">
            <a:extLst>
              <a:ext uri="{FF2B5EF4-FFF2-40B4-BE49-F238E27FC236}">
                <a16:creationId xmlns:a16="http://schemas.microsoft.com/office/drawing/2014/main" id="{39179173-E70F-C2BC-7E17-457C83755084}"/>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C0F03F28-E2A6-A9AA-623B-8EB8116D3514}"/>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C86094B-4347-FA53-7B58-F57CC3B031D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CFD6B7E-3102-6CFF-0AAD-58B3CCF3614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DCCEF26-21E1-6C7A-F599-6694E7DCAEF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179C746-ACAF-8523-7904-D147163E194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11" name="Picture 10">
            <a:extLst>
              <a:ext uri="{FF2B5EF4-FFF2-40B4-BE49-F238E27FC236}">
                <a16:creationId xmlns:a16="http://schemas.microsoft.com/office/drawing/2014/main" id="{9B17A393-E108-8CC9-5E69-1AD7AF4CE301}"/>
              </a:ext>
            </a:extLst>
          </p:cNvPr>
          <p:cNvPicPr>
            <a:picLocks noChangeAspect="1"/>
          </p:cNvPicPr>
          <p:nvPr/>
        </p:nvPicPr>
        <p:blipFill>
          <a:blip r:embed="rId3"/>
          <a:stretch>
            <a:fillRect/>
          </a:stretch>
        </p:blipFill>
        <p:spPr>
          <a:xfrm>
            <a:off x="1239818" y="982160"/>
            <a:ext cx="9576507" cy="5238693"/>
          </a:xfrm>
          <a:prstGeom prst="rect">
            <a:avLst/>
          </a:prstGeom>
        </p:spPr>
      </p:pic>
    </p:spTree>
    <p:extLst>
      <p:ext uri="{BB962C8B-B14F-4D97-AF65-F5344CB8AC3E}">
        <p14:creationId xmlns:p14="http://schemas.microsoft.com/office/powerpoint/2010/main" val="2433328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7BE3C75-155C-501D-E213-EA1F078DFFE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3B5604A-60D2-C2B5-8BCF-C16AAA943A5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366FF47-3828-492E-246E-108CDFBD088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a:t>
            </a:fld>
            <a:endParaRPr/>
          </a:p>
        </p:txBody>
      </p:sp>
      <p:grpSp>
        <p:nvGrpSpPr>
          <p:cNvPr id="2" name="Group 1">
            <a:extLst>
              <a:ext uri="{FF2B5EF4-FFF2-40B4-BE49-F238E27FC236}">
                <a16:creationId xmlns:a16="http://schemas.microsoft.com/office/drawing/2014/main" id="{438A17DA-7E96-9853-3D1C-6A77C227F88E}"/>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982B7CAE-256F-1BE6-1D16-9049F00446BB}"/>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7E9AAA9-AFD6-D989-6D03-DBBE9541E15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B7C662C-446A-35FF-1159-3711792EF94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A533922-A604-438F-1B0F-256A4462C7E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9BCEF84-3D32-2955-8031-7DCDD78C679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4" name="TextBox 23">
            <a:extLst>
              <a:ext uri="{FF2B5EF4-FFF2-40B4-BE49-F238E27FC236}">
                <a16:creationId xmlns:a16="http://schemas.microsoft.com/office/drawing/2014/main" id="{694027FD-42E0-F5F4-4E80-F95287C56FD9}"/>
              </a:ext>
            </a:extLst>
          </p:cNvPr>
          <p:cNvSpPr txBox="1"/>
          <p:nvPr/>
        </p:nvSpPr>
        <p:spPr>
          <a:xfrm>
            <a:off x="540529" y="946143"/>
            <a:ext cx="11110942"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Quay trở lại ví dụ trong </a:t>
            </a:r>
            <a:r>
              <a:rPr lang="en-US" sz="2400" b="1">
                <a:latin typeface="Times New Roman" panose="02020603050405020304" pitchFamily="18" charset="0"/>
                <a:cs typeface="Times New Roman" panose="02020603050405020304" pitchFamily="18" charset="0"/>
              </a:rPr>
              <a:t>product-list-component</a:t>
            </a:r>
            <a:r>
              <a:rPr lang="en-US" sz="2400">
                <a:latin typeface="Times New Roman" panose="02020603050405020304" pitchFamily="18" charset="0"/>
                <a:cs typeface="Times New Roman" panose="02020603050405020304" pitchFamily="18" charset="0"/>
              </a:rPr>
              <a:t> ở chương trước.</a:t>
            </a:r>
          </a:p>
        </p:txBody>
      </p:sp>
      <p:pic>
        <p:nvPicPr>
          <p:cNvPr id="25" name="Picture 24">
            <a:extLst>
              <a:ext uri="{FF2B5EF4-FFF2-40B4-BE49-F238E27FC236}">
                <a16:creationId xmlns:a16="http://schemas.microsoft.com/office/drawing/2014/main" id="{5FC9829C-8A0F-3BB7-BD43-F1A120057C48}"/>
              </a:ext>
            </a:extLst>
          </p:cNvPr>
          <p:cNvPicPr>
            <a:picLocks noChangeAspect="1"/>
          </p:cNvPicPr>
          <p:nvPr/>
        </p:nvPicPr>
        <p:blipFill>
          <a:blip r:embed="rId3"/>
          <a:stretch>
            <a:fillRect/>
          </a:stretch>
        </p:blipFill>
        <p:spPr>
          <a:xfrm>
            <a:off x="2772069" y="1459666"/>
            <a:ext cx="7239000" cy="3714750"/>
          </a:xfrm>
          <a:prstGeom prst="rect">
            <a:avLst/>
          </a:prstGeom>
        </p:spPr>
      </p:pic>
    </p:spTree>
    <p:extLst>
      <p:ext uri="{BB962C8B-B14F-4D97-AF65-F5344CB8AC3E}">
        <p14:creationId xmlns:p14="http://schemas.microsoft.com/office/powerpoint/2010/main" val="4068774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31B65E1-1A62-19D9-9141-0EF8D1FB1D0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913C61F-D2A2-B8D2-4CFB-ED0579815350}"/>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33AD1A5-AE3C-8F87-0622-5D29944C37F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a:p>
        </p:txBody>
      </p:sp>
      <p:grpSp>
        <p:nvGrpSpPr>
          <p:cNvPr id="2" name="Group 1">
            <a:extLst>
              <a:ext uri="{FF2B5EF4-FFF2-40B4-BE49-F238E27FC236}">
                <a16:creationId xmlns:a16="http://schemas.microsoft.com/office/drawing/2014/main" id="{DAE5D514-F681-DCDE-5161-22BB64D2BBAD}"/>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840F5578-027F-5230-6551-ED46BCDE288F}"/>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64CBC22-7DEA-3F58-82A3-2CB68B67720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883F0D8-B994-94DC-DCBB-A855BD8D5AB7}"/>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500D089-0078-6F8A-C5BE-405911F2C8D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2543410-C132-AE7A-BC26-26C66D9726BF}"/>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4" name="TextBox 23">
            <a:extLst>
              <a:ext uri="{FF2B5EF4-FFF2-40B4-BE49-F238E27FC236}">
                <a16:creationId xmlns:a16="http://schemas.microsoft.com/office/drawing/2014/main" id="{5988F713-F206-3131-82D8-0F7971BF5730}"/>
              </a:ext>
            </a:extLst>
          </p:cNvPr>
          <p:cNvSpPr txBox="1"/>
          <p:nvPr/>
        </p:nvSpPr>
        <p:spPr>
          <a:xfrm>
            <a:off x="540529" y="946143"/>
            <a:ext cx="11110942" cy="1200329"/>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Ta tạo thêm một component mới để hiển thị danh sách Product trên dropdownlist. Dữ liệu được lặp lại ở component mới này.</a:t>
            </a:r>
          </a:p>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Đặt tên component mới này là </a:t>
            </a:r>
            <a:r>
              <a:rPr lang="en-US" sz="2400" b="1">
                <a:latin typeface="Times New Roman" panose="02020603050405020304" pitchFamily="18" charset="0"/>
                <a:cs typeface="Times New Roman" panose="02020603050405020304" pitchFamily="18" charset="0"/>
              </a:rPr>
              <a:t>product-dropdown-list-component</a:t>
            </a:r>
            <a:endParaRPr lang="en-US" sz="240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E06B712-2622-EF35-0FCD-4A68C0757565}"/>
              </a:ext>
            </a:extLst>
          </p:cNvPr>
          <p:cNvPicPr>
            <a:picLocks noChangeAspect="1"/>
          </p:cNvPicPr>
          <p:nvPr/>
        </p:nvPicPr>
        <p:blipFill>
          <a:blip r:embed="rId3"/>
          <a:stretch>
            <a:fillRect/>
          </a:stretch>
        </p:blipFill>
        <p:spPr>
          <a:xfrm>
            <a:off x="388797" y="2224677"/>
            <a:ext cx="6408975" cy="876376"/>
          </a:xfrm>
          <a:prstGeom prst="rect">
            <a:avLst/>
          </a:prstGeom>
          <a:ln>
            <a:solidFill>
              <a:schemeClr val="tx1"/>
            </a:solidFill>
          </a:ln>
        </p:spPr>
      </p:pic>
      <p:pic>
        <p:nvPicPr>
          <p:cNvPr id="11" name="Picture 10">
            <a:extLst>
              <a:ext uri="{FF2B5EF4-FFF2-40B4-BE49-F238E27FC236}">
                <a16:creationId xmlns:a16="http://schemas.microsoft.com/office/drawing/2014/main" id="{9CD5DA79-EBFE-0255-15F2-CDD7329D4105}"/>
              </a:ext>
            </a:extLst>
          </p:cNvPr>
          <p:cNvPicPr>
            <a:picLocks noChangeAspect="1"/>
          </p:cNvPicPr>
          <p:nvPr/>
        </p:nvPicPr>
        <p:blipFill>
          <a:blip r:embed="rId4"/>
          <a:stretch>
            <a:fillRect/>
          </a:stretch>
        </p:blipFill>
        <p:spPr>
          <a:xfrm>
            <a:off x="388797" y="3749863"/>
            <a:ext cx="8870449" cy="2575783"/>
          </a:xfrm>
          <a:prstGeom prst="rect">
            <a:avLst/>
          </a:prstGeom>
          <a:ln>
            <a:solidFill>
              <a:schemeClr val="tx1"/>
            </a:solidFill>
          </a:ln>
        </p:spPr>
      </p:pic>
      <p:pic>
        <p:nvPicPr>
          <p:cNvPr id="13" name="Picture 12">
            <a:extLst>
              <a:ext uri="{FF2B5EF4-FFF2-40B4-BE49-F238E27FC236}">
                <a16:creationId xmlns:a16="http://schemas.microsoft.com/office/drawing/2014/main" id="{6E074328-2657-F4B6-3661-3F5663FB96DB}"/>
              </a:ext>
            </a:extLst>
          </p:cNvPr>
          <p:cNvPicPr>
            <a:picLocks noChangeAspect="1"/>
          </p:cNvPicPr>
          <p:nvPr/>
        </p:nvPicPr>
        <p:blipFill>
          <a:blip r:embed="rId5"/>
          <a:stretch>
            <a:fillRect/>
          </a:stretch>
        </p:blipFill>
        <p:spPr>
          <a:xfrm>
            <a:off x="7838827" y="2187627"/>
            <a:ext cx="4077053" cy="2850127"/>
          </a:xfrm>
          <a:prstGeom prst="rect">
            <a:avLst/>
          </a:prstGeom>
          <a:ln>
            <a:solidFill>
              <a:schemeClr val="tx1"/>
            </a:solidFill>
          </a:ln>
        </p:spPr>
      </p:pic>
      <p:sp>
        <p:nvSpPr>
          <p:cNvPr id="14" name="Arrow: Down 13">
            <a:extLst>
              <a:ext uri="{FF2B5EF4-FFF2-40B4-BE49-F238E27FC236}">
                <a16:creationId xmlns:a16="http://schemas.microsoft.com/office/drawing/2014/main" id="{F6232762-AB6F-FDA8-3813-87A1074E6E39}"/>
              </a:ext>
            </a:extLst>
          </p:cNvPr>
          <p:cNvSpPr/>
          <p:nvPr/>
        </p:nvSpPr>
        <p:spPr>
          <a:xfrm>
            <a:off x="3023712" y="3149700"/>
            <a:ext cx="286847" cy="496446"/>
          </a:xfrm>
          <a:prstGeom prst="down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
        <p:nvSpPr>
          <p:cNvPr id="15" name="Arrow: Bent-Up 14">
            <a:extLst>
              <a:ext uri="{FF2B5EF4-FFF2-40B4-BE49-F238E27FC236}">
                <a16:creationId xmlns:a16="http://schemas.microsoft.com/office/drawing/2014/main" id="{3BE2FA60-1692-BD90-C550-8B13B81A9CAB}"/>
              </a:ext>
            </a:extLst>
          </p:cNvPr>
          <p:cNvSpPr/>
          <p:nvPr/>
        </p:nvSpPr>
        <p:spPr>
          <a:xfrm>
            <a:off x="9315879" y="5037754"/>
            <a:ext cx="935026" cy="446887"/>
          </a:xfrm>
          <a:prstGeom prst="bentUp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683714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84B9350-3218-B118-28B0-EE546901F3F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AC66687-B52C-2ACB-77D9-205DD0A2CE9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F57C690-75C5-FC0A-A1E8-FB9C8D2B1D9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11</a:t>
            </a:fld>
            <a:endParaRPr/>
          </a:p>
        </p:txBody>
      </p:sp>
      <p:grpSp>
        <p:nvGrpSpPr>
          <p:cNvPr id="2" name="Group 1">
            <a:extLst>
              <a:ext uri="{FF2B5EF4-FFF2-40B4-BE49-F238E27FC236}">
                <a16:creationId xmlns:a16="http://schemas.microsoft.com/office/drawing/2014/main" id="{F20AC5D8-46C1-7FDA-AE49-BC0DE4BC3A2F}"/>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88559637-5C65-27AE-E1FB-194F508717C4}"/>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5707E52-501C-2C9F-A668-C77230DD0203}"/>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37FFAB1-4A5B-7168-9569-AD92DB04431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0B78062-DF96-8E33-5137-C31C5BB8DD8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0A8E34A-469D-1610-3EEF-4127212FD58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4" name="TextBox 23">
            <a:extLst>
              <a:ext uri="{FF2B5EF4-FFF2-40B4-BE49-F238E27FC236}">
                <a16:creationId xmlns:a16="http://schemas.microsoft.com/office/drawing/2014/main" id="{F32B9446-C649-90F1-B91B-985EEA481274}"/>
              </a:ext>
            </a:extLst>
          </p:cNvPr>
          <p:cNvSpPr txBox="1"/>
          <p:nvPr/>
        </p:nvSpPr>
        <p:spPr>
          <a:xfrm>
            <a:off x="492403" y="874275"/>
            <a:ext cx="11110942"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product-dropdown-list-component.ts</a:t>
            </a:r>
          </a:p>
        </p:txBody>
      </p:sp>
      <p:pic>
        <p:nvPicPr>
          <p:cNvPr id="10" name="Picture 9">
            <a:extLst>
              <a:ext uri="{FF2B5EF4-FFF2-40B4-BE49-F238E27FC236}">
                <a16:creationId xmlns:a16="http://schemas.microsoft.com/office/drawing/2014/main" id="{6D15BD66-E798-3AC5-3979-6C603996730A}"/>
              </a:ext>
            </a:extLst>
          </p:cNvPr>
          <p:cNvPicPr>
            <a:picLocks noChangeAspect="1"/>
          </p:cNvPicPr>
          <p:nvPr/>
        </p:nvPicPr>
        <p:blipFill>
          <a:blip r:embed="rId3"/>
          <a:stretch>
            <a:fillRect/>
          </a:stretch>
        </p:blipFill>
        <p:spPr>
          <a:xfrm>
            <a:off x="764935" y="1335940"/>
            <a:ext cx="6863773" cy="4989706"/>
          </a:xfrm>
          <a:prstGeom prst="rect">
            <a:avLst/>
          </a:prstGeom>
        </p:spPr>
      </p:pic>
      <p:sp>
        <p:nvSpPr>
          <p:cNvPr id="12" name="TextBox 11">
            <a:extLst>
              <a:ext uri="{FF2B5EF4-FFF2-40B4-BE49-F238E27FC236}">
                <a16:creationId xmlns:a16="http://schemas.microsoft.com/office/drawing/2014/main" id="{A87723DC-6B1D-267C-9FC1-9D953C4CC0C6}"/>
              </a:ext>
            </a:extLst>
          </p:cNvPr>
          <p:cNvSpPr txBox="1"/>
          <p:nvPr/>
        </p:nvSpPr>
        <p:spPr>
          <a:xfrm>
            <a:off x="7901240" y="2447567"/>
            <a:ext cx="3701284" cy="1785104"/>
          </a:xfrm>
          <a:prstGeom prst="rect">
            <a:avLst/>
          </a:prstGeom>
          <a:noFill/>
        </p:spPr>
        <p:txBody>
          <a:bodyPr wrap="square" rtlCol="0">
            <a:spAutoFit/>
          </a:bodyPr>
          <a:lstStyle/>
          <a:p>
            <a:pPr algn="just"/>
            <a:r>
              <a:rPr lang="en-US" sz="2200">
                <a:latin typeface="Times New Roman" panose="02020603050405020304" pitchFamily="18" charset="0"/>
                <a:cs typeface="Times New Roman" panose="02020603050405020304" pitchFamily="18" charset="0"/>
              </a:rPr>
              <a:t>Dữ liệu lặp lại </a:t>
            </a:r>
            <a:r>
              <a:rPr lang="en-US" sz="2200" b="1">
                <a:latin typeface="Times New Roman" panose="02020603050405020304" pitchFamily="18" charset="0"/>
                <a:cs typeface="Times New Roman" panose="02020603050405020304" pitchFamily="18" charset="0"/>
              </a:rPr>
              <a:t>product-list-component.ts </a:t>
            </a:r>
            <a:r>
              <a:rPr lang="en-US" sz="2200">
                <a:latin typeface="Times New Roman" panose="02020603050405020304" pitchFamily="18" charset="0"/>
                <a:cs typeface="Times New Roman" panose="02020603050405020304" pitchFamily="18" charset="0"/>
              </a:rPr>
              <a:t>(trường hợp không dùng services để thấy được "</a:t>
            </a:r>
            <a:r>
              <a:rPr lang="en-US" sz="2200" b="1">
                <a:latin typeface="Times New Roman" panose="02020603050405020304" pitchFamily="18" charset="0"/>
                <a:cs typeface="Times New Roman" panose="02020603050405020304" pitchFamily="18" charset="0"/>
              </a:rPr>
              <a:t>Spaghetti State</a:t>
            </a:r>
            <a:r>
              <a:rPr lang="en-US" sz="2200">
                <a:latin typeface="Times New Roman" panose="02020603050405020304" pitchFamily="18" charset="0"/>
                <a:cs typeface="Times New Roman" panose="02020603050405020304" pitchFamily="18" charset="0"/>
              </a:rPr>
              <a:t>" /spəˈɡet.i steɪt /) </a:t>
            </a:r>
          </a:p>
        </p:txBody>
      </p:sp>
    </p:spTree>
    <p:extLst>
      <p:ext uri="{BB962C8B-B14F-4D97-AF65-F5344CB8AC3E}">
        <p14:creationId xmlns:p14="http://schemas.microsoft.com/office/powerpoint/2010/main" val="1214099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C411D0E-060A-C78C-3E9A-3BCC64B4A5A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8D9B8A1-099F-332F-03D6-1150C39BC2B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939322E-87CD-CE38-7638-F098C6D6183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grpSp>
        <p:nvGrpSpPr>
          <p:cNvPr id="2" name="Group 1">
            <a:extLst>
              <a:ext uri="{FF2B5EF4-FFF2-40B4-BE49-F238E27FC236}">
                <a16:creationId xmlns:a16="http://schemas.microsoft.com/office/drawing/2014/main" id="{8255ACE9-8B43-1057-66C2-E5058420659C}"/>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203786E9-0C7D-807E-D734-E28AA921D820}"/>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BFE3D56-1038-584C-3D3C-788B8726EFA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25E1791-B805-649E-FE6F-5B0A1A55D3B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E2244BB-2ED2-9D84-E7B3-77B9056FBEA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79DE7E8-7E51-3EF5-EE13-C8DF584D2BB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4" name="TextBox 23">
            <a:extLst>
              <a:ext uri="{FF2B5EF4-FFF2-40B4-BE49-F238E27FC236}">
                <a16:creationId xmlns:a16="http://schemas.microsoft.com/office/drawing/2014/main" id="{EC24F2FB-2AF2-DA5A-255D-4D1DC8E7B39B}"/>
              </a:ext>
            </a:extLst>
          </p:cNvPr>
          <p:cNvSpPr txBox="1"/>
          <p:nvPr/>
        </p:nvSpPr>
        <p:spPr>
          <a:xfrm>
            <a:off x="492403" y="874275"/>
            <a:ext cx="11110942"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product-dropdown-list-component.html</a:t>
            </a:r>
          </a:p>
        </p:txBody>
      </p:sp>
      <p:pic>
        <p:nvPicPr>
          <p:cNvPr id="9" name="Picture 8">
            <a:extLst>
              <a:ext uri="{FF2B5EF4-FFF2-40B4-BE49-F238E27FC236}">
                <a16:creationId xmlns:a16="http://schemas.microsoft.com/office/drawing/2014/main" id="{10E00884-E92B-19C9-6B22-500FFCE3A391}"/>
              </a:ext>
            </a:extLst>
          </p:cNvPr>
          <p:cNvPicPr>
            <a:picLocks noChangeAspect="1"/>
          </p:cNvPicPr>
          <p:nvPr/>
        </p:nvPicPr>
        <p:blipFill>
          <a:blip r:embed="rId3"/>
          <a:stretch>
            <a:fillRect/>
          </a:stretch>
        </p:blipFill>
        <p:spPr>
          <a:xfrm>
            <a:off x="538238" y="1455472"/>
            <a:ext cx="11324301" cy="2949196"/>
          </a:xfrm>
          <a:prstGeom prst="rect">
            <a:avLst/>
          </a:prstGeom>
        </p:spPr>
      </p:pic>
    </p:spTree>
    <p:extLst>
      <p:ext uri="{BB962C8B-B14F-4D97-AF65-F5344CB8AC3E}">
        <p14:creationId xmlns:p14="http://schemas.microsoft.com/office/powerpoint/2010/main" val="42078251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D98C228-7D96-F16F-D666-18FD6F812BC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60858DA8-970B-D49C-116F-87949A30011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664FAA52-5390-DCCC-7FCE-6F25B6EF158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13</a:t>
            </a:fld>
            <a:endParaRPr/>
          </a:p>
        </p:txBody>
      </p:sp>
      <p:grpSp>
        <p:nvGrpSpPr>
          <p:cNvPr id="2" name="Group 1">
            <a:extLst>
              <a:ext uri="{FF2B5EF4-FFF2-40B4-BE49-F238E27FC236}">
                <a16:creationId xmlns:a16="http://schemas.microsoft.com/office/drawing/2014/main" id="{9E658D94-DA9D-5847-E39A-0D5708F0AECC}"/>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B83CFC4B-0B55-5FBF-5143-923963BAC26A}"/>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018208AB-D53B-EBED-85A2-9B3609C50794}"/>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6DABAA2-0B23-D463-AAD1-78974FB9C4B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915F2F1-E2EB-DC1B-B3F9-D2B1A3681B2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DA1853D-B5D0-7F6C-ED3B-76C78D5B3FA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24" name="TextBox 23">
            <a:extLst>
              <a:ext uri="{FF2B5EF4-FFF2-40B4-BE49-F238E27FC236}">
                <a16:creationId xmlns:a16="http://schemas.microsoft.com/office/drawing/2014/main" id="{B52D0739-B0D5-0328-FACA-A982CB07005F}"/>
              </a:ext>
            </a:extLst>
          </p:cNvPr>
          <p:cNvSpPr txBox="1"/>
          <p:nvPr/>
        </p:nvSpPr>
        <p:spPr>
          <a:xfrm>
            <a:off x="492403" y="874275"/>
            <a:ext cx="11110942"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app.html</a:t>
            </a:r>
          </a:p>
        </p:txBody>
      </p:sp>
      <p:pic>
        <p:nvPicPr>
          <p:cNvPr id="10" name="Picture 9">
            <a:extLst>
              <a:ext uri="{FF2B5EF4-FFF2-40B4-BE49-F238E27FC236}">
                <a16:creationId xmlns:a16="http://schemas.microsoft.com/office/drawing/2014/main" id="{588F6107-D24A-EDFF-AC3A-8552EE24150D}"/>
              </a:ext>
            </a:extLst>
          </p:cNvPr>
          <p:cNvPicPr>
            <a:picLocks noChangeAspect="1"/>
          </p:cNvPicPr>
          <p:nvPr/>
        </p:nvPicPr>
        <p:blipFill>
          <a:blip r:embed="rId3"/>
          <a:stretch>
            <a:fillRect/>
          </a:stretch>
        </p:blipFill>
        <p:spPr>
          <a:xfrm>
            <a:off x="1462215" y="2836392"/>
            <a:ext cx="4496190" cy="3147333"/>
          </a:xfrm>
          <a:prstGeom prst="rect">
            <a:avLst/>
          </a:prstGeom>
        </p:spPr>
      </p:pic>
      <p:sp>
        <p:nvSpPr>
          <p:cNvPr id="12" name="TextBox 11">
            <a:extLst>
              <a:ext uri="{FF2B5EF4-FFF2-40B4-BE49-F238E27FC236}">
                <a16:creationId xmlns:a16="http://schemas.microsoft.com/office/drawing/2014/main" id="{DBF20082-804F-B7BC-8FC0-2C08222DEA1D}"/>
              </a:ext>
            </a:extLst>
          </p:cNvPr>
          <p:cNvSpPr txBox="1"/>
          <p:nvPr/>
        </p:nvSpPr>
        <p:spPr>
          <a:xfrm>
            <a:off x="728132" y="1610968"/>
            <a:ext cx="11028440" cy="966227"/>
          </a:xfrm>
          <a:prstGeom prst="rect">
            <a:avLst/>
          </a:prstGeom>
          <a:noFill/>
          <a:ln>
            <a:solidFill>
              <a:schemeClr val="tx1"/>
            </a:solidFill>
          </a:ln>
        </p:spPr>
        <p:txBody>
          <a:bodyPr wrap="square">
            <a:spAutoFit/>
          </a:bodyPr>
          <a:lstStyle/>
          <a:p>
            <a:pPr>
              <a:lnSpc>
                <a:spcPct val="150000"/>
              </a:lnSpc>
              <a:buNone/>
            </a:pPr>
            <a:r>
              <a:rPr lang="en-US" sz="2000" b="0">
                <a:solidFill>
                  <a:srgbClr val="800000"/>
                </a:solidFill>
                <a:effectLst/>
                <a:latin typeface="Consolas" panose="020B0609020204030204" pitchFamily="49" charset="0"/>
              </a:rPr>
              <a:t>&lt;app-product-dropdown-list-component&gt;&lt;/app-product-dropdown-list-component&gt;</a:t>
            </a:r>
            <a:endParaRPr lang="en-US" sz="2000" b="0">
              <a:solidFill>
                <a:srgbClr val="000000"/>
              </a:solidFill>
              <a:effectLst/>
              <a:latin typeface="Consolas" panose="020B0609020204030204" pitchFamily="49" charset="0"/>
            </a:endParaRPr>
          </a:p>
          <a:p>
            <a:pPr>
              <a:lnSpc>
                <a:spcPct val="150000"/>
              </a:lnSpc>
              <a:buNone/>
            </a:pPr>
            <a:r>
              <a:rPr lang="en-US" sz="2000" b="0">
                <a:solidFill>
                  <a:srgbClr val="800000"/>
                </a:solidFill>
                <a:effectLst/>
                <a:latin typeface="Consolas" panose="020B0609020204030204" pitchFamily="49" charset="0"/>
              </a:rPr>
              <a:t>&lt;router-outlet</a:t>
            </a:r>
            <a:r>
              <a:rPr lang="en-US" sz="2000" b="0">
                <a:solidFill>
                  <a:srgbClr val="000000"/>
                </a:solidFill>
                <a:effectLst/>
                <a:latin typeface="Consolas" panose="020B0609020204030204" pitchFamily="49" charset="0"/>
              </a:rPr>
              <a:t> </a:t>
            </a:r>
            <a:r>
              <a:rPr lang="en-US" sz="2000" b="0">
                <a:solidFill>
                  <a:srgbClr val="800000"/>
                </a:solidFill>
                <a:effectLst/>
                <a:latin typeface="Consolas" panose="020B0609020204030204" pitchFamily="49" charset="0"/>
              </a:rPr>
              <a:t>/&gt;</a:t>
            </a:r>
            <a:endParaRPr lang="en-US" sz="2000" b="0">
              <a:solidFill>
                <a:srgbClr val="000000"/>
              </a:solidFill>
              <a:effectLst/>
              <a:latin typeface="Consolas" panose="020B0609020204030204" pitchFamily="49" charset="0"/>
            </a:endParaRPr>
          </a:p>
        </p:txBody>
      </p:sp>
      <p:sp>
        <p:nvSpPr>
          <p:cNvPr id="13" name="TextBox 12">
            <a:extLst>
              <a:ext uri="{FF2B5EF4-FFF2-40B4-BE49-F238E27FC236}">
                <a16:creationId xmlns:a16="http://schemas.microsoft.com/office/drawing/2014/main" id="{33443AA7-54FE-F97A-8F64-3CCE8EDBC2DC}"/>
              </a:ext>
            </a:extLst>
          </p:cNvPr>
          <p:cNvSpPr txBox="1"/>
          <p:nvPr/>
        </p:nvSpPr>
        <p:spPr>
          <a:xfrm>
            <a:off x="6636615" y="3123374"/>
            <a:ext cx="4851824" cy="2123658"/>
          </a:xfrm>
          <a:prstGeom prst="rect">
            <a:avLst/>
          </a:prstGeom>
          <a:noFill/>
        </p:spPr>
        <p:txBody>
          <a:bodyPr wrap="square" rtlCol="0">
            <a:spAutoFit/>
          </a:bodyPr>
          <a:lstStyle/>
          <a:p>
            <a:pPr algn="just"/>
            <a:r>
              <a:rPr lang="en-US" sz="2200" b="1" u="sng">
                <a:latin typeface="Times New Roman" panose="02020603050405020304" pitchFamily="18" charset="0"/>
                <a:cs typeface="Times New Roman" panose="02020603050405020304" pitchFamily="18" charset="0"/>
              </a:rPr>
              <a:t>Lợi ích:</a:t>
            </a:r>
          </a:p>
          <a:p>
            <a:pPr algn="just"/>
            <a:r>
              <a:rPr lang="en-US" sz="2200">
                <a:latin typeface="Times New Roman" panose="02020603050405020304" pitchFamily="18" charset="0"/>
                <a:cs typeface="Times New Roman" panose="02020603050405020304" pitchFamily="18" charset="0"/>
              </a:rPr>
              <a:t>Cùng một loại dữ liệu có thể hiển thị với nhiều hình thức khác nhau</a:t>
            </a:r>
          </a:p>
          <a:p>
            <a:pPr algn="just"/>
            <a:r>
              <a:rPr lang="en-US" sz="2200" b="1" u="sng">
                <a:latin typeface="Times New Roman" panose="02020603050405020304" pitchFamily="18" charset="0"/>
                <a:cs typeface="Times New Roman" panose="02020603050405020304" pitchFamily="18" charset="0"/>
              </a:rPr>
              <a:t>Vấn đề phân mảnh: </a:t>
            </a:r>
          </a:p>
          <a:p>
            <a:pPr algn="just"/>
            <a:r>
              <a:rPr lang="en-US" sz="2200">
                <a:latin typeface="Times New Roman" panose="02020603050405020304" pitchFamily="18" charset="0"/>
                <a:cs typeface="Times New Roman" panose="02020603050405020304" pitchFamily="18" charset="0"/>
              </a:rPr>
              <a:t>Dữ liệu đang bị lặp lại ở các component khác nhau.</a:t>
            </a:r>
          </a:p>
        </p:txBody>
      </p:sp>
    </p:spTree>
    <p:extLst>
      <p:ext uri="{BB962C8B-B14F-4D97-AF65-F5344CB8AC3E}">
        <p14:creationId xmlns:p14="http://schemas.microsoft.com/office/powerpoint/2010/main" val="2430281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7E228EC-FA96-BAD5-E70E-E2F1E8525162}"/>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6D6CE6B-CB2C-9DCA-BD1A-0E922535052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2415A1C-EBAC-BE08-12C5-B32E01FAE5B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grpSp>
        <p:nvGrpSpPr>
          <p:cNvPr id="2" name="Group 1">
            <a:extLst>
              <a:ext uri="{FF2B5EF4-FFF2-40B4-BE49-F238E27FC236}">
                <a16:creationId xmlns:a16="http://schemas.microsoft.com/office/drawing/2014/main" id="{BD850278-9793-48C5-81AA-A51B33F17747}"/>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95B73FF5-334A-AB9A-CDF7-9ACB07F693A3}"/>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3.1.</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Vấn đề chia sẻ dữ liệu trên nhiều View khác nhau</a:t>
              </a:r>
              <a:endParaRPr lang="en-US" sz="24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9E5A1F1-494B-EBE4-9B94-32A1E47A41E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A18100B-AF02-9648-F8B9-A06876322B7E}"/>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D775B37-61EE-65A0-CA08-EFD9251D400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C119036-7BE5-F887-50C2-22FDF0D079D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grpSp>
        <p:nvGrpSpPr>
          <p:cNvPr id="17" name="Group 16">
            <a:extLst>
              <a:ext uri="{FF2B5EF4-FFF2-40B4-BE49-F238E27FC236}">
                <a16:creationId xmlns:a16="http://schemas.microsoft.com/office/drawing/2014/main" id="{C2F80229-B550-9A6B-5BA6-B3FD46ECF0B2}"/>
              </a:ext>
            </a:extLst>
          </p:cNvPr>
          <p:cNvGrpSpPr/>
          <p:nvPr/>
        </p:nvGrpSpPr>
        <p:grpSpPr>
          <a:xfrm>
            <a:off x="3588987" y="1036569"/>
            <a:ext cx="5716376" cy="2371067"/>
            <a:chOff x="3204380" y="2286000"/>
            <a:chExt cx="5716376" cy="2371067"/>
          </a:xfrm>
        </p:grpSpPr>
        <p:sp>
          <p:nvSpPr>
            <p:cNvPr id="18" name="Rectangle 17">
              <a:extLst>
                <a:ext uri="{FF2B5EF4-FFF2-40B4-BE49-F238E27FC236}">
                  <a16:creationId xmlns:a16="http://schemas.microsoft.com/office/drawing/2014/main" id="{111219D4-C1F3-1841-25F9-4F7820DD0C45}"/>
                </a:ext>
              </a:extLst>
            </p:cNvPr>
            <p:cNvSpPr/>
            <p:nvPr/>
          </p:nvSpPr>
          <p:spPr>
            <a:xfrm>
              <a:off x="3204380" y="3783738"/>
              <a:ext cx="2443755" cy="860454"/>
            </a:xfrm>
            <a:prstGeom prst="rect">
              <a:avLst/>
            </a:prstGeom>
            <a:blipFill>
              <a:blip r:embed="rId3">
                <a:duotone>
                  <a:sysClr val="windowText" lastClr="000000">
                    <a:shade val="48000"/>
                  </a:sysClr>
                  <a:sysClr val="windowText" lastClr="000000">
                    <a:tint val="96000"/>
                    <a:satMod val="150000"/>
                  </a:sysClr>
                </a:duotone>
              </a:blip>
              <a:tile tx="0" ty="0" sx="80000" sy="80000" flip="none" algn="tl"/>
            </a:blipFill>
            <a:ln>
              <a:noFill/>
            </a:ln>
            <a:effectLst/>
          </p:spPr>
          <p:txBody>
            <a:bodyPr rtlCol="0" anchor="ctr"/>
            <a:lstStyle/>
            <a:p>
              <a:pPr lvl="0" algn="ctr">
                <a:buClrTx/>
                <a:defRPr/>
              </a:pPr>
              <a:r>
                <a:rPr lang="en-VN" sz="1800" b="1" kern="1200">
                  <a:solidFill>
                    <a:prstClr val="white"/>
                  </a:solidFill>
                  <a:latin typeface="Georgia"/>
                  <a:ea typeface="+mn-ea"/>
                  <a:cs typeface="+mn-cs"/>
                </a:rPr>
                <a:t>product-list-component</a:t>
              </a:r>
              <a:endParaRPr kumimoji="0" lang="en-VN" sz="1800" b="1" i="0" u="none" strike="noStrike" kern="1200" cap="none" spc="0" normalizeH="0" baseline="0" noProof="0">
                <a:ln>
                  <a:noFill/>
                </a:ln>
                <a:solidFill>
                  <a:prstClr val="white"/>
                </a:solidFill>
                <a:effectLst/>
                <a:uLnTx/>
                <a:uFillTx/>
                <a:latin typeface="Georgia"/>
                <a:ea typeface="+mn-ea"/>
                <a:cs typeface="+mn-cs"/>
              </a:endParaRPr>
            </a:p>
          </p:txBody>
        </p:sp>
        <p:sp>
          <p:nvSpPr>
            <p:cNvPr id="19" name="Rectangle 18">
              <a:extLst>
                <a:ext uri="{FF2B5EF4-FFF2-40B4-BE49-F238E27FC236}">
                  <a16:creationId xmlns:a16="http://schemas.microsoft.com/office/drawing/2014/main" id="{5405EB55-8CA7-81E9-A222-3397B598E1C2}"/>
                </a:ext>
              </a:extLst>
            </p:cNvPr>
            <p:cNvSpPr/>
            <p:nvPr/>
          </p:nvSpPr>
          <p:spPr>
            <a:xfrm>
              <a:off x="6477000" y="3796613"/>
              <a:ext cx="2443756" cy="860454"/>
            </a:xfrm>
            <a:prstGeom prst="rect">
              <a:avLst/>
            </a:prstGeom>
            <a:solidFill>
              <a:srgbClr val="17406D"/>
            </a:solidFill>
            <a:ln>
              <a:noFill/>
            </a:ln>
            <a:effectLst/>
          </p:spPr>
          <p:txBody>
            <a:bodyPr rtlCol="0" anchor="ctr"/>
            <a:lstStyle/>
            <a:p>
              <a:pPr lvl="0" algn="ctr">
                <a:buClrTx/>
                <a:defRPr/>
              </a:pPr>
              <a:r>
                <a:rPr lang="en-US" sz="1800" b="1" kern="1200">
                  <a:solidFill>
                    <a:prstClr val="white"/>
                  </a:solidFill>
                  <a:latin typeface="Georgia"/>
                </a:rPr>
                <a:t>product-dropdown-list-component</a:t>
              </a:r>
              <a:endParaRPr lang="en-VN" sz="1800" b="1" kern="1200">
                <a:solidFill>
                  <a:prstClr val="white"/>
                </a:solidFill>
                <a:latin typeface="Georgia"/>
              </a:endParaRPr>
            </a:p>
          </p:txBody>
        </p:sp>
        <p:sp>
          <p:nvSpPr>
            <p:cNvPr id="20" name="TextBox 19">
              <a:extLst>
                <a:ext uri="{FF2B5EF4-FFF2-40B4-BE49-F238E27FC236}">
                  <a16:creationId xmlns:a16="http://schemas.microsoft.com/office/drawing/2014/main" id="{F0E56C82-D665-B341-CBFB-ED8F3F311541}"/>
                </a:ext>
              </a:extLst>
            </p:cNvPr>
            <p:cNvSpPr txBox="1"/>
            <p:nvPr/>
          </p:nvSpPr>
          <p:spPr>
            <a:xfrm>
              <a:off x="3883522" y="2743383"/>
              <a:ext cx="1000595"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VN" sz="1800" b="0" i="1" u="none" strike="noStrike" kern="1200" cap="none" spc="0" normalizeH="0" baseline="0" noProof="0">
                  <a:ln>
                    <a:noFill/>
                  </a:ln>
                  <a:solidFill>
                    <a:prstClr val="black"/>
                  </a:solidFill>
                  <a:effectLst/>
                  <a:uLnTx/>
                  <a:uFillTx/>
                  <a:latin typeface="Georgia"/>
                  <a:ea typeface="+mn-ea"/>
                  <a:cs typeface="+mn-cs"/>
                </a:rPr>
                <a:t>Injector</a:t>
              </a:r>
            </a:p>
          </p:txBody>
        </p:sp>
        <p:sp>
          <p:nvSpPr>
            <p:cNvPr id="21" name="Rounded Rectangle 2">
              <a:extLst>
                <a:ext uri="{FF2B5EF4-FFF2-40B4-BE49-F238E27FC236}">
                  <a16:creationId xmlns:a16="http://schemas.microsoft.com/office/drawing/2014/main" id="{D0825809-117E-AA20-DC1A-894A86CE6F51}"/>
                </a:ext>
              </a:extLst>
            </p:cNvPr>
            <p:cNvSpPr/>
            <p:nvPr/>
          </p:nvSpPr>
          <p:spPr>
            <a:xfrm>
              <a:off x="5105400" y="2286000"/>
              <a:ext cx="1828800" cy="457383"/>
            </a:xfrm>
            <a:prstGeom prst="roundRect">
              <a:avLst/>
            </a:prstGeom>
            <a:gradFill flip="none" rotWithShape="1">
              <a:gsLst>
                <a:gs pos="0">
                  <a:srgbClr val="0F6FC6">
                    <a:lumMod val="67000"/>
                  </a:srgbClr>
                </a:gs>
                <a:gs pos="48000">
                  <a:srgbClr val="0F6FC6">
                    <a:lumMod val="97000"/>
                    <a:lumOff val="3000"/>
                  </a:srgbClr>
                </a:gs>
                <a:gs pos="100000">
                  <a:srgbClr val="0F6FC6">
                    <a:lumMod val="60000"/>
                    <a:lumOff val="40000"/>
                  </a:srgbClr>
                </a:gs>
              </a:gsLst>
              <a:lin ang="16200000" scaled="1"/>
              <a:tileRect/>
            </a:gra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VN" sz="1800" b="0" i="0" u="none" strike="noStrike" kern="1200" cap="none" spc="0" normalizeH="0" baseline="0" noProof="0">
                  <a:ln>
                    <a:noFill/>
                  </a:ln>
                  <a:solidFill>
                    <a:prstClr val="white"/>
                  </a:solidFill>
                  <a:effectLst/>
                  <a:uLnTx/>
                  <a:uFillTx/>
                  <a:latin typeface="Georgia"/>
                  <a:ea typeface="+mn-ea"/>
                  <a:cs typeface="+mn-cs"/>
                </a:rPr>
                <a:t>ProductService</a:t>
              </a:r>
            </a:p>
          </p:txBody>
        </p:sp>
        <p:cxnSp>
          <p:nvCxnSpPr>
            <p:cNvPr id="22" name="Straight Arrow Connector 21">
              <a:extLst>
                <a:ext uri="{FF2B5EF4-FFF2-40B4-BE49-F238E27FC236}">
                  <a16:creationId xmlns:a16="http://schemas.microsoft.com/office/drawing/2014/main" id="{469E76BF-677D-9C84-74BD-F7196B6CB1CA}"/>
                </a:ext>
              </a:extLst>
            </p:cNvPr>
            <p:cNvCxnSpPr>
              <a:stCxn id="21" idx="2"/>
              <a:endCxn id="18" idx="0"/>
            </p:cNvCxnSpPr>
            <p:nvPr/>
          </p:nvCxnSpPr>
          <p:spPr>
            <a:xfrm flipH="1">
              <a:off x="4426258" y="2743383"/>
              <a:ext cx="1593542" cy="1040355"/>
            </a:xfrm>
            <a:prstGeom prst="straightConnector1">
              <a:avLst/>
            </a:prstGeom>
            <a:noFill/>
            <a:ln w="9525" cap="flat" cmpd="sng" algn="ctr">
              <a:solidFill>
                <a:srgbClr val="17406D">
                  <a:lumMod val="75000"/>
                </a:srgbClr>
              </a:solidFill>
              <a:prstDash val="solid"/>
              <a:tailEnd type="triangle"/>
            </a:ln>
            <a:effectLst/>
          </p:spPr>
        </p:cxnSp>
        <p:cxnSp>
          <p:nvCxnSpPr>
            <p:cNvPr id="23" name="Straight Arrow Connector 22">
              <a:extLst>
                <a:ext uri="{FF2B5EF4-FFF2-40B4-BE49-F238E27FC236}">
                  <a16:creationId xmlns:a16="http://schemas.microsoft.com/office/drawing/2014/main" id="{2D675035-FB2F-EA89-DF9C-F1FB17A711C4}"/>
                </a:ext>
              </a:extLst>
            </p:cNvPr>
            <p:cNvCxnSpPr>
              <a:stCxn id="21" idx="2"/>
              <a:endCxn id="19" idx="0"/>
            </p:cNvCxnSpPr>
            <p:nvPr/>
          </p:nvCxnSpPr>
          <p:spPr>
            <a:xfrm>
              <a:off x="6019800" y="2743383"/>
              <a:ext cx="1679078" cy="1053230"/>
            </a:xfrm>
            <a:prstGeom prst="straightConnector1">
              <a:avLst/>
            </a:prstGeom>
            <a:noFill/>
            <a:ln w="9525" cap="flat" cmpd="sng" algn="ctr">
              <a:solidFill>
                <a:srgbClr val="17406D">
                  <a:lumMod val="75000"/>
                </a:srgbClr>
              </a:solidFill>
              <a:prstDash val="solid"/>
              <a:tailEnd type="triangle"/>
            </a:ln>
            <a:effectLst/>
          </p:spPr>
        </p:cxnSp>
      </p:grpSp>
      <p:pic>
        <p:nvPicPr>
          <p:cNvPr id="11" name="Picture 10">
            <a:extLst>
              <a:ext uri="{FF2B5EF4-FFF2-40B4-BE49-F238E27FC236}">
                <a16:creationId xmlns:a16="http://schemas.microsoft.com/office/drawing/2014/main" id="{5C8E7EDA-1DE0-EAEB-F05F-4ACC665F0543}"/>
              </a:ext>
            </a:extLst>
          </p:cNvPr>
          <p:cNvPicPr>
            <a:picLocks noChangeAspect="1"/>
          </p:cNvPicPr>
          <p:nvPr/>
        </p:nvPicPr>
        <p:blipFill>
          <a:blip r:embed="rId4"/>
          <a:srcRect t="14381" r="58583" b="10478"/>
          <a:stretch>
            <a:fillRect/>
          </a:stretch>
        </p:blipFill>
        <p:spPr>
          <a:xfrm>
            <a:off x="2438047" y="3534319"/>
            <a:ext cx="2998220" cy="2791327"/>
          </a:xfrm>
          <a:prstGeom prst="rect">
            <a:avLst/>
          </a:prstGeom>
        </p:spPr>
      </p:pic>
      <p:pic>
        <p:nvPicPr>
          <p:cNvPr id="24" name="Picture 23">
            <a:extLst>
              <a:ext uri="{FF2B5EF4-FFF2-40B4-BE49-F238E27FC236}">
                <a16:creationId xmlns:a16="http://schemas.microsoft.com/office/drawing/2014/main" id="{E8AA985A-4210-5D34-7CC3-EA8878A7EFA8}"/>
              </a:ext>
            </a:extLst>
          </p:cNvPr>
          <p:cNvPicPr>
            <a:picLocks noChangeAspect="1"/>
          </p:cNvPicPr>
          <p:nvPr/>
        </p:nvPicPr>
        <p:blipFill>
          <a:blip r:embed="rId5"/>
          <a:stretch>
            <a:fillRect/>
          </a:stretch>
        </p:blipFill>
        <p:spPr>
          <a:xfrm>
            <a:off x="6861607" y="3534319"/>
            <a:ext cx="4496190" cy="3147333"/>
          </a:xfrm>
          <a:prstGeom prst="rect">
            <a:avLst/>
          </a:prstGeom>
        </p:spPr>
      </p:pic>
      <p:sp>
        <p:nvSpPr>
          <p:cNvPr id="26" name="TextBox 25">
            <a:extLst>
              <a:ext uri="{FF2B5EF4-FFF2-40B4-BE49-F238E27FC236}">
                <a16:creationId xmlns:a16="http://schemas.microsoft.com/office/drawing/2014/main" id="{881F4124-0621-57B1-5073-01E272D15779}"/>
              </a:ext>
            </a:extLst>
          </p:cNvPr>
          <p:cNvSpPr txBox="1"/>
          <p:nvPr/>
        </p:nvSpPr>
        <p:spPr>
          <a:xfrm>
            <a:off x="7540090" y="822981"/>
            <a:ext cx="4415862" cy="830997"/>
          </a:xfrm>
          <a:prstGeom prst="rect">
            <a:avLst/>
          </a:prstGeom>
          <a:noFill/>
        </p:spPr>
        <p:txBody>
          <a:bodyPr wrap="square">
            <a:spAutoFit/>
          </a:bodyPr>
          <a:lstStyle/>
          <a:p>
            <a:r>
              <a:rPr lang="en-US" sz="2400">
                <a:latin typeface="Times New Roman" panose="02020603050405020304" pitchFamily="18" charset="0"/>
                <a:cs typeface="Times New Roman" panose="02020603050405020304" pitchFamily="18" charset="0"/>
              </a:rPr>
              <a:t>Xử lý:</a:t>
            </a:r>
          </a:p>
          <a:p>
            <a:r>
              <a:rPr lang="en-US" sz="2400">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Spaghetti State</a:t>
            </a:r>
            <a:r>
              <a:rPr lang="en-US" sz="2400">
                <a:latin typeface="Times New Roman" panose="02020603050405020304" pitchFamily="18" charset="0"/>
                <a:cs typeface="Times New Roman" panose="02020603050405020304" pitchFamily="18" charset="0"/>
              </a:rPr>
              <a:t>" /spəˈɡet.i steɪt /</a:t>
            </a:r>
            <a:endParaRPr lang="en-US" sz="2400"/>
          </a:p>
        </p:txBody>
      </p:sp>
    </p:spTree>
    <p:extLst>
      <p:ext uri="{BB962C8B-B14F-4D97-AF65-F5344CB8AC3E}">
        <p14:creationId xmlns:p14="http://schemas.microsoft.com/office/powerpoint/2010/main" val="2108696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54327B4-5C46-CCDE-5F72-8B0DFAAF230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630A4BC-1677-2EFA-BE2C-6F8FED01E06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B60809E-249C-8B70-8D06-B9F7BD5325A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grpSp>
        <p:nvGrpSpPr>
          <p:cNvPr id="2" name="Group 1">
            <a:extLst>
              <a:ext uri="{FF2B5EF4-FFF2-40B4-BE49-F238E27FC236}">
                <a16:creationId xmlns:a16="http://schemas.microsoft.com/office/drawing/2014/main" id="{58650BD4-7D1E-25C7-1800-70DB9BC492DB}"/>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F5379E24-0147-4195-36E5-3DC9A867F27E}"/>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lập trình Service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266F8BDC-3D7E-BB29-9F7C-E1F658F4E1C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D7F4A30-B613-F183-A3A5-1F1FA53D547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4AAC3C8F-C8E7-15BE-8DB5-685FD53FEC7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E528AD6-2CF0-9554-3096-AA665FA5252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Rectangle 1">
            <a:extLst>
              <a:ext uri="{FF2B5EF4-FFF2-40B4-BE49-F238E27FC236}">
                <a16:creationId xmlns:a16="http://schemas.microsoft.com/office/drawing/2014/main" id="{F11E156D-5C0C-1BAC-3E16-6CC192CECF99}"/>
              </a:ext>
            </a:extLst>
          </p:cNvPr>
          <p:cNvSpPr>
            <a:spLocks noChangeArrowheads="1"/>
          </p:cNvSpPr>
          <p:nvPr/>
        </p:nvSpPr>
        <p:spPr bwMode="auto">
          <a:xfrm>
            <a:off x="506210" y="831421"/>
            <a:ext cx="11375765" cy="5104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Lệnh </a:t>
            </a:r>
            <a:r>
              <a:rPr kumimoji="0" lang="en-US" altLang="en-US" sz="2800" b="1"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ng g s</a:t>
            </a:r>
            <a:endPar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Khi Ta chạy lệnh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ng g s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&lt;tên-service&gt; (viết tắt của ng generate service &lt;name&gt;), Angular CLI sẽ tự động:</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Tạo ra file </a:t>
            </a:r>
            <a:r>
              <a:rPr kumimoji="0" lang="en-US" altLang="en-US" sz="2400" b="0"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.ts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định nghĩa lớp Service.</a:t>
            </a: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Tạo ra file </a:t>
            </a:r>
            <a:r>
              <a:rPr kumimoji="0" lang="en-US" altLang="en-US" sz="2400" b="0" i="0" u="none" strike="noStrike" cap="none" normalizeH="0" baseline="0">
                <a:ln>
                  <a:noFill/>
                </a:ln>
                <a:solidFill>
                  <a:srgbClr val="FF0000"/>
                </a:solidFill>
                <a:effectLst/>
                <a:latin typeface="Times New Roman" panose="02020603050405020304" pitchFamily="18" charset="0"/>
                <a:cs typeface="Times New Roman" panose="02020603050405020304" pitchFamily="18" charset="0"/>
              </a:rPr>
              <a:t>.spec.ts </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cho mục đích Unit Testing.</a:t>
            </a: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Tự động thêm Decorator @Injectable({ providedIn: 'root'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Lưu ý:</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providedIn: 'root' là cấu hình hiện đại, giúp Service trở thành một </a:t>
            </a: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Singleton</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(chỉ có duy nhất một instance cho toàn bộ ứng dụng), đảm bảo trạng thái dữ liệu được nhất quán ở mọi nơi.</a:t>
            </a:r>
          </a:p>
        </p:txBody>
      </p:sp>
    </p:spTree>
    <p:extLst>
      <p:ext uri="{BB962C8B-B14F-4D97-AF65-F5344CB8AC3E}">
        <p14:creationId xmlns:p14="http://schemas.microsoft.com/office/powerpoint/2010/main" val="10073708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4C0C1DC-5040-AAC4-0220-209E6B81563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0902A94-24D1-329D-FC85-9AC09F4A99D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0778C88-41C0-F806-4FFD-E32EFA5310CD}"/>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grpSp>
        <p:nvGrpSpPr>
          <p:cNvPr id="2" name="Group 1">
            <a:extLst>
              <a:ext uri="{FF2B5EF4-FFF2-40B4-BE49-F238E27FC236}">
                <a16:creationId xmlns:a16="http://schemas.microsoft.com/office/drawing/2014/main" id="{F3F51E9C-129E-957F-C6D6-C8624842E000}"/>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4595E639-C773-F714-064A-51887A617881}"/>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lập trình Service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B1EEC555-3BAA-0927-D9ED-AB7B99D709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08E5D2B6-CB88-A288-70CF-C7DD3FEB2E1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74CDDF0-945A-EF81-ECC7-AC8964781E2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BAA5BFD-C800-C55C-3DEC-067E9571A9F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384F980C-9A6B-756E-7420-CE23F62C6D2D}"/>
              </a:ext>
            </a:extLst>
          </p:cNvPr>
          <p:cNvPicPr>
            <a:picLocks noChangeAspect="1"/>
          </p:cNvPicPr>
          <p:nvPr/>
        </p:nvPicPr>
        <p:blipFill>
          <a:blip r:embed="rId3"/>
          <a:stretch>
            <a:fillRect/>
          </a:stretch>
        </p:blipFill>
        <p:spPr>
          <a:xfrm>
            <a:off x="664479" y="1602940"/>
            <a:ext cx="5014395" cy="3528366"/>
          </a:xfrm>
          <a:prstGeom prst="rect">
            <a:avLst/>
          </a:prstGeom>
        </p:spPr>
      </p:pic>
      <p:pic>
        <p:nvPicPr>
          <p:cNvPr id="11" name="Picture 10">
            <a:extLst>
              <a:ext uri="{FF2B5EF4-FFF2-40B4-BE49-F238E27FC236}">
                <a16:creationId xmlns:a16="http://schemas.microsoft.com/office/drawing/2014/main" id="{1DBD9197-6E0D-9DC6-532D-C7044C80C532}"/>
              </a:ext>
            </a:extLst>
          </p:cNvPr>
          <p:cNvPicPr>
            <a:picLocks noChangeAspect="1"/>
          </p:cNvPicPr>
          <p:nvPr/>
        </p:nvPicPr>
        <p:blipFill>
          <a:blip r:embed="rId4"/>
          <a:stretch>
            <a:fillRect/>
          </a:stretch>
        </p:blipFill>
        <p:spPr>
          <a:xfrm>
            <a:off x="7510059" y="1602940"/>
            <a:ext cx="3840813" cy="3528366"/>
          </a:xfrm>
          <a:prstGeom prst="rect">
            <a:avLst/>
          </a:prstGeom>
        </p:spPr>
      </p:pic>
      <p:sp>
        <p:nvSpPr>
          <p:cNvPr id="12" name="TextBox 11">
            <a:extLst>
              <a:ext uri="{FF2B5EF4-FFF2-40B4-BE49-F238E27FC236}">
                <a16:creationId xmlns:a16="http://schemas.microsoft.com/office/drawing/2014/main" id="{3C94CD2F-6E2E-975C-3C7A-9433F96F2BC5}"/>
              </a:ext>
            </a:extLst>
          </p:cNvPr>
          <p:cNvSpPr txBox="1"/>
          <p:nvPr/>
        </p:nvSpPr>
        <p:spPr>
          <a:xfrm>
            <a:off x="492403" y="874275"/>
            <a:ext cx="11110942"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Tạo thư mục </a:t>
            </a:r>
            <a:r>
              <a:rPr lang="en-US" sz="2400" b="1">
                <a:latin typeface="Times New Roman" panose="02020603050405020304" pitchFamily="18" charset="0"/>
                <a:cs typeface="Times New Roman" panose="02020603050405020304" pitchFamily="18" charset="0"/>
              </a:rPr>
              <a:t>services</a:t>
            </a:r>
            <a:r>
              <a:rPr lang="en-US" sz="2400">
                <a:latin typeface="Times New Roman" panose="02020603050405020304" pitchFamily="18" charset="0"/>
                <a:cs typeface="Times New Roman" panose="02020603050405020304" pitchFamily="18" charset="0"/>
              </a:rPr>
              <a:t> để phân loại và lưu trữ các lớp services</a:t>
            </a:r>
          </a:p>
        </p:txBody>
      </p:sp>
      <p:sp>
        <p:nvSpPr>
          <p:cNvPr id="13" name="Arrow: Right 12">
            <a:extLst>
              <a:ext uri="{FF2B5EF4-FFF2-40B4-BE49-F238E27FC236}">
                <a16:creationId xmlns:a16="http://schemas.microsoft.com/office/drawing/2014/main" id="{A4477CFC-1DD1-A342-6D78-7EA71F1ACF47}"/>
              </a:ext>
            </a:extLst>
          </p:cNvPr>
          <p:cNvSpPr/>
          <p:nvPr/>
        </p:nvSpPr>
        <p:spPr>
          <a:xfrm>
            <a:off x="6047874" y="3176337"/>
            <a:ext cx="792938" cy="357510"/>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473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7D85EBF-F1F3-FD3F-769B-493DF96D91E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925DCEC-7851-3E42-E247-99A9602FE80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E632B88-0244-AA20-E08E-EC6A293D78A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grpSp>
        <p:nvGrpSpPr>
          <p:cNvPr id="2" name="Group 1">
            <a:extLst>
              <a:ext uri="{FF2B5EF4-FFF2-40B4-BE49-F238E27FC236}">
                <a16:creationId xmlns:a16="http://schemas.microsoft.com/office/drawing/2014/main" id="{5F3C911D-C027-B2BB-A584-63163EACF60D}"/>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4C04D0C8-7729-B0A1-1AE8-B4B692C1B841}"/>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lập trình Service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59CF06D4-2077-BBE5-A8C0-9EE16879DE6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1CFDC09-9CD5-5889-6AF2-19380643856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7D897CCF-30C4-9D1A-9397-D3227557E27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9DB7A86-9EB8-9257-577C-097187D6A3B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455AD809-E3DC-6418-858C-044F49FA4294}"/>
              </a:ext>
            </a:extLst>
          </p:cNvPr>
          <p:cNvSpPr txBox="1"/>
          <p:nvPr/>
        </p:nvSpPr>
        <p:spPr>
          <a:xfrm>
            <a:off x="492403" y="874275"/>
            <a:ext cx="11110942"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Vào thư mục </a:t>
            </a:r>
            <a:r>
              <a:rPr lang="en-US" sz="2400" b="1">
                <a:latin typeface="Times New Roman" panose="02020603050405020304" pitchFamily="18" charset="0"/>
                <a:cs typeface="Times New Roman" panose="02020603050405020304" pitchFamily="18" charset="0"/>
              </a:rPr>
              <a:t>services</a:t>
            </a:r>
            <a:r>
              <a:rPr lang="en-US" sz="2400">
                <a:latin typeface="Times New Roman" panose="02020603050405020304" pitchFamily="18" charset="0"/>
                <a:cs typeface="Times New Roman" panose="02020603050405020304" pitchFamily="18" charset="0"/>
              </a:rPr>
              <a:t> để tạo </a:t>
            </a:r>
            <a:r>
              <a:rPr lang="en-US" sz="2400" b="1">
                <a:latin typeface="Times New Roman" panose="02020603050405020304" pitchFamily="18" charset="0"/>
                <a:cs typeface="Times New Roman" panose="02020603050405020304" pitchFamily="18" charset="0"/>
              </a:rPr>
              <a:t>product </a:t>
            </a:r>
            <a:r>
              <a:rPr lang="en-US" sz="2400">
                <a:latin typeface="Times New Roman" panose="02020603050405020304" pitchFamily="18" charset="0"/>
                <a:cs typeface="Times New Roman" panose="02020603050405020304" pitchFamily="18" charset="0"/>
              </a:rPr>
              <a:t>service</a:t>
            </a:r>
          </a:p>
        </p:txBody>
      </p:sp>
      <p:pic>
        <p:nvPicPr>
          <p:cNvPr id="10" name="Picture 9">
            <a:extLst>
              <a:ext uri="{FF2B5EF4-FFF2-40B4-BE49-F238E27FC236}">
                <a16:creationId xmlns:a16="http://schemas.microsoft.com/office/drawing/2014/main" id="{1426A16A-0FC6-939E-B114-A71D2FF395A4}"/>
              </a:ext>
            </a:extLst>
          </p:cNvPr>
          <p:cNvPicPr>
            <a:picLocks noChangeAspect="1"/>
          </p:cNvPicPr>
          <p:nvPr/>
        </p:nvPicPr>
        <p:blipFill>
          <a:blip r:embed="rId3"/>
          <a:stretch>
            <a:fillRect/>
          </a:stretch>
        </p:blipFill>
        <p:spPr>
          <a:xfrm>
            <a:off x="130236" y="1387798"/>
            <a:ext cx="5258256" cy="2667231"/>
          </a:xfrm>
          <a:prstGeom prst="rect">
            <a:avLst/>
          </a:prstGeom>
        </p:spPr>
      </p:pic>
      <p:pic>
        <p:nvPicPr>
          <p:cNvPr id="15" name="Picture 14">
            <a:extLst>
              <a:ext uri="{FF2B5EF4-FFF2-40B4-BE49-F238E27FC236}">
                <a16:creationId xmlns:a16="http://schemas.microsoft.com/office/drawing/2014/main" id="{33012907-5E22-0DD1-9420-3855CFB61E28}"/>
              </a:ext>
            </a:extLst>
          </p:cNvPr>
          <p:cNvPicPr>
            <a:picLocks noChangeAspect="1"/>
          </p:cNvPicPr>
          <p:nvPr/>
        </p:nvPicPr>
        <p:blipFill>
          <a:blip r:embed="rId4"/>
          <a:stretch>
            <a:fillRect/>
          </a:stretch>
        </p:blipFill>
        <p:spPr>
          <a:xfrm>
            <a:off x="5607065" y="1506473"/>
            <a:ext cx="6454699" cy="944962"/>
          </a:xfrm>
          <a:prstGeom prst="rect">
            <a:avLst/>
          </a:prstGeom>
        </p:spPr>
      </p:pic>
      <p:pic>
        <p:nvPicPr>
          <p:cNvPr id="17" name="Picture 16">
            <a:extLst>
              <a:ext uri="{FF2B5EF4-FFF2-40B4-BE49-F238E27FC236}">
                <a16:creationId xmlns:a16="http://schemas.microsoft.com/office/drawing/2014/main" id="{BB1F7839-15C1-B2D7-C73C-DFDA42BBA1A2}"/>
              </a:ext>
            </a:extLst>
          </p:cNvPr>
          <p:cNvPicPr>
            <a:picLocks noChangeAspect="1"/>
          </p:cNvPicPr>
          <p:nvPr/>
        </p:nvPicPr>
        <p:blipFill>
          <a:blip r:embed="rId5"/>
          <a:stretch>
            <a:fillRect/>
          </a:stretch>
        </p:blipFill>
        <p:spPr>
          <a:xfrm>
            <a:off x="6047873" y="3808854"/>
            <a:ext cx="5800491" cy="1661866"/>
          </a:xfrm>
          <a:prstGeom prst="rect">
            <a:avLst/>
          </a:prstGeom>
        </p:spPr>
      </p:pic>
      <p:cxnSp>
        <p:nvCxnSpPr>
          <p:cNvPr id="19" name="Connector: Elbow 18">
            <a:extLst>
              <a:ext uri="{FF2B5EF4-FFF2-40B4-BE49-F238E27FC236}">
                <a16:creationId xmlns:a16="http://schemas.microsoft.com/office/drawing/2014/main" id="{1CAB8BF3-7C21-B19B-7D16-75E5449B8A32}"/>
              </a:ext>
            </a:extLst>
          </p:cNvPr>
          <p:cNvCxnSpPr>
            <a:endCxn id="15" idx="2"/>
          </p:cNvCxnSpPr>
          <p:nvPr/>
        </p:nvCxnSpPr>
        <p:spPr>
          <a:xfrm flipV="1">
            <a:off x="4826382" y="2451435"/>
            <a:ext cx="4008033" cy="977565"/>
          </a:xfrm>
          <a:prstGeom prst="bentConnector2">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E497AE34-F53C-88CD-CC29-EC8BA65A3206}"/>
              </a:ext>
            </a:extLst>
          </p:cNvPr>
          <p:cNvSpPr/>
          <p:nvPr/>
        </p:nvSpPr>
        <p:spPr>
          <a:xfrm>
            <a:off x="10237155" y="1890677"/>
            <a:ext cx="1883801" cy="56075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a:extLst>
              <a:ext uri="{FF2B5EF4-FFF2-40B4-BE49-F238E27FC236}">
                <a16:creationId xmlns:a16="http://schemas.microsoft.com/office/drawing/2014/main" id="{61541FA9-CDD3-BE95-8EE4-39B7B4F0E022}"/>
              </a:ext>
            </a:extLst>
          </p:cNvPr>
          <p:cNvCxnSpPr>
            <a:cxnSpLocks/>
            <a:stCxn id="20" idx="2"/>
          </p:cNvCxnSpPr>
          <p:nvPr/>
        </p:nvCxnSpPr>
        <p:spPr>
          <a:xfrm>
            <a:off x="11179056" y="2451435"/>
            <a:ext cx="0" cy="135741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292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11249601-682E-622D-490B-0B574766239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3446B18-4999-2031-A388-B28474F075C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DDFF310-5A2B-6C84-7B39-C09DE3578A5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grpSp>
        <p:nvGrpSpPr>
          <p:cNvPr id="2" name="Group 1">
            <a:extLst>
              <a:ext uri="{FF2B5EF4-FFF2-40B4-BE49-F238E27FC236}">
                <a16:creationId xmlns:a16="http://schemas.microsoft.com/office/drawing/2014/main" id="{C0CE2720-6758-D55A-6997-1E98CB34B63C}"/>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5FB6B110-0DE6-2F95-808F-ADF387B33BC3}"/>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lập trình Service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13ABC6B-8A0E-AF28-1707-BC81C99C9D7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16EFB6F-8AA2-94D6-2FA6-F17557CF477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944A2AB-9A8A-2C8F-551A-DD8B89A37890}"/>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EE7AF06-A3F5-77A6-BAED-523E6CC21CB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CF37A84D-4FD0-103F-6DA7-70EAFA713179}"/>
              </a:ext>
            </a:extLst>
          </p:cNvPr>
          <p:cNvSpPr txBox="1"/>
          <p:nvPr/>
        </p:nvSpPr>
        <p:spPr>
          <a:xfrm>
            <a:off x="492403" y="874275"/>
            <a:ext cx="11110942"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Vào thư mục </a:t>
            </a:r>
            <a:r>
              <a:rPr lang="en-US" sz="2400" b="1">
                <a:latin typeface="Times New Roman" panose="02020603050405020304" pitchFamily="18" charset="0"/>
                <a:cs typeface="Times New Roman" panose="02020603050405020304" pitchFamily="18" charset="0"/>
              </a:rPr>
              <a:t>services</a:t>
            </a:r>
            <a:r>
              <a:rPr lang="en-US" sz="2400">
                <a:latin typeface="Times New Roman" panose="02020603050405020304" pitchFamily="18" charset="0"/>
                <a:cs typeface="Times New Roman" panose="02020603050405020304" pitchFamily="18" charset="0"/>
              </a:rPr>
              <a:t> để tạo </a:t>
            </a:r>
            <a:r>
              <a:rPr lang="en-US" sz="2400" b="1">
                <a:latin typeface="Times New Roman" panose="02020603050405020304" pitchFamily="18" charset="0"/>
                <a:cs typeface="Times New Roman" panose="02020603050405020304" pitchFamily="18" charset="0"/>
              </a:rPr>
              <a:t>product </a:t>
            </a:r>
            <a:r>
              <a:rPr lang="en-US" sz="2400">
                <a:latin typeface="Times New Roman" panose="02020603050405020304" pitchFamily="18" charset="0"/>
                <a:cs typeface="Times New Roman" panose="02020603050405020304" pitchFamily="18" charset="0"/>
              </a:rPr>
              <a:t>service</a:t>
            </a:r>
          </a:p>
        </p:txBody>
      </p:sp>
      <p:pic>
        <p:nvPicPr>
          <p:cNvPr id="9" name="Picture 8">
            <a:extLst>
              <a:ext uri="{FF2B5EF4-FFF2-40B4-BE49-F238E27FC236}">
                <a16:creationId xmlns:a16="http://schemas.microsoft.com/office/drawing/2014/main" id="{55C2C9CB-F5D9-E089-60D0-A07B625729DD}"/>
              </a:ext>
            </a:extLst>
          </p:cNvPr>
          <p:cNvPicPr>
            <a:picLocks noChangeAspect="1"/>
          </p:cNvPicPr>
          <p:nvPr/>
        </p:nvPicPr>
        <p:blipFill>
          <a:blip r:embed="rId3"/>
          <a:stretch>
            <a:fillRect/>
          </a:stretch>
        </p:blipFill>
        <p:spPr>
          <a:xfrm>
            <a:off x="0" y="1431275"/>
            <a:ext cx="12192000" cy="3995450"/>
          </a:xfrm>
          <a:prstGeom prst="rect">
            <a:avLst/>
          </a:prstGeom>
        </p:spPr>
      </p:pic>
    </p:spTree>
    <p:extLst>
      <p:ext uri="{BB962C8B-B14F-4D97-AF65-F5344CB8AC3E}">
        <p14:creationId xmlns:p14="http://schemas.microsoft.com/office/powerpoint/2010/main" val="128987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0211D58-3506-F93D-7710-1301AFCC553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B0F31EA-A930-283D-2D48-FFA79A6565F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D399EBBB-15A3-E07E-C48C-DF8ECF9CDAD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19</a:t>
            </a:fld>
            <a:endParaRPr/>
          </a:p>
        </p:txBody>
      </p:sp>
      <p:grpSp>
        <p:nvGrpSpPr>
          <p:cNvPr id="2" name="Group 1">
            <a:extLst>
              <a:ext uri="{FF2B5EF4-FFF2-40B4-BE49-F238E27FC236}">
                <a16:creationId xmlns:a16="http://schemas.microsoft.com/office/drawing/2014/main" id="{9B4FF77B-0E35-51D4-F486-6DD0D6033069}"/>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E28C8DC2-93FE-BBAA-B0F9-DEA38AB4BBE7}"/>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3.2.</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tạo và lập trình Service</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8B040BD-5D58-4A2A-5E43-A4BE3D1BA9B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04BDDA6-71C2-DD1D-665E-B3DD7E7801B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373241A-966A-C096-6EC9-8C51F4EA025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840379C-8A2A-BE0E-DF1D-4A55D435ACE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FEC4129D-B634-0747-98FD-5A8785262688}"/>
              </a:ext>
            </a:extLst>
          </p:cNvPr>
          <p:cNvSpPr txBox="1"/>
          <p:nvPr/>
        </p:nvSpPr>
        <p:spPr>
          <a:xfrm>
            <a:off x="492403" y="874275"/>
            <a:ext cx="11110942"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Viết hàm getProductList()</a:t>
            </a:r>
          </a:p>
        </p:txBody>
      </p:sp>
      <p:pic>
        <p:nvPicPr>
          <p:cNvPr id="10" name="Picture 9">
            <a:extLst>
              <a:ext uri="{FF2B5EF4-FFF2-40B4-BE49-F238E27FC236}">
                <a16:creationId xmlns:a16="http://schemas.microsoft.com/office/drawing/2014/main" id="{F72A0302-3BDE-EB94-4C47-951137378438}"/>
              </a:ext>
            </a:extLst>
          </p:cNvPr>
          <p:cNvPicPr>
            <a:picLocks noChangeAspect="1"/>
          </p:cNvPicPr>
          <p:nvPr/>
        </p:nvPicPr>
        <p:blipFill>
          <a:blip r:embed="rId3"/>
          <a:stretch>
            <a:fillRect/>
          </a:stretch>
        </p:blipFill>
        <p:spPr>
          <a:xfrm>
            <a:off x="2744072" y="1331572"/>
            <a:ext cx="5966791" cy="4994074"/>
          </a:xfrm>
          <a:prstGeom prst="rect">
            <a:avLst/>
          </a:prstGeom>
        </p:spPr>
      </p:pic>
    </p:spTree>
    <p:extLst>
      <p:ext uri="{BB962C8B-B14F-4D97-AF65-F5344CB8AC3E}">
        <p14:creationId xmlns:p14="http://schemas.microsoft.com/office/powerpoint/2010/main" val="479910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CEC355E-380A-C341-C7B8-E4BDD402169D}"/>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46CA45D-07EB-95AB-4744-0F0B17E2055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949CD68-198F-9DC1-4D94-07B33F1424C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20</a:t>
            </a:fld>
            <a:endParaRPr/>
          </a:p>
        </p:txBody>
      </p:sp>
      <p:grpSp>
        <p:nvGrpSpPr>
          <p:cNvPr id="2" name="Group 1">
            <a:extLst>
              <a:ext uri="{FF2B5EF4-FFF2-40B4-BE49-F238E27FC236}">
                <a16:creationId xmlns:a16="http://schemas.microsoft.com/office/drawing/2014/main" id="{E0B4F70B-CCC1-D1AA-6106-38AB9E9AEEB3}"/>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F8EFA457-450D-816D-547F-2ECC80B13C27}"/>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3.3.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triệu gọi Service</a:t>
              </a:r>
            </a:p>
          </p:txBody>
        </p:sp>
        <p:grpSp>
          <p:nvGrpSpPr>
            <p:cNvPr id="4" name="Group 17">
              <a:extLst>
                <a:ext uri="{FF2B5EF4-FFF2-40B4-BE49-F238E27FC236}">
                  <a16:creationId xmlns:a16="http://schemas.microsoft.com/office/drawing/2014/main" id="{666F491B-AEA2-28BF-1ED3-8070B96B0CA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B8A5B15-207E-B6DC-82E2-64E451539A1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1427520-FF88-2973-9335-60ADF4A0EFE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5A7DB18-4CF9-19FB-F786-180933C5E61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6BF0A1A-3E15-0DCB-B3D1-FD775AE82B58}"/>
              </a:ext>
            </a:extLst>
          </p:cNvPr>
          <p:cNvSpPr txBox="1"/>
          <p:nvPr/>
        </p:nvSpPr>
        <p:spPr>
          <a:xfrm>
            <a:off x="415251" y="877587"/>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Tạo một component </a:t>
            </a:r>
            <a:r>
              <a:rPr lang="en-US" sz="2400" b="1">
                <a:latin typeface="Times New Roman" panose="02020603050405020304" pitchFamily="18" charset="0"/>
                <a:cs typeface="Times New Roman" panose="02020603050405020304" pitchFamily="18" charset="0"/>
              </a:rPr>
              <a:t>product-list-call-service-component</a:t>
            </a:r>
            <a:r>
              <a:rPr lang="en-US" sz="2400">
                <a:latin typeface="Times New Roman" panose="02020603050405020304" pitchFamily="18" charset="0"/>
                <a:cs typeface="Times New Roman" panose="02020603050405020304" pitchFamily="18" charset="0"/>
              </a:rPr>
              <a:t> để triệu gọi </a:t>
            </a:r>
            <a:r>
              <a:rPr lang="en-US" sz="2400" b="1">
                <a:latin typeface="Times New Roman" panose="02020603050405020304" pitchFamily="18" charset="0"/>
                <a:cs typeface="Times New Roman" panose="02020603050405020304" pitchFamily="18" charset="0"/>
              </a:rPr>
              <a:t>ProductService</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C8944E8B-3F29-9E09-A33D-56B2C528606D}"/>
              </a:ext>
            </a:extLst>
          </p:cNvPr>
          <p:cNvPicPr>
            <a:picLocks noChangeAspect="1"/>
          </p:cNvPicPr>
          <p:nvPr/>
        </p:nvPicPr>
        <p:blipFill>
          <a:blip r:embed="rId3"/>
          <a:stretch>
            <a:fillRect/>
          </a:stretch>
        </p:blipFill>
        <p:spPr>
          <a:xfrm>
            <a:off x="522154" y="1547496"/>
            <a:ext cx="6843353" cy="922100"/>
          </a:xfrm>
          <a:prstGeom prst="rect">
            <a:avLst/>
          </a:prstGeom>
          <a:ln>
            <a:solidFill>
              <a:srgbClr val="002060"/>
            </a:solidFill>
          </a:ln>
        </p:spPr>
      </p:pic>
      <p:pic>
        <p:nvPicPr>
          <p:cNvPr id="12" name="Picture 11">
            <a:extLst>
              <a:ext uri="{FF2B5EF4-FFF2-40B4-BE49-F238E27FC236}">
                <a16:creationId xmlns:a16="http://schemas.microsoft.com/office/drawing/2014/main" id="{1FF1183F-97CF-BB6A-66B7-10E71512FAA4}"/>
              </a:ext>
            </a:extLst>
          </p:cNvPr>
          <p:cNvPicPr>
            <a:picLocks noChangeAspect="1"/>
          </p:cNvPicPr>
          <p:nvPr/>
        </p:nvPicPr>
        <p:blipFill>
          <a:blip r:embed="rId4"/>
          <a:stretch>
            <a:fillRect/>
          </a:stretch>
        </p:blipFill>
        <p:spPr>
          <a:xfrm>
            <a:off x="415251" y="3429000"/>
            <a:ext cx="9335309" cy="2530059"/>
          </a:xfrm>
          <a:prstGeom prst="rect">
            <a:avLst/>
          </a:prstGeom>
          <a:ln>
            <a:solidFill>
              <a:srgbClr val="002060"/>
            </a:solidFill>
          </a:ln>
        </p:spPr>
      </p:pic>
      <p:cxnSp>
        <p:nvCxnSpPr>
          <p:cNvPr id="13" name="Straight Arrow Connector 12">
            <a:extLst>
              <a:ext uri="{FF2B5EF4-FFF2-40B4-BE49-F238E27FC236}">
                <a16:creationId xmlns:a16="http://schemas.microsoft.com/office/drawing/2014/main" id="{A6488323-A5D8-47C7-44BF-3C6358FBA32C}"/>
              </a:ext>
            </a:extLst>
          </p:cNvPr>
          <p:cNvCxnSpPr>
            <a:cxnSpLocks/>
          </p:cNvCxnSpPr>
          <p:nvPr/>
        </p:nvCxnSpPr>
        <p:spPr>
          <a:xfrm>
            <a:off x="3341342" y="2550695"/>
            <a:ext cx="0" cy="87830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B30AD099-3B35-2D17-8BDB-3B89D9CF847D}"/>
              </a:ext>
            </a:extLst>
          </p:cNvPr>
          <p:cNvPicPr>
            <a:picLocks noChangeAspect="1"/>
          </p:cNvPicPr>
          <p:nvPr/>
        </p:nvPicPr>
        <p:blipFill>
          <a:blip r:embed="rId5"/>
          <a:stretch>
            <a:fillRect/>
          </a:stretch>
        </p:blipFill>
        <p:spPr>
          <a:xfrm>
            <a:off x="7830153" y="1461784"/>
            <a:ext cx="3840813" cy="2697714"/>
          </a:xfrm>
          <a:prstGeom prst="rect">
            <a:avLst/>
          </a:prstGeom>
        </p:spPr>
      </p:pic>
      <p:sp>
        <p:nvSpPr>
          <p:cNvPr id="17" name="Arrow: Bent-Up 16">
            <a:extLst>
              <a:ext uri="{FF2B5EF4-FFF2-40B4-BE49-F238E27FC236}">
                <a16:creationId xmlns:a16="http://schemas.microsoft.com/office/drawing/2014/main" id="{9CB1968B-2DED-BDF9-81A3-F75F300FFC1B}"/>
              </a:ext>
            </a:extLst>
          </p:cNvPr>
          <p:cNvSpPr/>
          <p:nvPr/>
        </p:nvSpPr>
        <p:spPr>
          <a:xfrm>
            <a:off x="9823320" y="4200739"/>
            <a:ext cx="783772" cy="316259"/>
          </a:xfrm>
          <a:prstGeom prst="bentUp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9419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F9194BB-7D0A-F93B-0589-A567E0CF738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6E5EA32-E617-296E-5516-16ACC1A4484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0BFE64A-85A0-1876-B7F8-34FF9198363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21</a:t>
            </a:fld>
            <a:endParaRPr/>
          </a:p>
        </p:txBody>
      </p:sp>
      <p:grpSp>
        <p:nvGrpSpPr>
          <p:cNvPr id="2" name="Group 1">
            <a:extLst>
              <a:ext uri="{FF2B5EF4-FFF2-40B4-BE49-F238E27FC236}">
                <a16:creationId xmlns:a16="http://schemas.microsoft.com/office/drawing/2014/main" id="{6524283E-41EF-2FF0-C4A5-AEF1096A98BB}"/>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9FE0D10F-7F21-67F2-79F2-B1054C29057C}"/>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3.3.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triệu gọi Service</a:t>
              </a:r>
            </a:p>
          </p:txBody>
        </p:sp>
        <p:grpSp>
          <p:nvGrpSpPr>
            <p:cNvPr id="4" name="Group 17">
              <a:extLst>
                <a:ext uri="{FF2B5EF4-FFF2-40B4-BE49-F238E27FC236}">
                  <a16:creationId xmlns:a16="http://schemas.microsoft.com/office/drawing/2014/main" id="{FCE89B1B-AD3C-73DE-1224-0870CFE4059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E7D5F62-F163-6EDB-12A1-334423633B5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8236D9A-1FE6-563E-DE26-F5B68B91767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9AD8625F-AB5F-1C44-4D12-13636EB7E79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8EE29500-24F3-708C-1FFC-3A9DD28A2C2F}"/>
              </a:ext>
            </a:extLst>
          </p:cNvPr>
          <p:cNvSpPr txBox="1"/>
          <p:nvPr/>
        </p:nvSpPr>
        <p:spPr>
          <a:xfrm>
            <a:off x="415251" y="825508"/>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product-list-call-service-component.ts</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700289D2-7B33-A163-451A-4964ACF5004D}"/>
              </a:ext>
            </a:extLst>
          </p:cNvPr>
          <p:cNvPicPr>
            <a:picLocks noChangeAspect="1"/>
          </p:cNvPicPr>
          <p:nvPr/>
        </p:nvPicPr>
        <p:blipFill>
          <a:blip r:embed="rId3"/>
          <a:stretch>
            <a:fillRect/>
          </a:stretch>
        </p:blipFill>
        <p:spPr>
          <a:xfrm>
            <a:off x="485037" y="1297323"/>
            <a:ext cx="7531432" cy="5134514"/>
          </a:xfrm>
          <a:prstGeom prst="rect">
            <a:avLst/>
          </a:prstGeom>
        </p:spPr>
      </p:pic>
    </p:spTree>
    <p:extLst>
      <p:ext uri="{BB962C8B-B14F-4D97-AF65-F5344CB8AC3E}">
        <p14:creationId xmlns:p14="http://schemas.microsoft.com/office/powerpoint/2010/main" val="7936837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92FBE4C-2722-AD5A-03E5-AC174F42868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24AAD38-E28D-9A39-A7DC-11667A0FEF9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B9EB978-7606-6040-8FCF-21926D130B9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22</a:t>
            </a:fld>
            <a:endParaRPr/>
          </a:p>
        </p:txBody>
      </p:sp>
      <p:grpSp>
        <p:nvGrpSpPr>
          <p:cNvPr id="2" name="Group 1">
            <a:extLst>
              <a:ext uri="{FF2B5EF4-FFF2-40B4-BE49-F238E27FC236}">
                <a16:creationId xmlns:a16="http://schemas.microsoft.com/office/drawing/2014/main" id="{E2395391-FA2B-5593-5BFC-BB30E0C9BB76}"/>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3573DD03-D272-7482-14F1-2E88DF44CA0F}"/>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algn="just">
                <a:lnSpc>
                  <a:spcPct val="114000"/>
                </a:lnSpc>
              </a:pPr>
              <a:r>
                <a:rPr lang="vi-VN" sz="2800" b="1">
                  <a:latin typeface="Times New Roman" panose="02020603050405020304" pitchFamily="18" charset="0"/>
                  <a:cs typeface="Times New Roman" panose="02020603050405020304" pitchFamily="18" charset="0"/>
                </a:rPr>
                <a:t>3.3.</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Cách triệu gọi Service</a:t>
              </a:r>
            </a:p>
          </p:txBody>
        </p:sp>
        <p:grpSp>
          <p:nvGrpSpPr>
            <p:cNvPr id="4" name="Group 17">
              <a:extLst>
                <a:ext uri="{FF2B5EF4-FFF2-40B4-BE49-F238E27FC236}">
                  <a16:creationId xmlns:a16="http://schemas.microsoft.com/office/drawing/2014/main" id="{C3B16962-6CA2-77BD-7407-DD79AB9BF339}"/>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73E2CD3-D25E-F9E8-A8A1-36E7308F242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10194CD-3AD0-0A16-A5AC-6F767276BD7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F84D0756-2C99-A836-C1C1-F10641D39C1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4C16FB5-1818-2FBE-B2BA-D34E74C300E1}"/>
              </a:ext>
            </a:extLst>
          </p:cNvPr>
          <p:cNvSpPr txBox="1"/>
          <p:nvPr/>
        </p:nvSpPr>
        <p:spPr>
          <a:xfrm>
            <a:off x="415251" y="825508"/>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product-list-call-service-component.html</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8FCF881-96A2-863A-C001-0364E6BBD97A}"/>
              </a:ext>
            </a:extLst>
          </p:cNvPr>
          <p:cNvPicPr>
            <a:picLocks noChangeAspect="1"/>
          </p:cNvPicPr>
          <p:nvPr/>
        </p:nvPicPr>
        <p:blipFill>
          <a:blip r:embed="rId3"/>
          <a:stretch>
            <a:fillRect/>
          </a:stretch>
        </p:blipFill>
        <p:spPr>
          <a:xfrm>
            <a:off x="7240784" y="1153017"/>
            <a:ext cx="4675339" cy="5227510"/>
          </a:xfrm>
          <a:prstGeom prst="rect">
            <a:avLst/>
          </a:prstGeom>
        </p:spPr>
      </p:pic>
      <p:pic>
        <p:nvPicPr>
          <p:cNvPr id="13" name="Picture 12">
            <a:extLst>
              <a:ext uri="{FF2B5EF4-FFF2-40B4-BE49-F238E27FC236}">
                <a16:creationId xmlns:a16="http://schemas.microsoft.com/office/drawing/2014/main" id="{D037AC10-AEAD-90E7-908F-F9B09549237F}"/>
              </a:ext>
            </a:extLst>
          </p:cNvPr>
          <p:cNvPicPr>
            <a:picLocks noChangeAspect="1"/>
          </p:cNvPicPr>
          <p:nvPr/>
        </p:nvPicPr>
        <p:blipFill>
          <a:blip r:embed="rId4"/>
          <a:stretch>
            <a:fillRect/>
          </a:stretch>
        </p:blipFill>
        <p:spPr>
          <a:xfrm>
            <a:off x="564686" y="1368847"/>
            <a:ext cx="6078707" cy="3416133"/>
          </a:xfrm>
          <a:prstGeom prst="rect">
            <a:avLst/>
          </a:prstGeom>
        </p:spPr>
      </p:pic>
      <p:sp>
        <p:nvSpPr>
          <p:cNvPr id="15" name="TextBox 14">
            <a:extLst>
              <a:ext uri="{FF2B5EF4-FFF2-40B4-BE49-F238E27FC236}">
                <a16:creationId xmlns:a16="http://schemas.microsoft.com/office/drawing/2014/main" id="{19BA402F-9AAD-4647-BA66-49FBF5893040}"/>
              </a:ext>
            </a:extLst>
          </p:cNvPr>
          <p:cNvSpPr txBox="1"/>
          <p:nvPr/>
        </p:nvSpPr>
        <p:spPr>
          <a:xfrm>
            <a:off x="542786" y="5278211"/>
            <a:ext cx="6297672" cy="949619"/>
          </a:xfrm>
          <a:prstGeom prst="rect">
            <a:avLst/>
          </a:prstGeom>
          <a:noFill/>
          <a:ln>
            <a:solidFill>
              <a:srgbClr val="002060"/>
            </a:solidFill>
          </a:ln>
        </p:spPr>
        <p:txBody>
          <a:bodyPr wrap="square">
            <a:spAutoFit/>
          </a:bodyPr>
          <a:lstStyle/>
          <a:p>
            <a:pPr>
              <a:lnSpc>
                <a:spcPts val="2250"/>
              </a:lnSpc>
              <a:buNone/>
            </a:pPr>
            <a:r>
              <a:rPr lang="en-US" b="0">
                <a:solidFill>
                  <a:srgbClr val="800000"/>
                </a:solidFill>
                <a:effectLst/>
                <a:latin typeface="Consolas" panose="020B0609020204030204" pitchFamily="49" charset="0"/>
              </a:rPr>
              <a:t>&lt;app-product-list-call-service-component&gt;&lt;/app-product-list-call-service-component&gt;</a:t>
            </a:r>
            <a:endParaRPr lang="en-US" b="0">
              <a:solidFill>
                <a:srgbClr val="000000"/>
              </a:solidFill>
              <a:effectLst/>
              <a:latin typeface="Consolas" panose="020B0609020204030204" pitchFamily="49" charset="0"/>
            </a:endParaRPr>
          </a:p>
          <a:p>
            <a:pPr>
              <a:lnSpc>
                <a:spcPts val="2250"/>
              </a:lnSpc>
              <a:buNone/>
            </a:pPr>
            <a:r>
              <a:rPr lang="en-US" b="0">
                <a:solidFill>
                  <a:srgbClr val="800000"/>
                </a:solidFill>
                <a:effectLst/>
                <a:latin typeface="Consolas" panose="020B0609020204030204" pitchFamily="49" charset="0"/>
              </a:rPr>
              <a:t>&lt;router-outlet</a:t>
            </a:r>
            <a:r>
              <a:rPr lang="en-US" b="0">
                <a:solidFill>
                  <a:srgbClr val="000000"/>
                </a:solidFill>
                <a:effectLst/>
                <a:latin typeface="Consolas" panose="020B0609020204030204" pitchFamily="49" charset="0"/>
              </a:rPr>
              <a:t> </a:t>
            </a:r>
            <a:r>
              <a:rPr lang="en-US" b="0">
                <a:solidFill>
                  <a:srgbClr val="800000"/>
                </a:solidFill>
                <a:effectLst/>
                <a:latin typeface="Consolas" panose="020B0609020204030204" pitchFamily="49" charset="0"/>
              </a:rPr>
              <a:t>/&gt;</a:t>
            </a:r>
            <a:endParaRPr lang="en-US" b="0">
              <a:solidFill>
                <a:srgbClr val="000000"/>
              </a:solidFill>
              <a:effectLst/>
              <a:latin typeface="Consolas" panose="020B0609020204030204" pitchFamily="49" charset="0"/>
            </a:endParaRPr>
          </a:p>
        </p:txBody>
      </p:sp>
      <p:sp>
        <p:nvSpPr>
          <p:cNvPr id="16" name="TextBox 15">
            <a:extLst>
              <a:ext uri="{FF2B5EF4-FFF2-40B4-BE49-F238E27FC236}">
                <a16:creationId xmlns:a16="http://schemas.microsoft.com/office/drawing/2014/main" id="{D13142FD-6D55-360E-84AD-6A3822184D2A}"/>
              </a:ext>
            </a:extLst>
          </p:cNvPr>
          <p:cNvSpPr txBox="1"/>
          <p:nvPr/>
        </p:nvSpPr>
        <p:spPr>
          <a:xfrm>
            <a:off x="415251" y="4784980"/>
            <a:ext cx="3613609"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q"/>
            </a:pPr>
            <a:r>
              <a:rPr lang="en-US" sz="2400" b="1">
                <a:latin typeface="Times New Roman" panose="02020603050405020304" pitchFamily="18" charset="0"/>
                <a:cs typeface="Times New Roman" panose="02020603050405020304" pitchFamily="18" charset="0"/>
              </a:rPr>
              <a:t>app.html</a:t>
            </a:r>
            <a:endParaRPr lang="vi-VN" sz="2400" b="1">
              <a:latin typeface="Times New Roman" panose="02020603050405020304" pitchFamily="18" charset="0"/>
              <a:cs typeface="Times New Roman" panose="02020603050405020304" pitchFamily="18" charset="0"/>
            </a:endParaRPr>
          </a:p>
        </p:txBody>
      </p:sp>
      <p:sp>
        <p:nvSpPr>
          <p:cNvPr id="17" name="Arrow: Left 16">
            <a:extLst>
              <a:ext uri="{FF2B5EF4-FFF2-40B4-BE49-F238E27FC236}">
                <a16:creationId xmlns:a16="http://schemas.microsoft.com/office/drawing/2014/main" id="{1DB8614D-FF2D-AC77-12A7-50D6606809B1}"/>
              </a:ext>
            </a:extLst>
          </p:cNvPr>
          <p:cNvSpPr/>
          <p:nvPr/>
        </p:nvSpPr>
        <p:spPr>
          <a:xfrm>
            <a:off x="6710183" y="3429000"/>
            <a:ext cx="715020" cy="290477"/>
          </a:xfrm>
          <a:prstGeom prst="lef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42740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22E12BE3-67C1-FFF0-2F8B-D8A4268F6B5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4FC2FA0-65F9-CE82-0980-55676ADABA7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7FA2344-C322-CBAF-132B-CAF06E12A321}"/>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23</a:t>
            </a:fld>
            <a:endParaRPr/>
          </a:p>
        </p:txBody>
      </p:sp>
      <p:grpSp>
        <p:nvGrpSpPr>
          <p:cNvPr id="2" name="Group 1">
            <a:extLst>
              <a:ext uri="{FF2B5EF4-FFF2-40B4-BE49-F238E27FC236}">
                <a16:creationId xmlns:a16="http://schemas.microsoft.com/office/drawing/2014/main" id="{DAE5EB85-E672-6527-0BF8-198C2CFC266A}"/>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893D3DBB-1AA6-1FAE-EE92-EE7FEDC57BF5}"/>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200" b="1">
                  <a:latin typeface="Times New Roman" panose="02020603050405020304" pitchFamily="18" charset="0"/>
                  <a:cs typeface="Times New Roman" panose="02020603050405020304" pitchFamily="18" charset="0"/>
                </a:rPr>
                <a:t>3.4.</a:t>
              </a:r>
              <a:r>
                <a:rPr lang="en-US" sz="2200" b="1">
                  <a:latin typeface="Times New Roman" panose="02020603050405020304" pitchFamily="18" charset="0"/>
                  <a:cs typeface="Times New Roman" panose="02020603050405020304" pitchFamily="18" charset="0"/>
                </a:rPr>
                <a:t> </a:t>
              </a:r>
              <a:r>
                <a:rPr lang="vi-VN" sz="2200" b="1">
                  <a:latin typeface="Times New Roman" panose="02020603050405020304" pitchFamily="18" charset="0"/>
                  <a:cs typeface="Times New Roman" panose="02020603050405020304" pitchFamily="18" charset="0"/>
                </a:rPr>
                <a:t>Cách tạo Service với External Data – HTTP protocol</a:t>
              </a:r>
              <a:endParaRPr lang="en-US" sz="22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C0BFC1A-8A26-5287-5FF8-A3A6BF974C15}"/>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97B16B5-332C-359A-608F-5248D99DE683}"/>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CF2EAD5-1DE3-7B02-99B1-26CE1534536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5E58FCE0-E26E-7129-5B50-AAEA67C3BBF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9CDEC12-2C56-0203-912E-FF6E0AFCE600}"/>
              </a:ext>
            </a:extLst>
          </p:cNvPr>
          <p:cNvSpPr txBox="1"/>
          <p:nvPr/>
        </p:nvSpPr>
        <p:spPr>
          <a:xfrm>
            <a:off x="415252" y="810009"/>
            <a:ext cx="11564547" cy="1322285"/>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Dữ liệu được lưu trong Service cũng không phải là giải pháp hay. Ta tiến hành tạo dữ liệu trong file JSON riêng biệt</a:t>
            </a:r>
          </a:p>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1: Vào thư mục </a:t>
            </a:r>
            <a:r>
              <a:rPr lang="en-US" sz="2400" b="1">
                <a:latin typeface="Times New Roman" panose="02020603050405020304" pitchFamily="18" charset="0"/>
                <a:cs typeface="Times New Roman" panose="02020603050405020304" pitchFamily="18" charset="0"/>
              </a:rPr>
              <a:t>public</a:t>
            </a:r>
            <a:r>
              <a:rPr lang="en-US" sz="2400">
                <a:latin typeface="Times New Roman" panose="02020603050405020304" pitchFamily="18" charset="0"/>
                <a:cs typeface="Times New Roman" panose="02020603050405020304" pitchFamily="18" charset="0"/>
              </a:rPr>
              <a:t>,</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tạo thư mục </a:t>
            </a:r>
            <a:r>
              <a:rPr lang="en-US" sz="2400" b="1">
                <a:latin typeface="Times New Roman" panose="02020603050405020304" pitchFamily="18" charset="0"/>
                <a:cs typeface="Times New Roman" panose="02020603050405020304" pitchFamily="18" charset="0"/>
              </a:rPr>
              <a:t>datasets</a:t>
            </a:r>
            <a:endParaRPr lang="vi-VN" sz="2400" b="1">
              <a:latin typeface="Times New Roman" panose="02020603050405020304" pitchFamily="18" charset="0"/>
              <a:cs typeface="Times New Roman" panose="02020603050405020304" pitchFamily="18" charset="0"/>
            </a:endParaRPr>
          </a:p>
        </p:txBody>
      </p:sp>
      <p:sp>
        <p:nvSpPr>
          <p:cNvPr id="13" name="Arrow: Right 12">
            <a:extLst>
              <a:ext uri="{FF2B5EF4-FFF2-40B4-BE49-F238E27FC236}">
                <a16:creationId xmlns:a16="http://schemas.microsoft.com/office/drawing/2014/main" id="{71EA8B5B-65D8-54E6-22A3-90C3781B6C78}"/>
              </a:ext>
            </a:extLst>
          </p:cNvPr>
          <p:cNvSpPr/>
          <p:nvPr/>
        </p:nvSpPr>
        <p:spPr>
          <a:xfrm>
            <a:off x="5606259" y="4443825"/>
            <a:ext cx="1182532" cy="281882"/>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CA365687-839E-A02B-CF73-6CAA9AB9649A}"/>
              </a:ext>
            </a:extLst>
          </p:cNvPr>
          <p:cNvPicPr>
            <a:picLocks noChangeAspect="1"/>
          </p:cNvPicPr>
          <p:nvPr/>
        </p:nvPicPr>
        <p:blipFill>
          <a:blip r:embed="rId3"/>
          <a:stretch>
            <a:fillRect/>
          </a:stretch>
        </p:blipFill>
        <p:spPr>
          <a:xfrm>
            <a:off x="818929" y="2754038"/>
            <a:ext cx="4435224" cy="2316681"/>
          </a:xfrm>
          <a:prstGeom prst="rect">
            <a:avLst/>
          </a:prstGeom>
        </p:spPr>
      </p:pic>
      <p:pic>
        <p:nvPicPr>
          <p:cNvPr id="14" name="Picture 13">
            <a:extLst>
              <a:ext uri="{FF2B5EF4-FFF2-40B4-BE49-F238E27FC236}">
                <a16:creationId xmlns:a16="http://schemas.microsoft.com/office/drawing/2014/main" id="{8223147D-9A48-0D43-BF36-CC462FF64EED}"/>
              </a:ext>
            </a:extLst>
          </p:cNvPr>
          <p:cNvPicPr>
            <a:picLocks noChangeAspect="1"/>
          </p:cNvPicPr>
          <p:nvPr/>
        </p:nvPicPr>
        <p:blipFill>
          <a:blip r:embed="rId4"/>
          <a:stretch>
            <a:fillRect/>
          </a:stretch>
        </p:blipFill>
        <p:spPr>
          <a:xfrm>
            <a:off x="7337017" y="2953419"/>
            <a:ext cx="2880610" cy="2248095"/>
          </a:xfrm>
          <a:prstGeom prst="rect">
            <a:avLst/>
          </a:prstGeom>
        </p:spPr>
      </p:pic>
    </p:spTree>
    <p:extLst>
      <p:ext uri="{BB962C8B-B14F-4D97-AF65-F5344CB8AC3E}">
        <p14:creationId xmlns:p14="http://schemas.microsoft.com/office/powerpoint/2010/main" val="192135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70962412-A7B2-CED6-E80A-FE2C5EFDE27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FFBE82B0-8543-0BC4-A97B-D8C25193F6F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9F5B604-BCF6-0D68-25DF-E4CF2C448AB0}"/>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24</a:t>
            </a:fld>
            <a:endParaRPr/>
          </a:p>
        </p:txBody>
      </p:sp>
      <p:grpSp>
        <p:nvGrpSpPr>
          <p:cNvPr id="2" name="Group 1">
            <a:extLst>
              <a:ext uri="{FF2B5EF4-FFF2-40B4-BE49-F238E27FC236}">
                <a16:creationId xmlns:a16="http://schemas.microsoft.com/office/drawing/2014/main" id="{7C764286-A0AD-2F1E-1DE0-15A5F5D35D5C}"/>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AEE7EC5B-06AB-0A72-D48D-12337AFDDB66}"/>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200" b="1">
                  <a:latin typeface="Times New Roman" panose="02020603050405020304" pitchFamily="18" charset="0"/>
                  <a:cs typeface="Times New Roman" panose="02020603050405020304" pitchFamily="18" charset="0"/>
                </a:rPr>
                <a:t>3.4.</a:t>
              </a:r>
              <a:r>
                <a:rPr lang="en-US" sz="2200" b="1">
                  <a:latin typeface="Times New Roman" panose="02020603050405020304" pitchFamily="18" charset="0"/>
                  <a:cs typeface="Times New Roman" panose="02020603050405020304" pitchFamily="18" charset="0"/>
                </a:rPr>
                <a:t> </a:t>
              </a:r>
              <a:r>
                <a:rPr lang="vi-VN" sz="2200" b="1">
                  <a:latin typeface="Times New Roman" panose="02020603050405020304" pitchFamily="18" charset="0"/>
                  <a:cs typeface="Times New Roman" panose="02020603050405020304" pitchFamily="18" charset="0"/>
                </a:rPr>
                <a:t>Cách tạo Service với External Data – HTTP protocol</a:t>
              </a:r>
              <a:endParaRPr lang="en-US" sz="22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1194E52-7792-7BA4-377A-C26223DFC8D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223809A-008C-90FF-117A-CC5BA27B754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C648491-1917-31C0-F253-281F9E59283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CBE7AE6-80E7-D918-B555-5CB285DAF02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5975ECCD-89B0-9B98-FCC9-5A56FFE1D9A5}"/>
              </a:ext>
            </a:extLst>
          </p:cNvPr>
          <p:cNvSpPr txBox="1"/>
          <p:nvPr/>
        </p:nvSpPr>
        <p:spPr>
          <a:xfrm>
            <a:off x="415252" y="810009"/>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2: Cấu hình angular.json cho public (thường là đã mặc định rồi)</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8738B83B-B64F-8EE1-4FBF-CD560C0B3E0C}"/>
              </a:ext>
            </a:extLst>
          </p:cNvPr>
          <p:cNvPicPr>
            <a:picLocks noChangeAspect="1"/>
          </p:cNvPicPr>
          <p:nvPr/>
        </p:nvPicPr>
        <p:blipFill>
          <a:blip r:embed="rId3"/>
          <a:srcRect/>
          <a:stretch/>
        </p:blipFill>
        <p:spPr>
          <a:xfrm>
            <a:off x="5548024" y="1585531"/>
            <a:ext cx="5151396" cy="4552834"/>
          </a:xfrm>
          <a:prstGeom prst="rect">
            <a:avLst/>
          </a:prstGeom>
        </p:spPr>
      </p:pic>
      <p:sp>
        <p:nvSpPr>
          <p:cNvPr id="12" name="Rectangle 11">
            <a:extLst>
              <a:ext uri="{FF2B5EF4-FFF2-40B4-BE49-F238E27FC236}">
                <a16:creationId xmlns:a16="http://schemas.microsoft.com/office/drawing/2014/main" id="{909A3822-D7A4-AA52-924D-0294FD26AA22}"/>
              </a:ext>
            </a:extLst>
          </p:cNvPr>
          <p:cNvSpPr/>
          <p:nvPr/>
        </p:nvSpPr>
        <p:spPr>
          <a:xfrm>
            <a:off x="5651152" y="3678257"/>
            <a:ext cx="4670132" cy="1306253"/>
          </a:xfrm>
          <a:prstGeom prst="rect">
            <a:avLst/>
          </a:prstGeom>
          <a:noFill/>
          <a:ln>
            <a:solidFill>
              <a:srgbClr val="002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34FE2E1-7BD8-C6B5-36B9-C4D5F16A333C}"/>
              </a:ext>
            </a:extLst>
          </p:cNvPr>
          <p:cNvSpPr txBox="1"/>
          <p:nvPr/>
        </p:nvSpPr>
        <p:spPr>
          <a:xfrm>
            <a:off x="877274" y="1435537"/>
            <a:ext cx="3538223" cy="1272143"/>
          </a:xfrm>
          <a:prstGeom prst="rect">
            <a:avLst/>
          </a:prstGeom>
          <a:noFill/>
          <a:ln>
            <a:solidFill>
              <a:srgbClr val="002060"/>
            </a:solidFill>
          </a:ln>
        </p:spPr>
        <p:txBody>
          <a:bodyPr wrap="square">
            <a:spAutoFit/>
          </a:bodyPr>
          <a:lstStyle/>
          <a:p>
            <a:pPr>
              <a:lnSpc>
                <a:spcPts val="2250"/>
              </a:lnSpc>
              <a:buNone/>
            </a:pP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a:t>
            </a:r>
            <a:r>
              <a:rPr lang="en-US" sz="2000" b="0">
                <a:solidFill>
                  <a:srgbClr val="0451A5"/>
                </a:solidFill>
                <a:effectLst/>
                <a:latin typeface="Consolas" panose="020B0609020204030204" pitchFamily="49" charset="0"/>
              </a:rPr>
              <a:t>"glob"</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a:t>
            </a:r>
            <a:r>
              <a:rPr lang="en-US" sz="2000" b="0">
                <a:solidFill>
                  <a:srgbClr val="000000"/>
                </a:solidFill>
                <a:effectLst/>
                <a:latin typeface="Consolas" panose="020B0609020204030204" pitchFamily="49" charset="0"/>
              </a:rPr>
              <a:t>,</a:t>
            </a:r>
          </a:p>
          <a:p>
            <a:pPr>
              <a:lnSpc>
                <a:spcPts val="2250"/>
              </a:lnSpc>
              <a:buNone/>
            </a:pPr>
            <a:r>
              <a:rPr lang="en-US" sz="2000" b="0">
                <a:solidFill>
                  <a:srgbClr val="000000"/>
                </a:solidFill>
                <a:effectLst/>
                <a:latin typeface="Consolas" panose="020B0609020204030204" pitchFamily="49" charset="0"/>
              </a:rPr>
              <a:t>  </a:t>
            </a:r>
            <a:r>
              <a:rPr lang="en-US" sz="2000" b="0">
                <a:solidFill>
                  <a:srgbClr val="0451A5"/>
                </a:solidFill>
                <a:effectLst/>
                <a:latin typeface="Consolas" panose="020B0609020204030204" pitchFamily="49" charset="0"/>
              </a:rPr>
              <a:t>"input"</a:t>
            </a:r>
            <a:r>
              <a:rPr lang="en-US" sz="2000" b="0">
                <a:solidFill>
                  <a:srgbClr val="000000"/>
                </a:solidFill>
                <a:effectLst/>
                <a:latin typeface="Consolas" panose="020B0609020204030204" pitchFamily="49" charset="0"/>
              </a:rPr>
              <a:t>: </a:t>
            </a:r>
            <a:r>
              <a:rPr lang="en-US" sz="2000" b="0">
                <a:solidFill>
                  <a:srgbClr val="A31515"/>
                </a:solidFill>
                <a:effectLst/>
                <a:latin typeface="Consolas" panose="020B0609020204030204" pitchFamily="49" charset="0"/>
              </a:rPr>
              <a:t>"public"</a:t>
            </a:r>
            <a:endParaRPr lang="en-US" sz="2000" b="0">
              <a:solidFill>
                <a:srgbClr val="000000"/>
              </a:solidFill>
              <a:effectLst/>
              <a:latin typeface="Consolas" panose="020B0609020204030204" pitchFamily="49" charset="0"/>
            </a:endParaRPr>
          </a:p>
          <a:p>
            <a:pPr>
              <a:lnSpc>
                <a:spcPts val="2250"/>
              </a:lnSpc>
              <a:buNone/>
            </a:pPr>
            <a:r>
              <a:rPr lang="en-US" sz="2000" b="0">
                <a:solidFill>
                  <a:srgbClr val="000000"/>
                </a:solidFill>
                <a:effectLst/>
                <a:latin typeface="Consolas" panose="020B0609020204030204" pitchFamily="49" charset="0"/>
              </a:rPr>
              <a:t>}</a:t>
            </a:r>
          </a:p>
        </p:txBody>
      </p:sp>
      <p:sp>
        <p:nvSpPr>
          <p:cNvPr id="18" name="TextBox 17">
            <a:extLst>
              <a:ext uri="{FF2B5EF4-FFF2-40B4-BE49-F238E27FC236}">
                <a16:creationId xmlns:a16="http://schemas.microsoft.com/office/drawing/2014/main" id="{697A0914-5540-0718-1492-BD0CB459F50F}"/>
              </a:ext>
            </a:extLst>
          </p:cNvPr>
          <p:cNvSpPr txBox="1"/>
          <p:nvPr/>
        </p:nvSpPr>
        <p:spPr>
          <a:xfrm>
            <a:off x="542786" y="3254215"/>
            <a:ext cx="4347384" cy="2308324"/>
          </a:xfrm>
          <a:prstGeom prst="rect">
            <a:avLst/>
          </a:prstGeom>
          <a:noFill/>
        </p:spPr>
        <p:txBody>
          <a:bodyPr wrap="square">
            <a:spAutoFit/>
          </a:bodyPr>
          <a:lstStyle/>
          <a:p>
            <a:pPr marL="285750" indent="-28575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"glob": "**/*": Có nghĩa là lấy tất cả các file và thư mục con bên trong thư mục đầu vào.</a:t>
            </a:r>
          </a:p>
          <a:p>
            <a:pPr marL="285750" indent="-285750" algn="just">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"input": "public" đây thư mục chứa các file tĩnh, và nó hiểu cả thư mục con bên trong</a:t>
            </a:r>
          </a:p>
        </p:txBody>
      </p:sp>
    </p:spTree>
    <p:extLst>
      <p:ext uri="{BB962C8B-B14F-4D97-AF65-F5344CB8AC3E}">
        <p14:creationId xmlns:p14="http://schemas.microsoft.com/office/powerpoint/2010/main" val="9216885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32A291F-75CF-18AE-4389-E8B3A035BEB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5903D8A-E24D-2F5D-7285-7E6994E5E35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D059589-2CBF-18C5-E045-600FB87A377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25</a:t>
            </a:fld>
            <a:endParaRPr/>
          </a:p>
        </p:txBody>
      </p:sp>
      <p:grpSp>
        <p:nvGrpSpPr>
          <p:cNvPr id="2" name="Group 1">
            <a:extLst>
              <a:ext uri="{FF2B5EF4-FFF2-40B4-BE49-F238E27FC236}">
                <a16:creationId xmlns:a16="http://schemas.microsoft.com/office/drawing/2014/main" id="{7ED14E5D-F420-B442-1D25-7DB3AE42BC67}"/>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F553BF34-86E4-6CEB-93E8-45BC05128C2E}"/>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200" b="1">
                  <a:latin typeface="Times New Roman" panose="02020603050405020304" pitchFamily="18" charset="0"/>
                  <a:cs typeface="Times New Roman" panose="02020603050405020304" pitchFamily="18" charset="0"/>
                </a:rPr>
                <a:t>3.4.</a:t>
              </a:r>
              <a:r>
                <a:rPr lang="en-US" sz="2200" b="1">
                  <a:latin typeface="Times New Roman" panose="02020603050405020304" pitchFamily="18" charset="0"/>
                  <a:cs typeface="Times New Roman" panose="02020603050405020304" pitchFamily="18" charset="0"/>
                </a:rPr>
                <a:t> </a:t>
              </a:r>
              <a:r>
                <a:rPr lang="vi-VN" sz="2200" b="1">
                  <a:latin typeface="Times New Roman" panose="02020603050405020304" pitchFamily="18" charset="0"/>
                  <a:cs typeface="Times New Roman" panose="02020603050405020304" pitchFamily="18" charset="0"/>
                </a:rPr>
                <a:t>Cách tạo Service với External Data – HTTP protocol</a:t>
              </a:r>
              <a:endParaRPr lang="en-US" sz="22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7024E61-3665-D3C7-B77C-7BED85BD933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D11C876A-5109-72F3-7BD4-C51707E3AD4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9C72532-8D2B-63E0-1DCC-9570243DFBB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A1C594A-213D-FD71-E591-746A8C3187FA}"/>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AE508C5F-EF7E-C340-865E-AC2D6CA3A68F}"/>
              </a:ext>
            </a:extLst>
          </p:cNvPr>
          <p:cNvSpPr txBox="1"/>
          <p:nvPr/>
        </p:nvSpPr>
        <p:spPr>
          <a:xfrm>
            <a:off x="415252" y="810009"/>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3: Tạo file </a:t>
            </a:r>
            <a:r>
              <a:rPr lang="en-US" sz="2400" b="1">
                <a:latin typeface="Times New Roman" panose="02020603050405020304" pitchFamily="18" charset="0"/>
                <a:cs typeface="Times New Roman" panose="02020603050405020304" pitchFamily="18" charset="0"/>
              </a:rPr>
              <a:t>products.json</a:t>
            </a:r>
            <a:r>
              <a:rPr lang="en-US" sz="2400">
                <a:latin typeface="Times New Roman" panose="02020603050405020304" pitchFamily="18" charset="0"/>
                <a:cs typeface="Times New Roman" panose="02020603050405020304" pitchFamily="18" charset="0"/>
              </a:rPr>
              <a:t> trong thư mục </a:t>
            </a:r>
            <a:r>
              <a:rPr lang="en-US" sz="2400" b="1">
                <a:latin typeface="Times New Roman" panose="02020603050405020304" pitchFamily="18" charset="0"/>
                <a:cs typeface="Times New Roman" panose="02020603050405020304" pitchFamily="18" charset="0"/>
              </a:rPr>
              <a:t>public/datasets</a:t>
            </a:r>
            <a:endParaRPr lang="vi-VN" sz="2400" b="1">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6F4F4D01-9C6C-69B6-E155-8C35BF690852}"/>
              </a:ext>
            </a:extLst>
          </p:cNvPr>
          <p:cNvPicPr>
            <a:picLocks noChangeAspect="1"/>
          </p:cNvPicPr>
          <p:nvPr/>
        </p:nvPicPr>
        <p:blipFill>
          <a:blip r:embed="rId3"/>
          <a:srcRect/>
          <a:stretch/>
        </p:blipFill>
        <p:spPr>
          <a:xfrm>
            <a:off x="2254364" y="4063891"/>
            <a:ext cx="8138865" cy="2339543"/>
          </a:xfrm>
          <a:prstGeom prst="rect">
            <a:avLst/>
          </a:prstGeom>
        </p:spPr>
      </p:pic>
      <p:sp>
        <p:nvSpPr>
          <p:cNvPr id="18" name="Arrow: Right 17">
            <a:extLst>
              <a:ext uri="{FF2B5EF4-FFF2-40B4-BE49-F238E27FC236}">
                <a16:creationId xmlns:a16="http://schemas.microsoft.com/office/drawing/2014/main" id="{5F585E14-2DA9-2BF6-E876-7F8A7EA90090}"/>
              </a:ext>
            </a:extLst>
          </p:cNvPr>
          <p:cNvSpPr/>
          <p:nvPr/>
        </p:nvSpPr>
        <p:spPr>
          <a:xfrm>
            <a:off x="5141265" y="2996869"/>
            <a:ext cx="1182532" cy="281882"/>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1C24960A-64D1-F915-3BF0-F55B4B96B5FE}"/>
              </a:ext>
            </a:extLst>
          </p:cNvPr>
          <p:cNvPicPr>
            <a:picLocks noChangeAspect="1"/>
          </p:cNvPicPr>
          <p:nvPr/>
        </p:nvPicPr>
        <p:blipFill>
          <a:blip r:embed="rId4"/>
          <a:stretch>
            <a:fillRect/>
          </a:stretch>
        </p:blipFill>
        <p:spPr>
          <a:xfrm>
            <a:off x="542786" y="1406025"/>
            <a:ext cx="4476101" cy="2347310"/>
          </a:xfrm>
          <a:prstGeom prst="rect">
            <a:avLst/>
          </a:prstGeom>
        </p:spPr>
      </p:pic>
      <p:pic>
        <p:nvPicPr>
          <p:cNvPr id="14" name="Picture 13">
            <a:extLst>
              <a:ext uri="{FF2B5EF4-FFF2-40B4-BE49-F238E27FC236}">
                <a16:creationId xmlns:a16="http://schemas.microsoft.com/office/drawing/2014/main" id="{95D519E7-D56F-73BE-8212-06FF0BB336E6}"/>
              </a:ext>
            </a:extLst>
          </p:cNvPr>
          <p:cNvPicPr>
            <a:picLocks noChangeAspect="1"/>
          </p:cNvPicPr>
          <p:nvPr/>
        </p:nvPicPr>
        <p:blipFill>
          <a:blip r:embed="rId5"/>
          <a:stretch>
            <a:fillRect/>
          </a:stretch>
        </p:blipFill>
        <p:spPr>
          <a:xfrm>
            <a:off x="7123308" y="1268853"/>
            <a:ext cx="3033023" cy="2674852"/>
          </a:xfrm>
          <a:prstGeom prst="rect">
            <a:avLst/>
          </a:prstGeom>
        </p:spPr>
      </p:pic>
      <p:sp>
        <p:nvSpPr>
          <p:cNvPr id="19" name="Arrow: Right 18">
            <a:extLst>
              <a:ext uri="{FF2B5EF4-FFF2-40B4-BE49-F238E27FC236}">
                <a16:creationId xmlns:a16="http://schemas.microsoft.com/office/drawing/2014/main" id="{550FCE32-97E2-FBFA-D7DC-3CDAF197F8A7}"/>
              </a:ext>
            </a:extLst>
          </p:cNvPr>
          <p:cNvSpPr/>
          <p:nvPr/>
        </p:nvSpPr>
        <p:spPr>
          <a:xfrm rot="5400000">
            <a:off x="7907612" y="3635744"/>
            <a:ext cx="1182532" cy="281882"/>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182582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D9AF5D2-5B68-1A1F-51D5-CF604875131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CB0D434A-A5EF-38EC-ECBF-F194A835EBD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7F21124-8EA4-3A2E-DA92-4D28FEA55A4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26</a:t>
            </a:fld>
            <a:endParaRPr/>
          </a:p>
        </p:txBody>
      </p:sp>
      <p:grpSp>
        <p:nvGrpSpPr>
          <p:cNvPr id="2" name="Group 1">
            <a:extLst>
              <a:ext uri="{FF2B5EF4-FFF2-40B4-BE49-F238E27FC236}">
                <a16:creationId xmlns:a16="http://schemas.microsoft.com/office/drawing/2014/main" id="{4D43B7EC-453D-4D31-2DF8-F48E2DF1D667}"/>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EA49DE7D-870D-6B94-E46C-D89A2705A22C}"/>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200" b="1">
                  <a:latin typeface="Times New Roman" panose="02020603050405020304" pitchFamily="18" charset="0"/>
                  <a:cs typeface="Times New Roman" panose="02020603050405020304" pitchFamily="18" charset="0"/>
                </a:rPr>
                <a:t>3.4.</a:t>
              </a:r>
              <a:r>
                <a:rPr lang="en-US" sz="2200" b="1">
                  <a:latin typeface="Times New Roman" panose="02020603050405020304" pitchFamily="18" charset="0"/>
                  <a:cs typeface="Times New Roman" panose="02020603050405020304" pitchFamily="18" charset="0"/>
                </a:rPr>
                <a:t> </a:t>
              </a:r>
              <a:r>
                <a:rPr lang="vi-VN" sz="2200" b="1">
                  <a:latin typeface="Times New Roman" panose="02020603050405020304" pitchFamily="18" charset="0"/>
                  <a:cs typeface="Times New Roman" panose="02020603050405020304" pitchFamily="18" charset="0"/>
                </a:rPr>
                <a:t>Cách tạo Service với External Data – HTTP protocol</a:t>
              </a:r>
              <a:endParaRPr lang="en-US" sz="22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B10998B-2447-667D-FF88-7B50601A050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5C09AE91-FA7F-7000-8781-EF7EB8ACFB9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187EB61-FCD4-F5FF-EEC4-DF6F1EDC8C6E}"/>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8A2B982-6F06-03D6-B87D-7C6FB5D70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B12C6D4B-CACB-663A-D132-5100551DD5C7}"/>
              </a:ext>
            </a:extLst>
          </p:cNvPr>
          <p:cNvSpPr txBox="1"/>
          <p:nvPr/>
        </p:nvSpPr>
        <p:spPr>
          <a:xfrm>
            <a:off x="415252" y="810009"/>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Tạo </a:t>
            </a:r>
            <a:r>
              <a:rPr lang="en-US" sz="2400" b="1">
                <a:latin typeface="Times New Roman" panose="02020603050405020304" pitchFamily="18" charset="0"/>
                <a:cs typeface="Times New Roman" panose="02020603050405020304" pitchFamily="18" charset="0"/>
              </a:rPr>
              <a:t>ProductHttpService</a:t>
            </a:r>
            <a:r>
              <a:rPr lang="en-US" sz="2400">
                <a:latin typeface="Times New Roman" panose="02020603050405020304" pitchFamily="18" charset="0"/>
                <a:cs typeface="Times New Roman" panose="02020603050405020304" pitchFamily="18" charset="0"/>
              </a:rPr>
              <a:t> service</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9E9B2334-BCBE-028B-DC0A-F09BB6536C95}"/>
              </a:ext>
            </a:extLst>
          </p:cNvPr>
          <p:cNvPicPr>
            <a:picLocks noChangeAspect="1"/>
          </p:cNvPicPr>
          <p:nvPr/>
        </p:nvPicPr>
        <p:blipFill>
          <a:blip r:embed="rId3"/>
          <a:stretch>
            <a:fillRect/>
          </a:stretch>
        </p:blipFill>
        <p:spPr>
          <a:xfrm>
            <a:off x="467159" y="1630438"/>
            <a:ext cx="3688400" cy="2263336"/>
          </a:xfrm>
          <a:prstGeom prst="rect">
            <a:avLst/>
          </a:prstGeom>
        </p:spPr>
      </p:pic>
      <p:pic>
        <p:nvPicPr>
          <p:cNvPr id="13" name="Picture 12">
            <a:extLst>
              <a:ext uri="{FF2B5EF4-FFF2-40B4-BE49-F238E27FC236}">
                <a16:creationId xmlns:a16="http://schemas.microsoft.com/office/drawing/2014/main" id="{618CC8F3-1701-3950-DB30-DF4BA7983FA2}"/>
              </a:ext>
            </a:extLst>
          </p:cNvPr>
          <p:cNvPicPr>
            <a:picLocks noChangeAspect="1"/>
          </p:cNvPicPr>
          <p:nvPr/>
        </p:nvPicPr>
        <p:blipFill>
          <a:blip r:embed="rId4"/>
          <a:stretch>
            <a:fillRect/>
          </a:stretch>
        </p:blipFill>
        <p:spPr>
          <a:xfrm>
            <a:off x="5159308" y="1691295"/>
            <a:ext cx="6820491" cy="1013548"/>
          </a:xfrm>
          <a:prstGeom prst="rect">
            <a:avLst/>
          </a:prstGeom>
        </p:spPr>
      </p:pic>
      <p:pic>
        <p:nvPicPr>
          <p:cNvPr id="16" name="Picture 15">
            <a:extLst>
              <a:ext uri="{FF2B5EF4-FFF2-40B4-BE49-F238E27FC236}">
                <a16:creationId xmlns:a16="http://schemas.microsoft.com/office/drawing/2014/main" id="{BFF47AA5-DD8E-EDD8-5851-1D01B4A2D5DF}"/>
              </a:ext>
            </a:extLst>
          </p:cNvPr>
          <p:cNvPicPr>
            <a:picLocks noChangeAspect="1"/>
          </p:cNvPicPr>
          <p:nvPr/>
        </p:nvPicPr>
        <p:blipFill>
          <a:blip r:embed="rId5"/>
          <a:stretch>
            <a:fillRect/>
          </a:stretch>
        </p:blipFill>
        <p:spPr>
          <a:xfrm>
            <a:off x="5209031" y="3717844"/>
            <a:ext cx="6889077" cy="1966130"/>
          </a:xfrm>
          <a:prstGeom prst="rect">
            <a:avLst/>
          </a:prstGeom>
        </p:spPr>
      </p:pic>
      <p:pic>
        <p:nvPicPr>
          <p:cNvPr id="21" name="Picture 20">
            <a:extLst>
              <a:ext uri="{FF2B5EF4-FFF2-40B4-BE49-F238E27FC236}">
                <a16:creationId xmlns:a16="http://schemas.microsoft.com/office/drawing/2014/main" id="{D0670A66-2768-950C-284C-E8990CA8DE64}"/>
              </a:ext>
            </a:extLst>
          </p:cNvPr>
          <p:cNvPicPr>
            <a:picLocks noChangeAspect="1"/>
          </p:cNvPicPr>
          <p:nvPr/>
        </p:nvPicPr>
        <p:blipFill>
          <a:blip r:embed="rId6"/>
          <a:stretch>
            <a:fillRect/>
          </a:stretch>
        </p:blipFill>
        <p:spPr>
          <a:xfrm>
            <a:off x="625510" y="4583616"/>
            <a:ext cx="3048264" cy="1287892"/>
          </a:xfrm>
          <a:prstGeom prst="rect">
            <a:avLst/>
          </a:prstGeom>
        </p:spPr>
      </p:pic>
      <p:sp>
        <p:nvSpPr>
          <p:cNvPr id="22" name="Arrow: Right 21">
            <a:extLst>
              <a:ext uri="{FF2B5EF4-FFF2-40B4-BE49-F238E27FC236}">
                <a16:creationId xmlns:a16="http://schemas.microsoft.com/office/drawing/2014/main" id="{6A90DF62-60D6-D2B6-994F-45C2128BC9CE}"/>
              </a:ext>
            </a:extLst>
          </p:cNvPr>
          <p:cNvSpPr/>
          <p:nvPr/>
        </p:nvSpPr>
        <p:spPr>
          <a:xfrm>
            <a:off x="4066168" y="3265878"/>
            <a:ext cx="1182532" cy="281882"/>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Arrow: Right 22">
            <a:extLst>
              <a:ext uri="{FF2B5EF4-FFF2-40B4-BE49-F238E27FC236}">
                <a16:creationId xmlns:a16="http://schemas.microsoft.com/office/drawing/2014/main" id="{EFA5C88F-360E-5CC4-3CEC-4E70ECC110E1}"/>
              </a:ext>
            </a:extLst>
          </p:cNvPr>
          <p:cNvSpPr/>
          <p:nvPr/>
        </p:nvSpPr>
        <p:spPr>
          <a:xfrm rot="10800000">
            <a:off x="3846211" y="4744584"/>
            <a:ext cx="1182532" cy="281882"/>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Arrow: Right 23">
            <a:extLst>
              <a:ext uri="{FF2B5EF4-FFF2-40B4-BE49-F238E27FC236}">
                <a16:creationId xmlns:a16="http://schemas.microsoft.com/office/drawing/2014/main" id="{BFA979AE-D114-0179-F908-541B5C006E25}"/>
              </a:ext>
            </a:extLst>
          </p:cNvPr>
          <p:cNvSpPr/>
          <p:nvPr/>
        </p:nvSpPr>
        <p:spPr>
          <a:xfrm rot="5400000">
            <a:off x="10453266" y="2964928"/>
            <a:ext cx="1182532" cy="281882"/>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81955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0E7CA00-1B1D-ABF2-8DCD-6091ADEBC1F1}"/>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69F4967-F3AD-A08C-2B23-D2F56EF931CF}"/>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AA3BB4DF-0B70-8BB1-8863-97837B1F8CD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27</a:t>
            </a:fld>
            <a:endParaRPr/>
          </a:p>
        </p:txBody>
      </p:sp>
      <p:grpSp>
        <p:nvGrpSpPr>
          <p:cNvPr id="2" name="Group 1">
            <a:extLst>
              <a:ext uri="{FF2B5EF4-FFF2-40B4-BE49-F238E27FC236}">
                <a16:creationId xmlns:a16="http://schemas.microsoft.com/office/drawing/2014/main" id="{E443414B-C848-867E-9212-3C7F0AEA115B}"/>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F66E4632-B86F-8496-C01C-C6F7BD9247FD}"/>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200" b="1">
                  <a:latin typeface="Times New Roman" panose="02020603050405020304" pitchFamily="18" charset="0"/>
                  <a:cs typeface="Times New Roman" panose="02020603050405020304" pitchFamily="18" charset="0"/>
                </a:rPr>
                <a:t>3.4.</a:t>
              </a:r>
              <a:r>
                <a:rPr lang="en-US" sz="2200" b="1">
                  <a:latin typeface="Times New Roman" panose="02020603050405020304" pitchFamily="18" charset="0"/>
                  <a:cs typeface="Times New Roman" panose="02020603050405020304" pitchFamily="18" charset="0"/>
                </a:rPr>
                <a:t> </a:t>
              </a:r>
              <a:r>
                <a:rPr lang="vi-VN" sz="2200" b="1">
                  <a:latin typeface="Times New Roman" panose="02020603050405020304" pitchFamily="18" charset="0"/>
                  <a:cs typeface="Times New Roman" panose="02020603050405020304" pitchFamily="18" charset="0"/>
                </a:rPr>
                <a:t>Cách tạo Service với External Data – HTTP protocol</a:t>
              </a:r>
              <a:endParaRPr lang="en-US" sz="22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0305446-AA1E-7F49-4599-4A915E0AC82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B9124F73-3716-DC41-3319-798B0FFBA450}"/>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EF04685-57DD-62A3-9735-E5157EE2BA17}"/>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B116EA7-CC34-7974-3D8F-6C2EEF03D49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96E8358-AE02-1FF8-A85B-264ABCFD8B50}"/>
              </a:ext>
            </a:extLst>
          </p:cNvPr>
          <p:cNvSpPr txBox="1"/>
          <p:nvPr/>
        </p:nvSpPr>
        <p:spPr>
          <a:xfrm>
            <a:off x="415252" y="810009"/>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Tạo </a:t>
            </a:r>
            <a:r>
              <a:rPr lang="en-US" sz="2400" b="1">
                <a:latin typeface="Times New Roman" panose="02020603050405020304" pitchFamily="18" charset="0"/>
                <a:cs typeface="Times New Roman" panose="02020603050405020304" pitchFamily="18" charset="0"/>
              </a:rPr>
              <a:t>ProductHttpService</a:t>
            </a:r>
            <a:r>
              <a:rPr lang="en-US" sz="2400">
                <a:latin typeface="Times New Roman" panose="02020603050405020304" pitchFamily="18" charset="0"/>
                <a:cs typeface="Times New Roman" panose="02020603050405020304" pitchFamily="18" charset="0"/>
              </a:rPr>
              <a:t> service</a:t>
            </a:r>
            <a:endParaRPr lang="vi-VN" sz="2400" b="1">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7BB2A299-6FF1-89DD-FEBE-6B479E88AA99}"/>
              </a:ext>
            </a:extLst>
          </p:cNvPr>
          <p:cNvSpPr txBox="1"/>
          <p:nvPr/>
        </p:nvSpPr>
        <p:spPr>
          <a:xfrm>
            <a:off x="7573368" y="369587"/>
            <a:ext cx="4705717" cy="480260"/>
          </a:xfrm>
          <a:prstGeom prst="rect">
            <a:avLst/>
          </a:prstGeom>
          <a:noFill/>
        </p:spPr>
        <p:txBody>
          <a:bodyPr wrap="square">
            <a:spAutoFit/>
          </a:bodyPr>
          <a:lstStyle/>
          <a:p>
            <a:pPr algn="just">
              <a:lnSpc>
                <a:spcPct val="114000"/>
              </a:lnSpc>
            </a:pPr>
            <a:r>
              <a:rPr lang="en-US" sz="2400">
                <a:latin typeface="Times New Roman" panose="02020603050405020304" pitchFamily="18" charset="0"/>
                <a:cs typeface="Times New Roman" panose="02020603050405020304" pitchFamily="18" charset="0"/>
              </a:rPr>
              <a:t>Import thư viện cho </a:t>
            </a:r>
            <a:r>
              <a:rPr lang="en-US" sz="2400" b="1">
                <a:latin typeface="Times New Roman" panose="02020603050405020304" pitchFamily="18" charset="0"/>
                <a:cs typeface="Times New Roman" panose="02020603050405020304" pitchFamily="18" charset="0"/>
              </a:rPr>
              <a:t>app-module.ts</a:t>
            </a:r>
            <a:endParaRPr lang="vi-VN" sz="2400" b="1">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D70FB0F0-096C-EE4E-1964-359B37684BF5}"/>
              </a:ext>
            </a:extLst>
          </p:cNvPr>
          <p:cNvSpPr txBox="1"/>
          <p:nvPr/>
        </p:nvSpPr>
        <p:spPr>
          <a:xfrm>
            <a:off x="564686" y="1326628"/>
            <a:ext cx="10838518" cy="372923"/>
          </a:xfrm>
          <a:prstGeom prst="rect">
            <a:avLst/>
          </a:prstGeom>
          <a:noFill/>
          <a:ln>
            <a:solidFill>
              <a:srgbClr val="002060"/>
            </a:solidFill>
          </a:ln>
        </p:spPr>
        <p:txBody>
          <a:bodyPr wrap="square">
            <a:spAutoFit/>
          </a:bodyPr>
          <a:lstStyle/>
          <a:p>
            <a:pPr>
              <a:lnSpc>
                <a:spcPts val="2250"/>
              </a:lnSpc>
              <a:buNone/>
            </a:pPr>
            <a:r>
              <a:rPr lang="en-US" sz="1800" b="0">
                <a:solidFill>
                  <a:srgbClr val="0000FF"/>
                </a:solidFill>
                <a:effectLst/>
                <a:latin typeface="Consolas" panose="020B0609020204030204" pitchFamily="49" charset="0"/>
              </a:rPr>
              <a:t>import</a:t>
            </a:r>
            <a:r>
              <a:rPr lang="en-US" sz="1800" b="0">
                <a:solidFill>
                  <a:srgbClr val="000000"/>
                </a:solidFill>
                <a:effectLst/>
                <a:latin typeface="Consolas" panose="020B0609020204030204" pitchFamily="49" charset="0"/>
              </a:rPr>
              <a:t> { provideHttpClient, withInterceptorsFromDi } </a:t>
            </a:r>
            <a:r>
              <a:rPr lang="en-US" sz="1800" b="0">
                <a:solidFill>
                  <a:srgbClr val="0000FF"/>
                </a:solidFill>
                <a:effectLst/>
                <a:latin typeface="Consolas" panose="020B0609020204030204" pitchFamily="49" charset="0"/>
              </a:rPr>
              <a:t>from</a:t>
            </a:r>
            <a:r>
              <a:rPr lang="en-US" sz="1800" b="0">
                <a:solidFill>
                  <a:srgbClr val="000000"/>
                </a:solidFill>
                <a:effectLst/>
                <a:latin typeface="Consolas" panose="020B0609020204030204" pitchFamily="49" charset="0"/>
              </a:rPr>
              <a:t> </a:t>
            </a:r>
            <a:r>
              <a:rPr lang="en-US" sz="1800" b="0">
                <a:solidFill>
                  <a:srgbClr val="A31515"/>
                </a:solidFill>
                <a:effectLst/>
                <a:latin typeface="Consolas" panose="020B0609020204030204" pitchFamily="49" charset="0"/>
              </a:rPr>
              <a:t>'@angular/common/http'</a:t>
            </a:r>
            <a:r>
              <a:rPr lang="en-US" sz="1800" b="0">
                <a:solidFill>
                  <a:srgbClr val="000000"/>
                </a:solidFill>
                <a:effectLst/>
                <a:latin typeface="Consolas" panose="020B0609020204030204" pitchFamily="49" charset="0"/>
              </a:rPr>
              <a:t>;</a:t>
            </a:r>
          </a:p>
        </p:txBody>
      </p:sp>
      <p:sp>
        <p:nvSpPr>
          <p:cNvPr id="15" name="TextBox 14">
            <a:extLst>
              <a:ext uri="{FF2B5EF4-FFF2-40B4-BE49-F238E27FC236}">
                <a16:creationId xmlns:a16="http://schemas.microsoft.com/office/drawing/2014/main" id="{313229DD-E83B-DC59-695A-B84342CA3156}"/>
              </a:ext>
            </a:extLst>
          </p:cNvPr>
          <p:cNvSpPr txBox="1"/>
          <p:nvPr/>
        </p:nvSpPr>
        <p:spPr>
          <a:xfrm>
            <a:off x="564687" y="1808945"/>
            <a:ext cx="10838518" cy="977191"/>
          </a:xfrm>
          <a:prstGeom prst="rect">
            <a:avLst/>
          </a:prstGeom>
          <a:noFill/>
          <a:ln>
            <a:solidFill>
              <a:srgbClr val="002060"/>
            </a:solidFill>
          </a:ln>
        </p:spPr>
        <p:txBody>
          <a:bodyPr wrap="square">
            <a:spAutoFit/>
          </a:bodyPr>
          <a:lstStyle/>
          <a:p>
            <a:pPr>
              <a:lnSpc>
                <a:spcPts val="2250"/>
              </a:lnSpc>
              <a:buNone/>
            </a:pPr>
            <a:r>
              <a:rPr lang="en-US" sz="1800" b="0">
                <a:solidFill>
                  <a:srgbClr val="000000"/>
                </a:solidFill>
                <a:effectLst/>
                <a:latin typeface="Consolas" panose="020B0609020204030204" pitchFamily="49" charset="0"/>
              </a:rPr>
              <a:t>providers: [provideBrowserGlobalErrorListeners(),</a:t>
            </a:r>
          </a:p>
          <a:p>
            <a:pPr>
              <a:lnSpc>
                <a:spcPts val="2250"/>
              </a:lnSpc>
              <a:buNone/>
            </a:pPr>
            <a:r>
              <a:rPr lang="en-US" sz="1800" b="0">
                <a:solidFill>
                  <a:srgbClr val="000000"/>
                </a:solidFill>
                <a:effectLst/>
                <a:latin typeface="Consolas" panose="020B0609020204030204" pitchFamily="49" charset="0"/>
              </a:rPr>
              <a:t>    provideHttpClient(withInterceptorsFromDi())</a:t>
            </a:r>
          </a:p>
          <a:p>
            <a:pPr>
              <a:lnSpc>
                <a:spcPts val="2250"/>
              </a:lnSpc>
              <a:buNone/>
            </a:pPr>
            <a:r>
              <a:rPr lang="en-US" sz="1800" b="0">
                <a:solidFill>
                  <a:srgbClr val="000000"/>
                </a:solidFill>
                <a:effectLst/>
                <a:latin typeface="Consolas" panose="020B0609020204030204" pitchFamily="49" charset="0"/>
              </a:rPr>
              <a:t>  ],</a:t>
            </a:r>
          </a:p>
        </p:txBody>
      </p:sp>
      <p:pic>
        <p:nvPicPr>
          <p:cNvPr id="18" name="Picture 17">
            <a:extLst>
              <a:ext uri="{FF2B5EF4-FFF2-40B4-BE49-F238E27FC236}">
                <a16:creationId xmlns:a16="http://schemas.microsoft.com/office/drawing/2014/main" id="{58724EF0-2881-FCBB-34EC-D0FE89D63E02}"/>
              </a:ext>
            </a:extLst>
          </p:cNvPr>
          <p:cNvPicPr>
            <a:picLocks noChangeAspect="1"/>
          </p:cNvPicPr>
          <p:nvPr/>
        </p:nvPicPr>
        <p:blipFill>
          <a:blip r:embed="rId3"/>
          <a:stretch>
            <a:fillRect/>
          </a:stretch>
        </p:blipFill>
        <p:spPr>
          <a:xfrm>
            <a:off x="2136273" y="2837994"/>
            <a:ext cx="8495159" cy="3454944"/>
          </a:xfrm>
          <a:prstGeom prst="rect">
            <a:avLst/>
          </a:prstGeom>
        </p:spPr>
      </p:pic>
    </p:spTree>
    <p:extLst>
      <p:ext uri="{BB962C8B-B14F-4D97-AF65-F5344CB8AC3E}">
        <p14:creationId xmlns:p14="http://schemas.microsoft.com/office/powerpoint/2010/main" val="33066940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7E88730-BF63-6A0D-A729-BAAE1E34772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D9C3D9D-203E-5AF6-02B2-D50A686C16C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C81CFF8-EE35-E7DC-6BDA-AAEE1D4C340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28</a:t>
            </a:fld>
            <a:endParaRPr/>
          </a:p>
        </p:txBody>
      </p:sp>
      <p:grpSp>
        <p:nvGrpSpPr>
          <p:cNvPr id="2" name="Group 1">
            <a:extLst>
              <a:ext uri="{FF2B5EF4-FFF2-40B4-BE49-F238E27FC236}">
                <a16:creationId xmlns:a16="http://schemas.microsoft.com/office/drawing/2014/main" id="{93C4A9BF-A819-8372-4E06-9B71FCD26A33}"/>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6EE7EEA5-C7C6-766F-D9E5-D059FAAC7DCA}"/>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200" b="1">
                  <a:latin typeface="Times New Roman" panose="02020603050405020304" pitchFamily="18" charset="0"/>
                  <a:cs typeface="Times New Roman" panose="02020603050405020304" pitchFamily="18" charset="0"/>
                </a:rPr>
                <a:t>3.4.</a:t>
              </a:r>
              <a:r>
                <a:rPr lang="en-US" sz="2200" b="1">
                  <a:latin typeface="Times New Roman" panose="02020603050405020304" pitchFamily="18" charset="0"/>
                  <a:cs typeface="Times New Roman" panose="02020603050405020304" pitchFamily="18" charset="0"/>
                </a:rPr>
                <a:t> </a:t>
              </a:r>
              <a:r>
                <a:rPr lang="vi-VN" sz="2200" b="1">
                  <a:latin typeface="Times New Roman" panose="02020603050405020304" pitchFamily="18" charset="0"/>
                  <a:cs typeface="Times New Roman" panose="02020603050405020304" pitchFamily="18" charset="0"/>
                </a:rPr>
                <a:t>Cách tạo Service với External Data – HTTP protocol</a:t>
              </a:r>
              <a:endParaRPr lang="en-US" sz="22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8836E6C-E27A-072D-C868-325C910FA29C}"/>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608735C-7617-328D-9942-58B9155BD864}"/>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C39E651-D332-2152-E847-6ACC625C37A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C114A12-5929-38B8-AD63-8CC96715C2E1}"/>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E87757B-EAA1-0213-A180-6B7D1A5E6A39}"/>
              </a:ext>
            </a:extLst>
          </p:cNvPr>
          <p:cNvSpPr txBox="1"/>
          <p:nvPr/>
        </p:nvSpPr>
        <p:spPr>
          <a:xfrm>
            <a:off x="415252" y="810009"/>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4: product-http-service.ts</a:t>
            </a:r>
            <a:endParaRPr lang="vi-VN" sz="2400" b="1">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05B87A17-40F9-08C2-1EF6-12C2C12AF8DF}"/>
              </a:ext>
            </a:extLst>
          </p:cNvPr>
          <p:cNvPicPr>
            <a:picLocks noChangeAspect="1"/>
          </p:cNvPicPr>
          <p:nvPr/>
        </p:nvPicPr>
        <p:blipFill>
          <a:blip r:embed="rId3"/>
          <a:srcRect/>
          <a:stretch/>
        </p:blipFill>
        <p:spPr>
          <a:xfrm>
            <a:off x="959089" y="1290269"/>
            <a:ext cx="6851790" cy="5003524"/>
          </a:xfrm>
          <a:prstGeom prst="rect">
            <a:avLst/>
          </a:prstGeom>
        </p:spPr>
      </p:pic>
    </p:spTree>
    <p:extLst>
      <p:ext uri="{BB962C8B-B14F-4D97-AF65-F5344CB8AC3E}">
        <p14:creationId xmlns:p14="http://schemas.microsoft.com/office/powerpoint/2010/main" val="21285291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23D9F09-C7C3-71E0-B14D-05055F1CAFC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26F5AA8-9932-CC1F-55F5-38F1B6194E87}"/>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EEEEED4-F852-9578-C468-55FBCA64DA8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29</a:t>
            </a:fld>
            <a:endParaRPr/>
          </a:p>
        </p:txBody>
      </p:sp>
      <p:grpSp>
        <p:nvGrpSpPr>
          <p:cNvPr id="2" name="Group 1">
            <a:extLst>
              <a:ext uri="{FF2B5EF4-FFF2-40B4-BE49-F238E27FC236}">
                <a16:creationId xmlns:a16="http://schemas.microsoft.com/office/drawing/2014/main" id="{83A19E99-E86B-9412-3B72-03FF415F9C61}"/>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B5D36D41-1EFA-1E84-E465-A606E952F1FA}"/>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3.5. Cách triệu gọi Service – HTTP Protocol</a:t>
              </a:r>
              <a:endParaRPr lang="en-US" sz="2800" b="1">
                <a:latin typeface="Cambria" panose="02040503050406030204" pitchFamily="18" charset="0"/>
              </a:endParaRPr>
            </a:p>
          </p:txBody>
        </p:sp>
        <p:grpSp>
          <p:nvGrpSpPr>
            <p:cNvPr id="4" name="Group 17">
              <a:extLst>
                <a:ext uri="{FF2B5EF4-FFF2-40B4-BE49-F238E27FC236}">
                  <a16:creationId xmlns:a16="http://schemas.microsoft.com/office/drawing/2014/main" id="{E028CBC1-5A69-AD44-0EAB-EC1FB705711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CF4A7863-16D7-575F-7434-2D3C047C9DE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91F23B2E-5C99-30F4-459D-9FFEF45D52B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08A91CB9-3FC4-2091-3509-3B0CDBB1697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0AE38EAC-CBA6-AE06-B563-21884159AAE6}"/>
              </a:ext>
            </a:extLst>
          </p:cNvPr>
          <p:cNvSpPr txBox="1"/>
          <p:nvPr/>
        </p:nvSpPr>
        <p:spPr>
          <a:xfrm>
            <a:off x="415252" y="810009"/>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tạo component </a:t>
            </a:r>
            <a:r>
              <a:rPr lang="en-US" sz="2400" b="1">
                <a:latin typeface="Times New Roman" panose="02020603050405020304" pitchFamily="18" charset="0"/>
                <a:cs typeface="Times New Roman" panose="02020603050405020304" pitchFamily="18" charset="0"/>
              </a:rPr>
              <a:t>product-list-call-http-service-component</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E0E274AB-2647-A235-D104-8F0ADA9C6BE5}"/>
              </a:ext>
            </a:extLst>
          </p:cNvPr>
          <p:cNvPicPr>
            <a:picLocks noChangeAspect="1"/>
          </p:cNvPicPr>
          <p:nvPr/>
        </p:nvPicPr>
        <p:blipFill>
          <a:blip r:embed="rId3"/>
          <a:stretch>
            <a:fillRect/>
          </a:stretch>
        </p:blipFill>
        <p:spPr>
          <a:xfrm>
            <a:off x="542786" y="1541002"/>
            <a:ext cx="7209145" cy="899238"/>
          </a:xfrm>
          <a:prstGeom prst="rect">
            <a:avLst/>
          </a:prstGeom>
        </p:spPr>
      </p:pic>
      <p:pic>
        <p:nvPicPr>
          <p:cNvPr id="12" name="Picture 11">
            <a:extLst>
              <a:ext uri="{FF2B5EF4-FFF2-40B4-BE49-F238E27FC236}">
                <a16:creationId xmlns:a16="http://schemas.microsoft.com/office/drawing/2014/main" id="{DE131418-6C7C-0A39-2162-2517FEAE0343}"/>
              </a:ext>
            </a:extLst>
          </p:cNvPr>
          <p:cNvPicPr>
            <a:picLocks noChangeAspect="1"/>
          </p:cNvPicPr>
          <p:nvPr/>
        </p:nvPicPr>
        <p:blipFill>
          <a:blip r:embed="rId4"/>
          <a:stretch>
            <a:fillRect/>
          </a:stretch>
        </p:blipFill>
        <p:spPr>
          <a:xfrm>
            <a:off x="415251" y="3640950"/>
            <a:ext cx="10684166" cy="2537680"/>
          </a:xfrm>
          <a:prstGeom prst="rect">
            <a:avLst/>
          </a:prstGeom>
        </p:spPr>
      </p:pic>
      <p:pic>
        <p:nvPicPr>
          <p:cNvPr id="15" name="Picture 14">
            <a:extLst>
              <a:ext uri="{FF2B5EF4-FFF2-40B4-BE49-F238E27FC236}">
                <a16:creationId xmlns:a16="http://schemas.microsoft.com/office/drawing/2014/main" id="{8EA18E72-4E9B-25B8-561F-99D6E14E4EF2}"/>
              </a:ext>
            </a:extLst>
          </p:cNvPr>
          <p:cNvPicPr>
            <a:picLocks noChangeAspect="1"/>
          </p:cNvPicPr>
          <p:nvPr/>
        </p:nvPicPr>
        <p:blipFill>
          <a:blip r:embed="rId5"/>
          <a:stretch>
            <a:fillRect/>
          </a:stretch>
        </p:blipFill>
        <p:spPr>
          <a:xfrm>
            <a:off x="7932051" y="1791746"/>
            <a:ext cx="4259949" cy="2667231"/>
          </a:xfrm>
          <a:prstGeom prst="rect">
            <a:avLst/>
          </a:prstGeom>
        </p:spPr>
      </p:pic>
      <p:sp>
        <p:nvSpPr>
          <p:cNvPr id="16" name="Arrow: Right 15">
            <a:extLst>
              <a:ext uri="{FF2B5EF4-FFF2-40B4-BE49-F238E27FC236}">
                <a16:creationId xmlns:a16="http://schemas.microsoft.com/office/drawing/2014/main" id="{BA82146C-11E4-7DB4-F1CB-1C3B50F8320D}"/>
              </a:ext>
            </a:extLst>
          </p:cNvPr>
          <p:cNvSpPr/>
          <p:nvPr/>
        </p:nvSpPr>
        <p:spPr>
          <a:xfrm rot="5400000">
            <a:off x="3430713" y="2799923"/>
            <a:ext cx="1182532" cy="281882"/>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Bent-Up 16">
            <a:extLst>
              <a:ext uri="{FF2B5EF4-FFF2-40B4-BE49-F238E27FC236}">
                <a16:creationId xmlns:a16="http://schemas.microsoft.com/office/drawing/2014/main" id="{F5F0122F-0EAF-09A0-F866-3673B82CAD80}"/>
              </a:ext>
            </a:extLst>
          </p:cNvPr>
          <p:cNvSpPr/>
          <p:nvPr/>
        </p:nvSpPr>
        <p:spPr>
          <a:xfrm>
            <a:off x="10875687" y="4509641"/>
            <a:ext cx="770021" cy="450813"/>
          </a:xfrm>
          <a:prstGeom prst="bentUp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14417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4FCBDD24-DC24-84B8-089D-C61F69971D4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D955619-687A-F6FF-D45E-690F090476B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EE9C720D-5509-B33A-9DF4-5C5083E6493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30</a:t>
            </a:fld>
            <a:endParaRPr/>
          </a:p>
        </p:txBody>
      </p:sp>
      <p:grpSp>
        <p:nvGrpSpPr>
          <p:cNvPr id="2" name="Group 1">
            <a:extLst>
              <a:ext uri="{FF2B5EF4-FFF2-40B4-BE49-F238E27FC236}">
                <a16:creationId xmlns:a16="http://schemas.microsoft.com/office/drawing/2014/main" id="{58C20A7A-7568-725E-68F8-1DE5E5DF4081}"/>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87A82B25-9053-A4EC-997A-08414980D342}"/>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3.5. Cách triệu gọi Service – HTTP Protocol</a:t>
              </a:r>
              <a:endParaRPr lang="en-US" sz="2400" b="1">
                <a:latin typeface="Cambria" panose="02040503050406030204" pitchFamily="18" charset="0"/>
              </a:endParaRPr>
            </a:p>
          </p:txBody>
        </p:sp>
        <p:grpSp>
          <p:nvGrpSpPr>
            <p:cNvPr id="4" name="Group 17">
              <a:extLst>
                <a:ext uri="{FF2B5EF4-FFF2-40B4-BE49-F238E27FC236}">
                  <a16:creationId xmlns:a16="http://schemas.microsoft.com/office/drawing/2014/main" id="{C5D3ADF1-AD1A-89DC-A8D4-6AFF21D8FBC0}"/>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94CE1B8B-8825-CC3C-CD70-013AC64798F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F31A027A-D0B2-1373-F9B0-843C8150D89F}"/>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F906DF4-4AC8-62C7-5EA0-D9CD66326EC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F157590F-D174-3152-1A27-0447ED5D2DDD}"/>
              </a:ext>
            </a:extLst>
          </p:cNvPr>
          <p:cNvSpPr txBox="1"/>
          <p:nvPr/>
        </p:nvSpPr>
        <p:spPr>
          <a:xfrm>
            <a:off x="415252" y="810009"/>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product-list-call-http-service-component.ts</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87D32C2-B357-B590-861D-6F3F57226E32}"/>
              </a:ext>
            </a:extLst>
          </p:cNvPr>
          <p:cNvPicPr>
            <a:picLocks noChangeAspect="1"/>
          </p:cNvPicPr>
          <p:nvPr/>
        </p:nvPicPr>
        <p:blipFill>
          <a:blip r:embed="rId3"/>
          <a:srcRect/>
          <a:stretch/>
        </p:blipFill>
        <p:spPr>
          <a:xfrm>
            <a:off x="3027333" y="1240946"/>
            <a:ext cx="5547096" cy="5110630"/>
          </a:xfrm>
          <a:prstGeom prst="rect">
            <a:avLst/>
          </a:prstGeom>
        </p:spPr>
      </p:pic>
    </p:spTree>
    <p:extLst>
      <p:ext uri="{BB962C8B-B14F-4D97-AF65-F5344CB8AC3E}">
        <p14:creationId xmlns:p14="http://schemas.microsoft.com/office/powerpoint/2010/main" val="37194460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D71054E2-C8E2-E2D2-9264-BE5C14B38A4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B22BB5BF-FC04-84B7-1146-DC5C5C1799A8}"/>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772482BF-18FD-0EB1-CC5A-66E311E403F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31</a:t>
            </a:fld>
            <a:endParaRPr/>
          </a:p>
        </p:txBody>
      </p:sp>
      <p:grpSp>
        <p:nvGrpSpPr>
          <p:cNvPr id="2" name="Group 1">
            <a:extLst>
              <a:ext uri="{FF2B5EF4-FFF2-40B4-BE49-F238E27FC236}">
                <a16:creationId xmlns:a16="http://schemas.microsoft.com/office/drawing/2014/main" id="{2C8B176E-4153-E855-55BE-896CD274282E}"/>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99C6D4DF-CF64-8A87-2E14-3022F7E76FD3}"/>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3.5. Cách triệu gọi Service – HTTP Protocol</a:t>
              </a:r>
              <a:endParaRPr lang="en-US" sz="2400" b="1">
                <a:latin typeface="Cambria" panose="02040503050406030204" pitchFamily="18" charset="0"/>
              </a:endParaRPr>
            </a:p>
          </p:txBody>
        </p:sp>
        <p:grpSp>
          <p:nvGrpSpPr>
            <p:cNvPr id="4" name="Group 17">
              <a:extLst>
                <a:ext uri="{FF2B5EF4-FFF2-40B4-BE49-F238E27FC236}">
                  <a16:creationId xmlns:a16="http://schemas.microsoft.com/office/drawing/2014/main" id="{3F911D89-D8B2-6731-2D3C-EB50901E7E1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09B7758-7C53-B024-144D-B3A6679142B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B4EC439C-D319-02CC-357A-D45D7393B57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1629785E-1BCE-8D3B-0493-7FEB7144A1F4}"/>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E472E595-A7C5-709E-93E8-10EA139A98EC}"/>
              </a:ext>
            </a:extLst>
          </p:cNvPr>
          <p:cNvSpPr txBox="1"/>
          <p:nvPr/>
        </p:nvSpPr>
        <p:spPr>
          <a:xfrm>
            <a:off x="415252" y="810009"/>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5: product-list-call-http-service-component.ts</a:t>
            </a:r>
            <a:endParaRPr lang="vi-VN" sz="2400" b="1">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AACF1743-3A6C-55E4-8EF7-91B17A0C80CD}"/>
              </a:ext>
            </a:extLst>
          </p:cNvPr>
          <p:cNvPicPr>
            <a:picLocks noChangeAspect="1"/>
          </p:cNvPicPr>
          <p:nvPr/>
        </p:nvPicPr>
        <p:blipFill>
          <a:blip r:embed="rId3"/>
          <a:srcRect/>
          <a:stretch/>
        </p:blipFill>
        <p:spPr>
          <a:xfrm>
            <a:off x="548904" y="1215016"/>
            <a:ext cx="5547096" cy="5110630"/>
          </a:xfrm>
          <a:prstGeom prst="rect">
            <a:avLst/>
          </a:prstGeom>
        </p:spPr>
      </p:pic>
      <p:sp>
        <p:nvSpPr>
          <p:cNvPr id="10" name="TextBox 9">
            <a:extLst>
              <a:ext uri="{FF2B5EF4-FFF2-40B4-BE49-F238E27FC236}">
                <a16:creationId xmlns:a16="http://schemas.microsoft.com/office/drawing/2014/main" id="{9CEC2026-2245-307D-C473-6B4218B075F7}"/>
              </a:ext>
            </a:extLst>
          </p:cNvPr>
          <p:cNvSpPr txBox="1"/>
          <p:nvPr/>
        </p:nvSpPr>
        <p:spPr>
          <a:xfrm>
            <a:off x="6229652" y="1730138"/>
            <a:ext cx="5345026" cy="2308324"/>
          </a:xfrm>
          <a:prstGeom prst="rect">
            <a:avLst/>
          </a:prstGeom>
          <a:noFill/>
        </p:spPr>
        <p:txBody>
          <a:bodyPr wrap="square">
            <a:spAutoFit/>
          </a:bodyPr>
          <a:lstStyle/>
          <a:p>
            <a:pPr marL="285750" indent="-285750" algn="just">
              <a:buFont typeface="Wingdings" panose="05000000000000000000" pitchFamily="2" charset="2"/>
              <a:buChar char="v"/>
            </a:pPr>
            <a:r>
              <a:rPr lang="en-US" sz="2400" b="1">
                <a:latin typeface="Times New Roman" panose="02020603050405020304" pitchFamily="18" charset="0"/>
                <a:cs typeface="Times New Roman" panose="02020603050405020304" pitchFamily="18" charset="0"/>
              </a:rPr>
              <a:t>Signal</a:t>
            </a:r>
            <a:r>
              <a:rPr lang="en-US" sz="2400">
                <a:latin typeface="Times New Roman" panose="02020603050405020304" pitchFamily="18" charset="0"/>
                <a:cs typeface="Times New Roman" panose="02020603050405020304" pitchFamily="18" charset="0"/>
              </a:rPr>
              <a:t> là một "wrapper" chứa một giá trị. Điểm khác biệt là khi giá trị bên trong thay đổi, Signal tự động thông báo cho Angular biết rằng cần cập nhật giao diện tại đúng vị trí có sử dụng Signal đó.</a:t>
            </a:r>
          </a:p>
        </p:txBody>
      </p:sp>
      <p:sp>
        <p:nvSpPr>
          <p:cNvPr id="12" name="Rectangle 11">
            <a:extLst>
              <a:ext uri="{FF2B5EF4-FFF2-40B4-BE49-F238E27FC236}">
                <a16:creationId xmlns:a16="http://schemas.microsoft.com/office/drawing/2014/main" id="{C931BFE6-05A9-FD37-2179-0EB93D5945A7}"/>
              </a:ext>
            </a:extLst>
          </p:cNvPr>
          <p:cNvSpPr/>
          <p:nvPr/>
        </p:nvSpPr>
        <p:spPr>
          <a:xfrm>
            <a:off x="618767" y="3520096"/>
            <a:ext cx="4365744" cy="2062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678726A-4EB7-D399-8915-97E945E39BA7}"/>
              </a:ext>
            </a:extLst>
          </p:cNvPr>
          <p:cNvSpPr txBox="1"/>
          <p:nvPr/>
        </p:nvSpPr>
        <p:spPr>
          <a:xfrm>
            <a:off x="6341157" y="4423329"/>
            <a:ext cx="5122015" cy="1569660"/>
          </a:xfrm>
          <a:prstGeom prst="rect">
            <a:avLst/>
          </a:prstGeom>
          <a:noFill/>
        </p:spPr>
        <p:txBody>
          <a:bodyPr wrap="square">
            <a:spAutoFit/>
          </a:bodyPr>
          <a:lstStyle/>
          <a:p>
            <a:pPr marL="342900" indent="-3429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phương thức </a:t>
            </a:r>
            <a:r>
              <a:rPr lang="en-US" sz="2400" b="1">
                <a:latin typeface="Times New Roman" panose="02020603050405020304" pitchFamily="18" charset="0"/>
                <a:cs typeface="Times New Roman" panose="02020603050405020304" pitchFamily="18" charset="0"/>
              </a:rPr>
              <a:t>signal.set(data) </a:t>
            </a:r>
            <a:r>
              <a:rPr lang="en-US" sz="2400">
                <a:latin typeface="Times New Roman" panose="02020603050405020304" pitchFamily="18" charset="0"/>
                <a:cs typeface="Times New Roman" panose="02020603050405020304" pitchFamily="18" charset="0"/>
              </a:rPr>
              <a:t>sẽ gửi một thông báo tới toàn bộ hệ thống rằng: 'Này, dữ liệu đã đổi, cập nhật ngay đi!'</a:t>
            </a:r>
          </a:p>
        </p:txBody>
      </p:sp>
      <p:sp>
        <p:nvSpPr>
          <p:cNvPr id="15" name="Rectangle 14">
            <a:extLst>
              <a:ext uri="{FF2B5EF4-FFF2-40B4-BE49-F238E27FC236}">
                <a16:creationId xmlns:a16="http://schemas.microsoft.com/office/drawing/2014/main" id="{AA396E43-CDFE-1379-2F15-54687BC0E4AC}"/>
              </a:ext>
            </a:extLst>
          </p:cNvPr>
          <p:cNvSpPr/>
          <p:nvPr/>
        </p:nvSpPr>
        <p:spPr>
          <a:xfrm>
            <a:off x="660410" y="4572000"/>
            <a:ext cx="4365744" cy="2062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C3C2EB9-3B3C-BFAE-BE4E-2C2E132DE025}"/>
              </a:ext>
            </a:extLst>
          </p:cNvPr>
          <p:cNvSpPr/>
          <p:nvPr/>
        </p:nvSpPr>
        <p:spPr>
          <a:xfrm>
            <a:off x="618767" y="1506837"/>
            <a:ext cx="4365744" cy="2062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42312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3E1E5676-909F-9FB4-FED9-2138E220FF34}"/>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33B69BA-0414-82E0-CC18-78CACE82DE9B}"/>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C03E7C1-2F2D-7CB7-4865-189CD110C79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32</a:t>
            </a:fld>
            <a:endParaRPr/>
          </a:p>
        </p:txBody>
      </p:sp>
      <p:grpSp>
        <p:nvGrpSpPr>
          <p:cNvPr id="2" name="Group 1">
            <a:extLst>
              <a:ext uri="{FF2B5EF4-FFF2-40B4-BE49-F238E27FC236}">
                <a16:creationId xmlns:a16="http://schemas.microsoft.com/office/drawing/2014/main" id="{67A8BDD2-0526-40E5-7F56-CCEC17FB9AF5}"/>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154C9983-AEFF-1A9B-3879-0CF4A46F2B7B}"/>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400" b="1">
                  <a:latin typeface="Times New Roman" panose="02020603050405020304" pitchFamily="18" charset="0"/>
                  <a:cs typeface="Times New Roman" panose="02020603050405020304" pitchFamily="18" charset="0"/>
                </a:rPr>
                <a:t>3.5. Cách triệu gọi Service – HTTP Protocol</a:t>
              </a:r>
              <a:endParaRPr lang="en-US" sz="2400" b="1">
                <a:latin typeface="Cambria" panose="02040503050406030204" pitchFamily="18" charset="0"/>
              </a:endParaRPr>
            </a:p>
          </p:txBody>
        </p:sp>
        <p:grpSp>
          <p:nvGrpSpPr>
            <p:cNvPr id="4" name="Group 17">
              <a:extLst>
                <a:ext uri="{FF2B5EF4-FFF2-40B4-BE49-F238E27FC236}">
                  <a16:creationId xmlns:a16="http://schemas.microsoft.com/office/drawing/2014/main" id="{AFE06578-CF5E-2BB3-BC22-9F6413A16B9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31B6EE7-6878-4047-0C76-85ED538F937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97D5F40-D6E2-03E7-F663-6FFC96364811}"/>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7724D97E-3106-181D-077E-B972DA9ED60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1A830921-C6C1-4D3F-9160-BB9900C94288}"/>
              </a:ext>
            </a:extLst>
          </p:cNvPr>
          <p:cNvSpPr txBox="1"/>
          <p:nvPr/>
        </p:nvSpPr>
        <p:spPr>
          <a:xfrm>
            <a:off x="415252" y="810009"/>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6: product-list-call-http-service-component.html</a:t>
            </a:r>
            <a:endParaRPr lang="vi-VN" sz="2400" b="1">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DAA6C8A6-C815-EF3E-4DFC-65B83E7018E4}"/>
              </a:ext>
            </a:extLst>
          </p:cNvPr>
          <p:cNvPicPr>
            <a:picLocks noChangeAspect="1"/>
          </p:cNvPicPr>
          <p:nvPr/>
        </p:nvPicPr>
        <p:blipFill>
          <a:blip r:embed="rId3"/>
          <a:stretch>
            <a:fillRect/>
          </a:stretch>
        </p:blipFill>
        <p:spPr>
          <a:xfrm>
            <a:off x="728132" y="1290269"/>
            <a:ext cx="5090804" cy="5008344"/>
          </a:xfrm>
          <a:prstGeom prst="rect">
            <a:avLst/>
          </a:prstGeom>
        </p:spPr>
      </p:pic>
      <p:sp>
        <p:nvSpPr>
          <p:cNvPr id="11" name="Rectangle 10">
            <a:extLst>
              <a:ext uri="{FF2B5EF4-FFF2-40B4-BE49-F238E27FC236}">
                <a16:creationId xmlns:a16="http://schemas.microsoft.com/office/drawing/2014/main" id="{F605DAFA-396A-B7A6-2ED5-628ADC46E1CA}"/>
              </a:ext>
            </a:extLst>
          </p:cNvPr>
          <p:cNvSpPr/>
          <p:nvPr/>
        </p:nvSpPr>
        <p:spPr>
          <a:xfrm>
            <a:off x="897687" y="3740103"/>
            <a:ext cx="4269492" cy="27708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9459A500-DE6E-C943-FA3E-3FCD5DFBFA9F}"/>
              </a:ext>
            </a:extLst>
          </p:cNvPr>
          <p:cNvSpPr txBox="1"/>
          <p:nvPr/>
        </p:nvSpPr>
        <p:spPr>
          <a:xfrm>
            <a:off x="5818935" y="3483849"/>
            <a:ext cx="5786381" cy="830997"/>
          </a:xfrm>
          <a:prstGeom prst="rect">
            <a:avLst/>
          </a:prstGeom>
          <a:noFill/>
        </p:spPr>
        <p:txBody>
          <a:bodyPr wrap="square">
            <a:spAutoFit/>
          </a:bodyPr>
          <a:lstStyle/>
          <a:p>
            <a:pPr marL="285750" indent="-28575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Lưu ý: sử dụng </a:t>
            </a:r>
            <a:r>
              <a:rPr lang="en-US" sz="2400">
                <a:solidFill>
                  <a:srgbClr val="FF0000"/>
                </a:solidFill>
                <a:latin typeface="Times New Roman" panose="02020603050405020304" pitchFamily="18" charset="0"/>
                <a:cs typeface="Times New Roman" panose="02020603050405020304" pitchFamily="18" charset="0"/>
              </a:rPr>
              <a:t>products() </a:t>
            </a:r>
            <a:r>
              <a:rPr lang="en-US" sz="2400">
                <a:latin typeface="Times New Roman" panose="02020603050405020304" pitchFamily="18" charset="0"/>
                <a:cs typeface="Times New Roman" panose="02020603050405020304" pitchFamily="18" charset="0"/>
              </a:rPr>
              <a:t>trong vòng lặp for, thay vì dùng biến products</a:t>
            </a:r>
          </a:p>
        </p:txBody>
      </p:sp>
    </p:spTree>
    <p:extLst>
      <p:ext uri="{BB962C8B-B14F-4D97-AF65-F5344CB8AC3E}">
        <p14:creationId xmlns:p14="http://schemas.microsoft.com/office/powerpoint/2010/main" val="3996319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C94FA8F-1D29-8FAD-8B4A-2C546C8E3A30}"/>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9EDE6C60-D87D-9D75-409B-15218CE10922}"/>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2CBC209-10B4-8C4F-5194-76BE5D3D5C6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33</a:t>
            </a:fld>
            <a:endParaRPr/>
          </a:p>
        </p:txBody>
      </p:sp>
      <p:grpSp>
        <p:nvGrpSpPr>
          <p:cNvPr id="2" name="Group 1">
            <a:extLst>
              <a:ext uri="{FF2B5EF4-FFF2-40B4-BE49-F238E27FC236}">
                <a16:creationId xmlns:a16="http://schemas.microsoft.com/office/drawing/2014/main" id="{A8FEDF76-5C0C-1407-A845-E031F9D3FED4}"/>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06477238-DE98-44AF-A3A2-2AAEC6BF5473}"/>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3.5. Cách triệu gọi Service – HTTP Protocol</a:t>
              </a:r>
              <a:endParaRPr lang="en-US" sz="2800" b="1">
                <a:latin typeface="Cambria" panose="02040503050406030204" pitchFamily="18" charset="0"/>
              </a:endParaRPr>
            </a:p>
          </p:txBody>
        </p:sp>
        <p:grpSp>
          <p:nvGrpSpPr>
            <p:cNvPr id="4" name="Group 17">
              <a:extLst>
                <a:ext uri="{FF2B5EF4-FFF2-40B4-BE49-F238E27FC236}">
                  <a16:creationId xmlns:a16="http://schemas.microsoft.com/office/drawing/2014/main" id="{CAC9421E-41FB-67D4-98DE-FBD485E28A6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E5CBE52-51E8-0108-B325-11B97A08F76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0CC3A033-4B9E-773A-2F6B-00310EF1DA1C}"/>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3C59D79-705A-BA69-0621-FCAC62BC926D}"/>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9" name="TextBox 8">
            <a:extLst>
              <a:ext uri="{FF2B5EF4-FFF2-40B4-BE49-F238E27FC236}">
                <a16:creationId xmlns:a16="http://schemas.microsoft.com/office/drawing/2014/main" id="{4C2AF9E4-900C-ACC6-6821-8028DE79D380}"/>
              </a:ext>
            </a:extLst>
          </p:cNvPr>
          <p:cNvSpPr txBox="1"/>
          <p:nvPr/>
        </p:nvSpPr>
        <p:spPr>
          <a:xfrm>
            <a:off x="415252" y="810009"/>
            <a:ext cx="11564547" cy="480260"/>
          </a:xfrm>
          <a:prstGeom prst="rect">
            <a:avLst/>
          </a:prstGeom>
          <a:noFill/>
        </p:spPr>
        <p:txBody>
          <a:bodyPr wrap="square">
            <a:spAutoFit/>
          </a:bodyPr>
          <a:lstStyle/>
          <a:p>
            <a:pPr marL="457200" indent="-457200" algn="just">
              <a:lnSpc>
                <a:spcPct val="114000"/>
              </a:lnSpc>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Step 7: app.html</a:t>
            </a:r>
            <a:endParaRPr lang="vi-VN" sz="2400" b="1">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BC78400C-AB49-55E9-0DAD-ED659903CB34}"/>
              </a:ext>
            </a:extLst>
          </p:cNvPr>
          <p:cNvSpPr txBox="1"/>
          <p:nvPr/>
        </p:nvSpPr>
        <p:spPr>
          <a:xfrm>
            <a:off x="728131" y="1403128"/>
            <a:ext cx="11062815" cy="791435"/>
          </a:xfrm>
          <a:prstGeom prst="rect">
            <a:avLst/>
          </a:prstGeom>
          <a:noFill/>
          <a:ln>
            <a:solidFill>
              <a:srgbClr val="002060"/>
            </a:solidFill>
          </a:ln>
        </p:spPr>
        <p:txBody>
          <a:bodyPr wrap="square">
            <a:spAutoFit/>
          </a:bodyPr>
          <a:lstStyle/>
          <a:p>
            <a:pPr>
              <a:lnSpc>
                <a:spcPct val="150000"/>
              </a:lnSpc>
              <a:buNone/>
            </a:pPr>
            <a:r>
              <a:rPr lang="en-US" sz="1600" b="0">
                <a:solidFill>
                  <a:srgbClr val="800000"/>
                </a:solidFill>
                <a:effectLst/>
                <a:latin typeface="Consolas" panose="020B0609020204030204" pitchFamily="49" charset="0"/>
              </a:rPr>
              <a:t>&lt;app-product-list-call-http-service-component&gt;&lt;/app-product-list-call-http-service-component&gt;</a:t>
            </a:r>
            <a:endParaRPr lang="en-US" sz="1600" b="0">
              <a:solidFill>
                <a:srgbClr val="000000"/>
              </a:solidFill>
              <a:effectLst/>
              <a:latin typeface="Consolas" panose="020B0609020204030204" pitchFamily="49" charset="0"/>
            </a:endParaRPr>
          </a:p>
          <a:p>
            <a:pPr>
              <a:lnSpc>
                <a:spcPct val="150000"/>
              </a:lnSpc>
              <a:buNone/>
            </a:pPr>
            <a:r>
              <a:rPr lang="en-US" sz="1600" b="0">
                <a:solidFill>
                  <a:srgbClr val="800000"/>
                </a:solidFill>
                <a:effectLst/>
                <a:latin typeface="Consolas" panose="020B0609020204030204" pitchFamily="49" charset="0"/>
              </a:rPr>
              <a:t>&lt;router-outlet</a:t>
            </a:r>
            <a:r>
              <a:rPr lang="en-US" sz="1600" b="0">
                <a:solidFill>
                  <a:srgbClr val="000000"/>
                </a:solidFill>
                <a:effectLst/>
                <a:latin typeface="Consolas" panose="020B0609020204030204" pitchFamily="49" charset="0"/>
              </a:rPr>
              <a:t> </a:t>
            </a:r>
            <a:r>
              <a:rPr lang="en-US" sz="1600" b="0">
                <a:solidFill>
                  <a:srgbClr val="800000"/>
                </a:solidFill>
                <a:effectLst/>
                <a:latin typeface="Consolas" panose="020B0609020204030204" pitchFamily="49" charset="0"/>
              </a:rPr>
              <a:t>/&gt;</a:t>
            </a:r>
            <a:endParaRPr lang="en-US" sz="1600" b="0">
              <a:solidFill>
                <a:srgbClr val="000000"/>
              </a:solidFill>
              <a:effectLst/>
              <a:latin typeface="Consolas" panose="020B0609020204030204" pitchFamily="49" charset="0"/>
            </a:endParaRPr>
          </a:p>
        </p:txBody>
      </p:sp>
      <p:pic>
        <p:nvPicPr>
          <p:cNvPr id="15" name="Picture 14">
            <a:extLst>
              <a:ext uri="{FF2B5EF4-FFF2-40B4-BE49-F238E27FC236}">
                <a16:creationId xmlns:a16="http://schemas.microsoft.com/office/drawing/2014/main" id="{8738D966-FDC9-6B85-7E38-9EE2B9776A7F}"/>
              </a:ext>
            </a:extLst>
          </p:cNvPr>
          <p:cNvPicPr>
            <a:picLocks noChangeAspect="1"/>
          </p:cNvPicPr>
          <p:nvPr/>
        </p:nvPicPr>
        <p:blipFill>
          <a:blip r:embed="rId3"/>
          <a:stretch>
            <a:fillRect/>
          </a:stretch>
        </p:blipFill>
        <p:spPr>
          <a:xfrm>
            <a:off x="3676440" y="2454340"/>
            <a:ext cx="4839119" cy="2964437"/>
          </a:xfrm>
          <a:prstGeom prst="rect">
            <a:avLst/>
          </a:prstGeom>
        </p:spPr>
      </p:pic>
    </p:spTree>
    <p:extLst>
      <p:ext uri="{BB962C8B-B14F-4D97-AF65-F5344CB8AC3E}">
        <p14:creationId xmlns:p14="http://schemas.microsoft.com/office/powerpoint/2010/main" val="21802638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32CAA76-399A-3C7B-B8CD-6DA900B248F9}"/>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76F91E2A-B131-C6AA-495A-8C42BE2514A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FE02E8DD-0352-F9D1-561F-D74BC016EC23}"/>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34</a:t>
            </a:fld>
            <a:endParaRPr/>
          </a:p>
        </p:txBody>
      </p:sp>
      <p:grpSp>
        <p:nvGrpSpPr>
          <p:cNvPr id="2" name="Group 1">
            <a:extLst>
              <a:ext uri="{FF2B5EF4-FFF2-40B4-BE49-F238E27FC236}">
                <a16:creationId xmlns:a16="http://schemas.microsoft.com/office/drawing/2014/main" id="{5A0B9539-824B-D40E-805A-A41565DC6B67}"/>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D5A40521-E442-0C1C-53FB-EC746D991FE5}"/>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6678B7F2-A1C2-9E42-1BA3-F31D507982E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758666A-9DC5-0F98-43C1-6D6E306EADA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E62D8389-286E-5468-3481-2C725775A01D}"/>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92FD050-8F8C-CAF9-2736-689695A1D92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0" name="TextBox 9">
            <a:extLst>
              <a:ext uri="{FF2B5EF4-FFF2-40B4-BE49-F238E27FC236}">
                <a16:creationId xmlns:a16="http://schemas.microsoft.com/office/drawing/2014/main" id="{462259A5-602F-89D4-2D6C-2D04DD9A591C}"/>
              </a:ext>
            </a:extLst>
          </p:cNvPr>
          <p:cNvSpPr txBox="1"/>
          <p:nvPr/>
        </p:nvSpPr>
        <p:spPr>
          <a:xfrm>
            <a:off x="475215" y="927767"/>
            <a:ext cx="11241570" cy="1938992"/>
          </a:xfrm>
          <a:prstGeom prst="rect">
            <a:avLst/>
          </a:prstGeom>
          <a:noFill/>
        </p:spPr>
        <p:txBody>
          <a:bodyPr wrap="square">
            <a:spAutoFit/>
          </a:bodyPr>
          <a:lstStyle/>
          <a:p>
            <a:pPr marL="342900" indent="-342900" algn="just">
              <a:buFont typeface="Wingdings" panose="05000000000000000000" pitchFamily="2" charset="2"/>
              <a:buChar char="v"/>
            </a:pPr>
            <a:r>
              <a:rPr lang="en-US" sz="2400">
                <a:latin typeface="Times New Roman" panose="02020603050405020304" pitchFamily="18" charset="0"/>
                <a:cs typeface="Times New Roman" panose="02020603050405020304" pitchFamily="18" charset="0"/>
              </a:rPr>
              <a:t>Việc xử lý lỗi (Error Handling) khi gọi HTTP service không phải là một bước "phụ", mà nó là một phần bắt buộc của việc xây dựng một ứng dụng chuyên nghiệp. Nếu coi ứng dụng là một ngôi nhà, thì HTTP request là "đường ống dẫn nước" từ ngoài vào. Nếu không có van khóa và ống xả (error handling), khi đường ống vỡ, cả ngôi nhà sẽ bị ngập lụt.</a:t>
            </a:r>
          </a:p>
        </p:txBody>
      </p:sp>
      <p:sp>
        <p:nvSpPr>
          <p:cNvPr id="12" name="TextBox 11">
            <a:extLst>
              <a:ext uri="{FF2B5EF4-FFF2-40B4-BE49-F238E27FC236}">
                <a16:creationId xmlns:a16="http://schemas.microsoft.com/office/drawing/2014/main" id="{7567BD2A-B943-373E-AA13-D982EEFD84D0}"/>
              </a:ext>
            </a:extLst>
          </p:cNvPr>
          <p:cNvSpPr txBox="1"/>
          <p:nvPr/>
        </p:nvSpPr>
        <p:spPr>
          <a:xfrm>
            <a:off x="1058779" y="3052472"/>
            <a:ext cx="8724614" cy="1569660"/>
          </a:xfrm>
          <a:prstGeom prst="rect">
            <a:avLst/>
          </a:prstGeom>
          <a:noFill/>
        </p:spPr>
        <p:txBody>
          <a:bodyPr wrap="square">
            <a:spAutoFit/>
          </a:bodyPr>
          <a:lstStyle/>
          <a:p>
            <a:pPr marL="285750" indent="-28575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Internet là môi trường cực kỳ bất ổn</a:t>
            </a:r>
            <a:endParaRPr lang="en-US" sz="240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Trải nghiệm người dùng</a:t>
            </a:r>
            <a:r>
              <a:rPr lang="en-US" sz="2400">
                <a:latin typeface="Times New Roman" panose="02020603050405020304" pitchFamily="18" charset="0"/>
                <a:cs typeface="Times New Roman" panose="02020603050405020304" pitchFamily="18" charset="0"/>
              </a:rPr>
              <a:t> không tốt khi có lỗi</a:t>
            </a:r>
          </a:p>
          <a:p>
            <a:pPr marL="285750" indent="-285750">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Đảm bảo tính nhất quán của dữ liệu</a:t>
            </a:r>
          </a:p>
          <a:p>
            <a:pPr marL="285750" indent="-285750">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Dễ dàng bảo trì và Debug</a:t>
            </a:r>
          </a:p>
        </p:txBody>
      </p:sp>
    </p:spTree>
    <p:extLst>
      <p:ext uri="{BB962C8B-B14F-4D97-AF65-F5344CB8AC3E}">
        <p14:creationId xmlns:p14="http://schemas.microsoft.com/office/powerpoint/2010/main" val="34043388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A989511-9C0C-6A2F-13E7-920B4A0B4CAA}"/>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0737D00-10F9-AADD-8023-64F1EF6D32E6}"/>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C0720D6-F93F-C8F0-6B2B-ED18BA7C0EB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35</a:t>
            </a:fld>
            <a:endParaRPr/>
          </a:p>
        </p:txBody>
      </p:sp>
      <p:grpSp>
        <p:nvGrpSpPr>
          <p:cNvPr id="2" name="Group 1">
            <a:extLst>
              <a:ext uri="{FF2B5EF4-FFF2-40B4-BE49-F238E27FC236}">
                <a16:creationId xmlns:a16="http://schemas.microsoft.com/office/drawing/2014/main" id="{514AB805-11AA-31C0-D91F-D30143682285}"/>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8BF21F8F-533F-0B34-9EA4-8BDE239E6C4B}"/>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67CAD4A-2807-B9FB-2590-9D16410B3A77}"/>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846C169E-B672-FDF7-2417-044856B610D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5880DCDC-BF03-0F25-CA16-361C7B7EA90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A1731947-FE22-E45A-6D0E-0C73C308CF4C}"/>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AF22F3DD-8AA6-D411-659A-65D3C86A3E7F}"/>
              </a:ext>
            </a:extLst>
          </p:cNvPr>
          <p:cNvSpPr txBox="1"/>
          <p:nvPr/>
        </p:nvSpPr>
        <p:spPr>
          <a:xfrm>
            <a:off x="517448" y="877587"/>
            <a:ext cx="8724614" cy="461665"/>
          </a:xfrm>
          <a:prstGeom prst="rect">
            <a:avLst/>
          </a:prstGeom>
          <a:noFill/>
        </p:spPr>
        <p:txBody>
          <a:bodyPr wrap="square">
            <a:spAutoFit/>
          </a:bodyPr>
          <a:lstStyle/>
          <a:p>
            <a:pPr marL="342900" indent="-342900">
              <a:buFont typeface="Wingdings" panose="05000000000000000000" pitchFamily="2" charset="2"/>
              <a:buChar char="q"/>
            </a:pPr>
            <a:r>
              <a:rPr lang="vi-VN" sz="2400">
                <a:latin typeface="Times New Roman" panose="02020603050405020304" pitchFamily="18" charset="0"/>
                <a:cs typeface="Times New Roman" panose="02020603050405020304" pitchFamily="18" charset="0"/>
              </a:rPr>
              <a:t>Internet là môi trường cực kỳ bất ổn</a:t>
            </a:r>
            <a:endParaRPr lang="en-US" sz="2400">
              <a:latin typeface="Times New Roman" panose="02020603050405020304" pitchFamily="18" charset="0"/>
              <a:cs typeface="Times New Roman" panose="02020603050405020304" pitchFamily="18" charset="0"/>
            </a:endParaRPr>
          </a:p>
        </p:txBody>
      </p:sp>
      <p:sp>
        <p:nvSpPr>
          <p:cNvPr id="8" name="Rectangle 1">
            <a:extLst>
              <a:ext uri="{FF2B5EF4-FFF2-40B4-BE49-F238E27FC236}">
                <a16:creationId xmlns:a16="http://schemas.microsoft.com/office/drawing/2014/main" id="{2FBE6FFF-BBC4-9AFE-3628-5A8497B69303}"/>
              </a:ext>
            </a:extLst>
          </p:cNvPr>
          <p:cNvSpPr>
            <a:spLocks noChangeArrowheads="1"/>
          </p:cNvSpPr>
          <p:nvPr/>
        </p:nvSpPr>
        <p:spPr bwMode="auto">
          <a:xfrm>
            <a:off x="564686" y="1391110"/>
            <a:ext cx="10257936" cy="22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Mất kết nối:</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Người dùng đi vào thang máy, hầm để xe, hoặc sóng WiFi bị rớt.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Server quá tải:</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Server từ chối phản hồi (timeout).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Server bảo trì:</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Server báo lỗi 500 hoặc 503.</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Sai quyền hạn:</a:t>
            </a: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Người dùng cố truy cập dữ liệu không được phép (401, 403).</a:t>
            </a:r>
          </a:p>
        </p:txBody>
      </p:sp>
    </p:spTree>
    <p:extLst>
      <p:ext uri="{BB962C8B-B14F-4D97-AF65-F5344CB8AC3E}">
        <p14:creationId xmlns:p14="http://schemas.microsoft.com/office/powerpoint/2010/main" val="6252075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0FA1F73-ACDA-D7D6-A399-59DE12070366}"/>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DCD670E7-32BC-2786-2DEF-D599116F7BA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5A51A801-8DE6-F907-6A1D-40C2D98F5DF5}"/>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36</a:t>
            </a:fld>
            <a:endParaRPr/>
          </a:p>
        </p:txBody>
      </p:sp>
      <p:grpSp>
        <p:nvGrpSpPr>
          <p:cNvPr id="2" name="Group 1">
            <a:extLst>
              <a:ext uri="{FF2B5EF4-FFF2-40B4-BE49-F238E27FC236}">
                <a16:creationId xmlns:a16="http://schemas.microsoft.com/office/drawing/2014/main" id="{695E2F36-4ED0-E9D7-C891-EFF795620F2B}"/>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9D119573-5548-64CB-95F1-10134B6B174C}"/>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C85943F2-95C7-BDE3-310F-1844309DEC1D}"/>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4209DFF-8F4E-3AD3-14E0-1A62FCAF2A1C}"/>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1C88C42-3AC0-B0F2-8B72-6E64BC371DC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B4B1D29D-4EDE-99DC-973D-100C852F17C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EAC9E533-08BF-B605-2AF1-DD967DE3E551}"/>
              </a:ext>
            </a:extLst>
          </p:cNvPr>
          <p:cNvSpPr txBox="1"/>
          <p:nvPr/>
        </p:nvSpPr>
        <p:spPr>
          <a:xfrm>
            <a:off x="517448" y="877587"/>
            <a:ext cx="8724614" cy="461665"/>
          </a:xfrm>
          <a:prstGeom prst="rect">
            <a:avLst/>
          </a:prstGeom>
          <a:noFill/>
        </p:spPr>
        <p:txBody>
          <a:bodyPr wrap="square">
            <a:spAutoFit/>
          </a:bodyPr>
          <a:lstStyle/>
          <a:p>
            <a:pPr marL="342900" indent="-342900">
              <a:buFont typeface="Wingdings" panose="05000000000000000000" pitchFamily="2" charset="2"/>
              <a:buChar char="q"/>
            </a:pPr>
            <a:r>
              <a:rPr lang="vi-VN" sz="2400">
                <a:latin typeface="Times New Roman" panose="02020603050405020304" pitchFamily="18" charset="0"/>
                <a:cs typeface="Times New Roman" panose="02020603050405020304" pitchFamily="18" charset="0"/>
              </a:rPr>
              <a:t>Trải nghiệm người dùng</a:t>
            </a:r>
            <a:r>
              <a:rPr lang="en-US" sz="2400">
                <a:latin typeface="Times New Roman" panose="02020603050405020304" pitchFamily="18" charset="0"/>
                <a:cs typeface="Times New Roman" panose="02020603050405020304" pitchFamily="18" charset="0"/>
              </a:rPr>
              <a:t> không tốt khi có lỗi</a:t>
            </a:r>
          </a:p>
        </p:txBody>
      </p:sp>
      <p:sp>
        <p:nvSpPr>
          <p:cNvPr id="8" name="Rectangle 1">
            <a:extLst>
              <a:ext uri="{FF2B5EF4-FFF2-40B4-BE49-F238E27FC236}">
                <a16:creationId xmlns:a16="http://schemas.microsoft.com/office/drawing/2014/main" id="{1B586822-23C8-3AA6-18DF-0B4B668AE960}"/>
              </a:ext>
            </a:extLst>
          </p:cNvPr>
          <p:cNvSpPr>
            <a:spLocks noChangeArrowheads="1"/>
          </p:cNvSpPr>
          <p:nvPr/>
        </p:nvSpPr>
        <p:spPr bwMode="auto">
          <a:xfrm>
            <a:off x="517448" y="1421501"/>
            <a:ext cx="11083818" cy="22419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Nếu Ta gọi API mà không có lỗi, ứng dụng chạy bình thường.</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Nếu API lỗi mà ta không xử lý, trình duyệt có thể không hiện gì cả, vòng quay loading (spinner) quay mãi mãi. Người dùng sẽ nghĩ ứng dụng của Ta bị lỗi logic hoặc bị đơ (lag).</a:t>
            </a:r>
          </a:p>
        </p:txBody>
      </p:sp>
    </p:spTree>
    <p:extLst>
      <p:ext uri="{BB962C8B-B14F-4D97-AF65-F5344CB8AC3E}">
        <p14:creationId xmlns:p14="http://schemas.microsoft.com/office/powerpoint/2010/main" val="21016133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128A499-B25A-04E1-6B52-482B326F720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1B60E0B5-00AC-6FD8-F41B-238904FD3D85}"/>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2A28EC11-7E5D-2DE9-4BBC-08E047F2A2CE}"/>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37</a:t>
            </a:fld>
            <a:endParaRPr/>
          </a:p>
        </p:txBody>
      </p:sp>
      <p:grpSp>
        <p:nvGrpSpPr>
          <p:cNvPr id="2" name="Group 1">
            <a:extLst>
              <a:ext uri="{FF2B5EF4-FFF2-40B4-BE49-F238E27FC236}">
                <a16:creationId xmlns:a16="http://schemas.microsoft.com/office/drawing/2014/main" id="{521BA2EA-4BE3-42C1-374D-5B673BC5B95F}"/>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1D2B8951-24F0-9D03-F471-8875CA871808}"/>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FBEC149-DC6B-3537-3D44-B283C68AA096}"/>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074B3A7-248A-DEAD-3FCA-81DCD49A1515}"/>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D2050002-4DF2-57C8-7957-5FBA5939F86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3EB44E53-1C18-0BFD-FEDC-84AE4447A77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757D8688-12C4-1FFE-E209-7D07E122BC08}"/>
              </a:ext>
            </a:extLst>
          </p:cNvPr>
          <p:cNvSpPr txBox="1"/>
          <p:nvPr/>
        </p:nvSpPr>
        <p:spPr>
          <a:xfrm>
            <a:off x="517448" y="877587"/>
            <a:ext cx="8724614"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Đảm bảo tính nhất quán của dữ liệu</a:t>
            </a:r>
          </a:p>
        </p:txBody>
      </p:sp>
      <p:sp>
        <p:nvSpPr>
          <p:cNvPr id="9" name="TextBox 8">
            <a:extLst>
              <a:ext uri="{FF2B5EF4-FFF2-40B4-BE49-F238E27FC236}">
                <a16:creationId xmlns:a16="http://schemas.microsoft.com/office/drawing/2014/main" id="{BD11E97A-51B1-B2EA-8736-3FD487B1E7BA}"/>
              </a:ext>
            </a:extLst>
          </p:cNvPr>
          <p:cNvSpPr txBox="1"/>
          <p:nvPr/>
        </p:nvSpPr>
        <p:spPr>
          <a:xfrm>
            <a:off x="666887" y="1443189"/>
            <a:ext cx="10532794" cy="3349956"/>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Khi một API thất bại, biến dữ liệu trong code của </a:t>
            </a:r>
            <a:r>
              <a:rPr lang="en-US" sz="2400">
                <a:latin typeface="Times New Roman" panose="02020603050405020304" pitchFamily="18" charset="0"/>
                <a:cs typeface="Times New Roman" panose="02020603050405020304" pitchFamily="18" charset="0"/>
              </a:rPr>
              <a:t>dự án </a:t>
            </a:r>
            <a:r>
              <a:rPr lang="vi-VN" sz="2400">
                <a:latin typeface="Times New Roman" panose="02020603050405020304" pitchFamily="18" charset="0"/>
                <a:cs typeface="Times New Roman" panose="02020603050405020304" pitchFamily="18" charset="0"/>
              </a:rPr>
              <a:t>(ví dụ: products) có thể vẫn giữ giá trị cũ, hoặc tệ hơn là bị reset về rỗng mà không có thông báo.</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Xử lý lỗi giúp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đưa ứng dụng về một </a:t>
            </a:r>
            <a:r>
              <a:rPr lang="vi-VN" sz="2400" b="1">
                <a:latin typeface="Times New Roman" panose="02020603050405020304" pitchFamily="18" charset="0"/>
                <a:cs typeface="Times New Roman" panose="02020603050405020304" pitchFamily="18" charset="0"/>
              </a:rPr>
              <a:t>"Trạng thái an toàn" (Safe State)</a:t>
            </a:r>
            <a:r>
              <a:rPr lang="vi-VN" sz="240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Ví dụ: Nếu tải danh sách sản phẩm thất bại,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có thể chủ động gán this.products = [] và hiển thị thông báo lỗi, thay vì để người dùng nhìn thấy dữ liệu cũ từ phiên làm việc trước hoặc dữ liệu bị hỏng.</a:t>
            </a:r>
          </a:p>
        </p:txBody>
      </p:sp>
    </p:spTree>
    <p:extLst>
      <p:ext uri="{BB962C8B-B14F-4D97-AF65-F5344CB8AC3E}">
        <p14:creationId xmlns:p14="http://schemas.microsoft.com/office/powerpoint/2010/main" val="30629493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0A748225-2C00-F67C-338B-4700A427010F}"/>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CE4CA0D-0E70-534C-4C86-C7C99C01D6F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49BDB12A-BCD5-E88C-AA2B-973A6F642EA9}"/>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38</a:t>
            </a:fld>
            <a:endParaRPr/>
          </a:p>
        </p:txBody>
      </p:sp>
      <p:grpSp>
        <p:nvGrpSpPr>
          <p:cNvPr id="2" name="Group 1">
            <a:extLst>
              <a:ext uri="{FF2B5EF4-FFF2-40B4-BE49-F238E27FC236}">
                <a16:creationId xmlns:a16="http://schemas.microsoft.com/office/drawing/2014/main" id="{1B519943-240D-EBA8-7FF8-3DDC1AD468D3}"/>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134C0A2D-87DA-70EA-D0E8-C56A58D47BFE}"/>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F61BCD49-22B7-7916-7DFE-B817F77EA84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4A18EFB-3A59-2E0C-123A-AEFF46369C12}"/>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B537EFF-D65E-0A5B-BD23-723B0F2EC3DB}"/>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8F0E6D2-7D8E-8F25-32D5-F2030E53D978}"/>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9C985115-A5A0-94DC-375A-EB4357DF446C}"/>
              </a:ext>
            </a:extLst>
          </p:cNvPr>
          <p:cNvSpPr txBox="1"/>
          <p:nvPr/>
        </p:nvSpPr>
        <p:spPr>
          <a:xfrm>
            <a:off x="517448" y="877587"/>
            <a:ext cx="8724614"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Dễ dàng bảo trì và Debug</a:t>
            </a:r>
          </a:p>
        </p:txBody>
      </p:sp>
      <p:sp>
        <p:nvSpPr>
          <p:cNvPr id="9" name="TextBox 8">
            <a:extLst>
              <a:ext uri="{FF2B5EF4-FFF2-40B4-BE49-F238E27FC236}">
                <a16:creationId xmlns:a16="http://schemas.microsoft.com/office/drawing/2014/main" id="{368E7112-9467-B55A-176E-A78CFE2826B9}"/>
              </a:ext>
            </a:extLst>
          </p:cNvPr>
          <p:cNvSpPr txBox="1"/>
          <p:nvPr/>
        </p:nvSpPr>
        <p:spPr>
          <a:xfrm>
            <a:off x="564686" y="1391110"/>
            <a:ext cx="11336264" cy="2795958"/>
          </a:xfrm>
          <a:prstGeom prst="rect">
            <a:avLst/>
          </a:prstGeom>
          <a:noFill/>
        </p:spPr>
        <p:txBody>
          <a:bodyPr wrap="square">
            <a:spAutoFit/>
          </a:bodyPr>
          <a:lstStyle/>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Nếu không có xử lý lỗi, các lỗi HTTP thường chỉ hiện </a:t>
            </a:r>
            <a:r>
              <a:rPr lang="en-US" sz="2400">
                <a:latin typeface="Times New Roman" panose="02020603050405020304" pitchFamily="18" charset="0"/>
                <a:cs typeface="Times New Roman" panose="02020603050405020304" pitchFamily="18" charset="0"/>
              </a:rPr>
              <a:t>dòng </a:t>
            </a:r>
            <a:r>
              <a:rPr lang="vi-VN" sz="2400">
                <a:latin typeface="Times New Roman" panose="02020603050405020304" pitchFamily="18" charset="0"/>
                <a:cs typeface="Times New Roman" panose="02020603050405020304" pitchFamily="18" charset="0"/>
              </a:rPr>
              <a:t>chữ đỏ trong tab </a:t>
            </a:r>
            <a:r>
              <a:rPr lang="vi-VN" sz="2400" b="1">
                <a:latin typeface="Times New Roman" panose="02020603050405020304" pitchFamily="18" charset="0"/>
                <a:cs typeface="Times New Roman" panose="02020603050405020304" pitchFamily="18" charset="0"/>
              </a:rPr>
              <a:t>Console</a:t>
            </a:r>
            <a:r>
              <a:rPr lang="vi-VN" sz="2400">
                <a:latin typeface="Times New Roman" panose="02020603050405020304" pitchFamily="18" charset="0"/>
                <a:cs typeface="Times New Roman" panose="02020603050405020304" pitchFamily="18" charset="0"/>
              </a:rPr>
              <a:t> của trình duyệt. Việc này cực kỳ khó kiểm soát khi dự án lớn lên.</a:t>
            </a:r>
          </a:p>
          <a:p>
            <a:pPr marL="342900" indent="-342900" algn="just">
              <a:lnSpc>
                <a:spcPct val="150000"/>
              </a:lnSpc>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Với </a:t>
            </a:r>
            <a:r>
              <a:rPr lang="vi-VN" sz="2400" b="1">
                <a:solidFill>
                  <a:srgbClr val="FF0000"/>
                </a:solidFill>
                <a:latin typeface="Times New Roman" panose="02020603050405020304" pitchFamily="18" charset="0"/>
                <a:cs typeface="Times New Roman" panose="02020603050405020304" pitchFamily="18" charset="0"/>
              </a:rPr>
              <a:t>catchError</a:t>
            </a:r>
            <a:r>
              <a:rPr lang="vi-VN"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có thể log lỗi đó lên một hệ thống giám sát (như Sentry, LogRocket), hoặc format lỗi theo một cách dễ đọc để </a:t>
            </a:r>
            <a:r>
              <a:rPr lang="en-US" sz="2400">
                <a:latin typeface="Times New Roman" panose="02020603050405020304" pitchFamily="18" charset="0"/>
                <a:cs typeface="Times New Roman" panose="02020603050405020304" pitchFamily="18" charset="0"/>
              </a:rPr>
              <a:t>Ta</a:t>
            </a:r>
            <a:r>
              <a:rPr lang="vi-VN" sz="2400">
                <a:latin typeface="Times New Roman" panose="02020603050405020304" pitchFamily="18" charset="0"/>
                <a:cs typeface="Times New Roman" panose="02020603050405020304" pitchFamily="18" charset="0"/>
              </a:rPr>
              <a:t> biết chính xác là "Lỗi mạng" hay "Lỗi server“</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53426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A60D99B0-CF6A-9D2E-8785-20F0776EA9BB}"/>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A4489273-7B56-D2B5-B38A-42377AB3011C}"/>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BB04E795-5617-AA3B-9F94-7A1AAF1DFBD8}"/>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39</a:t>
            </a:fld>
            <a:endParaRPr/>
          </a:p>
        </p:txBody>
      </p:sp>
      <p:grpSp>
        <p:nvGrpSpPr>
          <p:cNvPr id="2" name="Group 1">
            <a:extLst>
              <a:ext uri="{FF2B5EF4-FFF2-40B4-BE49-F238E27FC236}">
                <a16:creationId xmlns:a16="http://schemas.microsoft.com/office/drawing/2014/main" id="{47700E2E-F048-DF8E-24FA-71AE5B466FAC}"/>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3742C21B-6BBA-6442-E8BC-5FB70FE22DBB}"/>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50B20DB-00B2-75EF-8BC3-7AE78525ED8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F2833E32-C766-E100-08E3-7FB93671C5F8}"/>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F2D0E15-6327-17E1-3632-639F52D7EC8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0573C8F-A741-76FF-7588-C07DE14BFEF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12" name="TextBox 11">
            <a:extLst>
              <a:ext uri="{FF2B5EF4-FFF2-40B4-BE49-F238E27FC236}">
                <a16:creationId xmlns:a16="http://schemas.microsoft.com/office/drawing/2014/main" id="{F61EE6BD-FA34-6B21-CD13-49F0B669BDC2}"/>
              </a:ext>
            </a:extLst>
          </p:cNvPr>
          <p:cNvSpPr txBox="1"/>
          <p:nvPr/>
        </p:nvSpPr>
        <p:spPr>
          <a:xfrm>
            <a:off x="517447" y="877587"/>
            <a:ext cx="11362877" cy="830997"/>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Để không ảnh hưởng tới coding cũ, cũng như dễ dàng cho ôn tập các bài kiểm tra. Chúng ta tạo thêm một service mới tên là </a:t>
            </a:r>
            <a:r>
              <a:rPr lang="en-US" sz="2400" b="1">
                <a:latin typeface="Times New Roman" panose="02020603050405020304" pitchFamily="18" charset="0"/>
                <a:cs typeface="Times New Roman" panose="02020603050405020304" pitchFamily="18" charset="0"/>
              </a:rPr>
              <a:t>product-http-handle-error-service</a:t>
            </a:r>
          </a:p>
        </p:txBody>
      </p:sp>
      <p:pic>
        <p:nvPicPr>
          <p:cNvPr id="9" name="Picture 8">
            <a:extLst>
              <a:ext uri="{FF2B5EF4-FFF2-40B4-BE49-F238E27FC236}">
                <a16:creationId xmlns:a16="http://schemas.microsoft.com/office/drawing/2014/main" id="{A9BF2427-1D49-EDF2-52AB-7025AC820FD4}"/>
              </a:ext>
            </a:extLst>
          </p:cNvPr>
          <p:cNvPicPr>
            <a:picLocks noChangeAspect="1"/>
          </p:cNvPicPr>
          <p:nvPr/>
        </p:nvPicPr>
        <p:blipFill>
          <a:blip r:embed="rId3"/>
          <a:stretch>
            <a:fillRect/>
          </a:stretch>
        </p:blipFill>
        <p:spPr>
          <a:xfrm>
            <a:off x="513505" y="1760443"/>
            <a:ext cx="3736748" cy="2013462"/>
          </a:xfrm>
          <a:prstGeom prst="rect">
            <a:avLst/>
          </a:prstGeom>
        </p:spPr>
      </p:pic>
      <p:pic>
        <p:nvPicPr>
          <p:cNvPr id="11" name="Picture 10">
            <a:extLst>
              <a:ext uri="{FF2B5EF4-FFF2-40B4-BE49-F238E27FC236}">
                <a16:creationId xmlns:a16="http://schemas.microsoft.com/office/drawing/2014/main" id="{296BD442-D7C9-E118-9485-5B4B35690F38}"/>
              </a:ext>
            </a:extLst>
          </p:cNvPr>
          <p:cNvPicPr>
            <a:picLocks noChangeAspect="1"/>
          </p:cNvPicPr>
          <p:nvPr/>
        </p:nvPicPr>
        <p:blipFill>
          <a:blip r:embed="rId4"/>
          <a:stretch>
            <a:fillRect/>
          </a:stretch>
        </p:blipFill>
        <p:spPr>
          <a:xfrm>
            <a:off x="4925103" y="2337897"/>
            <a:ext cx="6955221" cy="956838"/>
          </a:xfrm>
          <a:prstGeom prst="rect">
            <a:avLst/>
          </a:prstGeom>
        </p:spPr>
      </p:pic>
      <p:pic>
        <p:nvPicPr>
          <p:cNvPr id="14" name="Picture 13">
            <a:extLst>
              <a:ext uri="{FF2B5EF4-FFF2-40B4-BE49-F238E27FC236}">
                <a16:creationId xmlns:a16="http://schemas.microsoft.com/office/drawing/2014/main" id="{5AF7C63A-5A04-7004-F558-B3C19E01EDE6}"/>
              </a:ext>
            </a:extLst>
          </p:cNvPr>
          <p:cNvPicPr>
            <a:picLocks noChangeAspect="1"/>
          </p:cNvPicPr>
          <p:nvPr/>
        </p:nvPicPr>
        <p:blipFill>
          <a:blip r:embed="rId5"/>
          <a:stretch>
            <a:fillRect/>
          </a:stretch>
        </p:blipFill>
        <p:spPr>
          <a:xfrm>
            <a:off x="5367722" y="4042114"/>
            <a:ext cx="6524553" cy="1877215"/>
          </a:xfrm>
          <a:prstGeom prst="rect">
            <a:avLst/>
          </a:prstGeom>
        </p:spPr>
      </p:pic>
      <p:sp>
        <p:nvSpPr>
          <p:cNvPr id="15" name="Arrow: Right 14">
            <a:extLst>
              <a:ext uri="{FF2B5EF4-FFF2-40B4-BE49-F238E27FC236}">
                <a16:creationId xmlns:a16="http://schemas.microsoft.com/office/drawing/2014/main" id="{56B9524F-225E-5C53-0696-943FDF0C8F94}"/>
              </a:ext>
            </a:extLst>
          </p:cNvPr>
          <p:cNvSpPr/>
          <p:nvPr/>
        </p:nvSpPr>
        <p:spPr>
          <a:xfrm>
            <a:off x="3713780" y="2739588"/>
            <a:ext cx="1182532" cy="281882"/>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Arrow: Right 16">
            <a:extLst>
              <a:ext uri="{FF2B5EF4-FFF2-40B4-BE49-F238E27FC236}">
                <a16:creationId xmlns:a16="http://schemas.microsoft.com/office/drawing/2014/main" id="{42693AD3-56FD-E49A-8C48-724C6012FB73}"/>
              </a:ext>
            </a:extLst>
          </p:cNvPr>
          <p:cNvSpPr/>
          <p:nvPr/>
        </p:nvSpPr>
        <p:spPr>
          <a:xfrm rot="5400000">
            <a:off x="9195107" y="3535601"/>
            <a:ext cx="1182532" cy="281882"/>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18">
            <a:extLst>
              <a:ext uri="{FF2B5EF4-FFF2-40B4-BE49-F238E27FC236}">
                <a16:creationId xmlns:a16="http://schemas.microsoft.com/office/drawing/2014/main" id="{97709FD0-F379-7E8E-340E-C1DB82D508B6}"/>
              </a:ext>
            </a:extLst>
          </p:cNvPr>
          <p:cNvPicPr>
            <a:picLocks noChangeAspect="1"/>
          </p:cNvPicPr>
          <p:nvPr/>
        </p:nvPicPr>
        <p:blipFill>
          <a:blip r:embed="rId6"/>
          <a:stretch>
            <a:fillRect/>
          </a:stretch>
        </p:blipFill>
        <p:spPr>
          <a:xfrm>
            <a:off x="513505" y="4085763"/>
            <a:ext cx="3383573" cy="1928027"/>
          </a:xfrm>
          <a:prstGeom prst="rect">
            <a:avLst/>
          </a:prstGeom>
        </p:spPr>
      </p:pic>
      <p:sp>
        <p:nvSpPr>
          <p:cNvPr id="16" name="Arrow: Right 15">
            <a:extLst>
              <a:ext uri="{FF2B5EF4-FFF2-40B4-BE49-F238E27FC236}">
                <a16:creationId xmlns:a16="http://schemas.microsoft.com/office/drawing/2014/main" id="{90BBEB5E-21D5-1E83-43C6-EA2C61816804}"/>
              </a:ext>
            </a:extLst>
          </p:cNvPr>
          <p:cNvSpPr/>
          <p:nvPr/>
        </p:nvSpPr>
        <p:spPr>
          <a:xfrm rot="10800000">
            <a:off x="4041134" y="4523027"/>
            <a:ext cx="1182532" cy="281882"/>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90473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96E1005-1452-DE9D-74B8-28EE8AD9E507}"/>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427DDEFF-E2DB-091F-CB5A-1126C6AB0DBD}"/>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F31CD68-3EF6-5372-582E-7F747C6AE33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40</a:t>
            </a:fld>
            <a:endParaRPr/>
          </a:p>
        </p:txBody>
      </p:sp>
      <p:grpSp>
        <p:nvGrpSpPr>
          <p:cNvPr id="2" name="Group 1">
            <a:extLst>
              <a:ext uri="{FF2B5EF4-FFF2-40B4-BE49-F238E27FC236}">
                <a16:creationId xmlns:a16="http://schemas.microsoft.com/office/drawing/2014/main" id="{9994BE51-3131-A9B1-3965-A534E028F303}"/>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F6B16ACE-3089-6368-87F4-CE04E1ADACF2}"/>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951A79A7-25A9-AB25-B40C-0C90C985DBA1}"/>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28398EA8-679B-E32C-39A4-4AD094CDA6F1}"/>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9735E68-476B-6472-F0EC-02EA43D17CDA}"/>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A6344CD-B31E-1471-E6C5-4BFFEB3F5B13}"/>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pic>
        <p:nvPicPr>
          <p:cNvPr id="9" name="Picture 8">
            <a:extLst>
              <a:ext uri="{FF2B5EF4-FFF2-40B4-BE49-F238E27FC236}">
                <a16:creationId xmlns:a16="http://schemas.microsoft.com/office/drawing/2014/main" id="{64A1D04E-EB02-5215-4CC6-FA87883D6327}"/>
              </a:ext>
            </a:extLst>
          </p:cNvPr>
          <p:cNvPicPr>
            <a:picLocks noChangeAspect="1"/>
          </p:cNvPicPr>
          <p:nvPr/>
        </p:nvPicPr>
        <p:blipFill>
          <a:blip r:embed="rId3"/>
          <a:srcRect/>
          <a:stretch/>
        </p:blipFill>
        <p:spPr>
          <a:xfrm>
            <a:off x="567866" y="1440927"/>
            <a:ext cx="6152889" cy="4970153"/>
          </a:xfrm>
          <a:prstGeom prst="rect">
            <a:avLst/>
          </a:prstGeom>
        </p:spPr>
      </p:pic>
      <p:sp>
        <p:nvSpPr>
          <p:cNvPr id="10" name="TextBox 9">
            <a:extLst>
              <a:ext uri="{FF2B5EF4-FFF2-40B4-BE49-F238E27FC236}">
                <a16:creationId xmlns:a16="http://schemas.microsoft.com/office/drawing/2014/main" id="{BDEADED6-7231-6000-710C-5D7493961B6B}"/>
              </a:ext>
            </a:extLst>
          </p:cNvPr>
          <p:cNvSpPr txBox="1"/>
          <p:nvPr/>
        </p:nvSpPr>
        <p:spPr>
          <a:xfrm>
            <a:off x="517448" y="877587"/>
            <a:ext cx="11369752"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product-http-handle-error-service.ts</a:t>
            </a:r>
          </a:p>
        </p:txBody>
      </p:sp>
    </p:spTree>
    <p:extLst>
      <p:ext uri="{BB962C8B-B14F-4D97-AF65-F5344CB8AC3E}">
        <p14:creationId xmlns:p14="http://schemas.microsoft.com/office/powerpoint/2010/main" val="190139001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622953F3-582B-4EF9-6C38-C5FD00DB405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56F91A87-1368-5C28-5DBE-7C8251C55B23}"/>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951D49D7-0AB6-12E1-9C27-4FC4A98C649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41</a:t>
            </a:fld>
            <a:endParaRPr/>
          </a:p>
        </p:txBody>
      </p:sp>
      <p:grpSp>
        <p:nvGrpSpPr>
          <p:cNvPr id="2" name="Group 1">
            <a:extLst>
              <a:ext uri="{FF2B5EF4-FFF2-40B4-BE49-F238E27FC236}">
                <a16:creationId xmlns:a16="http://schemas.microsoft.com/office/drawing/2014/main" id="{D637846C-25FF-3CDA-84D9-8B5C2545BEB7}"/>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4DC1446D-0D15-8BB8-D0DA-4F7D0081214F}"/>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A0F2C99-24DD-390A-6286-F6189624AE6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4034AAC-EC08-104A-6FEC-54C11CB6EAA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32597DDF-0942-1764-B937-EBC6DE3C7A7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CA022F1A-EC2E-3E39-3695-6371794729F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8885BD4B-62F9-74C9-AA81-9A236E6DE1CD}"/>
              </a:ext>
            </a:extLst>
          </p:cNvPr>
          <p:cNvSpPr txBox="1"/>
          <p:nvPr/>
        </p:nvSpPr>
        <p:spPr>
          <a:xfrm>
            <a:off x="517448" y="877587"/>
            <a:ext cx="11301000"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Tạo component </a:t>
            </a:r>
            <a:r>
              <a:rPr lang="en-US" sz="2400" b="1">
                <a:latin typeface="Times New Roman" panose="02020603050405020304" pitchFamily="18" charset="0"/>
                <a:cs typeface="Times New Roman" panose="02020603050405020304" pitchFamily="18" charset="0"/>
              </a:rPr>
              <a:t>product-http-handle-error-service-component</a:t>
            </a:r>
          </a:p>
        </p:txBody>
      </p:sp>
      <p:pic>
        <p:nvPicPr>
          <p:cNvPr id="14" name="Picture 13">
            <a:extLst>
              <a:ext uri="{FF2B5EF4-FFF2-40B4-BE49-F238E27FC236}">
                <a16:creationId xmlns:a16="http://schemas.microsoft.com/office/drawing/2014/main" id="{F00156AC-BCDA-119B-0335-0E39B8243209}"/>
              </a:ext>
            </a:extLst>
          </p:cNvPr>
          <p:cNvPicPr>
            <a:picLocks noChangeAspect="1"/>
          </p:cNvPicPr>
          <p:nvPr/>
        </p:nvPicPr>
        <p:blipFill>
          <a:blip r:embed="rId3"/>
          <a:stretch>
            <a:fillRect/>
          </a:stretch>
        </p:blipFill>
        <p:spPr>
          <a:xfrm>
            <a:off x="671980" y="1401863"/>
            <a:ext cx="7468247" cy="929721"/>
          </a:xfrm>
          <a:prstGeom prst="rect">
            <a:avLst/>
          </a:prstGeom>
        </p:spPr>
      </p:pic>
      <p:pic>
        <p:nvPicPr>
          <p:cNvPr id="16" name="Picture 15">
            <a:extLst>
              <a:ext uri="{FF2B5EF4-FFF2-40B4-BE49-F238E27FC236}">
                <a16:creationId xmlns:a16="http://schemas.microsoft.com/office/drawing/2014/main" id="{E389D540-854E-7B90-820D-8891D696B450}"/>
              </a:ext>
            </a:extLst>
          </p:cNvPr>
          <p:cNvPicPr>
            <a:picLocks noChangeAspect="1"/>
          </p:cNvPicPr>
          <p:nvPr/>
        </p:nvPicPr>
        <p:blipFill>
          <a:blip r:embed="rId4"/>
          <a:stretch>
            <a:fillRect/>
          </a:stretch>
        </p:blipFill>
        <p:spPr>
          <a:xfrm>
            <a:off x="631880" y="3579083"/>
            <a:ext cx="10440305" cy="2545301"/>
          </a:xfrm>
          <a:prstGeom prst="rect">
            <a:avLst/>
          </a:prstGeom>
        </p:spPr>
      </p:pic>
      <p:pic>
        <p:nvPicPr>
          <p:cNvPr id="18" name="Picture 17">
            <a:extLst>
              <a:ext uri="{FF2B5EF4-FFF2-40B4-BE49-F238E27FC236}">
                <a16:creationId xmlns:a16="http://schemas.microsoft.com/office/drawing/2014/main" id="{72121E0A-DB15-63BA-F5BE-3E71EEF39F66}"/>
              </a:ext>
            </a:extLst>
          </p:cNvPr>
          <p:cNvPicPr>
            <a:picLocks noChangeAspect="1"/>
          </p:cNvPicPr>
          <p:nvPr/>
        </p:nvPicPr>
        <p:blipFill>
          <a:blip r:embed="rId5"/>
          <a:stretch>
            <a:fillRect/>
          </a:stretch>
        </p:blipFill>
        <p:spPr>
          <a:xfrm>
            <a:off x="8294759" y="1289983"/>
            <a:ext cx="3523689" cy="3165138"/>
          </a:xfrm>
          <a:prstGeom prst="rect">
            <a:avLst/>
          </a:prstGeom>
        </p:spPr>
      </p:pic>
      <p:sp>
        <p:nvSpPr>
          <p:cNvPr id="19" name="Arrow: Right 18">
            <a:extLst>
              <a:ext uri="{FF2B5EF4-FFF2-40B4-BE49-F238E27FC236}">
                <a16:creationId xmlns:a16="http://schemas.microsoft.com/office/drawing/2014/main" id="{2417BA33-E49D-09CF-CDB6-57170E10173A}"/>
              </a:ext>
            </a:extLst>
          </p:cNvPr>
          <p:cNvSpPr/>
          <p:nvPr/>
        </p:nvSpPr>
        <p:spPr>
          <a:xfrm rot="5400000">
            <a:off x="4854581" y="2743201"/>
            <a:ext cx="1182532" cy="281882"/>
          </a:xfrm>
          <a:prstGeom prst="right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Arrow: Bent-Up 19">
            <a:extLst>
              <a:ext uri="{FF2B5EF4-FFF2-40B4-BE49-F238E27FC236}">
                <a16:creationId xmlns:a16="http://schemas.microsoft.com/office/drawing/2014/main" id="{A6FF0645-EEAF-9B14-FE58-2BA4AD92F087}"/>
              </a:ext>
            </a:extLst>
          </p:cNvPr>
          <p:cNvSpPr/>
          <p:nvPr/>
        </p:nvSpPr>
        <p:spPr>
          <a:xfrm>
            <a:off x="10790099" y="4502074"/>
            <a:ext cx="770021" cy="450813"/>
          </a:xfrm>
          <a:prstGeom prst="bentUpArrow">
            <a:avLst/>
          </a:prstGeom>
          <a:solidFill>
            <a:schemeClr val="accent3">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386166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CF933676-44BA-EC30-CD55-F1E1FB576BD3}"/>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318A3565-075B-2886-731D-A700EE4E3AB4}"/>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75205A5-917A-026C-C44D-C9A272F1733A}"/>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42</a:t>
            </a:fld>
            <a:endParaRPr/>
          </a:p>
        </p:txBody>
      </p:sp>
      <p:grpSp>
        <p:nvGrpSpPr>
          <p:cNvPr id="2" name="Group 1">
            <a:extLst>
              <a:ext uri="{FF2B5EF4-FFF2-40B4-BE49-F238E27FC236}">
                <a16:creationId xmlns:a16="http://schemas.microsoft.com/office/drawing/2014/main" id="{047E8FD0-5A1E-655D-D75C-61D6C49F10B2}"/>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7FE52D4A-4503-6308-69B8-70A25D967D1F}"/>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826AB49E-87E4-90B0-219C-D3A92BEC36FE}"/>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1AC7A861-238F-9806-24A6-D9C1E00F9E2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12164F58-BCF5-2417-6717-64625CAAB7C2}"/>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DCF77B5-EFD5-AA12-1AAF-4AED5C98186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504BE9BF-B89C-3B1A-34EC-75F4D76A4FA7}"/>
              </a:ext>
            </a:extLst>
          </p:cNvPr>
          <p:cNvSpPr txBox="1"/>
          <p:nvPr/>
        </p:nvSpPr>
        <p:spPr>
          <a:xfrm>
            <a:off x="517448" y="877587"/>
            <a:ext cx="11301000"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product-http-handle-error-service-component.ts</a:t>
            </a:r>
          </a:p>
        </p:txBody>
      </p:sp>
      <p:pic>
        <p:nvPicPr>
          <p:cNvPr id="10" name="Picture 9">
            <a:extLst>
              <a:ext uri="{FF2B5EF4-FFF2-40B4-BE49-F238E27FC236}">
                <a16:creationId xmlns:a16="http://schemas.microsoft.com/office/drawing/2014/main" id="{7488EC5E-4684-CD8D-9706-319683104A6B}"/>
              </a:ext>
            </a:extLst>
          </p:cNvPr>
          <p:cNvPicPr>
            <a:picLocks noChangeAspect="1"/>
          </p:cNvPicPr>
          <p:nvPr/>
        </p:nvPicPr>
        <p:blipFill>
          <a:blip r:embed="rId3"/>
          <a:srcRect/>
          <a:stretch/>
        </p:blipFill>
        <p:spPr>
          <a:xfrm>
            <a:off x="764849" y="1339473"/>
            <a:ext cx="7248639" cy="4986173"/>
          </a:xfrm>
          <a:prstGeom prst="rect">
            <a:avLst/>
          </a:prstGeom>
        </p:spPr>
      </p:pic>
      <p:sp>
        <p:nvSpPr>
          <p:cNvPr id="11" name="Rectangle 10">
            <a:extLst>
              <a:ext uri="{FF2B5EF4-FFF2-40B4-BE49-F238E27FC236}">
                <a16:creationId xmlns:a16="http://schemas.microsoft.com/office/drawing/2014/main" id="{19ED16E6-F989-EBD7-7D56-6B5FBCD04081}"/>
              </a:ext>
            </a:extLst>
          </p:cNvPr>
          <p:cNvSpPr/>
          <p:nvPr/>
        </p:nvSpPr>
        <p:spPr>
          <a:xfrm>
            <a:off x="790647" y="3801979"/>
            <a:ext cx="3190087" cy="2475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894F55C-2ED7-6CA0-084B-83353D0A1A37}"/>
              </a:ext>
            </a:extLst>
          </p:cNvPr>
          <p:cNvSpPr/>
          <p:nvPr/>
        </p:nvSpPr>
        <p:spPr>
          <a:xfrm>
            <a:off x="787902" y="5246913"/>
            <a:ext cx="4148483" cy="2475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609117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5609BBA6-F080-B51E-FB7B-49C23487B0F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878E7B42-B79E-3383-1C6E-1336F5D065D1}"/>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85094B3E-A1DE-DCA0-1A4C-AC38AAE30E64}"/>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43</a:t>
            </a:fld>
            <a:endParaRPr/>
          </a:p>
        </p:txBody>
      </p:sp>
      <p:grpSp>
        <p:nvGrpSpPr>
          <p:cNvPr id="2" name="Group 1">
            <a:extLst>
              <a:ext uri="{FF2B5EF4-FFF2-40B4-BE49-F238E27FC236}">
                <a16:creationId xmlns:a16="http://schemas.microsoft.com/office/drawing/2014/main" id="{B81F0DBD-07BB-CBDB-34E8-8B0E0B9DA61C}"/>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D89FCA1B-A1BB-764E-3ECB-EE4A3253964B}"/>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D36D0159-42F5-B38C-BC68-2FAB24956F5B}"/>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6792711B-973C-249A-2137-CAB1DF91359B}"/>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282C12E9-429C-CAF1-B174-523B6368A80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84191EF3-0D47-C38A-5ED2-5D1F4E4E4FB9}"/>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644B1E76-3978-8DAA-3637-D283E8B825C6}"/>
              </a:ext>
            </a:extLst>
          </p:cNvPr>
          <p:cNvSpPr txBox="1"/>
          <p:nvPr/>
        </p:nvSpPr>
        <p:spPr>
          <a:xfrm>
            <a:off x="517448" y="877587"/>
            <a:ext cx="11301000"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product-http-handle-error-service-component.html</a:t>
            </a:r>
          </a:p>
        </p:txBody>
      </p:sp>
      <p:pic>
        <p:nvPicPr>
          <p:cNvPr id="10" name="Picture 9">
            <a:extLst>
              <a:ext uri="{FF2B5EF4-FFF2-40B4-BE49-F238E27FC236}">
                <a16:creationId xmlns:a16="http://schemas.microsoft.com/office/drawing/2014/main" id="{FF50416D-083F-0F3A-7C54-DF415BA58070}"/>
              </a:ext>
            </a:extLst>
          </p:cNvPr>
          <p:cNvPicPr>
            <a:picLocks noChangeAspect="1"/>
          </p:cNvPicPr>
          <p:nvPr/>
        </p:nvPicPr>
        <p:blipFill>
          <a:blip r:embed="rId3"/>
          <a:stretch>
            <a:fillRect/>
          </a:stretch>
        </p:blipFill>
        <p:spPr>
          <a:xfrm>
            <a:off x="3928946" y="1298791"/>
            <a:ext cx="5139428" cy="5261276"/>
          </a:xfrm>
          <a:prstGeom prst="rect">
            <a:avLst/>
          </a:prstGeom>
        </p:spPr>
      </p:pic>
      <p:sp>
        <p:nvSpPr>
          <p:cNvPr id="11" name="Rectangle 10">
            <a:extLst>
              <a:ext uri="{FF2B5EF4-FFF2-40B4-BE49-F238E27FC236}">
                <a16:creationId xmlns:a16="http://schemas.microsoft.com/office/drawing/2014/main" id="{B8BCD736-801E-1DC3-E995-E7EC2E4BAEE3}"/>
              </a:ext>
            </a:extLst>
          </p:cNvPr>
          <p:cNvSpPr/>
          <p:nvPr/>
        </p:nvSpPr>
        <p:spPr>
          <a:xfrm>
            <a:off x="4145738" y="2007555"/>
            <a:ext cx="4922636" cy="2475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598854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FD13BA43-F4AF-B942-2F44-FB20AE55CF0E}"/>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0BA8D2FC-3B99-A91A-2912-FBEF3697F72E}"/>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C5F9ED6C-9DC2-6005-5D78-88D2630B7556}"/>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44</a:t>
            </a:fld>
            <a:endParaRPr/>
          </a:p>
        </p:txBody>
      </p:sp>
      <p:grpSp>
        <p:nvGrpSpPr>
          <p:cNvPr id="2" name="Group 1">
            <a:extLst>
              <a:ext uri="{FF2B5EF4-FFF2-40B4-BE49-F238E27FC236}">
                <a16:creationId xmlns:a16="http://schemas.microsoft.com/office/drawing/2014/main" id="{8AA9807E-53A0-D064-7585-AE3A771087AC}"/>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F3E8836C-77A5-C8B8-CC74-180015BFF61A}"/>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7CEC685C-4774-DEA9-74E4-E7C5B2197FDA}"/>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EE059D4E-C864-AB96-1921-60F03E5CCD7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C36358E3-E809-A030-91E0-094A0459BD86}"/>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6C9E668E-6E30-4AB4-9AEE-9B6A1AA9F5DE}"/>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2CE815BF-07D5-F5EB-EDDB-66A2CCF5D793}"/>
              </a:ext>
            </a:extLst>
          </p:cNvPr>
          <p:cNvSpPr txBox="1"/>
          <p:nvPr/>
        </p:nvSpPr>
        <p:spPr>
          <a:xfrm>
            <a:off x="517448" y="877587"/>
            <a:ext cx="11301000" cy="461665"/>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app.html</a:t>
            </a:r>
          </a:p>
        </p:txBody>
      </p:sp>
      <p:sp>
        <p:nvSpPr>
          <p:cNvPr id="10" name="TextBox 9">
            <a:extLst>
              <a:ext uri="{FF2B5EF4-FFF2-40B4-BE49-F238E27FC236}">
                <a16:creationId xmlns:a16="http://schemas.microsoft.com/office/drawing/2014/main" id="{CC01A101-AE73-8AB4-057B-70BA2C4BC754}"/>
              </a:ext>
            </a:extLst>
          </p:cNvPr>
          <p:cNvSpPr txBox="1"/>
          <p:nvPr/>
        </p:nvSpPr>
        <p:spPr>
          <a:xfrm>
            <a:off x="632517" y="1443189"/>
            <a:ext cx="10690918" cy="962828"/>
          </a:xfrm>
          <a:prstGeom prst="rect">
            <a:avLst/>
          </a:prstGeom>
          <a:noFill/>
          <a:ln>
            <a:solidFill>
              <a:srgbClr val="002060"/>
            </a:solidFill>
          </a:ln>
        </p:spPr>
        <p:txBody>
          <a:bodyPr wrap="square">
            <a:spAutoFit/>
          </a:bodyPr>
          <a:lstStyle/>
          <a:p>
            <a:pPr>
              <a:lnSpc>
                <a:spcPts val="2250"/>
              </a:lnSpc>
              <a:buNone/>
            </a:pPr>
            <a:r>
              <a:rPr lang="en-US" sz="1800" b="0">
                <a:solidFill>
                  <a:srgbClr val="800000"/>
                </a:solidFill>
                <a:effectLst/>
                <a:latin typeface="Consolas" panose="020B0609020204030204" pitchFamily="49" charset="0"/>
              </a:rPr>
              <a:t>&lt;app-product-http-handle-error-service-component&gt;&lt;/app-product-http-handle-error-service-component&gt;</a:t>
            </a:r>
            <a:endParaRPr lang="en-US" sz="1800" b="0">
              <a:solidFill>
                <a:srgbClr val="000000"/>
              </a:solidFill>
              <a:effectLst/>
              <a:latin typeface="Consolas" panose="020B0609020204030204" pitchFamily="49" charset="0"/>
            </a:endParaRPr>
          </a:p>
          <a:p>
            <a:pPr>
              <a:lnSpc>
                <a:spcPts val="2250"/>
              </a:lnSpc>
              <a:buNone/>
            </a:pPr>
            <a:r>
              <a:rPr lang="en-US" sz="1800" b="0">
                <a:solidFill>
                  <a:srgbClr val="800000"/>
                </a:solidFill>
                <a:effectLst/>
                <a:latin typeface="Consolas" panose="020B0609020204030204" pitchFamily="49" charset="0"/>
              </a:rPr>
              <a:t>&lt;router-outlet</a:t>
            </a:r>
            <a:r>
              <a:rPr lang="en-US" sz="1800" b="0">
                <a:solidFill>
                  <a:srgbClr val="000000"/>
                </a:solidFill>
                <a:effectLst/>
                <a:latin typeface="Consolas" panose="020B0609020204030204" pitchFamily="49" charset="0"/>
              </a:rPr>
              <a:t> </a:t>
            </a:r>
            <a:r>
              <a:rPr lang="en-US" sz="1800" b="0">
                <a:solidFill>
                  <a:srgbClr val="800000"/>
                </a:solidFill>
                <a:effectLst/>
                <a:latin typeface="Consolas" panose="020B0609020204030204" pitchFamily="49" charset="0"/>
              </a:rPr>
              <a:t>/&gt;</a:t>
            </a:r>
            <a:endParaRPr lang="en-US" sz="1800" b="0">
              <a:solidFill>
                <a:srgbClr val="000000"/>
              </a:solidFill>
              <a:effectLst/>
              <a:latin typeface="Consolas" panose="020B0609020204030204" pitchFamily="49" charset="0"/>
            </a:endParaRPr>
          </a:p>
        </p:txBody>
      </p:sp>
      <p:pic>
        <p:nvPicPr>
          <p:cNvPr id="12" name="Picture 11">
            <a:extLst>
              <a:ext uri="{FF2B5EF4-FFF2-40B4-BE49-F238E27FC236}">
                <a16:creationId xmlns:a16="http://schemas.microsoft.com/office/drawing/2014/main" id="{7D31D10D-CF87-C96F-2EBF-162854273838}"/>
              </a:ext>
            </a:extLst>
          </p:cNvPr>
          <p:cNvPicPr>
            <a:picLocks noChangeAspect="1"/>
          </p:cNvPicPr>
          <p:nvPr/>
        </p:nvPicPr>
        <p:blipFill>
          <a:blip r:embed="rId3"/>
          <a:srcRect r="52510"/>
          <a:stretch>
            <a:fillRect/>
          </a:stretch>
        </p:blipFill>
        <p:spPr>
          <a:xfrm>
            <a:off x="632517" y="2730400"/>
            <a:ext cx="2605697" cy="2972058"/>
          </a:xfrm>
          <a:prstGeom prst="rect">
            <a:avLst/>
          </a:prstGeom>
        </p:spPr>
      </p:pic>
      <p:pic>
        <p:nvPicPr>
          <p:cNvPr id="16" name="Picture 15">
            <a:extLst>
              <a:ext uri="{FF2B5EF4-FFF2-40B4-BE49-F238E27FC236}">
                <a16:creationId xmlns:a16="http://schemas.microsoft.com/office/drawing/2014/main" id="{D5588571-F70A-5800-72F6-3F246B2F89FA}"/>
              </a:ext>
            </a:extLst>
          </p:cNvPr>
          <p:cNvPicPr>
            <a:picLocks noChangeAspect="1"/>
          </p:cNvPicPr>
          <p:nvPr/>
        </p:nvPicPr>
        <p:blipFill>
          <a:blip r:embed="rId4"/>
          <a:stretch>
            <a:fillRect/>
          </a:stretch>
        </p:blipFill>
        <p:spPr>
          <a:xfrm>
            <a:off x="6096000" y="2616263"/>
            <a:ext cx="5672029" cy="3364150"/>
          </a:xfrm>
          <a:prstGeom prst="rect">
            <a:avLst/>
          </a:prstGeom>
        </p:spPr>
      </p:pic>
      <p:sp>
        <p:nvSpPr>
          <p:cNvPr id="17" name="Arrow: Right 16">
            <a:extLst>
              <a:ext uri="{FF2B5EF4-FFF2-40B4-BE49-F238E27FC236}">
                <a16:creationId xmlns:a16="http://schemas.microsoft.com/office/drawing/2014/main" id="{EF87C639-4B09-DD15-7AD0-40F078D45F49}"/>
              </a:ext>
            </a:extLst>
          </p:cNvPr>
          <p:cNvSpPr/>
          <p:nvPr/>
        </p:nvSpPr>
        <p:spPr>
          <a:xfrm>
            <a:off x="3626465" y="3701740"/>
            <a:ext cx="2081284" cy="460014"/>
          </a:xfrm>
          <a:prstGeom prst="rightArrow">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0EFE7AD-DADF-BF28-42E2-C2959FADB2C4}"/>
              </a:ext>
            </a:extLst>
          </p:cNvPr>
          <p:cNvSpPr txBox="1"/>
          <p:nvPr/>
        </p:nvSpPr>
        <p:spPr>
          <a:xfrm>
            <a:off x="3424748" y="4171556"/>
            <a:ext cx="2605697" cy="1446550"/>
          </a:xfrm>
          <a:prstGeom prst="rect">
            <a:avLst/>
          </a:prstGeom>
          <a:noFill/>
        </p:spPr>
        <p:txBody>
          <a:bodyPr wrap="square" rtlCol="0">
            <a:spAutoFit/>
          </a:bodyPr>
          <a:lstStyle/>
          <a:p>
            <a:pPr algn="just"/>
            <a:r>
              <a:rPr lang="en-US" sz="2200">
                <a:solidFill>
                  <a:srgbClr val="FF0000"/>
                </a:solidFill>
                <a:latin typeface="Times New Roman" panose="02020603050405020304" pitchFamily="18" charset="0"/>
                <a:cs typeface="Times New Roman" panose="02020603050405020304" pitchFamily="18" charset="0"/>
              </a:rPr>
              <a:t>Nếu cố tình sửa sai</a:t>
            </a:r>
          </a:p>
          <a:p>
            <a:pPr algn="just"/>
            <a:r>
              <a:rPr lang="en-US" sz="2200">
                <a:solidFill>
                  <a:srgbClr val="FF0000"/>
                </a:solidFill>
                <a:latin typeface="Times New Roman" panose="02020603050405020304" pitchFamily="18" charset="0"/>
                <a:cs typeface="Times New Roman" panose="02020603050405020304" pitchFamily="18" charset="0"/>
              </a:rPr>
              <a:t>đường dẫn dataset</a:t>
            </a:r>
          </a:p>
          <a:p>
            <a:pPr algn="just"/>
            <a:r>
              <a:rPr lang="en-US" sz="2200">
                <a:solidFill>
                  <a:srgbClr val="FF0000"/>
                </a:solidFill>
                <a:latin typeface="Times New Roman" panose="02020603050405020304" pitchFamily="18" charset="0"/>
                <a:cs typeface="Times New Roman" panose="02020603050405020304" pitchFamily="18" charset="0"/>
              </a:rPr>
              <a:t>Thay </a:t>
            </a:r>
            <a:r>
              <a:rPr lang="en-US" sz="2200">
                <a:solidFill>
                  <a:srgbClr val="002060"/>
                </a:solidFill>
                <a:latin typeface="Times New Roman" panose="02020603050405020304" pitchFamily="18" charset="0"/>
                <a:cs typeface="Times New Roman" panose="02020603050405020304" pitchFamily="18" charset="0"/>
              </a:rPr>
              <a:t>products.json</a:t>
            </a:r>
          </a:p>
          <a:p>
            <a:pPr algn="just"/>
            <a:r>
              <a:rPr lang="en-US" sz="2200">
                <a:solidFill>
                  <a:srgbClr val="FF0000"/>
                </a:solidFill>
                <a:latin typeface="Times New Roman" panose="02020603050405020304" pitchFamily="18" charset="0"/>
                <a:cs typeface="Times New Roman" panose="02020603050405020304" pitchFamily="18" charset="0"/>
              </a:rPr>
              <a:t>Thành </a:t>
            </a:r>
            <a:r>
              <a:rPr lang="en-US" sz="2200">
                <a:solidFill>
                  <a:srgbClr val="002060"/>
                </a:solidFill>
                <a:latin typeface="Times New Roman" panose="02020603050405020304" pitchFamily="18" charset="0"/>
                <a:cs typeface="Times New Roman" panose="02020603050405020304" pitchFamily="18" charset="0"/>
              </a:rPr>
              <a:t>products1.json</a:t>
            </a:r>
          </a:p>
        </p:txBody>
      </p:sp>
    </p:spTree>
    <p:extLst>
      <p:ext uri="{BB962C8B-B14F-4D97-AF65-F5344CB8AC3E}">
        <p14:creationId xmlns:p14="http://schemas.microsoft.com/office/powerpoint/2010/main" val="20124767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A4A6A8E-F994-BE7E-5B8F-15B4C648A5EC}"/>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2A51653E-A3F5-BEB6-CE27-9660846D189A}"/>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0E1E95D8-CA8C-5475-E5E4-7DE9B817C052}"/>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45</a:t>
            </a:fld>
            <a:endParaRPr/>
          </a:p>
        </p:txBody>
      </p:sp>
      <p:grpSp>
        <p:nvGrpSpPr>
          <p:cNvPr id="2" name="Group 1">
            <a:extLst>
              <a:ext uri="{FF2B5EF4-FFF2-40B4-BE49-F238E27FC236}">
                <a16:creationId xmlns:a16="http://schemas.microsoft.com/office/drawing/2014/main" id="{87AB0C9A-E6D8-6377-8B76-541A12D1D161}"/>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EE6A8BFB-A468-68A2-AE1F-A6CCB60360DA}"/>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1CA7A38E-6518-7E2F-FA6B-4BEC394D8F88}"/>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79D93FCC-3EA1-8D1F-D117-C86B580CF4EA}"/>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8FD931D-D9A0-FBE4-6DE3-268626C2F814}"/>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2AF2AD0A-C733-CB78-3979-7F76579E5817}"/>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6E1339FA-7F0C-E219-D476-FEA6F6A3CD06}"/>
              </a:ext>
            </a:extLst>
          </p:cNvPr>
          <p:cNvSpPr txBox="1"/>
          <p:nvPr/>
        </p:nvSpPr>
        <p:spPr>
          <a:xfrm>
            <a:off x="517448" y="877587"/>
            <a:ext cx="11301000" cy="1200329"/>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Mở rộng cho </a:t>
            </a:r>
            <a:r>
              <a:rPr lang="en-US" sz="2400" b="1">
                <a:latin typeface="Times New Roman" panose="02020603050405020304" pitchFamily="18" charset="0"/>
                <a:cs typeface="Times New Roman" panose="02020603050405020304" pitchFamily="18" charset="0"/>
              </a:rPr>
              <a:t>product-http-handle-error-service.ts</a:t>
            </a:r>
          </a:p>
          <a:p>
            <a:r>
              <a:rPr lang="en-US" sz="2400">
                <a:latin typeface="Times New Roman" panose="02020603050405020304" pitchFamily="18" charset="0"/>
                <a:cs typeface="Times New Roman" panose="02020603050405020304" pitchFamily="18" charset="0"/>
              </a:rPr>
              <a:t>Trong tình huống ta muốn xem thật chi tiết các thông số lỗi trong Handle Error thì chỉnh sửa hàm này như sau:</a:t>
            </a:r>
          </a:p>
        </p:txBody>
      </p:sp>
      <p:pic>
        <p:nvPicPr>
          <p:cNvPr id="11" name="Picture 10">
            <a:extLst>
              <a:ext uri="{FF2B5EF4-FFF2-40B4-BE49-F238E27FC236}">
                <a16:creationId xmlns:a16="http://schemas.microsoft.com/office/drawing/2014/main" id="{55B1042B-8E68-0AA1-5A11-16AA8B1434B4}"/>
              </a:ext>
            </a:extLst>
          </p:cNvPr>
          <p:cNvPicPr>
            <a:picLocks noChangeAspect="1"/>
          </p:cNvPicPr>
          <p:nvPr/>
        </p:nvPicPr>
        <p:blipFill>
          <a:blip r:embed="rId3"/>
          <a:stretch>
            <a:fillRect/>
          </a:stretch>
        </p:blipFill>
        <p:spPr>
          <a:xfrm>
            <a:off x="564686" y="2066650"/>
            <a:ext cx="8720030" cy="4270264"/>
          </a:xfrm>
          <a:prstGeom prst="rect">
            <a:avLst/>
          </a:prstGeom>
          <a:ln>
            <a:solidFill>
              <a:srgbClr val="002060"/>
            </a:solidFill>
          </a:ln>
        </p:spPr>
      </p:pic>
      <p:pic>
        <p:nvPicPr>
          <p:cNvPr id="14" name="Picture 13">
            <a:extLst>
              <a:ext uri="{FF2B5EF4-FFF2-40B4-BE49-F238E27FC236}">
                <a16:creationId xmlns:a16="http://schemas.microsoft.com/office/drawing/2014/main" id="{2CC939D4-32F8-119D-A209-FEDCDFAA0A05}"/>
              </a:ext>
            </a:extLst>
          </p:cNvPr>
          <p:cNvPicPr>
            <a:picLocks noChangeAspect="1"/>
          </p:cNvPicPr>
          <p:nvPr/>
        </p:nvPicPr>
        <p:blipFill>
          <a:blip r:embed="rId4"/>
          <a:stretch>
            <a:fillRect/>
          </a:stretch>
        </p:blipFill>
        <p:spPr>
          <a:xfrm>
            <a:off x="6729498" y="1739854"/>
            <a:ext cx="5204911" cy="883997"/>
          </a:xfrm>
          <a:prstGeom prst="rect">
            <a:avLst/>
          </a:prstGeom>
          <a:ln>
            <a:solidFill>
              <a:srgbClr val="002060"/>
            </a:solidFill>
          </a:ln>
        </p:spPr>
      </p:pic>
      <p:sp>
        <p:nvSpPr>
          <p:cNvPr id="15" name="Callout: Up Arrow 14">
            <a:extLst>
              <a:ext uri="{FF2B5EF4-FFF2-40B4-BE49-F238E27FC236}">
                <a16:creationId xmlns:a16="http://schemas.microsoft.com/office/drawing/2014/main" id="{E14CE2AC-EEF6-1377-A740-A8CC9D9CC7B4}"/>
              </a:ext>
            </a:extLst>
          </p:cNvPr>
          <p:cNvSpPr/>
          <p:nvPr/>
        </p:nvSpPr>
        <p:spPr>
          <a:xfrm>
            <a:off x="9668836" y="2643147"/>
            <a:ext cx="1455217" cy="659556"/>
          </a:xfrm>
          <a:prstGeom prst="upArrowCallou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FF0000"/>
                </a:solidFill>
                <a:latin typeface="Times New Roman" panose="02020603050405020304" pitchFamily="18" charset="0"/>
                <a:cs typeface="Times New Roman" panose="02020603050405020304" pitchFamily="18" charset="0"/>
              </a:rPr>
              <a:t>Coding cũ</a:t>
            </a:r>
          </a:p>
        </p:txBody>
      </p:sp>
      <p:sp>
        <p:nvSpPr>
          <p:cNvPr id="19" name="Callout: Left Arrow 18">
            <a:extLst>
              <a:ext uri="{FF2B5EF4-FFF2-40B4-BE49-F238E27FC236}">
                <a16:creationId xmlns:a16="http://schemas.microsoft.com/office/drawing/2014/main" id="{A8682C8C-A6FC-5DB5-2E1D-FD061969B767}"/>
              </a:ext>
            </a:extLst>
          </p:cNvPr>
          <p:cNvSpPr/>
          <p:nvPr/>
        </p:nvSpPr>
        <p:spPr>
          <a:xfrm>
            <a:off x="9320168" y="4234150"/>
            <a:ext cx="1231414" cy="1051904"/>
          </a:xfrm>
          <a:prstGeom prst="leftArrowCallou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a:solidFill>
                  <a:srgbClr val="FF0000"/>
                </a:solidFill>
                <a:latin typeface="Times New Roman" panose="02020603050405020304" pitchFamily="18" charset="0"/>
                <a:cs typeface="Times New Roman" panose="02020603050405020304" pitchFamily="18" charset="0"/>
              </a:rPr>
              <a:t>Coding mới</a:t>
            </a:r>
          </a:p>
        </p:txBody>
      </p:sp>
    </p:spTree>
    <p:extLst>
      <p:ext uri="{BB962C8B-B14F-4D97-AF65-F5344CB8AC3E}">
        <p14:creationId xmlns:p14="http://schemas.microsoft.com/office/powerpoint/2010/main" val="40068408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4">
          <a:extLst>
            <a:ext uri="{FF2B5EF4-FFF2-40B4-BE49-F238E27FC236}">
              <a16:creationId xmlns:a16="http://schemas.microsoft.com/office/drawing/2014/main" id="{EB5D45AC-C87D-62D9-BB65-98E5561CF035}"/>
            </a:ext>
          </a:extLst>
        </p:cNvPr>
        <p:cNvGrpSpPr/>
        <p:nvPr/>
      </p:nvGrpSpPr>
      <p:grpSpPr>
        <a:xfrm>
          <a:off x="0" y="0"/>
          <a:ext cx="0" cy="0"/>
          <a:chOff x="0" y="0"/>
          <a:chExt cx="0" cy="0"/>
        </a:xfrm>
      </p:grpSpPr>
      <p:sp>
        <p:nvSpPr>
          <p:cNvPr id="108" name="Google Shape;108;p3">
            <a:extLst>
              <a:ext uri="{FF2B5EF4-FFF2-40B4-BE49-F238E27FC236}">
                <a16:creationId xmlns:a16="http://schemas.microsoft.com/office/drawing/2014/main" id="{E3A9D069-C918-3EFE-F281-7E834BE18059}"/>
              </a:ext>
            </a:extLst>
          </p:cNvPr>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a:extLst>
              <a:ext uri="{FF2B5EF4-FFF2-40B4-BE49-F238E27FC236}">
                <a16:creationId xmlns:a16="http://schemas.microsoft.com/office/drawing/2014/main" id="{1136B2D0-0051-9B58-EA74-D2FD84B584FB}"/>
              </a:ext>
            </a:extLst>
          </p:cNvPr>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46</a:t>
            </a:fld>
            <a:endParaRPr/>
          </a:p>
        </p:txBody>
      </p:sp>
      <p:grpSp>
        <p:nvGrpSpPr>
          <p:cNvPr id="2" name="Group 1">
            <a:extLst>
              <a:ext uri="{FF2B5EF4-FFF2-40B4-BE49-F238E27FC236}">
                <a16:creationId xmlns:a16="http://schemas.microsoft.com/office/drawing/2014/main" id="{C95FC14F-26A2-4187-D9E8-10D320666950}"/>
              </a:ext>
            </a:extLst>
          </p:cNvPr>
          <p:cNvGrpSpPr/>
          <p:nvPr/>
        </p:nvGrpSpPr>
        <p:grpSpPr>
          <a:xfrm>
            <a:off x="214276" y="265650"/>
            <a:ext cx="7414432" cy="508000"/>
            <a:chOff x="789624" y="1191463"/>
            <a:chExt cx="7414432" cy="508000"/>
          </a:xfrm>
        </p:grpSpPr>
        <p:sp>
          <p:nvSpPr>
            <p:cNvPr id="3" name="AutoShape 52">
              <a:extLst>
                <a:ext uri="{FF2B5EF4-FFF2-40B4-BE49-F238E27FC236}">
                  <a16:creationId xmlns:a16="http://schemas.microsoft.com/office/drawing/2014/main" id="{AB6DADBC-864F-4132-ED11-6000D6ACEB80}"/>
                </a:ext>
              </a:extLst>
            </p:cNvPr>
            <p:cNvSpPr>
              <a:spLocks noChangeArrowheads="1"/>
            </p:cNvSpPr>
            <p:nvPr/>
          </p:nvSpPr>
          <p:spPr bwMode="gray">
            <a:xfrm>
              <a:off x="990599" y="1191463"/>
              <a:ext cx="7213457"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vi-VN" sz="2800" b="1">
                  <a:latin typeface="Times New Roman" panose="02020603050405020304" pitchFamily="18" charset="0"/>
                  <a:cs typeface="Times New Roman" panose="02020603050405020304" pitchFamily="18" charset="0"/>
                </a:rPr>
                <a:t>3.6. Cách lập trình Service với Handle Error</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A83603DE-8254-2469-2580-584DC5DE718F}"/>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3F68B5A9-5271-D7CE-EA05-CC8F74A410FF}"/>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7DF514E-A08C-D599-13FF-0A67F7404AB8}"/>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DF3B3144-BF98-7886-D635-B798A5BA0736}"/>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82D8E673-4167-329E-27A9-2D88A435B223}"/>
              </a:ext>
            </a:extLst>
          </p:cNvPr>
          <p:cNvSpPr txBox="1"/>
          <p:nvPr/>
        </p:nvSpPr>
        <p:spPr>
          <a:xfrm>
            <a:off x="517448" y="877587"/>
            <a:ext cx="11301000" cy="830997"/>
          </a:xfrm>
          <a:prstGeom prst="rect">
            <a:avLst/>
          </a:prstGeom>
          <a:noFill/>
        </p:spPr>
        <p:txBody>
          <a:bodyPr wrap="square">
            <a:spAutoFit/>
          </a:bodyPr>
          <a:lstStyle/>
          <a:p>
            <a:pPr marL="342900" indent="-3429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Mở rộng cho </a:t>
            </a:r>
            <a:r>
              <a:rPr lang="en-US" sz="2400" b="1">
                <a:latin typeface="Times New Roman" panose="02020603050405020304" pitchFamily="18" charset="0"/>
                <a:cs typeface="Times New Roman" panose="02020603050405020304" pitchFamily="18" charset="0"/>
              </a:rPr>
              <a:t>product-http-handle-error-service.ts</a:t>
            </a:r>
          </a:p>
          <a:p>
            <a:r>
              <a:rPr lang="en-US" sz="2400">
                <a:latin typeface="Times New Roman" panose="02020603050405020304" pitchFamily="18" charset="0"/>
                <a:cs typeface="Times New Roman" panose="02020603050405020304" pitchFamily="18" charset="0"/>
              </a:rPr>
              <a:t>Nếu có lỗi xảy ra khi chạy chương trình, ta sẽ có chi tiết lỗi như sau:</a:t>
            </a:r>
          </a:p>
        </p:txBody>
      </p:sp>
      <p:pic>
        <p:nvPicPr>
          <p:cNvPr id="10" name="Picture 9">
            <a:extLst>
              <a:ext uri="{FF2B5EF4-FFF2-40B4-BE49-F238E27FC236}">
                <a16:creationId xmlns:a16="http://schemas.microsoft.com/office/drawing/2014/main" id="{A37ED870-6A9D-D804-1EC0-36AE40A89123}"/>
              </a:ext>
            </a:extLst>
          </p:cNvPr>
          <p:cNvPicPr>
            <a:picLocks noChangeAspect="1"/>
          </p:cNvPicPr>
          <p:nvPr/>
        </p:nvPicPr>
        <p:blipFill>
          <a:blip r:embed="rId3"/>
          <a:stretch>
            <a:fillRect/>
          </a:stretch>
        </p:blipFill>
        <p:spPr>
          <a:xfrm>
            <a:off x="2175639" y="1812521"/>
            <a:ext cx="7697131" cy="4494131"/>
          </a:xfrm>
          <a:prstGeom prst="rect">
            <a:avLst/>
          </a:prstGeom>
        </p:spPr>
      </p:pic>
    </p:spTree>
    <p:extLst>
      <p:ext uri="{BB962C8B-B14F-4D97-AF65-F5344CB8AC3E}">
        <p14:creationId xmlns:p14="http://schemas.microsoft.com/office/powerpoint/2010/main" val="27032084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8" name="Google Shape;108;p3"/>
          <p:cNvSpPr txBox="1">
            <a:spLocks noGrp="1"/>
          </p:cNvSpPr>
          <p:nvPr>
            <p:ph type="ftr" idx="11"/>
          </p:nvPr>
        </p:nvSpPr>
        <p:spPr>
          <a:xfrm>
            <a:off x="728132" y="6429363"/>
            <a:ext cx="2370667" cy="261408"/>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Khoa Hệ Thống Thông Tin</a:t>
            </a:r>
            <a:endParaRPr/>
          </a:p>
        </p:txBody>
      </p:sp>
      <p:sp>
        <p:nvSpPr>
          <p:cNvPr id="109" name="Google Shape;109;p3"/>
          <p:cNvSpPr txBox="1">
            <a:spLocks noGrp="1"/>
          </p:cNvSpPr>
          <p:nvPr>
            <p:ph type="sldNum" idx="12"/>
          </p:nvPr>
        </p:nvSpPr>
        <p:spPr>
          <a:xfrm>
            <a:off x="3098799" y="6377505"/>
            <a:ext cx="397933"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47</a:t>
            </a:fld>
            <a:endParaRPr/>
          </a:p>
        </p:txBody>
      </p:sp>
      <p:grpSp>
        <p:nvGrpSpPr>
          <p:cNvPr id="2" name="Group 1">
            <a:extLst>
              <a:ext uri="{FF2B5EF4-FFF2-40B4-BE49-F238E27FC236}">
                <a16:creationId xmlns:a16="http://schemas.microsoft.com/office/drawing/2014/main" id="{064DE7AC-7E06-0676-5ECD-FC6C1493BAE0}"/>
              </a:ext>
            </a:extLst>
          </p:cNvPr>
          <p:cNvGrpSpPr/>
          <p:nvPr/>
        </p:nvGrpSpPr>
        <p:grpSpPr>
          <a:xfrm>
            <a:off x="214276" y="265650"/>
            <a:ext cx="4620576" cy="508000"/>
            <a:chOff x="789624" y="1191463"/>
            <a:chExt cx="4620576" cy="508000"/>
          </a:xfrm>
        </p:grpSpPr>
        <p:sp>
          <p:nvSpPr>
            <p:cNvPr id="3" name="AutoShape 52">
              <a:extLst>
                <a:ext uri="{FF2B5EF4-FFF2-40B4-BE49-F238E27FC236}">
                  <a16:creationId xmlns:a16="http://schemas.microsoft.com/office/drawing/2014/main" id="{CE8F9F40-61DD-7346-4703-DCCB057B485F}"/>
                </a:ext>
              </a:extLst>
            </p:cNvPr>
            <p:cNvSpPr>
              <a:spLocks noChangeArrowheads="1"/>
            </p:cNvSpPr>
            <p:nvPr/>
          </p:nvSpPr>
          <p:spPr bwMode="gray">
            <a:xfrm>
              <a:off x="990600" y="1191463"/>
              <a:ext cx="4419600" cy="508000"/>
            </a:xfrm>
            <a:prstGeom prst="roundRect">
              <a:avLst>
                <a:gd name="adj" fmla="val 50000"/>
              </a:avLst>
            </a:prstGeom>
            <a:noFill/>
            <a:ln w="28575" algn="ctr">
              <a:solidFill>
                <a:srgbClr val="C0C0C0"/>
              </a:solidFill>
              <a:round/>
              <a:headEnd/>
              <a:tailEnd/>
            </a:ln>
            <a:effectLst/>
            <a:extLst>
              <a:ext uri="{909E8E84-426E-40DD-AFC4-6F175D3DCCD1}">
                <a14:hiddenFill xmlns:a14="http://schemas.microsoft.com/office/drawing/2010/main">
                  <a:gradFill rotWithShape="1">
                    <a:gsLst>
                      <a:gs pos="0">
                        <a:schemeClr val="accent1">
                          <a:gamma/>
                          <a:tint val="0"/>
                          <a:invGamma/>
                        </a:schemeClr>
                      </a:gs>
                      <a:gs pos="100000">
                        <a:schemeClr val="accent1"/>
                      </a:gs>
                    </a:gsLst>
                    <a:lin ang="0" scaled="1"/>
                  </a:gradFill>
                </a14:hiddenFill>
              </a:ext>
              <a:ext uri="{AF507438-7753-43E0-B8FC-AC1667EBCBE1}">
                <a14:hiddenEffects xmlns:a14="http://schemas.microsoft.com/office/drawing/2010/main">
                  <a:effectLst>
                    <a:outerShdw dist="76200" dir="10800000" kx="-3284103" algn="br" rotWithShape="0">
                      <a:schemeClr val="bg2">
                        <a:alpha val="50000"/>
                      </a:schemeClr>
                    </a:outerShdw>
                  </a:effectLst>
                </a14:hiddenEffects>
              </a:ext>
            </a:extLst>
          </p:spPr>
          <p:txBody>
            <a:bodyPr wrap="none" anchor="ctr"/>
            <a:lstStyle/>
            <a:p>
              <a:pPr eaLnBrk="0" fontAlgn="base" hangingPunct="0">
                <a:spcBef>
                  <a:spcPct val="0"/>
                </a:spcBef>
                <a:spcAft>
                  <a:spcPct val="0"/>
                </a:spcAft>
              </a:pPr>
              <a:r>
                <a:rPr lang="en-US" sz="2800" b="1">
                  <a:latin typeface="Cambria" panose="02040503050406030204" pitchFamily="18" charset="0"/>
                </a:rPr>
                <a:t>Bài học tiếp theo</a:t>
              </a:r>
              <a:endParaRPr lang="en-US" sz="2800" b="1" kern="0">
                <a:solidFill>
                  <a:srgbClr val="000000"/>
                </a:solidFill>
                <a:latin typeface="Cambria" panose="02040503050406030204" pitchFamily="18" charset="0"/>
              </a:endParaRPr>
            </a:p>
          </p:txBody>
        </p:sp>
        <p:grpSp>
          <p:nvGrpSpPr>
            <p:cNvPr id="4" name="Group 17">
              <a:extLst>
                <a:ext uri="{FF2B5EF4-FFF2-40B4-BE49-F238E27FC236}">
                  <a16:creationId xmlns:a16="http://schemas.microsoft.com/office/drawing/2014/main" id="{44F3AC4A-5305-6F96-8C18-43C5D74712E2}"/>
                </a:ext>
              </a:extLst>
            </p:cNvPr>
            <p:cNvGrpSpPr>
              <a:grpSpLocks/>
            </p:cNvGrpSpPr>
            <p:nvPr/>
          </p:nvGrpSpPr>
          <p:grpSpPr bwMode="auto">
            <a:xfrm>
              <a:off x="789624" y="1295400"/>
              <a:ext cx="353376" cy="272472"/>
              <a:chOff x="1110" y="2656"/>
              <a:chExt cx="1549" cy="1351"/>
            </a:xfrm>
          </p:grpSpPr>
          <p:sp>
            <p:nvSpPr>
              <p:cNvPr id="5" name="AutoShape 18">
                <a:extLst>
                  <a:ext uri="{FF2B5EF4-FFF2-40B4-BE49-F238E27FC236}">
                    <a16:creationId xmlns:a16="http://schemas.microsoft.com/office/drawing/2014/main" id="{A357810E-BD83-454E-8106-65298F2614BD}"/>
                  </a:ext>
                </a:extLst>
              </p:cNvPr>
              <p:cNvSpPr>
                <a:spLocks noChangeArrowheads="1"/>
              </p:cNvSpPr>
              <p:nvPr/>
            </p:nvSpPr>
            <p:spPr bwMode="gray">
              <a:xfrm>
                <a:off x="1123" y="2679"/>
                <a:ext cx="1536" cy="1328"/>
              </a:xfrm>
              <a:prstGeom prst="hexagon">
                <a:avLst>
                  <a:gd name="adj" fmla="val 28916"/>
                  <a:gd name="vf" fmla="val 115470"/>
                </a:avLst>
              </a:prstGeom>
              <a:solidFill>
                <a:srgbClr val="808080"/>
              </a:solid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6" name="AutoShape 19">
                <a:extLst>
                  <a:ext uri="{FF2B5EF4-FFF2-40B4-BE49-F238E27FC236}">
                    <a16:creationId xmlns:a16="http://schemas.microsoft.com/office/drawing/2014/main" id="{840B8BB5-8211-291C-7847-C32187EE6339}"/>
                  </a:ext>
                </a:extLst>
              </p:cNvPr>
              <p:cNvSpPr>
                <a:spLocks noChangeArrowheads="1"/>
              </p:cNvSpPr>
              <p:nvPr/>
            </p:nvSpPr>
            <p:spPr bwMode="gray">
              <a:xfrm>
                <a:off x="1110" y="2656"/>
                <a:ext cx="1536" cy="1328"/>
              </a:xfrm>
              <a:prstGeom prst="hexagon">
                <a:avLst>
                  <a:gd name="adj" fmla="val 28916"/>
                  <a:gd name="vf" fmla="val 115470"/>
                </a:avLst>
              </a:prstGeom>
              <a:gradFill rotWithShape="1">
                <a:gsLst>
                  <a:gs pos="0">
                    <a:srgbClr val="E6E6E6"/>
                  </a:gs>
                  <a:gs pos="7499">
                    <a:srgbClr val="7D8496"/>
                  </a:gs>
                  <a:gs pos="26500">
                    <a:srgbClr val="E6E6E6"/>
                  </a:gs>
                  <a:gs pos="34000">
                    <a:srgbClr val="7D8496"/>
                  </a:gs>
                  <a:gs pos="46500">
                    <a:srgbClr val="E6E6E6"/>
                  </a:gs>
                  <a:gs pos="50000">
                    <a:srgbClr val="FFFFFF"/>
                  </a:gs>
                  <a:gs pos="53501">
                    <a:srgbClr val="E6E6E6"/>
                  </a:gs>
                  <a:gs pos="66001">
                    <a:srgbClr val="7D8496"/>
                  </a:gs>
                  <a:gs pos="73500">
                    <a:srgbClr val="E6E6E6"/>
                  </a:gs>
                  <a:gs pos="92501">
                    <a:srgbClr val="7D8496"/>
                  </a:gs>
                  <a:gs pos="100000">
                    <a:srgbClr val="E6E6E6"/>
                  </a:gs>
                </a:gsLst>
                <a:lin ang="2700000" scaled="1"/>
              </a:grad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sp>
            <p:nvSpPr>
              <p:cNvPr id="7" name="AutoShape 20">
                <a:extLst>
                  <a:ext uri="{FF2B5EF4-FFF2-40B4-BE49-F238E27FC236}">
                    <a16:creationId xmlns:a16="http://schemas.microsoft.com/office/drawing/2014/main" id="{4C26AE9A-9DD8-7E15-041C-437165D9822B}"/>
                  </a:ext>
                </a:extLst>
              </p:cNvPr>
              <p:cNvSpPr>
                <a:spLocks noChangeArrowheads="1"/>
              </p:cNvSpPr>
              <p:nvPr/>
            </p:nvSpPr>
            <p:spPr bwMode="gray">
              <a:xfrm>
                <a:off x="1200" y="2736"/>
                <a:ext cx="1350" cy="1168"/>
              </a:xfrm>
              <a:prstGeom prst="hexagon">
                <a:avLst>
                  <a:gd name="adj" fmla="val 28896"/>
                  <a:gd name="vf" fmla="val 115470"/>
                </a:avLst>
              </a:prstGeom>
              <a:gradFill rotWithShape="1">
                <a:gsLst>
                  <a:gs pos="0">
                    <a:srgbClr val="EFB049">
                      <a:gamma/>
                      <a:shade val="46275"/>
                      <a:invGamma/>
                    </a:srgbClr>
                  </a:gs>
                  <a:gs pos="100000">
                    <a:srgbClr val="EFB049"/>
                  </a:gs>
                </a:gsLst>
                <a:lin ang="2700000" scaled="1"/>
              </a:gra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0"/>
                  </a:spcBef>
                  <a:spcAft>
                    <a:spcPct val="0"/>
                  </a:spcAft>
                  <a:defRPr/>
                </a:pPr>
                <a:endParaRPr lang="en-US" b="1" kern="0">
                  <a:solidFill>
                    <a:srgbClr val="000000"/>
                  </a:solidFill>
                  <a:latin typeface="Arial" panose="020B0604020202020204" pitchFamily="34" charset="0"/>
                </a:endParaRPr>
              </a:p>
            </p:txBody>
          </p:sp>
        </p:grpSp>
      </p:grpSp>
      <p:sp>
        <p:nvSpPr>
          <p:cNvPr id="8" name="TextBox 7">
            <a:extLst>
              <a:ext uri="{FF2B5EF4-FFF2-40B4-BE49-F238E27FC236}">
                <a16:creationId xmlns:a16="http://schemas.microsoft.com/office/drawing/2014/main" id="{CBE96ED0-174F-5BE2-D512-E599AC0590BA}"/>
              </a:ext>
            </a:extLst>
          </p:cNvPr>
          <p:cNvSpPr txBox="1"/>
          <p:nvPr/>
        </p:nvSpPr>
        <p:spPr>
          <a:xfrm>
            <a:off x="462279" y="693160"/>
            <a:ext cx="11564547" cy="5909310"/>
          </a:xfrm>
          <a:prstGeom prst="rect">
            <a:avLst/>
          </a:prstGeom>
          <a:noFill/>
        </p:spPr>
        <p:txBody>
          <a:bodyPr wrap="square">
            <a:spAutoFit/>
          </a:bodyPr>
          <a:lstStyle/>
          <a:p>
            <a:pPr marL="457200" indent="-457200" algn="just">
              <a:buFont typeface="Wingdings" panose="05000000000000000000" pitchFamily="2" charset="2"/>
              <a:buChar char="v"/>
            </a:pPr>
            <a:r>
              <a:rPr lang="vi-VN" sz="2100" b="1">
                <a:latin typeface="Times New Roman" panose="02020603050405020304" pitchFamily="18" charset="0"/>
                <a:cs typeface="Times New Roman" panose="02020603050405020304" pitchFamily="18" charset="0"/>
              </a:rPr>
              <a:t>4.1. Giới thiệu về Routing</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4.1.1. </a:t>
            </a:r>
            <a:r>
              <a:rPr lang="en-US" sz="2100">
                <a:latin typeface="Times New Roman" panose="02020603050405020304" pitchFamily="18" charset="0"/>
                <a:cs typeface="Times New Roman" panose="02020603050405020304" pitchFamily="18" charset="0"/>
              </a:rPr>
              <a:t> </a:t>
            </a:r>
            <a:r>
              <a:rPr lang="vi-VN" sz="2100">
                <a:latin typeface="Times New Roman" panose="02020603050405020304" pitchFamily="18" charset="0"/>
                <a:cs typeface="Times New Roman" panose="02020603050405020304" pitchFamily="18" charset="0"/>
              </a:rPr>
              <a:t>Single Page Application (SPA) là gì? Tại sao cần Routing</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4.1.2.</a:t>
            </a:r>
            <a:r>
              <a:rPr lang="en-US" sz="2100">
                <a:latin typeface="Times New Roman" panose="02020603050405020304" pitchFamily="18" charset="0"/>
                <a:cs typeface="Times New Roman" panose="02020603050405020304" pitchFamily="18" charset="0"/>
              </a:rPr>
              <a:t>  </a:t>
            </a:r>
            <a:r>
              <a:rPr lang="vi-VN" sz="2100">
                <a:latin typeface="Times New Roman" panose="02020603050405020304" pitchFamily="18" charset="0"/>
                <a:cs typeface="Times New Roman" panose="02020603050405020304" pitchFamily="18" charset="0"/>
              </a:rPr>
              <a:t>Cơ chế routing hoạt động trong Angular.</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4.1.3. So sánh với routing truyền thống (đa trang)</a:t>
            </a:r>
          </a:p>
          <a:p>
            <a:pPr marL="457200" indent="-457200" algn="just">
              <a:buFont typeface="Wingdings" panose="05000000000000000000" pitchFamily="2" charset="2"/>
              <a:buChar char="v"/>
            </a:pPr>
            <a:r>
              <a:rPr lang="vi-VN" sz="2100" b="1">
                <a:latin typeface="Times New Roman" panose="02020603050405020304" pitchFamily="18" charset="0"/>
                <a:cs typeface="Times New Roman" panose="02020603050405020304" pitchFamily="18" charset="0"/>
              </a:rPr>
              <a:t>4.2. Cấu hình Routing cơ bản</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4.2.1. Tạo app-routing.module.ts</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4.2.2. Khai báo các Route cơ bản</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4.2.3. Cách sử dụng router-outlet và routerLink</a:t>
            </a:r>
          </a:p>
          <a:p>
            <a:pPr marL="457200" indent="-457200" algn="just">
              <a:buFont typeface="Wingdings" panose="05000000000000000000" pitchFamily="2" charset="2"/>
              <a:buChar char="v"/>
            </a:pPr>
            <a:r>
              <a:rPr lang="vi-VN" sz="2100" b="1">
                <a:latin typeface="Times New Roman" panose="02020603050405020304" pitchFamily="18" charset="0"/>
                <a:cs typeface="Times New Roman" panose="02020603050405020304" pitchFamily="18" charset="0"/>
              </a:rPr>
              <a:t>4.3. Cấu hình Routing nâng cao</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4.3.1. Route với tham số :id, :slug</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4.3.2. Đọc tham số bằng activatedRoute</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4.3.3. Nested routes (con route)</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4.3.4. Redirect routes</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4.3.5. Wildcard (**) route cho Not Found page</a:t>
            </a:r>
          </a:p>
          <a:p>
            <a:pPr marL="457200" indent="-457200" algn="just">
              <a:buFont typeface="Wingdings" panose="05000000000000000000" pitchFamily="2" charset="2"/>
              <a:buChar char="v"/>
            </a:pPr>
            <a:r>
              <a:rPr lang="vi-VN" sz="2100" b="1">
                <a:latin typeface="Times New Roman" panose="02020603050405020304" pitchFamily="18" charset="0"/>
                <a:cs typeface="Times New Roman" panose="02020603050405020304" pitchFamily="18" charset="0"/>
              </a:rPr>
              <a:t>4.4. Các kỹ thuật khác của Routing</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4.4.1. Lazy Loading Module</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4.4.2. Guards – bảo vệ Route</a:t>
            </a:r>
          </a:p>
          <a:p>
            <a:pPr marL="457200" indent="-457200" algn="just">
              <a:buFont typeface="Wingdings" panose="05000000000000000000" pitchFamily="2" charset="2"/>
              <a:buChar char="ü"/>
            </a:pPr>
            <a:r>
              <a:rPr lang="vi-VN" sz="2100">
                <a:latin typeface="Times New Roman" panose="02020603050405020304" pitchFamily="18" charset="0"/>
                <a:cs typeface="Times New Roman" panose="02020603050405020304" pitchFamily="18" charset="0"/>
              </a:rPr>
              <a:t>4.4.3.  Route Animation</a:t>
            </a:r>
          </a:p>
        </p:txBody>
      </p:sp>
    </p:spTree>
    <p:extLst>
      <p:ext uri="{BB962C8B-B14F-4D97-AF65-F5344CB8AC3E}">
        <p14:creationId xmlns:p14="http://schemas.microsoft.com/office/powerpoint/2010/main" val="263589991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8"/>
          <p:cNvSpPr txBox="1">
            <a:spLocks noGrp="1"/>
          </p:cNvSpPr>
          <p:nvPr>
            <p:ph type="title"/>
          </p:nvPr>
        </p:nvSpPr>
        <p:spPr>
          <a:xfrm>
            <a:off x="838200" y="2581306"/>
            <a:ext cx="10515600" cy="1566745"/>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144E8C"/>
              </a:buClr>
              <a:buSzPts val="9600"/>
              <a:buFont typeface="Lato Black"/>
              <a:buNone/>
            </a:pPr>
            <a:r>
              <a:rPr lang="en-US" dirty="0"/>
              <a:t>THANK YOU!</a:t>
            </a:r>
            <a:endParaRPr dirty="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1716</TotalTime>
  <Words>2795</Words>
  <Application>Microsoft Office PowerPoint</Application>
  <PresentationFormat>Widescreen</PresentationFormat>
  <Paragraphs>283</Paragraphs>
  <Slides>48</Slides>
  <Notes>48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48</vt:i4>
      </vt:variant>
    </vt:vector>
  </HeadingPairs>
  <TitlesOfParts>
    <vt:vector size="58" baseType="lpstr">
      <vt:lpstr>Calibri</vt:lpstr>
      <vt:lpstr>Georgia</vt:lpstr>
      <vt:lpstr>Cambria</vt:lpstr>
      <vt:lpstr>Lato</vt:lpstr>
      <vt:lpstr>Consolas</vt:lpstr>
      <vt:lpstr>Wingdings</vt:lpstr>
      <vt:lpstr>Arial</vt:lpstr>
      <vt:lpstr>Times New Roman</vt:lpstr>
      <vt:lpstr>Lato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Pí Yeah</dc:creator>
  <cp:lastModifiedBy>Thanh Trần</cp:lastModifiedBy>
  <cp:revision>659</cp:revision>
  <dcterms:created xsi:type="dcterms:W3CDTF">2022-12-02T04:21:00Z</dcterms:created>
  <dcterms:modified xsi:type="dcterms:W3CDTF">2026-05-23T17:45:11Z</dcterms:modified>
</cp:coreProperties>
</file>