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02"/>
  </p:notesMasterIdLst>
  <p:sldIdLst>
    <p:sldId id="256" r:id="rId2"/>
    <p:sldId id="274" r:id="rId3"/>
    <p:sldId id="268" r:id="rId4"/>
    <p:sldId id="278" r:id="rId5"/>
    <p:sldId id="282" r:id="rId6"/>
    <p:sldId id="285" r:id="rId7"/>
    <p:sldId id="286" r:id="rId8"/>
    <p:sldId id="283" r:id="rId9"/>
    <p:sldId id="287" r:id="rId10"/>
    <p:sldId id="288" r:id="rId11"/>
    <p:sldId id="290" r:id="rId12"/>
    <p:sldId id="289" r:id="rId13"/>
    <p:sldId id="284" r:id="rId14"/>
    <p:sldId id="291" r:id="rId15"/>
    <p:sldId id="292" r:id="rId16"/>
    <p:sldId id="279" r:id="rId17"/>
    <p:sldId id="293" r:id="rId18"/>
    <p:sldId id="294" r:id="rId19"/>
    <p:sldId id="295" r:id="rId20"/>
    <p:sldId id="296" r:id="rId21"/>
    <p:sldId id="280" r:id="rId22"/>
    <p:sldId id="297" r:id="rId23"/>
    <p:sldId id="302" r:id="rId24"/>
    <p:sldId id="307" r:id="rId25"/>
    <p:sldId id="308" r:id="rId26"/>
    <p:sldId id="309" r:id="rId27"/>
    <p:sldId id="310" r:id="rId28"/>
    <p:sldId id="311" r:id="rId29"/>
    <p:sldId id="312" r:id="rId30"/>
    <p:sldId id="300" r:id="rId31"/>
    <p:sldId id="313" r:id="rId32"/>
    <p:sldId id="316" r:id="rId33"/>
    <p:sldId id="317" r:id="rId34"/>
    <p:sldId id="315" r:id="rId35"/>
    <p:sldId id="318" r:id="rId36"/>
    <p:sldId id="314" r:id="rId37"/>
    <p:sldId id="319" r:id="rId38"/>
    <p:sldId id="320" r:id="rId39"/>
    <p:sldId id="321" r:id="rId40"/>
    <p:sldId id="298" r:id="rId41"/>
    <p:sldId id="322" r:id="rId42"/>
    <p:sldId id="324" r:id="rId43"/>
    <p:sldId id="325" r:id="rId44"/>
    <p:sldId id="326" r:id="rId45"/>
    <p:sldId id="323" r:id="rId46"/>
    <p:sldId id="328" r:id="rId47"/>
    <p:sldId id="327" r:id="rId48"/>
    <p:sldId id="329" r:id="rId49"/>
    <p:sldId id="330" r:id="rId50"/>
    <p:sldId id="331" r:id="rId51"/>
    <p:sldId id="332" r:id="rId52"/>
    <p:sldId id="333" r:id="rId53"/>
    <p:sldId id="334" r:id="rId54"/>
    <p:sldId id="335" r:id="rId55"/>
    <p:sldId id="336" r:id="rId56"/>
    <p:sldId id="299" r:id="rId57"/>
    <p:sldId id="337" r:id="rId58"/>
    <p:sldId id="339" r:id="rId59"/>
    <p:sldId id="338" r:id="rId60"/>
    <p:sldId id="340" r:id="rId61"/>
    <p:sldId id="341" r:id="rId62"/>
    <p:sldId id="342" r:id="rId63"/>
    <p:sldId id="343" r:id="rId64"/>
    <p:sldId id="344" r:id="rId65"/>
    <p:sldId id="345" r:id="rId66"/>
    <p:sldId id="346" r:id="rId67"/>
    <p:sldId id="347" r:id="rId68"/>
    <p:sldId id="301" r:id="rId69"/>
    <p:sldId id="348" r:id="rId70"/>
    <p:sldId id="349" r:id="rId71"/>
    <p:sldId id="350" r:id="rId72"/>
    <p:sldId id="351" r:id="rId73"/>
    <p:sldId id="352" r:id="rId74"/>
    <p:sldId id="374" r:id="rId75"/>
    <p:sldId id="281" r:id="rId76"/>
    <p:sldId id="303" r:id="rId77"/>
    <p:sldId id="354" r:id="rId78"/>
    <p:sldId id="355" r:id="rId79"/>
    <p:sldId id="356" r:id="rId80"/>
    <p:sldId id="357" r:id="rId81"/>
    <p:sldId id="358" r:id="rId82"/>
    <p:sldId id="304" r:id="rId83"/>
    <p:sldId id="359" r:id="rId84"/>
    <p:sldId id="360" r:id="rId85"/>
    <p:sldId id="361" r:id="rId86"/>
    <p:sldId id="362" r:id="rId87"/>
    <p:sldId id="363" r:id="rId88"/>
    <p:sldId id="364" r:id="rId89"/>
    <p:sldId id="365" r:id="rId90"/>
    <p:sldId id="305" r:id="rId91"/>
    <p:sldId id="366" r:id="rId92"/>
    <p:sldId id="367" r:id="rId93"/>
    <p:sldId id="368" r:id="rId94"/>
    <p:sldId id="369" r:id="rId95"/>
    <p:sldId id="370" r:id="rId96"/>
    <p:sldId id="371" r:id="rId97"/>
    <p:sldId id="372" r:id="rId98"/>
    <p:sldId id="373" r:id="rId99"/>
    <p:sldId id="277" r:id="rId100"/>
    <p:sldId id="263" r:id="rId101"/>
  </p:sldIdLst>
  <p:sldSz cx="12192000" cy="6858000"/>
  <p:notesSz cx="6858000" cy="9144000"/>
  <p:embeddedFontLst>
    <p:embeddedFont>
      <p:font typeface="Cambria" panose="02040503050406030204" pitchFamily="18" charset="0"/>
      <p:regular r:id="rId103"/>
      <p:bold r:id="rId104"/>
      <p:italic r:id="rId105"/>
      <p:boldItalic r:id="rId106"/>
    </p:embeddedFont>
    <p:embeddedFont>
      <p:font typeface="Consolas" panose="020B0609020204030204" pitchFamily="49" charset="0"/>
      <p:regular r:id="rId107"/>
      <p:bold r:id="rId108"/>
      <p:italic r:id="rId109"/>
      <p:boldItalic r:id="rId110"/>
    </p:embeddedFont>
    <p:embeddedFont>
      <p:font typeface="Georgia" panose="02040502050405020303" pitchFamily="18" charset="0"/>
      <p:regular r:id="rId111"/>
      <p:bold r:id="rId112"/>
      <p:italic r:id="rId113"/>
      <p:boldItalic r:id="rId114"/>
    </p:embeddedFont>
    <p:embeddedFont>
      <p:font typeface="Lato" panose="020F0502020204030203" pitchFamily="34" charset="0"/>
      <p:regular r:id="rId115"/>
      <p:bold r:id="rId116"/>
      <p:italic r:id="rId117"/>
      <p:boldItalic r:id="rId118"/>
    </p:embeddedFont>
    <p:embeddedFont>
      <p:font typeface="Lato Black" panose="020F0502020204030203" pitchFamily="34" charset="0"/>
      <p:bold r:id="rId119"/>
      <p:boldItalic r:id="rId1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22" roundtripDataSignature="AMtx7mh4VrLQLvjXUsQeVJWWu9hsLYoG6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59" autoAdjust="0"/>
    <p:restoredTop sz="79911" autoAdjust="0"/>
  </p:normalViewPr>
  <p:slideViewPr>
    <p:cSldViewPr snapToGrid="0">
      <p:cViewPr varScale="1">
        <p:scale>
          <a:sx n="93" d="100"/>
          <a:sy n="93" d="100"/>
        </p:scale>
        <p:origin x="1315" y="86"/>
      </p:cViewPr>
      <p:guideLst/>
    </p:cSldViewPr>
  </p:slideViewPr>
  <p:notesTextViewPr>
    <p:cViewPr>
      <p:scale>
        <a:sx n="3" d="2"/>
        <a:sy n="3" d="2"/>
      </p:scale>
      <p:origin x="0" y="0"/>
    </p:cViewPr>
  </p:notesTextViewPr>
  <p:notesViewPr>
    <p:cSldViewPr snapToGrid="0">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font" Target="fonts/font15.fntdata"/><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font" Target="fonts/font10.fntdata"/><Relationship Id="rId16" Type="http://schemas.openxmlformats.org/officeDocument/2006/relationships/slide" Target="slides/slide15.xml"/><Relationship Id="rId107" Type="http://schemas.openxmlformats.org/officeDocument/2006/relationships/font" Target="fonts/font5.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123"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font" Target="fonts/font11.fntdata"/><Relationship Id="rId118" Type="http://schemas.openxmlformats.org/officeDocument/2006/relationships/font" Target="fonts/font16.fnt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font" Target="fonts/font1.fntdata"/><Relationship Id="rId108" Type="http://schemas.openxmlformats.org/officeDocument/2006/relationships/font" Target="fonts/font6.fntdata"/><Relationship Id="rId124"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font" Target="fonts/font12.fntdata"/><Relationship Id="rId119" Type="http://schemas.openxmlformats.org/officeDocument/2006/relationships/font" Target="fonts/font17.fntdata"/><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7.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font" Target="fonts/font2.fntdata"/><Relationship Id="rId120" Type="http://schemas.openxmlformats.org/officeDocument/2006/relationships/font" Target="fonts/font18.fntdata"/><Relationship Id="rId125"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font" Target="fonts/font8.fntdata"/><Relationship Id="rId115" Type="http://schemas.openxmlformats.org/officeDocument/2006/relationships/font" Target="fonts/font13.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font" Target="fonts/font3.fntdata"/><Relationship Id="rId12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font" Target="fonts/font9.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font" Target="fonts/font4.fntdata"/><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45816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40154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B0C292F-3532-02C5-C59E-E34226331CD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15DE893-9BE7-59CD-14D7-58A24B4FE7F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517242B-CC41-985A-7C2B-F81D8DEFE7F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54018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BD9A4AA-8EE3-BEB9-33BB-89C0D41EAEB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7AD295A-E8B9-CD1F-FE2D-A08F20DBD8F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313564B-3A88-A1BC-97DE-F30A658821C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52188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DE330B1-5717-5EF5-F546-1CDF0B65BA1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DCE1581-3ABA-0631-4595-045E03055B2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5A96E6F-5F73-9DC8-02F8-8AF593FCC51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44960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53084B7-BF50-F31C-B2FF-7D2717B8011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256015B-E57D-3933-D5B1-563FD5C9D51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9716E60-6FCA-BE5E-E7DE-0F96BA3217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77294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8244707-1308-0436-0072-B3AFC734987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D297DF2-96D3-E000-9B37-29A2827E312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AFCCEBB-3BC7-1418-3977-EF7770ED551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15451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812A68B-EE4F-257F-52B8-F4778D74E14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966B63D-F761-0EB0-38E0-FACEB9398C4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4DE7391-020B-FF7B-33CB-6D4532D56BE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78310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C3D164F-E3E4-770C-B209-4F2E8AFA43F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A1D1D71-6428-C85C-90FB-AF86060B5A6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E2565A8-875D-0F1F-6A14-CF745EC5A47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22269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AA27424-1944-7546-8F72-F479327505B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3F58B13-4DF5-D941-5B76-2377B757020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E1B79BF-93C7-38B6-C57F-9C78307F40A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657437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A60A5AB-F71B-9B49-BC49-A1480ED4A28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AEFB3D0-0E7A-9E93-2976-971D80E1E19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5B56F92-A630-A185-6618-3AAA5C6582C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64732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E8707C4-2DF1-901B-12C0-26FAB24A63C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4FA0A33-AA20-CCD8-2579-3A4856ED129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91D702D-6932-3DCE-8DE2-E597F905A28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71471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2F2BD6D-3AE2-A424-9081-302B89538F4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4162BE6-BEC3-1D93-50ED-CCB32EBB180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3DE008C-5755-9254-7772-EDDF1A86723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23231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3E21440-3B4A-C9C5-5379-A3329981B7F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7F960D0-AFCC-D5BF-963C-595CB914599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E3C5EC6-09DC-5FD6-DEF8-A0A2522F74C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19747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DFC81F9-88EA-5327-FB87-541668C8FE2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56817BB-9A65-5B9A-76F7-439F4EF76BF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7996B4F-0F9C-1392-DA27-21B9029CB19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0090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C3A1722-F602-5978-7253-A079BFC5466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C8F9E98-B419-5A66-1CFE-D0574A5A904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DC391C5-6B17-393A-B3F4-53FF598EBA0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44649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6909398-E7BC-41C2-AA1C-00BFD89E958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1E140A2-BFF6-2EFD-4959-BDAEB033BC3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F6CAC0E-EF37-0016-A242-60F59400B67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53754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7FB9894-32EE-E5F8-55BE-5D846D72B8E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3C74487-3C75-0C0E-DBC6-2165A8B38B6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B53001E-567F-B5F3-9343-C8B5D2121CF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16018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99CBF34-ADFB-39A5-ABC9-5DBA4A6A971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9451434-D974-7E53-0B20-DBFE3ADED60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B812DDD-3380-0710-905E-BE58229C7BA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20250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B0B5626-2AF3-236A-3561-C53D7992DA2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345FFAF-E2FF-5010-1E29-26B9735121C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A196839-78BA-72DA-520F-0FA70EED86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38359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D953C84-6FDB-19C5-356A-DA77C9C2A54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2C85C16-880A-1EE3-4009-613BBA2CE5C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38E6B3E-FA5B-5BE9-60D9-62A556C7A6B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59790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3A760D0-9C56-C852-0DD4-31A39C1DD30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A286E73-FBD6-61D0-96CE-83056323B33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AA543DA-2F6C-0D92-97D0-7440FFD96FC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94268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8DF7A50-5CEF-426B-C94E-183B8BDAA16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5FECE0D-7F83-FF4C-7EF4-1C36930E35B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B48F6A9-698C-4BDA-5340-7ED2F82ADC5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24777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94C1FCB-D1E2-F7A1-9123-B160122AE97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7A61B4B-5758-1F6E-4A2F-BD971B4316D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12B73E1-B301-7298-3373-6EE8B3D23FA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088497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31A8706-282E-30EB-E552-050EB2E9548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2EFF729-B1FA-7B60-56F8-DEDC258D3A5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8351DA2-6349-24F4-648B-E894D21EC9E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35791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C1E01A6-FA27-15FD-4773-8362A293847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982CA9F-99AA-0F1E-D4D4-FB97BDD9BAB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C63BC81-C0F0-9192-F52D-FEF4E171B63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03972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09DD1C8-1446-3372-4687-D778D421147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5DB5261-EA6C-28B0-7400-FE7DA5247E5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3B7141C-AB62-FFB0-B300-475499EA313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47140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A79817D-3A84-2D8D-60BC-BAF1F26D49B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B8387E7-15FD-A477-33F6-800075B7868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F5B9325-2BBA-854B-BFA0-B10BFB49BB5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027684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AEE7F5B-B1E0-9795-2E9D-12461F7507E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6094A40-A5C7-0ADA-2A1A-339AA8E43B4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1ABE037-267E-F838-7C6E-9EA83A6D5DE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92420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A73AE42-1258-1C38-EF15-A372B237DAD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41DC0E8-08F1-C9BB-36E8-B27401DE20C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9D9AC1F-0C98-BF98-15AE-ED4B5779B5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47929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29151E4-0951-BF85-8690-3302334E56E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CDF4648-B01E-9339-9088-73027311E79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25E816B-2AE3-13DE-8613-AE695DB428F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41193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1563183-F946-90CC-0090-3F59B5D5B6B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E636613-5EDB-EE74-839D-287B4B01DBE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4405B43-79D6-359D-9AFA-49E17FAFB31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538914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C292E30-6A9B-7611-A246-288FEE2ABC9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0D76C5C-98C8-7CCF-CB88-1616D093DAF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E2E0F89-0E68-EA9B-A83A-8BD0AF3B64D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992786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274DB94-3258-F485-CF29-4835414E492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E8E9FB0-9DCE-DC50-3233-6EF0EC63374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4A7350E-6123-D636-0289-93CED43B630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067230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CDFF7CC-B6D5-A443-55E0-B5D39988C66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38336DD-A0D5-F4C7-BAC9-388A3DB51ED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976DBFD-F094-9A0F-EC70-C78014EA036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69091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D15FAF5-8CAD-457A-130D-D33A0BEE746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FBA584E-A7AD-36FF-11CC-A7013F68257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A979532-4BA0-9879-F4F5-402DD84216D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92321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D59DE4E-5391-5E79-38BC-236FBBF22D3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B4034D4-21CD-0773-0297-B8E6EA2A0C0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7600789-9634-E6A7-8589-9A6AA60704B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65951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CED4CEF-EA11-D2E1-EE4C-23918308E41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3FA65A2-7257-90AC-BB0A-1D48E8C93D7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8984E4C-B678-9A1E-F10E-E85CF3711A8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379900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FAEE7D4-3159-E445-1564-28C3E8214E6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3BE417B-0768-4746-4F24-D6D1105E7E8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B48630F-7BB3-027A-2C27-98351A5FE7A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6276947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1CAEE6E-1189-B658-C8FE-110B944D7A8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33170CA-4B7F-E2F1-C1E0-2A8DC3FB1EC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4DD0606-F513-ED2A-0BC0-A8D192954A8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382567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18AB1E6-8246-B813-D0FA-E70688FC3E8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350C943-5D17-22A3-F918-087AECADB32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822E8D2-37F0-EAFD-F310-0D967EE912F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937331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9D1F4B9-870F-B4BD-3913-AC81C73FF5C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24811D7-63D9-71E6-C49F-CB861AB2FC9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52C75F1-C858-D315-3F33-FD47D8FD5E2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458028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EC4C658-5E10-BB72-3CA1-548716FA66F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1B49CF5-C78C-F33E-399C-C9312304F63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3F38A27-A107-CC68-0DC9-0381ECC6861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2903024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4D12FB1-0840-DD66-8AB5-0F190AFC707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672FFE3-EDC5-8436-A853-78971B35858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D17EC33-2197-1CB2-6D58-D0D53549CA7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504675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9B060CA-3A69-491B-C183-169AAD3B671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2F2F8F9-0838-FC7A-9407-B94FF16D68C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85DD3BE-E0E3-87D3-AE8B-E902F633415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303098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531378A-3448-EACD-E9F0-89AA6E68652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328143A-0DDB-C354-5A6A-79C9861DE0B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02EC878-26F7-C3A6-41A6-4D8CD3D4341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880590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E0AB323-542A-0881-1C8B-E9DF0CBFF5D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2245736-1720-BFD7-A1B9-032F86F1A1E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6725D46-2B9A-08E4-8999-52B81F90A80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457536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6954C1F-5E77-AE63-A0F0-C4B2291D37A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B4CA646-CD15-DDDA-CF5D-111E75E9E64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C4540EC-9EC1-78AF-65B9-119B3B821C9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6583987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61FE081-3BD9-0217-0424-53A7DF165C5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84B8148-5229-1F17-D61F-61AAC238043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9EAA83C-9886-7FB0-735C-E60212499AC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2210044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6E45D98-3073-7C4B-51D7-0D7E3BEB393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FA90F7B-8501-61F5-2755-30821ED6993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7A43163-4369-14A7-EB20-8B51E5C97CC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966187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91511F9-57A6-88C7-B716-F2BCCFD408A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9EE630D-55DC-5770-8FEC-0C7D65AF5BC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D4AF165-8DEC-2027-1D9A-CCBD5A3266C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26482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F09D705-E77F-9B35-B752-0A0307BCA61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75E2149-2446-EB24-3590-10DF2CC10FC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B873D36-094E-70F3-F26C-C27AD1CB8C1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72431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EDA4966-422A-924E-A8CA-902DA081ACE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AE255D3-0E84-1472-F971-ECB05B8F1E2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C7F7C89-FB8A-2E51-9A0F-693F406CB73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363232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55A71DB-85FC-5D70-28F0-736CCB76340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F481246-A0D1-2BD1-F794-C1B4655733C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B8A25FA-A29A-7E1D-E3F8-6F55EFD975A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8777673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2B83066-DA44-50BF-4DBE-031964E63DA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AE7B6F0-A97F-D49D-8AAF-63CE46EE5A7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343176B-12DE-75D2-451A-99166004166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982342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DE97D17-7489-7D93-C617-66CB43CBAE8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558278D-2D4D-EF8F-CD3F-F2D5D66210E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0BB9FEA-66E6-AC99-778C-A5D23DCEEDE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961065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9339B09-A1EA-E160-FBAB-A05C88CB502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A965BD7-9935-0189-BC0B-1DCE4AABCCF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3AFBA39-8097-B959-B80B-27120283EC8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326009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3368690-C53E-4AE2-B370-EE323D3FBD1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3729431-C27E-64B5-0087-2991B5FFFF2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import { Component, signal } from '@angular/core';</a:t>
            </a:r>
          </a:p>
          <a:p>
            <a:r>
              <a:rPr lang="en-US" sz="1200" b="0" i="0" u="none" strike="noStrike" cap="none">
                <a:solidFill>
                  <a:schemeClr val="dk1"/>
                </a:solidFill>
                <a:effectLst/>
                <a:latin typeface="Calibri"/>
                <a:ea typeface="Calibri"/>
                <a:cs typeface="Calibri"/>
                <a:sym typeface="Calibri"/>
              </a:rPr>
              <a:t>import { Product } from '../classes/IProduct';</a:t>
            </a:r>
          </a:p>
          <a:p>
            <a:r>
              <a:rPr lang="en-US" sz="1200" b="0" i="0" u="none" strike="noStrike" cap="none">
                <a:solidFill>
                  <a:schemeClr val="dk1"/>
                </a:solidFill>
                <a:effectLst/>
                <a:latin typeface="Calibri"/>
                <a:ea typeface="Calibri"/>
                <a:cs typeface="Calibri"/>
                <a:sym typeface="Calibri"/>
              </a:rPr>
              <a:t>import { createSlug } from '../classes/SlugHelper';</a:t>
            </a:r>
          </a:p>
          <a:p>
            <a:r>
              <a:rPr lang="en-US" sz="1200" b="0" i="0" u="none" strike="noStrike" cap="none">
                <a:solidFill>
                  <a:schemeClr val="dk1"/>
                </a:solidFill>
                <a:effectLst/>
                <a:latin typeface="Calibri"/>
                <a:ea typeface="Calibri"/>
                <a:cs typeface="Calibri"/>
                <a:sym typeface="Calibri"/>
              </a:rPr>
              <a:t>import { ProductHttpHandleErrorService } from '../services/product-http-handle-error-service';</a:t>
            </a:r>
          </a:p>
          <a:p>
            <a:r>
              <a:rPr lang="en-US" sz="1200" b="0" i="0" u="none" strike="noStrike" cap="none">
                <a:solidFill>
                  <a:schemeClr val="dk1"/>
                </a:solidFill>
                <a:effectLst/>
                <a:latin typeface="Calibri"/>
                <a:ea typeface="Calibri"/>
                <a:cs typeface="Calibri"/>
                <a:sym typeface="Calibri"/>
              </a:rPr>
              <a:t>import { ActivatedRoute, Router } from '@angular/router';</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r>
              <a:rPr lang="en-US" sz="1200" b="0" i="0" u="none" strike="noStrike" cap="none">
                <a:solidFill>
                  <a:schemeClr val="dk1"/>
                </a:solidFill>
                <a:effectLst/>
                <a:latin typeface="Calibri"/>
                <a:ea typeface="Calibri"/>
                <a:cs typeface="Calibri"/>
                <a:sym typeface="Calibri"/>
              </a:rPr>
              <a:t>@Component({</a:t>
            </a:r>
          </a:p>
          <a:p>
            <a:r>
              <a:rPr lang="en-US" sz="1200" b="0" i="0" u="none" strike="noStrike" cap="none">
                <a:solidFill>
                  <a:schemeClr val="dk1"/>
                </a:solidFill>
                <a:effectLst/>
                <a:latin typeface="Calibri"/>
                <a:ea typeface="Calibri"/>
                <a:cs typeface="Calibri"/>
                <a:sym typeface="Calibri"/>
              </a:rPr>
              <a:t>  selector: 'app-product-list-search-component',</a:t>
            </a:r>
          </a:p>
          <a:p>
            <a:r>
              <a:rPr lang="en-US" sz="1200" b="0" i="0" u="none" strike="noStrike" cap="none">
                <a:solidFill>
                  <a:schemeClr val="dk1"/>
                </a:solidFill>
                <a:effectLst/>
                <a:latin typeface="Calibri"/>
                <a:ea typeface="Calibri"/>
                <a:cs typeface="Calibri"/>
                <a:sym typeface="Calibri"/>
              </a:rPr>
              <a:t>  standalone: false,</a:t>
            </a:r>
          </a:p>
          <a:p>
            <a:r>
              <a:rPr lang="en-US" sz="1200" b="0" i="0" u="none" strike="noStrike" cap="none">
                <a:solidFill>
                  <a:schemeClr val="dk1"/>
                </a:solidFill>
                <a:effectLst/>
                <a:latin typeface="Calibri"/>
                <a:ea typeface="Calibri"/>
                <a:cs typeface="Calibri"/>
                <a:sym typeface="Calibri"/>
              </a:rPr>
              <a:t>  templateUrl: './product-list-search-component.html',</a:t>
            </a:r>
          </a:p>
          <a:p>
            <a:r>
              <a:rPr lang="en-US" sz="1200" b="0" i="0" u="none" strike="noStrike" cap="none">
                <a:solidFill>
                  <a:schemeClr val="dk1"/>
                </a:solidFill>
                <a:effectLst/>
                <a:latin typeface="Calibri"/>
                <a:ea typeface="Calibri"/>
                <a:cs typeface="Calibri"/>
                <a:sym typeface="Calibri"/>
              </a:rPr>
              <a:t>  styleUrl: './product-list-search-component.css',</a:t>
            </a:r>
          </a:p>
          <a:p>
            <a:r>
              <a:rPr lang="en-US" sz="1200" b="0" i="0" u="none" strike="noStrike" cap="none">
                <a:solidFill>
                  <a:schemeClr val="dk1"/>
                </a:solidFill>
                <a:effectLst/>
                <a:latin typeface="Calibri"/>
                <a:ea typeface="Calibri"/>
                <a:cs typeface="Calibri"/>
                <a:sym typeface="Calibri"/>
              </a:rPr>
              <a:t>})</a:t>
            </a:r>
          </a:p>
          <a:p>
            <a:r>
              <a:rPr lang="en-US" sz="1200" b="0" i="0" u="none" strike="noStrike" cap="none">
                <a:solidFill>
                  <a:schemeClr val="dk1"/>
                </a:solidFill>
                <a:effectLst/>
                <a:latin typeface="Calibri"/>
                <a:ea typeface="Calibri"/>
                <a:cs typeface="Calibri"/>
                <a:sym typeface="Calibri"/>
              </a:rPr>
              <a:t>export class ProductListSearchComponent {</a:t>
            </a:r>
          </a:p>
          <a:p>
            <a:r>
              <a:rPr lang="en-US" sz="1200" b="0" i="0" u="none" strike="noStrike" cap="none">
                <a:solidFill>
                  <a:schemeClr val="dk1"/>
                </a:solidFill>
                <a:effectLst/>
                <a:latin typeface="Calibri"/>
                <a:ea typeface="Calibri"/>
                <a:cs typeface="Calibri"/>
                <a:sym typeface="Calibri"/>
              </a:rPr>
              <a:t>  // Toàn bộ sản phẩm từ server</a:t>
            </a:r>
          </a:p>
          <a:p>
            <a:r>
              <a:rPr lang="en-US" sz="1200" b="0" i="0" u="none" strike="noStrike" cap="none">
                <a:solidFill>
                  <a:schemeClr val="dk1"/>
                </a:solidFill>
                <a:effectLst/>
                <a:latin typeface="Calibri"/>
                <a:ea typeface="Calibri"/>
                <a:cs typeface="Calibri"/>
                <a:sym typeface="Calibri"/>
              </a:rPr>
              <a:t>  products=signal&lt;Product[]&gt;([]);</a:t>
            </a:r>
          </a:p>
          <a:p>
            <a:r>
              <a:rPr lang="en-US" sz="1200" b="0" i="0" u="none" strike="noStrike" cap="none">
                <a:solidFill>
                  <a:schemeClr val="dk1"/>
                </a:solidFill>
                <a:effectLst/>
                <a:latin typeface="Calibri"/>
                <a:ea typeface="Calibri"/>
                <a:cs typeface="Calibri"/>
                <a:sym typeface="Calibri"/>
              </a:rPr>
              <a:t>  //check error</a:t>
            </a:r>
          </a:p>
          <a:p>
            <a:r>
              <a:rPr lang="en-US" sz="1200" b="0" i="0" u="none" strike="noStrike" cap="none">
                <a:solidFill>
                  <a:schemeClr val="dk1"/>
                </a:solidFill>
                <a:effectLst/>
                <a:latin typeface="Calibri"/>
                <a:ea typeface="Calibri"/>
                <a:cs typeface="Calibri"/>
                <a:sym typeface="Calibri"/>
              </a:rPr>
              <a:t>  errMessage=signal("")</a:t>
            </a:r>
          </a:p>
          <a:p>
            <a:r>
              <a:rPr lang="en-US" sz="1200" b="0" i="0" u="none" strike="noStrike" cap="none">
                <a:solidFill>
                  <a:schemeClr val="dk1"/>
                </a:solidFill>
                <a:effectLst/>
                <a:latin typeface="Calibri"/>
                <a:ea typeface="Calibri"/>
                <a:cs typeface="Calibri"/>
                <a:sym typeface="Calibri"/>
              </a:rPr>
              <a:t>  // Sản phẩm sau khi đã lọc</a:t>
            </a:r>
          </a:p>
          <a:p>
            <a:r>
              <a:rPr lang="en-US" sz="1200" b="0" i="0" u="none" strike="noStrike" cap="none">
                <a:solidFill>
                  <a:schemeClr val="dk1"/>
                </a:solidFill>
                <a:effectLst/>
                <a:latin typeface="Calibri"/>
                <a:ea typeface="Calibri"/>
                <a:cs typeface="Calibri"/>
                <a:sym typeface="Calibri"/>
              </a:rPr>
              <a:t>  filteredProducts = signal&lt;Product[]&gt;([]);</a:t>
            </a:r>
          </a:p>
          <a:p>
            <a:r>
              <a:rPr lang="en-US" sz="1200" b="0" i="0" u="none" strike="noStrike" cap="none">
                <a:solidFill>
                  <a:schemeClr val="dk1"/>
                </a:solidFill>
                <a:effectLst/>
                <a:latin typeface="Calibri"/>
                <a:ea typeface="Calibri"/>
                <a:cs typeface="Calibri"/>
                <a:sym typeface="Calibri"/>
              </a:rPr>
              <a:t>  // Biến giữ giá trị lọc để hiển thị lên UI</a:t>
            </a:r>
          </a:p>
          <a:p>
            <a:r>
              <a:rPr lang="en-US" sz="1200" b="0" i="0" u="none" strike="noStrike" cap="none">
                <a:solidFill>
                  <a:schemeClr val="dk1"/>
                </a:solidFill>
                <a:effectLst/>
                <a:latin typeface="Calibri"/>
                <a:ea typeface="Calibri"/>
                <a:cs typeface="Calibri"/>
                <a:sym typeface="Calibri"/>
              </a:rPr>
              <a:t>  minPrice = signal&lt;number&gt;(0);</a:t>
            </a:r>
          </a:p>
          <a:p>
            <a:r>
              <a:rPr lang="en-US" sz="1200" b="0" i="0" u="none" strike="noStrike" cap="none">
                <a:solidFill>
                  <a:schemeClr val="dk1"/>
                </a:solidFill>
                <a:effectLst/>
                <a:latin typeface="Calibri"/>
                <a:ea typeface="Calibri"/>
                <a:cs typeface="Calibri"/>
                <a:sym typeface="Calibri"/>
              </a:rPr>
              <a:t>  maxPrice = signal&lt;number&gt;(100000000);</a:t>
            </a:r>
          </a:p>
          <a:p>
            <a:r>
              <a:rPr lang="en-US" sz="1200" b="0" i="0" u="none" strike="noStrike" cap="none">
                <a:solidFill>
                  <a:schemeClr val="dk1"/>
                </a:solidFill>
                <a:effectLst/>
                <a:latin typeface="Calibri"/>
                <a:ea typeface="Calibri"/>
                <a:cs typeface="Calibri"/>
                <a:sym typeface="Calibri"/>
              </a:rPr>
              <a:t>  public generateSlug = createSlug;</a:t>
            </a: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57548D0-F13C-F181-2852-977114B63E6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621190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BB133E6-2727-D1AD-C517-00A799BDEFF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8388A5E-ABE0-BF0A-E876-DD89AB9C4C9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vi-VN" sz="1200" b="0" i="0" u="none" strike="noStrike" cap="none">
                <a:solidFill>
                  <a:schemeClr val="dk1"/>
                </a:solidFill>
                <a:effectLst/>
                <a:latin typeface="Calibri"/>
                <a:ea typeface="Calibri"/>
                <a:cs typeface="Calibri"/>
                <a:sym typeface="Calibri"/>
              </a:rPr>
              <a:t>constructor(private _service:ProductHttpHandleErrorService,</a:t>
            </a:r>
          </a:p>
          <a:p>
            <a:r>
              <a:rPr lang="vi-VN" sz="1200" b="0" i="0" u="none" strike="noStrike" cap="none">
                <a:solidFill>
                  <a:schemeClr val="dk1"/>
                </a:solidFill>
                <a:effectLst/>
                <a:latin typeface="Calibri"/>
                <a:ea typeface="Calibri"/>
                <a:cs typeface="Calibri"/>
                <a:sym typeface="Calibri"/>
              </a:rPr>
              <a:t>    private router:Router,</a:t>
            </a:r>
          </a:p>
          <a:p>
            <a:r>
              <a:rPr lang="vi-VN" sz="1200" b="0" i="0" u="none" strike="noStrike" cap="none">
                <a:solidFill>
                  <a:schemeClr val="dk1"/>
                </a:solidFill>
                <a:effectLst/>
                <a:latin typeface="Calibri"/>
                <a:ea typeface="Calibri"/>
                <a:cs typeface="Calibri"/>
                <a:sym typeface="Calibri"/>
              </a:rPr>
              <a:t>    private activateRoute:ActivatedRoute){</a:t>
            </a:r>
          </a:p>
          <a:p>
            <a:r>
              <a:rPr lang="vi-VN" sz="1200" b="0" i="0" u="none" strike="noStrike" cap="none">
                <a:solidFill>
                  <a:schemeClr val="dk1"/>
                </a:solidFill>
                <a:effectLst/>
                <a:latin typeface="Calibri"/>
                <a:ea typeface="Calibri"/>
                <a:cs typeface="Calibri"/>
                <a:sym typeface="Calibri"/>
              </a:rPr>
              <a:t>  }</a:t>
            </a:r>
          </a:p>
          <a:p>
            <a:r>
              <a:rPr lang="vi-VN" sz="1200" b="0" i="0" u="none" strike="noStrike" cap="none">
                <a:solidFill>
                  <a:schemeClr val="dk1"/>
                </a:solidFill>
                <a:effectLst/>
                <a:latin typeface="Calibri"/>
                <a:ea typeface="Calibri"/>
                <a:cs typeface="Calibri"/>
                <a:sym typeface="Calibri"/>
              </a:rPr>
              <a:t>  ngOnInit(): void {</a:t>
            </a:r>
          </a:p>
          <a:p>
            <a:r>
              <a:rPr lang="vi-VN" sz="1200" b="0" i="0" u="none" strike="noStrike" cap="none">
                <a:solidFill>
                  <a:schemeClr val="dk1"/>
                </a:solidFill>
                <a:effectLst/>
                <a:latin typeface="Calibri"/>
                <a:ea typeface="Calibri"/>
                <a:cs typeface="Calibri"/>
                <a:sym typeface="Calibri"/>
              </a:rPr>
              <a:t>    // 1. Tải toàn bộ sản phẩm về trước</a:t>
            </a:r>
          </a:p>
          <a:p>
            <a:r>
              <a:rPr lang="vi-VN" sz="1200" b="0" i="0" u="none" strike="noStrike" cap="none">
                <a:solidFill>
                  <a:schemeClr val="dk1"/>
                </a:solidFill>
                <a:effectLst/>
                <a:latin typeface="Calibri"/>
                <a:ea typeface="Calibri"/>
                <a:cs typeface="Calibri"/>
                <a:sym typeface="Calibri"/>
              </a:rPr>
              <a:t>    this._service.getProductList().subscribe({</a:t>
            </a:r>
          </a:p>
          <a:p>
            <a:r>
              <a:rPr lang="vi-VN" sz="1200" b="0" i="0" u="none" strike="noStrike" cap="none">
                <a:solidFill>
                  <a:schemeClr val="dk1"/>
                </a:solidFill>
                <a:effectLst/>
                <a:latin typeface="Calibri"/>
                <a:ea typeface="Calibri"/>
                <a:cs typeface="Calibri"/>
                <a:sym typeface="Calibri"/>
              </a:rPr>
              <a:t>      next: (data) =&gt; {</a:t>
            </a:r>
          </a:p>
          <a:p>
            <a:r>
              <a:rPr lang="vi-VN" sz="1200" b="0" i="0" u="none" strike="noStrike" cap="none">
                <a:solidFill>
                  <a:schemeClr val="dk1"/>
                </a:solidFill>
                <a:effectLst/>
                <a:latin typeface="Calibri"/>
                <a:ea typeface="Calibri"/>
                <a:cs typeface="Calibri"/>
                <a:sym typeface="Calibri"/>
              </a:rPr>
              <a:t>        this.products.set(data);</a:t>
            </a:r>
          </a:p>
          <a:p>
            <a:r>
              <a:rPr lang="vi-VN" sz="1200" b="0" i="0" u="none" strike="noStrike" cap="none">
                <a:solidFill>
                  <a:schemeClr val="dk1"/>
                </a:solidFill>
                <a:effectLst/>
                <a:latin typeface="Calibri"/>
                <a:ea typeface="Calibri"/>
                <a:cs typeface="Calibri"/>
                <a:sym typeface="Calibri"/>
              </a:rPr>
              <a:t>        this.watchQueryParams();</a:t>
            </a:r>
          </a:p>
          <a:p>
            <a:r>
              <a:rPr lang="vi-VN" sz="1200" b="0" i="0" u="none" strike="noStrike" cap="none">
                <a:solidFill>
                  <a:schemeClr val="dk1"/>
                </a:solidFill>
                <a:effectLst/>
                <a:latin typeface="Calibri"/>
                <a:ea typeface="Calibri"/>
                <a:cs typeface="Calibri"/>
                <a:sym typeface="Calibri"/>
              </a:rPr>
              <a:t>      },error: (err) =&gt;{</a:t>
            </a:r>
          </a:p>
          <a:p>
            <a:r>
              <a:rPr lang="vi-VN" sz="1200" b="0" i="0" u="none" strike="noStrike" cap="none">
                <a:solidFill>
                  <a:schemeClr val="dk1"/>
                </a:solidFill>
                <a:effectLst/>
                <a:latin typeface="Calibri"/>
                <a:ea typeface="Calibri"/>
                <a:cs typeface="Calibri"/>
                <a:sym typeface="Calibri"/>
              </a:rPr>
              <a:t>        this.errMessage.set(err)</a:t>
            </a:r>
          </a:p>
          <a:p>
            <a:r>
              <a:rPr lang="vi-VN" sz="1200" b="0" i="0" u="none" strike="noStrike" cap="none">
                <a:solidFill>
                  <a:schemeClr val="dk1"/>
                </a:solidFill>
                <a:effectLst/>
                <a:latin typeface="Calibri"/>
                <a:ea typeface="Calibri"/>
                <a:cs typeface="Calibri"/>
                <a:sym typeface="Calibri"/>
              </a:rPr>
              <a:t>      }</a:t>
            </a:r>
          </a:p>
          <a:p>
            <a:r>
              <a:rPr lang="vi-VN" sz="1200" b="0" i="0" u="none" strike="noStrike" cap="none">
                <a:solidFill>
                  <a:schemeClr val="dk1"/>
                </a:solidFill>
                <a:effectLst/>
                <a:latin typeface="Calibri"/>
                <a:ea typeface="Calibri"/>
                <a:cs typeface="Calibri"/>
                <a:sym typeface="Calibri"/>
              </a:rPr>
              <a:t>    });</a:t>
            </a:r>
          </a:p>
          <a:p>
            <a:r>
              <a:rPr lang="vi-VN" sz="1200" b="0" i="0" u="none" strike="noStrike" cap="none">
                <a:solidFill>
                  <a:schemeClr val="dk1"/>
                </a:solidFill>
                <a:effectLst/>
                <a:latin typeface="Calibri"/>
                <a:ea typeface="Calibri"/>
                <a:cs typeface="Calibri"/>
                <a:sym typeface="Calibri"/>
              </a:rPr>
              <a:t>  }</a:t>
            </a:r>
          </a:p>
          <a:p>
            <a:r>
              <a:rPr lang="vi-VN" sz="1200" b="0" i="0" u="none" strike="noStrike" cap="none">
                <a:solidFill>
                  <a:schemeClr val="dk1"/>
                </a:solidFill>
                <a:effectLst/>
                <a:latin typeface="Calibri"/>
                <a:ea typeface="Calibri"/>
                <a:cs typeface="Calibri"/>
                <a:sym typeface="Calibri"/>
              </a:rPr>
              <a:t>  private watchQueryParams() {</a:t>
            </a:r>
          </a:p>
          <a:p>
            <a:r>
              <a:rPr lang="vi-VN" sz="1200" b="0" i="0" u="none" strike="noStrike" cap="none">
                <a:solidFill>
                  <a:schemeClr val="dk1"/>
                </a:solidFill>
                <a:effectLst/>
                <a:latin typeface="Calibri"/>
                <a:ea typeface="Calibri"/>
                <a:cs typeface="Calibri"/>
                <a:sym typeface="Calibri"/>
              </a:rPr>
              <a:t>    this.activateRoute.queryParamMap.subscribe(params =&gt; {</a:t>
            </a:r>
          </a:p>
          <a:p>
            <a:r>
              <a:rPr lang="vi-VN" sz="1200" b="0" i="0" u="none" strike="noStrike" cap="none">
                <a:solidFill>
                  <a:schemeClr val="dk1"/>
                </a:solidFill>
                <a:effectLst/>
                <a:latin typeface="Calibri"/>
                <a:ea typeface="Calibri"/>
                <a:cs typeface="Calibri"/>
                <a:sym typeface="Calibri"/>
              </a:rPr>
              <a:t>      const min = Number(params.get('min')) || 0;</a:t>
            </a:r>
          </a:p>
          <a:p>
            <a:r>
              <a:rPr lang="vi-VN" sz="1200" b="0" i="0" u="none" strike="noStrike" cap="none">
                <a:solidFill>
                  <a:schemeClr val="dk1"/>
                </a:solidFill>
                <a:effectLst/>
                <a:latin typeface="Calibri"/>
                <a:ea typeface="Calibri"/>
                <a:cs typeface="Calibri"/>
                <a:sym typeface="Calibri"/>
              </a:rPr>
              <a:t>      const max = Number(params.get('max')) || 100000000;</a:t>
            </a:r>
          </a:p>
          <a:p>
            <a:r>
              <a:rPr lang="vi-VN" sz="1200" b="0" i="0" u="none" strike="noStrike" cap="none">
                <a:solidFill>
                  <a:schemeClr val="dk1"/>
                </a:solidFill>
                <a:effectLst/>
                <a:latin typeface="Calibri"/>
                <a:ea typeface="Calibri"/>
                <a:cs typeface="Calibri"/>
                <a:sym typeface="Calibri"/>
              </a:rPr>
              <a:t>      this.minPrice.set(min);</a:t>
            </a:r>
          </a:p>
          <a:p>
            <a:r>
              <a:rPr lang="vi-VN" sz="1200" b="0" i="0" u="none" strike="noStrike" cap="none">
                <a:solidFill>
                  <a:schemeClr val="dk1"/>
                </a:solidFill>
                <a:effectLst/>
                <a:latin typeface="Calibri"/>
                <a:ea typeface="Calibri"/>
                <a:cs typeface="Calibri"/>
                <a:sym typeface="Calibri"/>
              </a:rPr>
              <a:t>      this.maxPrice.set(max);</a:t>
            </a:r>
          </a:p>
          <a:p>
            <a:r>
              <a:rPr lang="vi-VN" sz="1200" b="0" i="0" u="none" strike="noStrike" cap="none">
                <a:solidFill>
                  <a:schemeClr val="dk1"/>
                </a:solidFill>
                <a:effectLst/>
                <a:latin typeface="Calibri"/>
                <a:ea typeface="Calibri"/>
                <a:cs typeface="Calibri"/>
                <a:sym typeface="Calibri"/>
              </a:rPr>
              <a:t>      // Thực hiện lọc logic</a:t>
            </a:r>
          </a:p>
          <a:p>
            <a:r>
              <a:rPr lang="vi-VN" sz="1200" b="0" i="0" u="none" strike="noStrike" cap="none">
                <a:solidFill>
                  <a:schemeClr val="dk1"/>
                </a:solidFill>
                <a:effectLst/>
                <a:latin typeface="Calibri"/>
                <a:ea typeface="Calibri"/>
                <a:cs typeface="Calibri"/>
                <a:sym typeface="Calibri"/>
              </a:rPr>
              <a:t>      const result = this.products().filter(p =&gt; p.price &gt;= min &amp;&amp; p.price &lt;= max);</a:t>
            </a:r>
          </a:p>
          <a:p>
            <a:r>
              <a:rPr lang="vi-VN" sz="1200" b="0" i="0" u="none" strike="noStrike" cap="none">
                <a:solidFill>
                  <a:schemeClr val="dk1"/>
                </a:solidFill>
                <a:effectLst/>
                <a:latin typeface="Calibri"/>
                <a:ea typeface="Calibri"/>
                <a:cs typeface="Calibri"/>
                <a:sym typeface="Calibri"/>
              </a:rPr>
              <a:t>      this.filteredProducts.set(result);</a:t>
            </a:r>
          </a:p>
          <a:p>
            <a:r>
              <a:rPr lang="vi-VN" sz="1200" b="0" i="0" u="none" strike="noStrike" cap="none">
                <a:solidFill>
                  <a:schemeClr val="dk1"/>
                </a:solidFill>
                <a:effectLst/>
                <a:latin typeface="Calibri"/>
                <a:ea typeface="Calibri"/>
                <a:cs typeface="Calibri"/>
                <a:sym typeface="Calibri"/>
              </a:rPr>
              <a:t>    });</a:t>
            </a:r>
          </a:p>
          <a:p>
            <a:r>
              <a:rPr lang="vi-VN" sz="1200" b="0" i="0" u="none" strike="noStrike" cap="none">
                <a:solidFill>
                  <a:schemeClr val="dk1"/>
                </a:solidFill>
                <a:effectLst/>
                <a:latin typeface="Calibri"/>
                <a:ea typeface="Calibri"/>
                <a:cs typeface="Calibri"/>
                <a:sym typeface="Calibri"/>
              </a:rPr>
              <a:t>  }</a:t>
            </a: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2C759C7-1FA8-12CF-A7BA-80A52A6A59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808896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1085ED2-DA71-66EF-711F-5667022ADFE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D5EDFE9-02A1-3FFA-98E8-F25E061B360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 Hàm gọi khi nhấn nút "Lọc"</a:t>
            </a:r>
          </a:p>
          <a:p>
            <a:r>
              <a:rPr lang="en-US" sz="1200" b="0" i="0" u="none" strike="noStrike" cap="none">
                <a:solidFill>
                  <a:schemeClr val="dk1"/>
                </a:solidFill>
                <a:effectLst/>
                <a:latin typeface="Calibri"/>
                <a:ea typeface="Calibri"/>
                <a:cs typeface="Calibri"/>
                <a:sym typeface="Calibri"/>
              </a:rPr>
              <a:t>  onFilter() {</a:t>
            </a:r>
          </a:p>
          <a:p>
            <a:r>
              <a:rPr lang="en-US" sz="1200" b="0" i="0" u="none" strike="noStrike" cap="none">
                <a:solidFill>
                  <a:schemeClr val="dk1"/>
                </a:solidFill>
                <a:effectLst/>
                <a:latin typeface="Calibri"/>
                <a:ea typeface="Calibri"/>
                <a:cs typeface="Calibri"/>
                <a:sym typeface="Calibri"/>
              </a:rPr>
              <a:t>    this.router.navigate([], {</a:t>
            </a:r>
          </a:p>
          <a:p>
            <a:r>
              <a:rPr lang="en-US" sz="1200" b="0" i="0" u="none" strike="noStrike" cap="none">
                <a:solidFill>
                  <a:schemeClr val="dk1"/>
                </a:solidFill>
                <a:effectLst/>
                <a:latin typeface="Calibri"/>
                <a:ea typeface="Calibri"/>
                <a:cs typeface="Calibri"/>
                <a:sym typeface="Calibri"/>
              </a:rPr>
              <a:t>      relativeTo: this.activateRoute,</a:t>
            </a:r>
          </a:p>
          <a:p>
            <a:r>
              <a:rPr lang="en-US" sz="1200" b="0" i="0" u="none" strike="noStrike" cap="none">
                <a:solidFill>
                  <a:schemeClr val="dk1"/>
                </a:solidFill>
                <a:effectLst/>
                <a:latin typeface="Calibri"/>
                <a:ea typeface="Calibri"/>
                <a:cs typeface="Calibri"/>
                <a:sym typeface="Calibri"/>
              </a:rPr>
              <a:t>      queryParams: {</a:t>
            </a:r>
          </a:p>
          <a:p>
            <a:r>
              <a:rPr lang="en-US" sz="1200" b="0" i="0" u="none" strike="noStrike" cap="none">
                <a:solidFill>
                  <a:schemeClr val="dk1"/>
                </a:solidFill>
                <a:effectLst/>
                <a:latin typeface="Calibri"/>
                <a:ea typeface="Calibri"/>
                <a:cs typeface="Calibri"/>
                <a:sym typeface="Calibri"/>
              </a:rPr>
              <a:t>        min: this.minPrice(),</a:t>
            </a:r>
          </a:p>
          <a:p>
            <a:r>
              <a:rPr lang="en-US" sz="1200" b="0" i="0" u="none" strike="noStrike" cap="none">
                <a:solidFill>
                  <a:schemeClr val="dk1"/>
                </a:solidFill>
                <a:effectLst/>
                <a:latin typeface="Calibri"/>
                <a:ea typeface="Calibri"/>
                <a:cs typeface="Calibri"/>
                <a:sym typeface="Calibri"/>
              </a:rPr>
              <a:t>        max: this.maxPrice()</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queryParamsHandling: 'merge' // Giữ lại các params khác nếu có</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viewDetail(id:number)</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this.router.navigate(["/products",id])</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viewDetailSlug(p:Product)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let slug=this.generateSlug(p.name,p.id)</a:t>
            </a:r>
          </a:p>
          <a:p>
            <a:r>
              <a:rPr lang="en-US" sz="1200" b="0" i="0" u="none" strike="noStrike" cap="none">
                <a:solidFill>
                  <a:schemeClr val="dk1"/>
                </a:solidFill>
                <a:effectLst/>
                <a:latin typeface="Calibri"/>
                <a:ea typeface="Calibri"/>
                <a:cs typeface="Calibri"/>
                <a:sym typeface="Calibri"/>
              </a:rPr>
              <a:t>    this.router.navigate(["/products",slug])</a:t>
            </a:r>
          </a:p>
          <a:p>
            <a:r>
              <a:rPr lang="en-US" sz="1200" b="0" i="0" u="none" strike="noStrike" cap="none">
                <a:solidFill>
                  <a:schemeClr val="dk1"/>
                </a:solidFill>
                <a:effectLst/>
                <a:latin typeface="Calibri"/>
                <a:ea typeface="Calibri"/>
                <a:cs typeface="Calibri"/>
                <a:sym typeface="Calibri"/>
              </a:rPr>
              <a:t>  }  </a:t>
            </a:r>
          </a:p>
          <a:p>
            <a:r>
              <a:rPr lang="en-US" sz="1200" b="0" i="0" u="none" strike="noStrike" cap="none">
                <a:solidFill>
                  <a:schemeClr val="dk1"/>
                </a:solidFill>
                <a:effectLst/>
                <a:latin typeface="Calibri"/>
                <a:ea typeface="Calibri"/>
                <a:cs typeface="Calibri"/>
                <a:sym typeface="Calibri"/>
              </a:rPr>
              <a: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2FBDBE5-7704-34E4-0542-60865430E58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78977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4D381AE-3FD5-D06B-E495-9D89FF5F9A7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55C1C12-2C80-F8CF-DC24-DFEC639E64B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&lt;p&gt;product-list-search-component works!&lt;/p&gt;</a:t>
            </a:r>
          </a:p>
          <a:p>
            <a:r>
              <a:rPr lang="en-US" sz="1200" b="0" i="0" u="none" strike="noStrike" cap="none">
                <a:solidFill>
                  <a:schemeClr val="dk1"/>
                </a:solidFill>
                <a:effectLst/>
                <a:latin typeface="Calibri"/>
                <a:ea typeface="Calibri"/>
                <a:cs typeface="Calibri"/>
                <a:sym typeface="Calibri"/>
              </a:rPr>
              <a:t>{{errMessage()}}</a:t>
            </a:r>
          </a:p>
          <a:p>
            <a:r>
              <a:rPr lang="en-US" sz="1200" b="0" i="0" u="none" strike="noStrike" cap="none">
                <a:solidFill>
                  <a:schemeClr val="dk1"/>
                </a:solidFill>
                <a:effectLst/>
                <a:latin typeface="Calibri"/>
                <a:ea typeface="Calibri"/>
                <a:cs typeface="Calibri"/>
                <a:sym typeface="Calibri"/>
              </a:rPr>
              <a:t>&lt;label&gt;Giá Min:&lt;/label&gt;</a:t>
            </a:r>
          </a:p>
          <a:p>
            <a:r>
              <a:rPr lang="en-US" sz="1200" b="0" i="0" u="none" strike="noStrike" cap="none">
                <a:solidFill>
                  <a:schemeClr val="dk1"/>
                </a:solidFill>
                <a:effectLst/>
                <a:latin typeface="Calibri"/>
                <a:ea typeface="Calibri"/>
                <a:cs typeface="Calibri"/>
                <a:sym typeface="Calibri"/>
              </a:rPr>
              <a:t>&lt;input type="number" [(ngModel)]="minPrice"&gt;</a:t>
            </a:r>
          </a:p>
          <a:p>
            <a:r>
              <a:rPr lang="en-US" sz="1200" b="0" i="0" u="none" strike="noStrike" cap="none">
                <a:solidFill>
                  <a:schemeClr val="dk1"/>
                </a:solidFill>
                <a:effectLst/>
                <a:latin typeface="Calibri"/>
                <a:ea typeface="Calibri"/>
                <a:cs typeface="Calibri"/>
                <a:sym typeface="Calibri"/>
              </a:rPr>
              <a:t>&lt;br/&gt;</a:t>
            </a:r>
          </a:p>
          <a:p>
            <a:r>
              <a:rPr lang="en-US" sz="1200" b="0" i="0" u="none" strike="noStrike" cap="none">
                <a:solidFill>
                  <a:schemeClr val="dk1"/>
                </a:solidFill>
                <a:effectLst/>
                <a:latin typeface="Calibri"/>
                <a:ea typeface="Calibri"/>
                <a:cs typeface="Calibri"/>
                <a:sym typeface="Calibri"/>
              </a:rPr>
              <a:t>&lt;label&gt;Giá Max:&lt;/label&gt;</a:t>
            </a:r>
          </a:p>
          <a:p>
            <a:r>
              <a:rPr lang="en-US" sz="1200" b="0" i="0" u="none" strike="noStrike" cap="none">
                <a:solidFill>
                  <a:schemeClr val="dk1"/>
                </a:solidFill>
                <a:effectLst/>
                <a:latin typeface="Calibri"/>
                <a:ea typeface="Calibri"/>
                <a:cs typeface="Calibri"/>
                <a:sym typeface="Calibri"/>
              </a:rPr>
              <a:t>&lt;input type="number" [(ngModel)]="maxPrice"&gt;</a:t>
            </a:r>
          </a:p>
          <a:p>
            <a:r>
              <a:rPr lang="en-US" sz="1200" b="0" i="0" u="none" strike="noStrike" cap="none">
                <a:solidFill>
                  <a:schemeClr val="dk1"/>
                </a:solidFill>
                <a:effectLst/>
                <a:latin typeface="Calibri"/>
                <a:ea typeface="Calibri"/>
                <a:cs typeface="Calibri"/>
                <a:sym typeface="Calibri"/>
              </a:rPr>
              <a:t>&lt;br/&gt;</a:t>
            </a:r>
          </a:p>
          <a:p>
            <a:r>
              <a:rPr lang="en-US" sz="1200" b="0" i="0" u="none" strike="noStrike" cap="none">
                <a:solidFill>
                  <a:schemeClr val="dk1"/>
                </a:solidFill>
                <a:effectLst/>
                <a:latin typeface="Calibri"/>
                <a:ea typeface="Calibri"/>
                <a:cs typeface="Calibri"/>
                <a:sym typeface="Calibri"/>
              </a:rPr>
              <a:t>&lt;button (click)="onFilter()"&gt;Lọc sản phẩm&lt;/button&gt;</a:t>
            </a:r>
          </a:p>
          <a:p>
            <a:r>
              <a:rPr lang="en-US" sz="1200" b="0" i="0" u="none" strike="noStrike" cap="none">
                <a:solidFill>
                  <a:schemeClr val="dk1"/>
                </a:solidFill>
                <a:effectLst/>
                <a:latin typeface="Calibri"/>
                <a:ea typeface="Calibri"/>
                <a:cs typeface="Calibri"/>
                <a:sym typeface="Calibri"/>
              </a:rPr>
              <a:t>&lt;table border="1"&gt;</a:t>
            </a:r>
          </a:p>
          <a:p>
            <a:r>
              <a:rPr lang="en-US" sz="1200" b="0" i="0" u="none" strike="noStrike" cap="none">
                <a:solidFill>
                  <a:schemeClr val="dk1"/>
                </a:solidFill>
                <a:effectLst/>
                <a:latin typeface="Calibri"/>
                <a:ea typeface="Calibri"/>
                <a:cs typeface="Calibri"/>
                <a:sym typeface="Calibri"/>
              </a:rPr>
              <a:t>  &lt;thead&gt;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&lt;th&gt;ID&lt;/th&gt;</a:t>
            </a:r>
          </a:p>
          <a:p>
            <a:r>
              <a:rPr lang="en-US" sz="1200" b="0" i="0" u="none" strike="noStrike" cap="none">
                <a:solidFill>
                  <a:schemeClr val="dk1"/>
                </a:solidFill>
                <a:effectLst/>
                <a:latin typeface="Calibri"/>
                <a:ea typeface="Calibri"/>
                <a:cs typeface="Calibri"/>
                <a:sym typeface="Calibri"/>
              </a:rPr>
              <a:t>      &lt;th&gt;Name&lt;/th&gt;</a:t>
            </a:r>
          </a:p>
          <a:p>
            <a:r>
              <a:rPr lang="en-US" sz="1200" b="0" i="0" u="none" strike="noStrike" cap="none">
                <a:solidFill>
                  <a:schemeClr val="dk1"/>
                </a:solidFill>
                <a:effectLst/>
                <a:latin typeface="Calibri"/>
                <a:ea typeface="Calibri"/>
                <a:cs typeface="Calibri"/>
                <a:sym typeface="Calibri"/>
              </a:rPr>
              <a:t>      &lt;th&gt;Price&lt;/th&gt;</a:t>
            </a:r>
          </a:p>
          <a:p>
            <a:r>
              <a:rPr lang="en-US" sz="1200" b="0" i="0" u="none" strike="noStrike" cap="none">
                <a:solidFill>
                  <a:schemeClr val="dk1"/>
                </a:solidFill>
                <a:effectLst/>
                <a:latin typeface="Calibri"/>
                <a:ea typeface="Calibri"/>
                <a:cs typeface="Calibri"/>
                <a:sym typeface="Calibri"/>
              </a:rPr>
              <a:t>      &lt;th&gt;Details&lt;/th&gt;</a:t>
            </a:r>
          </a:p>
          <a:p>
            <a:r>
              <a:rPr lang="en-US" sz="1200" b="0" i="0" u="none" strike="noStrike" cap="none">
                <a:solidFill>
                  <a:schemeClr val="dk1"/>
                </a:solidFill>
                <a:effectLst/>
                <a:latin typeface="Calibri"/>
                <a:ea typeface="Calibri"/>
                <a:cs typeface="Calibri"/>
                <a:sym typeface="Calibri"/>
              </a:rPr>
              <a:t>      &lt;th&gt;Slug&lt;/th&gt;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&lt;/thead&gt;</a:t>
            </a: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A4E5978-876D-4349-014B-8174F1DA30A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92868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FD32EFF-CBDB-A513-1811-8CF6C90AF01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297D22B-7002-1E89-7DCB-00D0FB3C164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n-US" sz="1200" b="0" i="0" u="none" strike="noStrike" cap="none">
                <a:solidFill>
                  <a:schemeClr val="dk1"/>
                </a:solidFill>
                <a:effectLst/>
                <a:latin typeface="Calibri"/>
                <a:ea typeface="Calibri"/>
                <a:cs typeface="Calibri"/>
                <a:sym typeface="Calibri"/>
              </a:rPr>
              <a:t>&lt;tbody&gt;</a:t>
            </a:r>
          </a:p>
          <a:p>
            <a:r>
              <a:rPr lang="en-US" sz="1200" b="0" i="0" u="none" strike="noStrike" cap="none">
                <a:solidFill>
                  <a:schemeClr val="dk1"/>
                </a:solidFill>
                <a:effectLst/>
                <a:latin typeface="Calibri"/>
                <a:ea typeface="Calibri"/>
                <a:cs typeface="Calibri"/>
                <a:sym typeface="Calibri"/>
              </a:rPr>
              <a:t>    @for (p of filteredProducts(); track p.id) {</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&lt;td&gt;{{ p.id }}&lt;/td&gt;</a:t>
            </a:r>
          </a:p>
          <a:p>
            <a:r>
              <a:rPr lang="en-US" sz="1200" b="0" i="0" u="none" strike="noStrike" cap="none">
                <a:solidFill>
                  <a:schemeClr val="dk1"/>
                </a:solidFill>
                <a:effectLst/>
                <a:latin typeface="Calibri"/>
                <a:ea typeface="Calibri"/>
                <a:cs typeface="Calibri"/>
                <a:sym typeface="Calibri"/>
              </a:rPr>
              <a:t>      &lt;td&gt;{{ p.name }}&lt;/td&gt;</a:t>
            </a:r>
          </a:p>
          <a:p>
            <a:r>
              <a:rPr lang="en-US" sz="1200" b="0" i="0" u="none" strike="noStrike" cap="none">
                <a:solidFill>
                  <a:schemeClr val="dk1"/>
                </a:solidFill>
                <a:effectLst/>
                <a:latin typeface="Calibri"/>
                <a:ea typeface="Calibri"/>
                <a:cs typeface="Calibri"/>
                <a:sym typeface="Calibri"/>
              </a:rPr>
              <a:t>      &lt;td&gt;{{ p.price }}&lt;/td&gt;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&lt;a (click)="viewDetail(p.id)"</a:t>
            </a:r>
          </a:p>
          <a:p>
            <a:r>
              <a:rPr lang="en-US" sz="1200" b="0" i="0" u="none" strike="noStrike" cap="none">
                <a:solidFill>
                  <a:schemeClr val="dk1"/>
                </a:solidFill>
                <a:effectLst/>
                <a:latin typeface="Calibri"/>
                <a:ea typeface="Calibri"/>
                <a:cs typeface="Calibri"/>
                <a:sym typeface="Calibri"/>
              </a:rPr>
              <a:t>        style="cursor: pointer;"</a:t>
            </a:r>
          </a:p>
          <a:p>
            <a:r>
              <a:rPr lang="en-US" sz="1200" b="0" i="0" u="none" strike="noStrike" cap="none">
                <a:solidFill>
                  <a:schemeClr val="dk1"/>
                </a:solidFill>
                <a:effectLst/>
                <a:latin typeface="Calibri"/>
                <a:ea typeface="Calibri"/>
                <a:cs typeface="Calibri"/>
                <a:sym typeface="Calibri"/>
              </a:rPr>
              <a:t>        title="click here to view detail" &gt;View detail&lt;/a&gt;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&lt;a (click)="viewDetailSlug(p)"</a:t>
            </a:r>
          </a:p>
          <a:p>
            <a:r>
              <a:rPr lang="en-US" sz="1200" b="0" i="0" u="none" strike="noStrike" cap="none">
                <a:solidFill>
                  <a:schemeClr val="dk1"/>
                </a:solidFill>
                <a:effectLst/>
                <a:latin typeface="Calibri"/>
                <a:ea typeface="Calibri"/>
                <a:cs typeface="Calibri"/>
                <a:sym typeface="Calibri"/>
              </a:rPr>
              <a:t>        style="cursor: pointer;"</a:t>
            </a:r>
          </a:p>
          <a:p>
            <a:r>
              <a:rPr lang="en-US" sz="1200" b="0" i="0" u="none" strike="noStrike" cap="none">
                <a:solidFill>
                  <a:schemeClr val="dk1"/>
                </a:solidFill>
                <a:effectLst/>
                <a:latin typeface="Calibri"/>
                <a:ea typeface="Calibri"/>
                <a:cs typeface="Calibri"/>
                <a:sym typeface="Calibri"/>
              </a:rPr>
              <a:t>        title="click here to view detail" &gt;</a:t>
            </a:r>
          </a:p>
          <a:p>
            <a:r>
              <a:rPr lang="en-US" sz="1200" b="0" i="0" u="none" strike="noStrike" cap="none">
                <a:solidFill>
                  <a:schemeClr val="dk1"/>
                </a:solidFill>
                <a:effectLst/>
                <a:latin typeface="Calibri"/>
                <a:ea typeface="Calibri"/>
                <a:cs typeface="Calibri"/>
                <a:sym typeface="Calibri"/>
              </a:rPr>
              <a:t>        {{generateSlug(p.name,p.id)}}</a:t>
            </a:r>
          </a:p>
          <a:p>
            <a:r>
              <a:rPr lang="en-US" sz="1200" b="0" i="0" u="none" strike="noStrike" cap="none">
                <a:solidFill>
                  <a:schemeClr val="dk1"/>
                </a:solidFill>
                <a:effectLst/>
                <a:latin typeface="Calibri"/>
                <a:ea typeface="Calibri"/>
                <a:cs typeface="Calibri"/>
                <a:sym typeface="Calibri"/>
              </a:rPr>
              <a:t>      &lt;/a&gt;</a:t>
            </a:r>
          </a:p>
          <a:p>
            <a:r>
              <a:rPr lang="en-US" sz="1200" b="0" i="0" u="none" strike="noStrike" cap="none">
                <a:solidFill>
                  <a:schemeClr val="dk1"/>
                </a:solidFill>
                <a:effectLst/>
                <a:latin typeface="Calibri"/>
                <a:ea typeface="Calibri"/>
                <a:cs typeface="Calibri"/>
                <a:sym typeface="Calibri"/>
              </a:rPr>
              <a:t>      &lt;/td&gt;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 @empty {</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&lt;td colspan="3"&gt;No products available.&lt;/td&gt;</a:t>
            </a:r>
          </a:p>
          <a:p>
            <a:r>
              <a:rPr lang="en-US" sz="1200" b="0" i="0" u="none" strike="noStrike" cap="none">
                <a:solidFill>
                  <a:schemeClr val="dk1"/>
                </a:solidFill>
                <a:effectLst/>
                <a:latin typeface="Calibri"/>
                <a:ea typeface="Calibri"/>
                <a:cs typeface="Calibri"/>
                <a:sym typeface="Calibri"/>
              </a:rPr>
              <a:t>    &lt;/tr&gt;</a:t>
            </a:r>
          </a:p>
          <a:p>
            <a:r>
              <a:rPr lang="en-US" sz="1200" b="0" i="0" u="none" strike="noStrike" cap="none">
                <a:solidFill>
                  <a:schemeClr val="dk1"/>
                </a:solidFill>
                <a:effectLst/>
                <a:latin typeface="Calibri"/>
                <a:ea typeface="Calibri"/>
                <a:cs typeface="Calibri"/>
                <a:sym typeface="Calibri"/>
              </a:rPr>
              <a:t>  }</a:t>
            </a:r>
          </a:p>
          <a:p>
            <a:r>
              <a:rPr lang="en-US" sz="1200" b="0" i="0" u="none" strike="noStrike" cap="none">
                <a:solidFill>
                  <a:schemeClr val="dk1"/>
                </a:solidFill>
                <a:effectLst/>
                <a:latin typeface="Calibri"/>
                <a:ea typeface="Calibri"/>
                <a:cs typeface="Calibri"/>
                <a:sym typeface="Calibri"/>
              </a:rPr>
              <a:t>  &lt;/tbody&gt;</a:t>
            </a:r>
          </a:p>
          <a:p>
            <a:r>
              <a:rPr lang="en-US" sz="1200" b="0" i="0" u="none" strike="noStrike" cap="none">
                <a:solidFill>
                  <a:schemeClr val="dk1"/>
                </a:solidFill>
                <a:effectLst/>
                <a:latin typeface="Calibri"/>
                <a:ea typeface="Calibri"/>
                <a:cs typeface="Calibri"/>
                <a:sym typeface="Calibri"/>
              </a:rPr>
              <a:t>&lt;/table&gt;</a:t>
            </a:r>
          </a:p>
          <a:p>
            <a:br>
              <a:rPr lang="en-US" sz="1200" b="0" i="0" u="none" strike="noStrike" cap="none">
                <a:solidFill>
                  <a:schemeClr val="dk1"/>
                </a:solidFill>
                <a:effectLst/>
                <a:latin typeface="Calibri"/>
                <a:ea typeface="Calibri"/>
                <a:cs typeface="Calibri"/>
                <a:sym typeface="Calibri"/>
              </a:rPr>
            </a:br>
            <a:endParaRPr lang="en-US"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A69D313-18CD-923C-69E9-6BA7818C94A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940622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83274C3-0B59-592A-3351-8E1A272A6EE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36EE7B8-894A-D4AB-4E4F-B241630BE30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FD875D9-DEE3-AD9D-ADCD-84BBBBB2F37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459012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393E69C-7DA1-FBD4-AB0D-9F8009AE035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28E1659-BD0C-655F-F3F3-05D74455BD7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5AA8246-E3C3-3402-7E4E-3E09DC579AD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841023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FB46C3C-5243-778D-295C-2F0E1F4D6B4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F4EA557-0E99-4702-AD07-47B55386844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2CD5A40-D83E-23A1-3539-7B1262DAAC8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8427404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4CBA36D-F422-63FE-FBEB-3D27195B9ED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0187561-BC3C-E610-E815-1242904A911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877A2DD-1B4A-51A3-A2C3-A091349BE89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806313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3581B9A-E353-1962-BF9E-6D6DA6D3325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807510B-2336-148E-044A-D0460608A46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B78159C-A395-D045-744F-57535586C13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497011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EB7A83C-A4D2-A076-6429-FC23B875393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CB25A23-C4F5-1C95-AD64-BB69939262E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651D9EF-EDB2-BCAF-5F63-61D99051EED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3231061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E556214-D0B2-1B83-868B-9657D689102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FC7C9A4-4409-08D7-E112-E43376A20EC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4AD0912-C034-17F5-54B9-DB0CE8251D4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360996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0719DD7-8981-E5E9-569A-A03244199FB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489D886-984E-AB11-8B46-A8C36AE4272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A2690A0-A9F9-ABA7-3D0A-AA072DA35DD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586620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22686EB-020A-CCD1-B70F-82E714DFFDE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01C9ABF-6741-7955-1283-0F4E6BCDA87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7138816-9AB0-E014-77A2-446F1879ADF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704152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2409FB4-8628-48CE-D90F-29032213F5A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49DC6AE-07E6-B565-F426-12B48375C00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7D3E27E-C085-00B9-9951-FB5BEB3B558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7743724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50DC24A-E56B-90A3-FB73-E76B7B62A82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4D6FBB9-9E80-409B-7AFE-4D02CE0E263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A326082-E94B-E2E4-9B20-0014315E039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108718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DA15165-5212-F801-E18A-BE7A5DDAD6F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F20456C-5973-411E-9005-BA3431C21CA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6DB5297-6A88-00B0-ABEB-86F024AEB19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574770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3EBC468-635A-B9EC-6237-D7539A2976D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D2AC3D2-F05A-4B1A-8FDE-2273E35A617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9CDD123-3AAA-E4CE-3171-93114577E2B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7305069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60E0605-E547-74AF-A5EA-D12F335BBC7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BF388B5-C04E-CA3F-5ECF-FE8A1A726AB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813D0E8-7947-E690-5F60-C05903B029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373649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D8AF9EF-8FBF-ABFF-D0DB-EE362B7D9F9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1E3DB8A-AE14-71D0-0C96-C3B77E27BC5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CDCFDD3-56EA-3D64-F8BB-D4A09E4CF77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965604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667FBED-C60B-9E0E-8447-EADC3A4D8B0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0B822E8-75FF-60BB-AC7E-D6033C9D681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EA4EE55-0013-64DE-A3CB-7EAAC6D1387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419888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4219F84-C7C6-F64A-7BB2-60C36651C8A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C9A37B1-E83B-6174-0B95-044CF6099A0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A452FB0-1FE8-9EAD-BA29-92F15EB9C0D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0093185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1FE4B19-63F2-8327-A501-59E87EBF149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1A23443-E96A-2E37-DDEF-EB409800255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C297846-6E68-E854-E6C1-75ECDA01163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449113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03CF790-1716-3F9B-986D-A00645A5DA2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9C41CF6-5027-CC86-B585-E517B459C41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8691186-7721-F45F-AD22-271321530C0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80280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087569A-F923-53D8-00E2-54236E2B324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7F38012-9461-CBBF-2E62-62B753C7460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872E5CD-29E3-41A9-F7D7-F5BF6D224F1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332392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77244F2-53C9-F274-D30E-D0563292E93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4377585-5E8D-84AF-513A-14E74E86570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3708398-7AF9-E833-37BD-8448FF50068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466424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36013A8-1447-0A23-041E-0EAECECEE45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F9DD34E-F508-FB4B-87AC-3D7423B700A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D2C1F9C-21A8-5E1F-8759-19212960A2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551763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C7FE4E1-68F5-A607-7DC5-F1EC34C121A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1A2355D-00B1-F371-3E3E-7AD164390D9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3DACF4D-23E8-3591-2432-7E28340B840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214865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C422A0C-47DE-0BF0-E337-057ACAEE5E6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332C8E2-E4A7-94A8-3602-ABFFDAD4B15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15C38D8-65F4-4F9C-55B1-1E25F5FCC5B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36677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35E1094-50A1-C773-2F10-E2BBE4CA844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2FE348F-EB14-6F2E-8C54-264B674B5F4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644F47C-EA47-9C7B-FB3B-8540E0C6369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342627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2D196CB-269B-F9C9-6FD4-BE532FF4BDC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7A3F4B3-2E19-EAF3-6B78-1E636E69E60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5AA197A-D30B-EBA9-E88F-ABEE8BC17BB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0483129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2B28428-4377-77DD-9414-4C956EA4FC89}"/>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8E9CDF6-520E-6937-9238-A7422FF48F9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A59285C-8252-F064-9C9E-30F9550A241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298284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1310EA5-2668-7544-682F-CBB3C5AD3B7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AC6F6C0-A0BD-06CE-AB69-A23E35DBDFE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7DCD673-5340-CC01-B41F-037404A0350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095352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5E7E595-A75B-B748-6B21-8978421A7AC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C686C73-A65D-C50C-C89C-34010B80B17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E00BDD1-FD32-400F-F692-43E1CA1A342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0989507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AFD20D1-4990-4E3F-8410-62E25356A54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4B78835-F98A-9F3B-9CE3-1A44D90EE6D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vi-VN" sz="1200" b="0" i="0" u="none" strike="noStrike" cap="none">
                <a:solidFill>
                  <a:schemeClr val="dk1"/>
                </a:solidFill>
                <a:effectLst/>
                <a:latin typeface="Calibri"/>
                <a:ea typeface="Calibri"/>
                <a:cs typeface="Calibri"/>
                <a:sym typeface="Calibri"/>
              </a:rPr>
              <a:t>import { inject } from '@angular/core';</a:t>
            </a:r>
          </a:p>
          <a:p>
            <a:r>
              <a:rPr lang="vi-VN" sz="1200" b="0" i="0" u="none" strike="noStrike" cap="none">
                <a:solidFill>
                  <a:schemeClr val="dk1"/>
                </a:solidFill>
                <a:effectLst/>
                <a:latin typeface="Calibri"/>
                <a:ea typeface="Calibri"/>
                <a:cs typeface="Calibri"/>
                <a:sym typeface="Calibri"/>
              </a:rPr>
              <a:t>import { CanActivateFn, Router } from '@angular/router';</a:t>
            </a:r>
          </a:p>
          <a:p>
            <a:br>
              <a:rPr lang="vi-VN" sz="1200" b="0" i="0" u="none" strike="noStrike" cap="none">
                <a:solidFill>
                  <a:schemeClr val="dk1"/>
                </a:solidFill>
                <a:effectLst/>
                <a:latin typeface="Calibri"/>
                <a:ea typeface="Calibri"/>
                <a:cs typeface="Calibri"/>
                <a:sym typeface="Calibri"/>
              </a:rPr>
            </a:br>
            <a:endParaRPr lang="vi-VN" sz="1200" b="0" i="0" u="none" strike="noStrike" cap="none">
              <a:solidFill>
                <a:schemeClr val="dk1"/>
              </a:solidFill>
              <a:effectLst/>
              <a:latin typeface="Calibri"/>
              <a:ea typeface="Calibri"/>
              <a:cs typeface="Calibri"/>
              <a:sym typeface="Calibri"/>
            </a:endParaRPr>
          </a:p>
          <a:p>
            <a:r>
              <a:rPr lang="vi-VN" sz="1200" b="0" i="0" u="none" strike="noStrike" cap="none">
                <a:solidFill>
                  <a:schemeClr val="dk1"/>
                </a:solidFill>
                <a:effectLst/>
                <a:latin typeface="Calibri"/>
                <a:ea typeface="Calibri"/>
                <a:cs typeface="Calibri"/>
                <a:sym typeface="Calibri"/>
              </a:rPr>
              <a:t>export const authGuard: CanActivateFn = (route, state) =&gt; {</a:t>
            </a:r>
          </a:p>
          <a:p>
            <a:r>
              <a:rPr lang="vi-VN" sz="1200" b="0" i="0" u="none" strike="noStrike" cap="none">
                <a:solidFill>
                  <a:schemeClr val="dk1"/>
                </a:solidFill>
                <a:effectLst/>
                <a:latin typeface="Calibri"/>
                <a:ea typeface="Calibri"/>
                <a:cs typeface="Calibri"/>
                <a:sym typeface="Calibri"/>
              </a:rPr>
              <a:t>  const router = inject(Router);</a:t>
            </a:r>
          </a:p>
          <a:p>
            <a:br>
              <a:rPr lang="vi-VN" sz="1200" b="0" i="0" u="none" strike="noStrike" cap="none">
                <a:solidFill>
                  <a:schemeClr val="dk1"/>
                </a:solidFill>
                <a:effectLst/>
                <a:latin typeface="Calibri"/>
                <a:ea typeface="Calibri"/>
                <a:cs typeface="Calibri"/>
                <a:sym typeface="Calibri"/>
              </a:rPr>
            </a:br>
            <a:endParaRPr lang="vi-VN" sz="1200" b="0" i="0" u="none" strike="noStrike" cap="none">
              <a:solidFill>
                <a:schemeClr val="dk1"/>
              </a:solidFill>
              <a:effectLst/>
              <a:latin typeface="Calibri"/>
              <a:ea typeface="Calibri"/>
              <a:cs typeface="Calibri"/>
              <a:sym typeface="Calibri"/>
            </a:endParaRPr>
          </a:p>
          <a:p>
            <a:r>
              <a:rPr lang="vi-VN" sz="1200" b="0" i="0" u="none" strike="noStrike" cap="none">
                <a:solidFill>
                  <a:schemeClr val="dk1"/>
                </a:solidFill>
                <a:effectLst/>
                <a:latin typeface="Calibri"/>
                <a:ea typeface="Calibri"/>
                <a:cs typeface="Calibri"/>
                <a:sym typeface="Calibri"/>
              </a:rPr>
              <a:t>  // Giả lập kiểm tra đăng nhập từ localStorage</a:t>
            </a:r>
          </a:p>
          <a:p>
            <a:r>
              <a:rPr lang="vi-VN" sz="1200" b="0" i="0" u="none" strike="noStrike" cap="none">
                <a:solidFill>
                  <a:schemeClr val="dk1"/>
                </a:solidFill>
                <a:effectLst/>
                <a:latin typeface="Calibri"/>
                <a:ea typeface="Calibri"/>
                <a:cs typeface="Calibri"/>
                <a:sym typeface="Calibri"/>
              </a:rPr>
              <a:t>  const isLoggedIn = localStorage.getItem('isLoggedIn') === 'true';</a:t>
            </a:r>
          </a:p>
          <a:p>
            <a:br>
              <a:rPr lang="vi-VN" sz="1200" b="0" i="0" u="none" strike="noStrike" cap="none">
                <a:solidFill>
                  <a:schemeClr val="dk1"/>
                </a:solidFill>
                <a:effectLst/>
                <a:latin typeface="Calibri"/>
                <a:ea typeface="Calibri"/>
                <a:cs typeface="Calibri"/>
                <a:sym typeface="Calibri"/>
              </a:rPr>
            </a:br>
            <a:endParaRPr lang="vi-VN" sz="1200" b="0" i="0" u="none" strike="noStrike" cap="none">
              <a:solidFill>
                <a:schemeClr val="dk1"/>
              </a:solidFill>
              <a:effectLst/>
              <a:latin typeface="Calibri"/>
              <a:ea typeface="Calibri"/>
              <a:cs typeface="Calibri"/>
              <a:sym typeface="Calibri"/>
            </a:endParaRPr>
          </a:p>
          <a:p>
            <a:r>
              <a:rPr lang="vi-VN" sz="1200" b="0" i="0" u="none" strike="noStrike" cap="none">
                <a:solidFill>
                  <a:schemeClr val="dk1"/>
                </a:solidFill>
                <a:effectLst/>
                <a:latin typeface="Calibri"/>
                <a:ea typeface="Calibri"/>
                <a:cs typeface="Calibri"/>
                <a:sym typeface="Calibri"/>
              </a:rPr>
              <a:t>  if (isLoggedIn) {</a:t>
            </a:r>
          </a:p>
          <a:p>
            <a:r>
              <a:rPr lang="vi-VN" sz="1200" b="0" i="0" u="none" strike="noStrike" cap="none">
                <a:solidFill>
                  <a:schemeClr val="dk1"/>
                </a:solidFill>
                <a:effectLst/>
                <a:latin typeface="Calibri"/>
                <a:ea typeface="Calibri"/>
                <a:cs typeface="Calibri"/>
                <a:sym typeface="Calibri"/>
              </a:rPr>
              <a:t>    return true; // Cho phép vào</a:t>
            </a:r>
          </a:p>
          <a:p>
            <a:r>
              <a:rPr lang="vi-VN" sz="1200" b="0" i="0" u="none" strike="noStrike" cap="none">
                <a:solidFill>
                  <a:schemeClr val="dk1"/>
                </a:solidFill>
                <a:effectLst/>
                <a:latin typeface="Calibri"/>
                <a:ea typeface="Calibri"/>
                <a:cs typeface="Calibri"/>
                <a:sym typeface="Calibri"/>
              </a:rPr>
              <a:t>  } else {</a:t>
            </a:r>
          </a:p>
          <a:p>
            <a:r>
              <a:rPr lang="vi-VN" sz="1200" b="0" i="0" u="none" strike="noStrike" cap="none">
                <a:solidFill>
                  <a:schemeClr val="dk1"/>
                </a:solidFill>
                <a:effectLst/>
                <a:latin typeface="Calibri"/>
                <a:ea typeface="Calibri"/>
                <a:cs typeface="Calibri"/>
                <a:sym typeface="Calibri"/>
              </a:rPr>
              <a:t>    alert('Bạn chưa đăng nhập! Tớ không thể cho You vào trang này.');</a:t>
            </a:r>
          </a:p>
          <a:p>
            <a:r>
              <a:rPr lang="vi-VN" sz="1200" b="0" i="0" u="none" strike="noStrike" cap="none">
                <a:solidFill>
                  <a:schemeClr val="dk1"/>
                </a:solidFill>
                <a:effectLst/>
                <a:latin typeface="Calibri"/>
                <a:ea typeface="Calibri"/>
                <a:cs typeface="Calibri"/>
                <a:sym typeface="Calibri"/>
              </a:rPr>
              <a:t>    // Chuyển hướng về trang nào đó, hoặc trang login</a:t>
            </a:r>
          </a:p>
          <a:p>
            <a:r>
              <a:rPr lang="vi-VN" sz="1200" b="0" i="0" u="none" strike="noStrike" cap="none">
                <a:solidFill>
                  <a:schemeClr val="dk1"/>
                </a:solidFill>
                <a:effectLst/>
                <a:latin typeface="Calibri"/>
                <a:ea typeface="Calibri"/>
                <a:cs typeface="Calibri"/>
                <a:sym typeface="Calibri"/>
              </a:rPr>
              <a:t>    return router.parseUrl(‘/</a:t>
            </a:r>
            <a:r>
              <a:rPr lang="en-US" sz="1200" b="0" i="0" u="none" strike="noStrike" cap="none">
                <a:solidFill>
                  <a:schemeClr val="dk1"/>
                </a:solidFill>
                <a:effectLst/>
                <a:latin typeface="Calibri"/>
                <a:ea typeface="Calibri"/>
                <a:cs typeface="Calibri"/>
                <a:sym typeface="Calibri"/>
              </a:rPr>
              <a:t>contacts</a:t>
            </a:r>
            <a:r>
              <a:rPr lang="vi-VN" sz="1200" b="0" i="0" u="none" strike="noStrike" cap="none">
                <a:solidFill>
                  <a:schemeClr val="dk1"/>
                </a:solidFill>
                <a:effectLst/>
                <a:latin typeface="Calibri"/>
                <a:ea typeface="Calibri"/>
                <a:cs typeface="Calibri"/>
                <a:sym typeface="Calibri"/>
              </a:rPr>
              <a:t>');</a:t>
            </a:r>
          </a:p>
          <a:p>
            <a:r>
              <a:rPr lang="vi-VN" sz="1200" b="0" i="0" u="none" strike="noStrike" cap="none">
                <a:solidFill>
                  <a:schemeClr val="dk1"/>
                </a:solidFill>
                <a:effectLst/>
                <a:latin typeface="Calibri"/>
                <a:ea typeface="Calibri"/>
                <a:cs typeface="Calibri"/>
                <a:sym typeface="Calibri"/>
              </a:rPr>
              <a:t>  }</a:t>
            </a:r>
          </a:p>
          <a:p>
            <a:r>
              <a:rPr lang="vi-VN" sz="1200" b="0" i="0" u="none" strike="noStrike" cap="none">
                <a:solidFill>
                  <a:schemeClr val="dk1"/>
                </a:solidFill>
                <a:effectLst/>
                <a:latin typeface="Calibri"/>
                <a:ea typeface="Calibri"/>
                <a:cs typeface="Calibri"/>
                <a:sym typeface="Calibri"/>
              </a:rPr>
              <a:t>};</a:t>
            </a:r>
          </a:p>
          <a:p>
            <a:br>
              <a:rPr lang="vi-VN" sz="1200" b="0" i="0" u="none" strike="noStrike" cap="none">
                <a:solidFill>
                  <a:schemeClr val="dk1"/>
                </a:solidFill>
                <a:effectLst/>
                <a:latin typeface="Calibri"/>
                <a:ea typeface="Calibri"/>
                <a:cs typeface="Calibri"/>
                <a:sym typeface="Calibri"/>
              </a:rPr>
            </a:br>
            <a:endParaRPr lang="vi-VN"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8976C88-0E18-DC52-FB0F-4D2E2584E26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211839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FAABF82-1ACB-5B7D-FF0A-831E4B5F7F7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350607A-CE08-4A76-51C1-EEB244E863D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5BC5AAF-375B-C8F2-FA1E-5B99DFB113A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7942223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C991E6C8-836D-0E87-C5C1-3CE148D4952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E6E75D1-307B-E446-A66C-DFA3A64F8C7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2CBF595-5038-70DB-0969-B68F70E393C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301806"/>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82107C4-6EA9-9618-9B11-BB942CF0C9D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10542BC-208B-7C7A-D0A3-417B57D56C3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C409F222-C67B-0AA8-A681-3C416099ADA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727586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2626E2E-EBD8-2F84-8A35-936184A14981}"/>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134FEF8-E489-0DB4-B69A-78705DED018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A236C03-C886-4305-582A-AE37C180988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109369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A9A1A68-22AB-F5C5-B990-C42EA5C7309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3AC3389-0EAB-929B-E340-7BA4B90224E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D5CC499-0461-525A-13BF-69426106F17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1879976"/>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4015456"/>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Blank">
  <p:cSld name="2_Blank">
    <p:spTree>
      <p:nvGrpSpPr>
        <p:cNvPr id="1" name="Shape 15"/>
        <p:cNvGrpSpPr/>
        <p:nvPr/>
      </p:nvGrpSpPr>
      <p:grpSpPr>
        <a:xfrm>
          <a:off x="0" y="0"/>
          <a:ext cx="0" cy="0"/>
          <a:chOff x="0" y="0"/>
          <a:chExt cx="0" cy="0"/>
        </a:xfrm>
      </p:grpSpPr>
      <p:pic>
        <p:nvPicPr>
          <p:cNvPr id="17" name="Google Shape;17;p10"/>
          <p:cNvPicPr preferRelativeResize="0"/>
          <p:nvPr/>
        </p:nvPicPr>
        <p:blipFill rotWithShape="1">
          <a:blip r:embed="rId2">
            <a:alphaModFix/>
          </a:blip>
          <a:srcRect r="-3333" b="87407"/>
          <a:stretch/>
        </p:blipFill>
        <p:spPr>
          <a:xfrm>
            <a:off x="0" y="0"/>
            <a:ext cx="12598400" cy="431800"/>
          </a:xfrm>
          <a:prstGeom prst="rect">
            <a:avLst/>
          </a:prstGeom>
          <a:noFill/>
          <a:ln>
            <a:noFill/>
          </a:ln>
        </p:spPr>
      </p:pic>
      <p:sp>
        <p:nvSpPr>
          <p:cNvPr id="18" name="Google Shape;18;p10"/>
          <p:cNvSpPr txBox="1">
            <a:spLocks noGrp="1"/>
          </p:cNvSpPr>
          <p:nvPr>
            <p:ph type="title"/>
          </p:nvPr>
        </p:nvSpPr>
        <p:spPr>
          <a:xfrm>
            <a:off x="1595351" y="2187196"/>
            <a:ext cx="9001297" cy="77858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144E8C"/>
              </a:buClr>
              <a:buSzPts val="4400"/>
              <a:buFont typeface="Lato Black"/>
              <a:buNone/>
              <a:defRPr sz="4400">
                <a:latin typeface="Lato Black"/>
                <a:ea typeface="Lato Black"/>
                <a:cs typeface="Lato Black"/>
                <a:sym typeface="La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0" name="Google Shape;20;p10"/>
          <p:cNvSpPr txBox="1"/>
          <p:nvPr/>
        </p:nvSpPr>
        <p:spPr>
          <a:xfrm>
            <a:off x="1795462" y="1047420"/>
            <a:ext cx="9144000" cy="778583"/>
          </a:xfrm>
          <a:prstGeom prst="rect">
            <a:avLst/>
          </a:prstGeom>
          <a:noFill/>
          <a:ln>
            <a:noFill/>
          </a:ln>
        </p:spPr>
        <p:txBody>
          <a:bodyPr spcFirstLastPara="1" wrap="square" lIns="91425" tIns="45700" rIns="91425" bIns="45700" anchor="b" anchorCtr="0">
            <a:noAutofit/>
          </a:bodyPr>
          <a:lstStyle/>
          <a:p>
            <a:pPr marL="0" marR="0" lvl="0" indent="0" algn="ctr" rtl="0">
              <a:lnSpc>
                <a:spcPct val="120000"/>
              </a:lnSpc>
              <a:spcBef>
                <a:spcPts val="0"/>
              </a:spcBef>
              <a:spcAft>
                <a:spcPts val="0"/>
              </a:spcAft>
              <a:buClr>
                <a:srgbClr val="144E8C"/>
              </a:buClr>
              <a:buSzPts val="2000"/>
              <a:buFont typeface="Lato Black"/>
              <a:buNone/>
            </a:pPr>
            <a:r>
              <a:rPr lang="en-US" sz="22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ĐẠI HỌC QUỐC GIA THÀNH PHỐ HỒ CHÍ MINH</a:t>
            </a:r>
            <a:br>
              <a:rPr lang="en-US" sz="22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br>
            <a:r>
              <a:rPr lang="en-US" sz="22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TRƯỜNG ĐẠI HỌC KINH TẾ - LUẬT</a:t>
            </a:r>
            <a:endParaRPr sz="2200" dirty="0">
              <a:latin typeface="Cambria" panose="02040503050406030204" pitchFamily="18" charset="0"/>
              <a:ea typeface="Cambria" panose="02040503050406030204" pitchFamily="18" charset="0"/>
            </a:endParaRPr>
          </a:p>
        </p:txBody>
      </p:sp>
      <p:pic>
        <p:nvPicPr>
          <p:cNvPr id="9" name="Picture 8" descr="A black background with orange and blue letters&#10;&#10;AI-generated content may be incorrect.">
            <a:extLst>
              <a:ext uri="{FF2B5EF4-FFF2-40B4-BE49-F238E27FC236}">
                <a16:creationId xmlns:a16="http://schemas.microsoft.com/office/drawing/2014/main" id="{50547913-6722-D6E7-E44D-4E515D7A8FF4}"/>
              </a:ext>
            </a:extLst>
          </p:cNvPr>
          <p:cNvPicPr>
            <a:picLocks noChangeAspect="1"/>
          </p:cNvPicPr>
          <p:nvPr userDrawn="1"/>
        </p:nvPicPr>
        <p:blipFill>
          <a:blip r:embed="rId3"/>
          <a:stretch>
            <a:fillRect/>
          </a:stretch>
        </p:blipFill>
        <p:spPr>
          <a:xfrm>
            <a:off x="4810125" y="157529"/>
            <a:ext cx="3114675" cy="837297"/>
          </a:xfrm>
          <a:prstGeom prst="rect">
            <a:avLst/>
          </a:prstGeom>
        </p:spPr>
      </p:pic>
      <p:pic>
        <p:nvPicPr>
          <p:cNvPr id="3" name="Picture 2" descr="A building with trees in the background&#10;&#10;AI-generated content may be incorrect.">
            <a:extLst>
              <a:ext uri="{FF2B5EF4-FFF2-40B4-BE49-F238E27FC236}">
                <a16:creationId xmlns:a16="http://schemas.microsoft.com/office/drawing/2014/main" id="{6DB4ADA3-8D58-FD0D-1C18-5213711602FE}"/>
              </a:ext>
            </a:extLst>
          </p:cNvPr>
          <p:cNvPicPr>
            <a:picLocks noChangeAspect="1"/>
          </p:cNvPicPr>
          <p:nvPr userDrawn="1"/>
        </p:nvPicPr>
        <p:blipFill>
          <a:blip r:embed="rId4"/>
          <a:stretch>
            <a:fillRect/>
          </a:stretch>
        </p:blipFill>
        <p:spPr>
          <a:xfrm>
            <a:off x="0" y="3378635"/>
            <a:ext cx="8673016" cy="347936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0"/>
        <p:cNvGrpSpPr/>
        <p:nvPr/>
      </p:nvGrpSpPr>
      <p:grpSpPr>
        <a:xfrm>
          <a:off x="0" y="0"/>
          <a:ext cx="0" cy="0"/>
          <a:chOff x="0" y="0"/>
          <a:chExt cx="0" cy="0"/>
        </a:xfrm>
      </p:grpSpPr>
      <p:sp>
        <p:nvSpPr>
          <p:cNvPr id="31" name="Google Shape;31;p12"/>
          <p:cNvSpPr txBox="1">
            <a:spLocks noGrp="1"/>
          </p:cNvSpPr>
          <p:nvPr>
            <p:ph type="title"/>
          </p:nvPr>
        </p:nvSpPr>
        <p:spPr>
          <a:xfrm>
            <a:off x="839788" y="659342"/>
            <a:ext cx="3932237" cy="10702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2"/>
          <p:cNvSpPr>
            <a:spLocks noGrp="1"/>
          </p:cNvSpPr>
          <p:nvPr>
            <p:ph type="pic" idx="2"/>
          </p:nvPr>
        </p:nvSpPr>
        <p:spPr>
          <a:xfrm>
            <a:off x="5183188" y="987425"/>
            <a:ext cx="6172200" cy="4873625"/>
          </a:xfrm>
          <a:prstGeom prst="rect">
            <a:avLst/>
          </a:prstGeom>
          <a:noFill/>
          <a:ln>
            <a:noFill/>
          </a:ln>
        </p:spPr>
        <p:txBody>
          <a:bodyPr/>
          <a:lstStyle/>
          <a:p>
            <a:endParaRPr lang="en-US"/>
          </a:p>
        </p:txBody>
      </p:sp>
      <p:sp>
        <p:nvSpPr>
          <p:cNvPr id="33" name="Google Shape;33;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34" name="Google Shape;34;p12"/>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35" name="Google Shape;35;p12"/>
          <p:cNvPicPr preferRelativeResize="0"/>
          <p:nvPr/>
        </p:nvPicPr>
        <p:blipFill rotWithShape="1">
          <a:blip r:embed="rId3">
            <a:alphaModFix/>
          </a:blip>
          <a:srcRect l="15000" t="43307" r="32291" b="37052"/>
          <a:stretch/>
        </p:blipFill>
        <p:spPr>
          <a:xfrm>
            <a:off x="211666" y="6201820"/>
            <a:ext cx="3590248" cy="656180"/>
          </a:xfrm>
          <a:prstGeom prst="rect">
            <a:avLst/>
          </a:prstGeom>
          <a:noFill/>
          <a:ln>
            <a:noFill/>
          </a:ln>
        </p:spPr>
      </p:pic>
      <p:sp>
        <p:nvSpPr>
          <p:cNvPr id="36" name="Google Shape;36;p12"/>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2"/>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70"/>
        <p:cNvGrpSpPr/>
        <p:nvPr/>
      </p:nvGrpSpPr>
      <p:grpSpPr>
        <a:xfrm>
          <a:off x="0" y="0"/>
          <a:ext cx="0" cy="0"/>
          <a:chOff x="0" y="0"/>
          <a:chExt cx="0" cy="0"/>
        </a:xfrm>
      </p:grpSpPr>
      <p:pic>
        <p:nvPicPr>
          <p:cNvPr id="71" name="Google Shape;71;p17"/>
          <p:cNvPicPr preferRelativeResize="0"/>
          <p:nvPr/>
        </p:nvPicPr>
        <p:blipFill rotWithShape="1">
          <a:blip r:embed="rId2">
            <a:alphaModFix/>
          </a:blip>
          <a:srcRect r="-3333" b="87407"/>
          <a:stretch/>
        </p:blipFill>
        <p:spPr>
          <a:xfrm>
            <a:off x="0" y="0"/>
            <a:ext cx="12598400" cy="431800"/>
          </a:xfrm>
          <a:prstGeom prst="rect">
            <a:avLst/>
          </a:prstGeom>
          <a:noFill/>
          <a:ln>
            <a:noFill/>
          </a:ln>
        </p:spPr>
      </p:pic>
      <p:sp>
        <p:nvSpPr>
          <p:cNvPr id="73" name="Google Shape;73;p17"/>
          <p:cNvSpPr txBox="1">
            <a:spLocks noGrp="1"/>
          </p:cNvSpPr>
          <p:nvPr>
            <p:ph type="title"/>
          </p:nvPr>
        </p:nvSpPr>
        <p:spPr>
          <a:xfrm>
            <a:off x="838200" y="2581306"/>
            <a:ext cx="10515600" cy="156674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144E8C"/>
              </a:buClr>
              <a:buSzPts val="9600"/>
              <a:buFont typeface="Lato Black"/>
              <a:buNone/>
              <a:defRPr sz="9600">
                <a:latin typeface="Lato Black"/>
                <a:ea typeface="Lato Black"/>
                <a:cs typeface="Lato Black"/>
                <a:sym typeface="La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7"/>
          <p:cNvSpPr txBox="1"/>
          <p:nvPr/>
        </p:nvSpPr>
        <p:spPr>
          <a:xfrm>
            <a:off x="2805445" y="1276338"/>
            <a:ext cx="6410498" cy="688410"/>
          </a:xfrm>
          <a:prstGeom prst="rect">
            <a:avLst/>
          </a:prstGeom>
          <a:no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Clr>
                <a:srgbClr val="144E8C"/>
              </a:buClr>
              <a:buSzPts val="2000"/>
              <a:buFont typeface="Lato Black"/>
              <a:buNone/>
            </a:pPr>
            <a:r>
              <a:rPr lang="en-US" sz="20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ĐẠI HỌC QUỐC GIA THÀNH PHỐ HỒ CHÍ MINH</a:t>
            </a:r>
            <a:br>
              <a:rPr lang="en-US" sz="20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br>
            <a:r>
              <a:rPr lang="en-US" sz="20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TRƯỜNG ĐẠI HỌC KINH TẾ - LUẬT</a:t>
            </a:r>
            <a:endParaRPr dirty="0">
              <a:latin typeface="Cambria" panose="02040503050406030204" pitchFamily="18" charset="0"/>
              <a:ea typeface="Cambria" panose="02040503050406030204" pitchFamily="18" charset="0"/>
            </a:endParaRPr>
          </a:p>
        </p:txBody>
      </p:sp>
      <p:pic>
        <p:nvPicPr>
          <p:cNvPr id="2" name="Picture 1" descr="A black background with orange and blue letters&#10;&#10;AI-generated content may be incorrect.">
            <a:extLst>
              <a:ext uri="{FF2B5EF4-FFF2-40B4-BE49-F238E27FC236}">
                <a16:creationId xmlns:a16="http://schemas.microsoft.com/office/drawing/2014/main" id="{ED53AD9A-C69E-70AE-0C10-4BD9BD469474}"/>
              </a:ext>
            </a:extLst>
          </p:cNvPr>
          <p:cNvPicPr>
            <a:picLocks noChangeAspect="1"/>
          </p:cNvPicPr>
          <p:nvPr userDrawn="1"/>
        </p:nvPicPr>
        <p:blipFill>
          <a:blip r:embed="rId3"/>
          <a:stretch>
            <a:fillRect/>
          </a:stretch>
        </p:blipFill>
        <p:spPr>
          <a:xfrm>
            <a:off x="4810125" y="282112"/>
            <a:ext cx="3114675" cy="837297"/>
          </a:xfrm>
          <a:prstGeom prst="rect">
            <a:avLst/>
          </a:prstGeom>
        </p:spPr>
      </p:pic>
      <p:pic>
        <p:nvPicPr>
          <p:cNvPr id="4" name="Picture 3" descr="A building with many windows&#10;&#10;AI-generated content may be incorrect.">
            <a:extLst>
              <a:ext uri="{FF2B5EF4-FFF2-40B4-BE49-F238E27FC236}">
                <a16:creationId xmlns:a16="http://schemas.microsoft.com/office/drawing/2014/main" id="{EC1E6BDF-4BEB-2008-DF3B-361BBA44A129}"/>
              </a:ext>
            </a:extLst>
          </p:cNvPr>
          <p:cNvPicPr>
            <a:picLocks noChangeAspect="1"/>
          </p:cNvPicPr>
          <p:nvPr userDrawn="1"/>
        </p:nvPicPr>
        <p:blipFill>
          <a:blip r:embed="rId4"/>
          <a:stretch>
            <a:fillRect/>
          </a:stretch>
        </p:blipFill>
        <p:spPr>
          <a:xfrm>
            <a:off x="175386" y="4743155"/>
            <a:ext cx="11841227" cy="211484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6"/>
        <p:cNvGrpSpPr/>
        <p:nvPr/>
      </p:nvGrpSpPr>
      <p:grpSpPr>
        <a:xfrm>
          <a:off x="0" y="0"/>
          <a:ext cx="0" cy="0"/>
          <a:chOff x="0" y="0"/>
          <a:chExt cx="0" cy="0"/>
        </a:xfrm>
      </p:grpSpPr>
      <p:sp>
        <p:nvSpPr>
          <p:cNvPr id="77" name="Google Shape;77;p18"/>
          <p:cNvSpPr txBox="1">
            <a:spLocks noGrp="1"/>
          </p:cNvSpPr>
          <p:nvPr>
            <p:ph type="title"/>
          </p:nvPr>
        </p:nvSpPr>
        <p:spPr>
          <a:xfrm>
            <a:off x="839788" y="577547"/>
            <a:ext cx="3932237" cy="129225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9" name="Google Shape;79;p18"/>
          <p:cNvSpPr txBox="1">
            <a:spLocks noGrp="1"/>
          </p:cNvSpPr>
          <p:nvPr>
            <p:ph type="body" idx="2"/>
          </p:nvPr>
        </p:nvSpPr>
        <p:spPr>
          <a:xfrm>
            <a:off x="839788" y="2201630"/>
            <a:ext cx="3932237" cy="366735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80" name="Google Shape;80;p18"/>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81" name="Google Shape;81;p18"/>
          <p:cNvPicPr preferRelativeResize="0"/>
          <p:nvPr/>
        </p:nvPicPr>
        <p:blipFill rotWithShape="1">
          <a:blip r:embed="rId3">
            <a:alphaModFix/>
          </a:blip>
          <a:srcRect l="24127" t="66898" r="25919" b="25925"/>
          <a:stretch/>
        </p:blipFill>
        <p:spPr>
          <a:xfrm>
            <a:off x="810734" y="1911095"/>
            <a:ext cx="2855494" cy="115369"/>
          </a:xfrm>
          <a:prstGeom prst="rect">
            <a:avLst/>
          </a:prstGeom>
          <a:noFill/>
          <a:ln>
            <a:noFill/>
          </a:ln>
        </p:spPr>
      </p:pic>
      <p:pic>
        <p:nvPicPr>
          <p:cNvPr id="82" name="Google Shape;82;p18"/>
          <p:cNvPicPr preferRelativeResize="0"/>
          <p:nvPr/>
        </p:nvPicPr>
        <p:blipFill rotWithShape="1">
          <a:blip r:embed="rId4">
            <a:alphaModFix/>
          </a:blip>
          <a:srcRect l="15000" t="43307" r="32291" b="37052"/>
          <a:stretch/>
        </p:blipFill>
        <p:spPr>
          <a:xfrm>
            <a:off x="211666" y="6160255"/>
            <a:ext cx="3590248" cy="656180"/>
          </a:xfrm>
          <a:prstGeom prst="rect">
            <a:avLst/>
          </a:prstGeom>
          <a:noFill/>
          <a:ln>
            <a:noFill/>
          </a:ln>
        </p:spPr>
      </p:pic>
      <p:sp>
        <p:nvSpPr>
          <p:cNvPr id="83" name="Google Shape;83;p18"/>
          <p:cNvSpPr txBox="1">
            <a:spLocks noGrp="1"/>
          </p:cNvSpPr>
          <p:nvPr>
            <p:ph type="ftr" idx="11"/>
          </p:nvPr>
        </p:nvSpPr>
        <p:spPr>
          <a:xfrm>
            <a:off x="728132" y="6387798"/>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8"/>
          <p:cNvSpPr txBox="1">
            <a:spLocks noGrp="1"/>
          </p:cNvSpPr>
          <p:nvPr>
            <p:ph type="sldNum" idx="12"/>
          </p:nvPr>
        </p:nvSpPr>
        <p:spPr>
          <a:xfrm>
            <a:off x="3098799" y="6335940"/>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85"/>
        <p:cNvGrpSpPr/>
        <p:nvPr/>
      </p:nvGrpSpPr>
      <p:grpSpPr>
        <a:xfrm>
          <a:off x="0" y="0"/>
          <a:ext cx="0" cy="0"/>
          <a:chOff x="0" y="0"/>
          <a:chExt cx="0" cy="0"/>
        </a:xfrm>
      </p:grpSpPr>
      <p:sp>
        <p:nvSpPr>
          <p:cNvPr id="86" name="Google Shape;86;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144E8C"/>
              </a:buClr>
              <a:buSzPts val="4400"/>
              <a:buFont typeface="Lato Black"/>
              <a:buNone/>
              <a:defRPr sz="4400" b="1" i="0" u="none" strike="noStrike" cap="none">
                <a:solidFill>
                  <a:srgbClr val="144E8C"/>
                </a:solidFill>
                <a:latin typeface="Lato Black"/>
                <a:ea typeface="Lato Black"/>
                <a:cs typeface="Lato Black"/>
                <a:sym typeface="Lato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1"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1"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1"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6" r:id="rId3"/>
    <p:sldLayoutId id="2147483657" r:id="rId4"/>
    <p:sldLayoutId id="2147483658"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thanhtd@uel.edu.v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tranduythanh.com/"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5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70.xml"/><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7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hyperlink" Target="http://localhost:4200/" TargetMode="External"/><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80.xml"/><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8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81.xml"/><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84.xml"/><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8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hyperlink" Target="http://localhost:4200/lazyinfo" TargetMode="External"/><Relationship Id="rId2" Type="http://schemas.openxmlformats.org/officeDocument/2006/relationships/notesSlide" Target="../notesSlides/notesSlide95.xml"/><Relationship Id="rId1" Type="http://schemas.openxmlformats.org/officeDocument/2006/relationships/slideLayout" Target="../slideLayouts/slideLayout2.xml"/><Relationship Id="rId4" Type="http://schemas.openxmlformats.org/officeDocument/2006/relationships/image" Target="../media/image93.png"/></Relationships>
</file>

<file path=ppt/slides/_rels/slide9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97.xml"/><Relationship Id="rId1" Type="http://schemas.openxmlformats.org/officeDocument/2006/relationships/slideLayout" Target="../slideLayouts/slideLayout2.xml"/><Relationship Id="rId4" Type="http://schemas.openxmlformats.org/officeDocument/2006/relationships/image" Target="../media/image96.png"/></Relationships>
</file>

<file path=ppt/slides/_rels/slide98.xml.rels><?xml version="1.0" encoding="UTF-8" standalone="yes"?>
<Relationships xmlns="http://schemas.openxmlformats.org/package/2006/relationships"><Relationship Id="rId3" Type="http://schemas.openxmlformats.org/officeDocument/2006/relationships/hyperlink" Target="http://localhost:4200/lazyinfo" TargetMode="External"/><Relationship Id="rId2" Type="http://schemas.openxmlformats.org/officeDocument/2006/relationships/notesSlide" Target="../notesSlides/notesSlide98.xml"/><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6" name="Title 1">
            <a:extLst>
              <a:ext uri="{FF2B5EF4-FFF2-40B4-BE49-F238E27FC236}">
                <a16:creationId xmlns:a16="http://schemas.microsoft.com/office/drawing/2014/main" id="{7F9BAC58-9AA6-A91A-085E-F1421DCCF43A}"/>
              </a:ext>
            </a:extLst>
          </p:cNvPr>
          <p:cNvSpPr txBox="1">
            <a:spLocks/>
          </p:cNvSpPr>
          <p:nvPr/>
        </p:nvSpPr>
        <p:spPr bwMode="auto">
          <a:xfrm>
            <a:off x="2003449" y="2025748"/>
            <a:ext cx="8763000" cy="151298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lnSpc>
                <a:spcPct val="150000"/>
              </a:lnSpc>
              <a:defRPr/>
            </a:pPr>
            <a:r>
              <a:rPr lang="en-US" sz="2800" b="0" kern="0" dirty="0" err="1">
                <a:solidFill>
                  <a:srgbClr val="002060"/>
                </a:solidFill>
                <a:latin typeface="Times New Roman" panose="02020603050405020304" pitchFamily="18" charset="0"/>
                <a:cs typeface="Times New Roman" panose="02020603050405020304" pitchFamily="18" charset="0"/>
              </a:rPr>
              <a:t>Chương</a:t>
            </a:r>
            <a:r>
              <a:rPr lang="en-US" sz="2800" b="0" kern="0">
                <a:solidFill>
                  <a:srgbClr val="002060"/>
                </a:solidFill>
                <a:latin typeface="Times New Roman" panose="02020603050405020304" pitchFamily="18" charset="0"/>
                <a:cs typeface="Times New Roman" panose="02020603050405020304" pitchFamily="18" charset="0"/>
              </a:rPr>
              <a:t> IV:</a:t>
            </a:r>
            <a:endParaRPr lang="en-US" sz="2800" u="sng" dirty="0">
              <a:solidFill>
                <a:srgbClr val="002060"/>
              </a:solidFill>
              <a:latin typeface="Times New Roman" panose="02020603050405020304" pitchFamily="18" charset="0"/>
              <a:cs typeface="Times New Roman" panose="02020603050405020304" pitchFamily="18" charset="0"/>
            </a:endParaRPr>
          </a:p>
          <a:p>
            <a:pPr>
              <a:lnSpc>
                <a:spcPct val="150000"/>
              </a:lnSpc>
              <a:defRPr/>
            </a:pPr>
            <a:r>
              <a:rPr lang="vi-VN" sz="2800" kern="0" dirty="0">
                <a:solidFill>
                  <a:srgbClr val="002060"/>
                </a:solidFill>
                <a:latin typeface="Times New Roman" panose="02020603050405020304" pitchFamily="18" charset="0"/>
                <a:cs typeface="Times New Roman" panose="02020603050405020304" pitchFamily="18" charset="0"/>
              </a:rPr>
              <a:t>Routing trong Angular</a:t>
            </a:r>
            <a:endParaRPr lang="en-US" sz="2800" kern="0"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9B20803-11F7-E1E5-2F3E-F97179298A37}"/>
              </a:ext>
            </a:extLst>
          </p:cNvPr>
          <p:cNvSpPr txBox="1"/>
          <p:nvPr/>
        </p:nvSpPr>
        <p:spPr>
          <a:xfrm>
            <a:off x="7720040" y="4262543"/>
            <a:ext cx="3852337" cy="1785104"/>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200" u="sng" dirty="0" err="1">
                <a:latin typeface="Times New Roman" panose="02020603050405020304" pitchFamily="18" charset="0"/>
                <a:cs typeface="Times New Roman" panose="02020603050405020304" pitchFamily="18" charset="0"/>
              </a:rPr>
              <a:t>Giảng</a:t>
            </a:r>
            <a:r>
              <a:rPr lang="en-US" sz="2200" u="sng" dirty="0">
                <a:latin typeface="Times New Roman" panose="02020603050405020304" pitchFamily="18" charset="0"/>
                <a:cs typeface="Times New Roman" panose="02020603050405020304" pitchFamily="18" charset="0"/>
              </a:rPr>
              <a:t> </a:t>
            </a:r>
            <a:r>
              <a:rPr lang="en-US" sz="2200" u="sng" dirty="0" err="1">
                <a:latin typeface="Times New Roman" panose="02020603050405020304" pitchFamily="18" charset="0"/>
                <a:cs typeface="Times New Roman" panose="02020603050405020304" pitchFamily="18" charset="0"/>
              </a:rPr>
              <a:t>viên</a:t>
            </a:r>
            <a:r>
              <a:rPr lang="en-US" sz="2200" u="sng" dirty="0">
                <a:latin typeface="Times New Roman" panose="02020603050405020304" pitchFamily="18" charset="0"/>
                <a:cs typeface="Times New Roman" panose="02020603050405020304" pitchFamily="18" charset="0"/>
              </a:rPr>
              <a:t>:</a:t>
            </a:r>
          </a:p>
          <a:p>
            <a:r>
              <a:rPr lang="en-US" sz="2200" b="1" dirty="0">
                <a:solidFill>
                  <a:srgbClr val="002060"/>
                </a:solidFill>
                <a:latin typeface="Times New Roman" panose="02020603050405020304" pitchFamily="18" charset="0"/>
                <a:cs typeface="Times New Roman" panose="02020603050405020304" pitchFamily="18" charset="0"/>
              </a:rPr>
              <a:t>TS. Trần Duy Thanh</a:t>
            </a:r>
          </a:p>
          <a:p>
            <a:r>
              <a:rPr lang="en-US" sz="2200" dirty="0">
                <a:latin typeface="Times New Roman" panose="02020603050405020304" pitchFamily="18" charset="0"/>
                <a:cs typeface="Times New Roman" panose="02020603050405020304" pitchFamily="18" charset="0"/>
              </a:rPr>
              <a:t>Email: </a:t>
            </a:r>
            <a:r>
              <a:rPr lang="en-US" sz="2200" dirty="0">
                <a:latin typeface="Times New Roman" panose="02020603050405020304" pitchFamily="18" charset="0"/>
                <a:cs typeface="Times New Roman" panose="02020603050405020304" pitchFamily="18" charset="0"/>
                <a:hlinkClick r:id="rId3"/>
              </a:rPr>
              <a:t>thanhtd@uel.edu.vn</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Phone: 0987773061</a:t>
            </a:r>
          </a:p>
          <a:p>
            <a:r>
              <a:rPr lang="en-US" sz="2200" dirty="0">
                <a:latin typeface="Times New Roman" panose="02020603050405020304" pitchFamily="18" charset="0"/>
                <a:cs typeface="Times New Roman" panose="02020603050405020304" pitchFamily="18" charset="0"/>
              </a:rPr>
              <a:t>Blog: </a:t>
            </a:r>
            <a:r>
              <a:rPr lang="en-US" sz="2200" dirty="0">
                <a:latin typeface="Times New Roman" panose="02020603050405020304" pitchFamily="18" charset="0"/>
                <a:cs typeface="Times New Roman" panose="02020603050405020304" pitchFamily="18" charset="0"/>
                <a:hlinkClick r:id="rId4"/>
              </a:rPr>
              <a:t>https://tranduythanh.com</a:t>
            </a:r>
            <a:r>
              <a:rPr lang="en-US" sz="2200"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262128" y="261944"/>
            <a:ext cx="4620576" cy="508000"/>
            <a:chOff x="789624" y="1191463"/>
            <a:chExt cx="4620576"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Mục tiêu của Chương IV</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381000" y="821802"/>
            <a:ext cx="11430000" cy="550384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None/>
            </a:pPr>
            <a:r>
              <a:rPr lang="vi-VN" sz="2400">
                <a:latin typeface="Cambria" panose="02040503050406030204" pitchFamily="18" charset="0"/>
              </a:rPr>
              <a:t>Chương này trang bị cho sinh viên kiến thức chuyên sâu về hệ thống </a:t>
            </a:r>
            <a:r>
              <a:rPr lang="vi-VN" sz="2400" b="1">
                <a:latin typeface="Cambria" panose="02040503050406030204" pitchFamily="18" charset="0"/>
              </a:rPr>
              <a:t>Routing</a:t>
            </a:r>
            <a:r>
              <a:rPr lang="vi-VN" sz="2400">
                <a:latin typeface="Cambria" panose="02040503050406030204" pitchFamily="18" charset="0"/>
              </a:rPr>
              <a:t> để xây dựng kiến trúc Single Page Application (SPA) tối ưu. </a:t>
            </a:r>
            <a:r>
              <a:rPr lang="en-US" sz="2400">
                <a:latin typeface="Cambria" panose="02040503050406030204" pitchFamily="18" charset="0"/>
              </a:rPr>
              <a:t>Chương này </a:t>
            </a:r>
            <a:r>
              <a:rPr lang="vi-VN" sz="2400">
                <a:latin typeface="Cambria" panose="02040503050406030204" pitchFamily="18" charset="0"/>
              </a:rPr>
              <a:t>sẽ đi từ việc phân tích cơ chế điều hướng client-side thay thế mô hình đa trang truyền thống, đến thực thi cấu hình Routes trong AppRoutingModule bằng các directive như </a:t>
            </a:r>
            <a:r>
              <a:rPr lang="vi-VN" sz="2400" b="1">
                <a:latin typeface="Cambria" panose="02040503050406030204" pitchFamily="18" charset="0"/>
              </a:rPr>
              <a:t>router-outlet</a:t>
            </a:r>
            <a:r>
              <a:rPr lang="vi-VN" sz="2400">
                <a:latin typeface="Cambria" panose="02040503050406030204" pitchFamily="18" charset="0"/>
              </a:rPr>
              <a:t> và </a:t>
            </a:r>
            <a:r>
              <a:rPr lang="vi-VN" sz="2400" b="1">
                <a:latin typeface="Cambria" panose="02040503050406030204" pitchFamily="18" charset="0"/>
              </a:rPr>
              <a:t>routerLink</a:t>
            </a:r>
            <a:r>
              <a:rPr lang="vi-VN" sz="2400">
                <a:latin typeface="Cambria" panose="02040503050406030204" pitchFamily="18" charset="0"/>
              </a:rPr>
              <a:t>. Nội dung trọng tâm bao gồm xử lý Dynamic Routes thông qua tham số (:id, :slug), truy xuất dữ liệu bằng </a:t>
            </a:r>
            <a:r>
              <a:rPr lang="vi-VN" sz="2400" b="1">
                <a:latin typeface="Cambria" panose="02040503050406030204" pitchFamily="18" charset="0"/>
              </a:rPr>
              <a:t>ActivatedRoute</a:t>
            </a:r>
            <a:r>
              <a:rPr lang="vi-VN" sz="2400">
                <a:latin typeface="Cambria" panose="02040503050406030204" pitchFamily="18" charset="0"/>
              </a:rPr>
              <a:t> và tổ chức Child Routes cho các layout phức tạp. Cuối cùng, sinh viên sẽ làm chủ các kỹ thuật nâng cao như </a:t>
            </a:r>
            <a:r>
              <a:rPr lang="vi-VN" sz="2400" b="1">
                <a:latin typeface="Cambria" panose="02040503050406030204" pitchFamily="18" charset="0"/>
              </a:rPr>
              <a:t>Lazy Loading</a:t>
            </a:r>
            <a:r>
              <a:rPr lang="vi-VN" sz="2400">
                <a:latin typeface="Cambria" panose="02040503050406030204" pitchFamily="18" charset="0"/>
              </a:rPr>
              <a:t> để tối ưu hóa bundle size, thiết lập </a:t>
            </a:r>
            <a:r>
              <a:rPr lang="vi-VN" sz="2400" b="1">
                <a:latin typeface="Cambria" panose="02040503050406030204" pitchFamily="18" charset="0"/>
              </a:rPr>
              <a:t>Route Guards </a:t>
            </a:r>
            <a:r>
              <a:rPr lang="vi-VN" sz="2400">
                <a:latin typeface="Cambria" panose="02040503050406030204" pitchFamily="18" charset="0"/>
              </a:rPr>
              <a:t>nhằm phân quyền truy cập và tích hợp Route Animation giúp nâng cấp UI/UX chuyên nghiệp cho ứng dụng Angular.</a:t>
            </a:r>
            <a:endParaRPr lang="en-US" sz="2400" dirty="0">
              <a:latin typeface="Cambria" panose="02040503050406030204" pitchFamily="18" charset="0"/>
            </a:endParaRPr>
          </a:p>
        </p:txBody>
      </p:sp>
    </p:spTree>
    <p:extLst>
      <p:ext uri="{BB962C8B-B14F-4D97-AF65-F5344CB8AC3E}">
        <p14:creationId xmlns:p14="http://schemas.microsoft.com/office/powerpoint/2010/main" val="2703459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214276" y="201575"/>
            <a:ext cx="7272804" cy="508000"/>
            <a:chOff x="789624" y="1191463"/>
            <a:chExt cx="7272804"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BD56F04-295F-5363-D417-108007E712F9}"/>
              </a:ext>
            </a:extLst>
          </p:cNvPr>
          <p:cNvSpPr txBox="1"/>
          <p:nvPr/>
        </p:nvSpPr>
        <p:spPr>
          <a:xfrm>
            <a:off x="462279" y="665660"/>
            <a:ext cx="11564547" cy="5632311"/>
          </a:xfrm>
          <a:prstGeom prst="rect">
            <a:avLst/>
          </a:prstGeom>
          <a:noFill/>
        </p:spPr>
        <p:txBody>
          <a:bodyPr wrap="square">
            <a:spAutoFit/>
          </a:bodyPr>
          <a:lstStyle/>
          <a:p>
            <a:pPr marL="457200" indent="-457200" algn="just">
              <a:buFont typeface="Wingdings" panose="05000000000000000000" pitchFamily="2" charset="2"/>
              <a:buChar char="v"/>
            </a:pPr>
            <a:r>
              <a:rPr lang="vi-VN" sz="2000" b="1">
                <a:latin typeface="Times New Roman" panose="02020603050405020304" pitchFamily="18" charset="0"/>
                <a:cs typeface="Times New Roman" panose="02020603050405020304" pitchFamily="18" charset="0"/>
              </a:rPr>
              <a:t>4.1. Giới thiệu về Routing</a:t>
            </a:r>
          </a:p>
          <a:p>
            <a:pPr marL="457200" indent="-457200" algn="just">
              <a:buFont typeface="Wingdings" panose="05000000000000000000" pitchFamily="2" charset="2"/>
              <a:buChar char="ü"/>
            </a:pPr>
            <a:r>
              <a:rPr lang="vi-VN" sz="2000">
                <a:latin typeface="Times New Roman" panose="02020603050405020304" pitchFamily="18" charset="0"/>
                <a:cs typeface="Times New Roman" panose="02020603050405020304" pitchFamily="18" charset="0"/>
              </a:rPr>
              <a:t>4.1.1. </a:t>
            </a:r>
            <a:r>
              <a:rPr lang="en-US" sz="2000">
                <a:latin typeface="Times New Roman" panose="02020603050405020304" pitchFamily="18" charset="0"/>
                <a:cs typeface="Times New Roman" panose="02020603050405020304" pitchFamily="18" charset="0"/>
              </a:rPr>
              <a:t> </a:t>
            </a:r>
            <a:r>
              <a:rPr lang="vi-VN" sz="2000">
                <a:latin typeface="Times New Roman" panose="02020603050405020304" pitchFamily="18" charset="0"/>
                <a:cs typeface="Times New Roman" panose="02020603050405020304" pitchFamily="18" charset="0"/>
              </a:rPr>
              <a:t>Single Page Application (SPA) là gì? Tại sao cần Routing</a:t>
            </a:r>
          </a:p>
          <a:p>
            <a:pPr marL="457200" indent="-457200" algn="just">
              <a:buFont typeface="Wingdings" panose="05000000000000000000" pitchFamily="2" charset="2"/>
              <a:buChar char="ü"/>
            </a:pPr>
            <a:r>
              <a:rPr lang="vi-VN" sz="2000">
                <a:latin typeface="Times New Roman" panose="02020603050405020304" pitchFamily="18" charset="0"/>
                <a:cs typeface="Times New Roman" panose="02020603050405020304" pitchFamily="18" charset="0"/>
              </a:rPr>
              <a:t>4.1.2.</a:t>
            </a:r>
            <a:r>
              <a:rPr lang="en-US" sz="2000">
                <a:latin typeface="Times New Roman" panose="02020603050405020304" pitchFamily="18" charset="0"/>
                <a:cs typeface="Times New Roman" panose="02020603050405020304" pitchFamily="18" charset="0"/>
              </a:rPr>
              <a:t>  </a:t>
            </a:r>
            <a:r>
              <a:rPr lang="vi-VN" sz="2000">
                <a:latin typeface="Times New Roman" panose="02020603050405020304" pitchFamily="18" charset="0"/>
                <a:cs typeface="Times New Roman" panose="02020603050405020304" pitchFamily="18" charset="0"/>
              </a:rPr>
              <a:t>Cơ chế routing hoạt động trong Angular.</a:t>
            </a:r>
          </a:p>
          <a:p>
            <a:pPr marL="457200" indent="-457200" algn="just">
              <a:buFont typeface="Wingdings" panose="05000000000000000000" pitchFamily="2" charset="2"/>
              <a:buChar char="ü"/>
            </a:pPr>
            <a:r>
              <a:rPr lang="vi-VN" sz="2000">
                <a:latin typeface="Times New Roman" panose="02020603050405020304" pitchFamily="18" charset="0"/>
                <a:cs typeface="Times New Roman" panose="02020603050405020304" pitchFamily="18" charset="0"/>
              </a:rPr>
              <a:t>4.1.3. So sánh với routing truyền thống (đa trang)</a:t>
            </a:r>
          </a:p>
          <a:p>
            <a:pPr marL="457200" indent="-457200" algn="just">
              <a:buFont typeface="Wingdings" panose="05000000000000000000" pitchFamily="2" charset="2"/>
              <a:buChar char="v"/>
            </a:pPr>
            <a:r>
              <a:rPr lang="vi-VN" sz="2000" b="1">
                <a:latin typeface="Times New Roman" panose="02020603050405020304" pitchFamily="18" charset="0"/>
                <a:cs typeface="Times New Roman" panose="02020603050405020304" pitchFamily="18" charset="0"/>
              </a:rPr>
              <a:t>4.2. Cấu hình Routing cơ bản</a:t>
            </a:r>
          </a:p>
          <a:p>
            <a:pPr marL="457200" indent="-457200" algn="just">
              <a:buFont typeface="Wingdings" panose="05000000000000000000" pitchFamily="2" charset="2"/>
              <a:buChar char="ü"/>
            </a:pPr>
            <a:r>
              <a:rPr lang="vi-VN" sz="2000">
                <a:latin typeface="Times New Roman" panose="02020603050405020304" pitchFamily="18" charset="0"/>
                <a:cs typeface="Times New Roman" panose="02020603050405020304" pitchFamily="18" charset="0"/>
              </a:rPr>
              <a:t>4.2.1. Tạo app-routing.module.ts</a:t>
            </a:r>
          </a:p>
          <a:p>
            <a:pPr marL="457200" indent="-457200" algn="just">
              <a:buFont typeface="Wingdings" panose="05000000000000000000" pitchFamily="2" charset="2"/>
              <a:buChar char="ü"/>
            </a:pPr>
            <a:r>
              <a:rPr lang="vi-VN" sz="2000">
                <a:latin typeface="Times New Roman" panose="02020603050405020304" pitchFamily="18" charset="0"/>
                <a:cs typeface="Times New Roman" panose="02020603050405020304" pitchFamily="18" charset="0"/>
              </a:rPr>
              <a:t>4.2.2. Khai báo các Route cơ bản</a:t>
            </a:r>
          </a:p>
          <a:p>
            <a:pPr marL="457200" indent="-457200" algn="just">
              <a:buFont typeface="Wingdings" panose="05000000000000000000" pitchFamily="2" charset="2"/>
              <a:buChar char="ü"/>
            </a:pPr>
            <a:r>
              <a:rPr lang="vi-VN" sz="2000">
                <a:latin typeface="Times New Roman" panose="02020603050405020304" pitchFamily="18" charset="0"/>
                <a:cs typeface="Times New Roman" panose="02020603050405020304" pitchFamily="18" charset="0"/>
              </a:rPr>
              <a:t>4.2.3. Cách sử dụng router-outlet và routerLink</a:t>
            </a:r>
          </a:p>
          <a:p>
            <a:pPr marL="457200" indent="-457200" algn="just">
              <a:buFont typeface="Wingdings" panose="05000000000000000000" pitchFamily="2" charset="2"/>
              <a:buChar char="v"/>
            </a:pPr>
            <a:r>
              <a:rPr lang="vi-VN" sz="2000" b="1">
                <a:latin typeface="Times New Roman" panose="02020603050405020304" pitchFamily="18" charset="0"/>
                <a:cs typeface="Times New Roman" panose="02020603050405020304" pitchFamily="18" charset="0"/>
              </a:rPr>
              <a:t>4.3. Cấu hình Routing nâng cao</a:t>
            </a:r>
          </a:p>
          <a:p>
            <a:pPr marL="457200" indent="-457200" algn="just">
              <a:buFont typeface="Wingdings" panose="05000000000000000000" pitchFamily="2" charset="2"/>
              <a:buChar char="ü"/>
            </a:pPr>
            <a:r>
              <a:rPr lang="vi-VN" sz="2000">
                <a:latin typeface="Times New Roman" panose="02020603050405020304" pitchFamily="18" charset="0"/>
                <a:cs typeface="Times New Roman" panose="02020603050405020304" pitchFamily="18" charset="0"/>
              </a:rPr>
              <a:t>4.3.1. Route với tham số :id</a:t>
            </a:r>
          </a:p>
          <a:p>
            <a:pPr marL="457200" indent="-457200" algn="just">
              <a:buFont typeface="Wingdings" panose="05000000000000000000" pitchFamily="2" charset="2"/>
              <a:buChar char="ü"/>
            </a:pPr>
            <a:r>
              <a:rPr lang="vi-VN" sz="2000">
                <a:latin typeface="Times New Roman" panose="02020603050405020304" pitchFamily="18" charset="0"/>
                <a:cs typeface="Times New Roman" panose="02020603050405020304" pitchFamily="18" charset="0"/>
              </a:rPr>
              <a:t>4.3.</a:t>
            </a:r>
            <a:r>
              <a:rPr lang="en-US" sz="2000">
                <a:latin typeface="Times New Roman" panose="02020603050405020304" pitchFamily="18" charset="0"/>
                <a:cs typeface="Times New Roman" panose="02020603050405020304" pitchFamily="18" charset="0"/>
              </a:rPr>
              <a:t>2</a:t>
            </a:r>
            <a:r>
              <a:rPr lang="vi-VN" sz="2000">
                <a:latin typeface="Times New Roman" panose="02020603050405020304" pitchFamily="18" charset="0"/>
                <a:cs typeface="Times New Roman" panose="02020603050405020304" pitchFamily="18" charset="0"/>
              </a:rPr>
              <a:t>. Redirect routes</a:t>
            </a:r>
            <a:endParaRPr lang="en-US" sz="200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ü"/>
            </a:pPr>
            <a:r>
              <a:rPr lang="vi-VN" sz="2000">
                <a:latin typeface="Times New Roman" panose="02020603050405020304" pitchFamily="18" charset="0"/>
                <a:cs typeface="Times New Roman" panose="02020603050405020304" pitchFamily="18" charset="0"/>
              </a:rPr>
              <a:t>4.3.</a:t>
            </a:r>
            <a:r>
              <a:rPr lang="en-US" sz="2000">
                <a:latin typeface="Times New Roman" panose="02020603050405020304" pitchFamily="18" charset="0"/>
                <a:cs typeface="Times New Roman" panose="02020603050405020304" pitchFamily="18" charset="0"/>
              </a:rPr>
              <a:t>3</a:t>
            </a:r>
            <a:r>
              <a:rPr lang="vi-VN" sz="2000">
                <a:latin typeface="Times New Roman" panose="02020603050405020304" pitchFamily="18" charset="0"/>
                <a:cs typeface="Times New Roman" panose="02020603050405020304" pitchFamily="18" charset="0"/>
              </a:rPr>
              <a:t>. Route với slug</a:t>
            </a:r>
            <a:r>
              <a:rPr lang="en-US" sz="2000">
                <a:latin typeface="Times New Roman" panose="02020603050405020304" pitchFamily="18" charset="0"/>
                <a:cs typeface="Times New Roman" panose="02020603050405020304" pitchFamily="18" charset="0"/>
              </a:rPr>
              <a:t> hỗ trợ kỹ thuật SEO</a:t>
            </a:r>
          </a:p>
          <a:p>
            <a:pPr marL="457200" indent="-457200" algn="just">
              <a:buFont typeface="Wingdings" panose="05000000000000000000" pitchFamily="2" charset="2"/>
              <a:buChar char="ü"/>
            </a:pPr>
            <a:r>
              <a:rPr lang="vi-VN" sz="2000">
                <a:latin typeface="Times New Roman" panose="02020603050405020304" pitchFamily="18" charset="0"/>
                <a:cs typeface="Times New Roman" panose="02020603050405020304" pitchFamily="18" charset="0"/>
              </a:rPr>
              <a:t>4.</a:t>
            </a:r>
            <a:r>
              <a:rPr lang="en-US" sz="2000">
                <a:latin typeface="Times New Roman" panose="02020603050405020304" pitchFamily="18" charset="0"/>
                <a:cs typeface="Times New Roman" panose="02020603050405020304" pitchFamily="18" charset="0"/>
              </a:rPr>
              <a:t>3</a:t>
            </a:r>
            <a:r>
              <a:rPr lang="vi-VN" sz="2000">
                <a:latin typeface="Times New Roman" panose="02020603050405020304" pitchFamily="18" charset="0"/>
                <a:cs typeface="Times New Roman" panose="02020603050405020304" pitchFamily="18" charset="0"/>
              </a:rPr>
              <a:t>.</a:t>
            </a:r>
            <a:r>
              <a:rPr lang="en-US" sz="2000">
                <a:latin typeface="Times New Roman" panose="02020603050405020304" pitchFamily="18" charset="0"/>
                <a:cs typeface="Times New Roman" panose="02020603050405020304" pitchFamily="18" charset="0"/>
              </a:rPr>
              <a:t>4</a:t>
            </a:r>
            <a:r>
              <a:rPr lang="vi-VN" sz="2000">
                <a:latin typeface="Times New Roman" panose="02020603050405020304" pitchFamily="18" charset="0"/>
                <a:cs typeface="Times New Roman" panose="02020603050405020304" pitchFamily="18" charset="0"/>
              </a:rPr>
              <a:t>. Route với </a:t>
            </a:r>
            <a:r>
              <a:rPr lang="en-US" sz="2000">
                <a:latin typeface="Times New Roman" panose="02020603050405020304" pitchFamily="18" charset="0"/>
                <a:cs typeface="Times New Roman" panose="02020603050405020304" pitchFamily="18" charset="0"/>
              </a:rPr>
              <a:t>Query Parameters và Filtering</a:t>
            </a:r>
            <a:endParaRPr lang="vi-VN" sz="200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ü"/>
            </a:pPr>
            <a:r>
              <a:rPr lang="vi-VN" sz="2000">
                <a:latin typeface="Times New Roman" panose="02020603050405020304" pitchFamily="18" charset="0"/>
                <a:cs typeface="Times New Roman" panose="02020603050405020304" pitchFamily="18" charset="0"/>
              </a:rPr>
              <a:t>4.3.5. Wildcard (**) route cho Not Found page</a:t>
            </a:r>
          </a:p>
          <a:p>
            <a:pPr marL="457200" indent="-457200" algn="just">
              <a:buFont typeface="Wingdings" panose="05000000000000000000" pitchFamily="2" charset="2"/>
              <a:buChar char="v"/>
            </a:pPr>
            <a:r>
              <a:rPr lang="vi-VN" sz="2000" b="1">
                <a:latin typeface="Times New Roman" panose="02020603050405020304" pitchFamily="18" charset="0"/>
                <a:cs typeface="Times New Roman" panose="02020603050405020304" pitchFamily="18" charset="0"/>
              </a:rPr>
              <a:t>4.4. Các kỹ thuật khác của Routing</a:t>
            </a:r>
          </a:p>
          <a:p>
            <a:pPr marL="457200" indent="-457200" algn="just">
              <a:buFont typeface="Wingdings" panose="05000000000000000000" pitchFamily="2" charset="2"/>
              <a:buChar char="ü"/>
            </a:pPr>
            <a:r>
              <a:rPr lang="vi-VN" sz="2000">
                <a:latin typeface="Times New Roman" panose="02020603050405020304" pitchFamily="18" charset="0"/>
                <a:cs typeface="Times New Roman" panose="02020603050405020304" pitchFamily="18" charset="0"/>
              </a:rPr>
              <a:t>4.</a:t>
            </a:r>
            <a:r>
              <a:rPr lang="en-US" sz="2000">
                <a:latin typeface="Times New Roman" panose="02020603050405020304" pitchFamily="18" charset="0"/>
                <a:cs typeface="Times New Roman" panose="02020603050405020304" pitchFamily="18" charset="0"/>
              </a:rPr>
              <a:t>4</a:t>
            </a:r>
            <a:r>
              <a:rPr lang="vi-VN" sz="2000">
                <a:latin typeface="Times New Roman" panose="02020603050405020304" pitchFamily="18" charset="0"/>
                <a:cs typeface="Times New Roman" panose="02020603050405020304" pitchFamily="18" charset="0"/>
              </a:rPr>
              <a:t>.</a:t>
            </a:r>
            <a:r>
              <a:rPr lang="en-US" sz="2000">
                <a:latin typeface="Times New Roman" panose="02020603050405020304" pitchFamily="18" charset="0"/>
                <a:cs typeface="Times New Roman" panose="02020603050405020304" pitchFamily="18" charset="0"/>
              </a:rPr>
              <a:t>1</a:t>
            </a:r>
            <a:r>
              <a:rPr lang="vi-VN" sz="2000">
                <a:latin typeface="Times New Roman" panose="02020603050405020304" pitchFamily="18" charset="0"/>
                <a:cs typeface="Times New Roman" panose="02020603050405020304" pitchFamily="18" charset="0"/>
              </a:rPr>
              <a:t>. Nested routes (route</a:t>
            </a:r>
            <a:r>
              <a:rPr lang="en-US" sz="2000">
                <a:latin typeface="Times New Roman" panose="02020603050405020304" pitchFamily="18" charset="0"/>
                <a:cs typeface="Times New Roman" panose="02020603050405020304" pitchFamily="18" charset="0"/>
              </a:rPr>
              <a:t> lồng nhau</a:t>
            </a:r>
            <a:r>
              <a:rPr lang="vi-VN" sz="2000">
                <a:latin typeface="Times New Roman" panose="02020603050405020304" pitchFamily="18" charset="0"/>
                <a:cs typeface="Times New Roman" panose="02020603050405020304" pitchFamily="18" charset="0"/>
              </a:rPr>
              <a:t>)</a:t>
            </a:r>
            <a:endParaRPr lang="en-US" sz="200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ü"/>
            </a:pPr>
            <a:r>
              <a:rPr lang="vi-VN" sz="2000">
                <a:latin typeface="Times New Roman" panose="02020603050405020304" pitchFamily="18" charset="0"/>
                <a:cs typeface="Times New Roman" panose="02020603050405020304" pitchFamily="18" charset="0"/>
              </a:rPr>
              <a:t>4.4.</a:t>
            </a:r>
            <a:r>
              <a:rPr lang="en-US" sz="2000">
                <a:latin typeface="Times New Roman" panose="02020603050405020304" pitchFamily="18" charset="0"/>
                <a:cs typeface="Times New Roman" panose="02020603050405020304" pitchFamily="18" charset="0"/>
              </a:rPr>
              <a:t>2</a:t>
            </a:r>
            <a:r>
              <a:rPr lang="vi-VN" sz="2000">
                <a:latin typeface="Times New Roman" panose="02020603050405020304" pitchFamily="18" charset="0"/>
                <a:cs typeface="Times New Roman" panose="02020603050405020304" pitchFamily="18" charset="0"/>
              </a:rPr>
              <a:t>. Lazy Loading Module</a:t>
            </a:r>
          </a:p>
          <a:p>
            <a:pPr marL="457200" indent="-457200" algn="just">
              <a:buFont typeface="Wingdings" panose="05000000000000000000" pitchFamily="2" charset="2"/>
              <a:buChar char="ü"/>
            </a:pPr>
            <a:r>
              <a:rPr lang="vi-VN" sz="2000">
                <a:latin typeface="Times New Roman" panose="02020603050405020304" pitchFamily="18" charset="0"/>
                <a:cs typeface="Times New Roman" panose="02020603050405020304" pitchFamily="18" charset="0"/>
              </a:rPr>
              <a:t>4.4.</a:t>
            </a:r>
            <a:r>
              <a:rPr lang="en-US" sz="2000">
                <a:latin typeface="Times New Roman" panose="02020603050405020304" pitchFamily="18" charset="0"/>
                <a:cs typeface="Times New Roman" panose="02020603050405020304" pitchFamily="18" charset="0"/>
              </a:rPr>
              <a:t>3</a:t>
            </a:r>
            <a:r>
              <a:rPr lang="vi-VN" sz="2000">
                <a:latin typeface="Times New Roman" panose="02020603050405020304" pitchFamily="18" charset="0"/>
                <a:cs typeface="Times New Roman" panose="02020603050405020304" pitchFamily="18" charset="0"/>
              </a:rPr>
              <a:t>. Guards – bảo vệ Route</a:t>
            </a:r>
          </a:p>
        </p:txBody>
      </p:sp>
    </p:spTree>
    <p:extLst>
      <p:ext uri="{BB962C8B-B14F-4D97-AF65-F5344CB8AC3E}">
        <p14:creationId xmlns:p14="http://schemas.microsoft.com/office/powerpoint/2010/main" val="3166243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5C20AA9-90F9-20F9-9447-76E47F9CC43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E7EB607-C39A-6D02-7A61-D6FD551A8E0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13B188B-20C0-E47C-87A2-B2D0A964E97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grpSp>
        <p:nvGrpSpPr>
          <p:cNvPr id="2" name="Group 1">
            <a:extLst>
              <a:ext uri="{FF2B5EF4-FFF2-40B4-BE49-F238E27FC236}">
                <a16:creationId xmlns:a16="http://schemas.microsoft.com/office/drawing/2014/main" id="{DE8EAD58-4A16-C9D1-0B66-E4E1FFFB9DAF}"/>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6A342069-F32D-A366-103D-EA022DFD3F7A}"/>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b="1">
                  <a:latin typeface="Times New Roman" panose="02020603050405020304" pitchFamily="18" charset="0"/>
                  <a:cs typeface="Times New Roman" panose="02020603050405020304" pitchFamily="18" charset="0"/>
                </a:rPr>
                <a:t>4.1. Giới thiệu về Routing</a:t>
              </a:r>
            </a:p>
          </p:txBody>
        </p:sp>
        <p:grpSp>
          <p:nvGrpSpPr>
            <p:cNvPr id="4" name="Group 17">
              <a:extLst>
                <a:ext uri="{FF2B5EF4-FFF2-40B4-BE49-F238E27FC236}">
                  <a16:creationId xmlns:a16="http://schemas.microsoft.com/office/drawing/2014/main" id="{A37717CB-E2DF-B95B-55F5-0D98F912344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A603DFC-DA9C-C22B-84AF-A60E7407357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46A22A8-5361-E1F3-0FEC-E7AACD45450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A37EE33-A038-2DB3-9C25-A8278A5FC71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61893242-CDEE-362F-88AB-E42CAEE1B705}"/>
              </a:ext>
            </a:extLst>
          </p:cNvPr>
          <p:cNvSpPr txBox="1"/>
          <p:nvPr/>
        </p:nvSpPr>
        <p:spPr>
          <a:xfrm>
            <a:off x="415252" y="841012"/>
            <a:ext cx="11564547" cy="1687963"/>
          </a:xfrm>
          <a:prstGeom prst="rect">
            <a:avLst/>
          </a:prstGeom>
          <a:noFill/>
        </p:spPr>
        <p:txBody>
          <a:bodyPr wrap="square">
            <a:spAutoFit/>
          </a:bodyPr>
          <a:lstStyle/>
          <a:p>
            <a:pPr marL="457200" indent="-457200" algn="just">
              <a:lnSpc>
                <a:spcPct val="150000"/>
              </a:lnSpc>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4.1.1. </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Single Page Application (SPA) là gì? Tại sao cần Routing</a:t>
            </a:r>
          </a:p>
          <a:p>
            <a:pPr marL="457200" indent="-457200" algn="just">
              <a:lnSpc>
                <a:spcPct val="150000"/>
              </a:lnSpc>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4.1.2.</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Cơ chế routing hoạt động trong Angular.</a:t>
            </a:r>
          </a:p>
          <a:p>
            <a:pPr marL="457200" indent="-457200" algn="just">
              <a:lnSpc>
                <a:spcPct val="150000"/>
              </a:lnSpc>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4.1.3. So sánh với routing truyền thống (đa trang)</a:t>
            </a:r>
          </a:p>
        </p:txBody>
      </p:sp>
    </p:spTree>
    <p:extLst>
      <p:ext uri="{BB962C8B-B14F-4D97-AF65-F5344CB8AC3E}">
        <p14:creationId xmlns:p14="http://schemas.microsoft.com/office/powerpoint/2010/main" val="3940600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6043976-8C79-8F68-C032-6FC8C089C4C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1CAB8AF-C6E8-80CB-0129-9D288CB801B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939E001-D12F-4329-4A83-04C94444B48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grpSp>
        <p:nvGrpSpPr>
          <p:cNvPr id="2" name="Group 1">
            <a:extLst>
              <a:ext uri="{FF2B5EF4-FFF2-40B4-BE49-F238E27FC236}">
                <a16:creationId xmlns:a16="http://schemas.microsoft.com/office/drawing/2014/main" id="{72A739C5-5E2E-E823-A10C-5F12CBB2E431}"/>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4A8F53AC-1F31-C7D3-6B8F-B3C9379616A7}"/>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a:latin typeface="Times New Roman" panose="02020603050405020304" pitchFamily="18" charset="0"/>
                  <a:cs typeface="Times New Roman" panose="02020603050405020304" pitchFamily="18" charset="0"/>
                </a:rPr>
                <a:t>4.1.1. </a:t>
              </a: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Single Page Application (SPA) là gì</a:t>
              </a:r>
              <a:endParaRPr lang="vi-VN" sz="2800" b="1">
                <a:latin typeface="Times New Roman" panose="02020603050405020304" pitchFamily="18" charset="0"/>
                <a:cs typeface="Times New Roman" panose="02020603050405020304" pitchFamily="18" charset="0"/>
              </a:endParaRPr>
            </a:p>
          </p:txBody>
        </p:sp>
        <p:grpSp>
          <p:nvGrpSpPr>
            <p:cNvPr id="4" name="Group 17">
              <a:extLst>
                <a:ext uri="{FF2B5EF4-FFF2-40B4-BE49-F238E27FC236}">
                  <a16:creationId xmlns:a16="http://schemas.microsoft.com/office/drawing/2014/main" id="{F470E43F-62F4-7779-FB48-49D79ADB2A8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173E24C-5467-C1E8-12BC-DB3DDB02833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A83DCF7-22A2-392E-3482-AD32C851E0D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C9A8DA0-19FB-47D1-6450-D5F524226E4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A243BFCB-A87E-EFC6-9793-EEC1C6DC0557}"/>
              </a:ext>
            </a:extLst>
          </p:cNvPr>
          <p:cNvSpPr txBox="1"/>
          <p:nvPr/>
        </p:nvSpPr>
        <p:spPr>
          <a:xfrm>
            <a:off x="469155" y="841012"/>
            <a:ext cx="11473048" cy="2795958"/>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Single Page Application (SPA) là gì?</a:t>
            </a:r>
          </a:p>
          <a:p>
            <a:pPr algn="just">
              <a:lnSpc>
                <a:spcPct val="150000"/>
              </a:lnSpc>
            </a:pPr>
            <a:r>
              <a:rPr lang="vi-VN" sz="2400">
                <a:latin typeface="Times New Roman" panose="02020603050405020304" pitchFamily="18" charset="0"/>
                <a:cs typeface="Times New Roman" panose="02020603050405020304" pitchFamily="18" charset="0"/>
              </a:rPr>
              <a:t>Khác với mô hình website truyền thống, </a:t>
            </a:r>
            <a:r>
              <a:rPr lang="vi-VN" sz="2400" b="1">
                <a:latin typeface="Times New Roman" panose="02020603050405020304" pitchFamily="18" charset="0"/>
                <a:cs typeface="Times New Roman" panose="02020603050405020304" pitchFamily="18" charset="0"/>
              </a:rPr>
              <a:t>Single Page Application (SPA)</a:t>
            </a:r>
            <a:r>
              <a:rPr lang="vi-VN" sz="2400">
                <a:latin typeface="Times New Roman" panose="02020603050405020304" pitchFamily="18" charset="0"/>
                <a:cs typeface="Times New Roman" panose="02020603050405020304" pitchFamily="18" charset="0"/>
              </a:rPr>
              <a:t> là một ứng dụng web mà tại đó, trình duyệt chỉ tải một trang HTML duy nhất (thường gọi là index.html) khi bắt đầu. Tất cả các nội dung khác, giao diện mới, hoặc logic hiển thị sẽ được tải và cập nhật </a:t>
            </a:r>
            <a:r>
              <a:rPr lang="vi-VN" sz="2400" b="1">
                <a:latin typeface="Times New Roman" panose="02020603050405020304" pitchFamily="18" charset="0"/>
                <a:cs typeface="Times New Roman" panose="02020603050405020304" pitchFamily="18" charset="0"/>
              </a:rPr>
              <a:t>động</a:t>
            </a:r>
            <a:r>
              <a:rPr lang="vi-VN" sz="2400">
                <a:latin typeface="Times New Roman" panose="02020603050405020304" pitchFamily="18" charset="0"/>
                <a:cs typeface="Times New Roman" panose="02020603050405020304" pitchFamily="18" charset="0"/>
              </a:rPr>
              <a:t> thông qua JavaScript (thông qua API) mà không cần tải lại toàn bộ trang web.</a:t>
            </a:r>
          </a:p>
        </p:txBody>
      </p:sp>
      <p:sp>
        <p:nvSpPr>
          <p:cNvPr id="10" name="TextBox 9">
            <a:extLst>
              <a:ext uri="{FF2B5EF4-FFF2-40B4-BE49-F238E27FC236}">
                <a16:creationId xmlns:a16="http://schemas.microsoft.com/office/drawing/2014/main" id="{13D37627-5C51-3C76-0ED2-3F1BDF9FD898}"/>
              </a:ext>
            </a:extLst>
          </p:cNvPr>
          <p:cNvSpPr txBox="1"/>
          <p:nvPr/>
        </p:nvSpPr>
        <p:spPr>
          <a:xfrm>
            <a:off x="1516801" y="3845283"/>
            <a:ext cx="9529010" cy="1569660"/>
          </a:xfrm>
          <a:prstGeom prst="rect">
            <a:avLst/>
          </a:prstGeom>
          <a:noFill/>
        </p:spPr>
        <p:txBody>
          <a:bodyPr wrap="square">
            <a:spAutoFit/>
          </a:bodyPr>
          <a:lstStyle/>
          <a:p>
            <a:pPr algn="just"/>
            <a:r>
              <a:rPr lang="vi-VN" sz="2400" b="1">
                <a:latin typeface="Times New Roman" panose="02020603050405020304" pitchFamily="18" charset="0"/>
                <a:cs typeface="Times New Roman" panose="02020603050405020304" pitchFamily="18" charset="0"/>
              </a:rPr>
              <a:t>Ví dụ:</a:t>
            </a:r>
            <a:r>
              <a:rPr lang="vi-VN" sz="240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Quan sát </a:t>
            </a:r>
            <a:r>
              <a:rPr lang="vi-VN" sz="2400">
                <a:latin typeface="Times New Roman" panose="02020603050405020304" pitchFamily="18" charset="0"/>
                <a:cs typeface="Times New Roman" panose="02020603050405020304" pitchFamily="18" charset="0"/>
              </a:rPr>
              <a:t>Facebook hoặc Gmail. Khi </a:t>
            </a:r>
            <a:r>
              <a:rPr lang="en-US" sz="2400">
                <a:latin typeface="Times New Roman" panose="02020603050405020304" pitchFamily="18" charset="0"/>
                <a:cs typeface="Times New Roman" panose="02020603050405020304" pitchFamily="18" charset="0"/>
              </a:rPr>
              <a:t>Ta </a:t>
            </a:r>
            <a:r>
              <a:rPr lang="vi-VN" sz="2400">
                <a:latin typeface="Times New Roman" panose="02020603050405020304" pitchFamily="18" charset="0"/>
                <a:cs typeface="Times New Roman" panose="02020603050405020304" pitchFamily="18" charset="0"/>
              </a:rPr>
              <a:t>nhấn vào "Tin nhắn" rồi nhấn sang "Thông báo", thanh địa chỉ thay đổi, nội dung thay đổi, nhưng </a:t>
            </a:r>
            <a:r>
              <a:rPr lang="en-US" sz="2400">
                <a:latin typeface="Times New Roman" panose="02020603050405020304" pitchFamily="18" charset="0"/>
                <a:cs typeface="Times New Roman" panose="02020603050405020304" pitchFamily="18" charset="0"/>
              </a:rPr>
              <a:t>Ta </a:t>
            </a:r>
            <a:r>
              <a:rPr lang="vi-VN" sz="2400">
                <a:latin typeface="Times New Roman" panose="02020603050405020304" pitchFamily="18" charset="0"/>
                <a:cs typeface="Times New Roman" panose="02020603050405020304" pitchFamily="18" charset="0"/>
              </a:rPr>
              <a:t>không hề thấy trình duyệt tải lại trang (nút xoay vòng của trình duyệt không quay). Đó chính là SPA.</a:t>
            </a:r>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0020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985887C-E4FD-1529-3836-8898B1B4CE2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2860D13-1409-53E2-771D-CAA5BED23E0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B83262D-7498-07B1-87C1-F25F2023F3D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grpSp>
        <p:nvGrpSpPr>
          <p:cNvPr id="2" name="Group 1">
            <a:extLst>
              <a:ext uri="{FF2B5EF4-FFF2-40B4-BE49-F238E27FC236}">
                <a16:creationId xmlns:a16="http://schemas.microsoft.com/office/drawing/2014/main" id="{A76454EA-9733-FF5C-B75B-6A7DB2F78C5A}"/>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3BC35F3A-0CBA-584E-40D1-2CE1E600C736}"/>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a:latin typeface="Times New Roman" panose="02020603050405020304" pitchFamily="18" charset="0"/>
                  <a:cs typeface="Times New Roman" panose="02020603050405020304" pitchFamily="18" charset="0"/>
                </a:rPr>
                <a:t>4.1.1. </a:t>
              </a: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Single Page Application (SPA) là gì</a:t>
              </a:r>
              <a:endParaRPr lang="vi-VN" sz="2800" b="1">
                <a:latin typeface="Times New Roman" panose="02020603050405020304" pitchFamily="18" charset="0"/>
                <a:cs typeface="Times New Roman" panose="02020603050405020304" pitchFamily="18" charset="0"/>
              </a:endParaRPr>
            </a:p>
          </p:txBody>
        </p:sp>
        <p:grpSp>
          <p:nvGrpSpPr>
            <p:cNvPr id="4" name="Group 17">
              <a:extLst>
                <a:ext uri="{FF2B5EF4-FFF2-40B4-BE49-F238E27FC236}">
                  <a16:creationId xmlns:a16="http://schemas.microsoft.com/office/drawing/2014/main" id="{C7A46C67-A092-1340-57B7-E589E835BB0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6B33BD0-1CA3-18E0-F722-1B6199AB068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317359B-6B67-6310-C65B-9414B2B84D2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AFB68A5-484E-D6DA-F0D6-F53596A3E0C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E307DF61-5FDD-7477-8CC0-E8D8AF2FE235}"/>
              </a:ext>
            </a:extLst>
          </p:cNvPr>
          <p:cNvSpPr txBox="1"/>
          <p:nvPr/>
        </p:nvSpPr>
        <p:spPr>
          <a:xfrm>
            <a:off x="469155" y="841012"/>
            <a:ext cx="11473048"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Single Page Application (SPA) là gì?</a:t>
            </a:r>
          </a:p>
        </p:txBody>
      </p:sp>
      <p:pic>
        <p:nvPicPr>
          <p:cNvPr id="1026" name="Picture 2">
            <a:extLst>
              <a:ext uri="{FF2B5EF4-FFF2-40B4-BE49-F238E27FC236}">
                <a16:creationId xmlns:a16="http://schemas.microsoft.com/office/drawing/2014/main" id="{5503FEFB-5328-4E7E-6F44-C3D2C8F21A5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64" b="6390"/>
          <a:stretch>
            <a:fillRect/>
          </a:stretch>
        </p:blipFill>
        <p:spPr bwMode="auto">
          <a:xfrm>
            <a:off x="2638190" y="1524916"/>
            <a:ext cx="6667465" cy="4266951"/>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C2D4AB6D-3C6B-1364-4152-8660C1250C4D}"/>
              </a:ext>
            </a:extLst>
          </p:cNvPr>
          <p:cNvSpPr txBox="1"/>
          <p:nvPr/>
        </p:nvSpPr>
        <p:spPr>
          <a:xfrm>
            <a:off x="4702629" y="5863099"/>
            <a:ext cx="2935705" cy="307777"/>
          </a:xfrm>
          <a:prstGeom prst="rect">
            <a:avLst/>
          </a:prstGeom>
          <a:noFill/>
        </p:spPr>
        <p:txBody>
          <a:bodyPr wrap="square">
            <a:spAutoFit/>
          </a:bodyPr>
          <a:lstStyle/>
          <a:p>
            <a:r>
              <a:rPr lang="en-US"/>
              <a:t>Src: https://medium.com/</a:t>
            </a:r>
          </a:p>
        </p:txBody>
      </p:sp>
    </p:spTree>
    <p:extLst>
      <p:ext uri="{BB962C8B-B14F-4D97-AF65-F5344CB8AC3E}">
        <p14:creationId xmlns:p14="http://schemas.microsoft.com/office/powerpoint/2010/main" val="2851246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25675C5-8B03-B73F-D0F7-6A8DC5AB0C2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4166C73-99CC-E207-36AD-3A2F1564192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5946636-17AC-615F-78F2-47BBF6FAECE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grpSp>
        <p:nvGrpSpPr>
          <p:cNvPr id="2" name="Group 1">
            <a:extLst>
              <a:ext uri="{FF2B5EF4-FFF2-40B4-BE49-F238E27FC236}">
                <a16:creationId xmlns:a16="http://schemas.microsoft.com/office/drawing/2014/main" id="{26C03440-B29E-6CA7-C5FD-640D11A2817B}"/>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D241B24F-B592-1A05-CF8E-567618D3F7A2}"/>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a:latin typeface="Times New Roman" panose="02020603050405020304" pitchFamily="18" charset="0"/>
                  <a:cs typeface="Times New Roman" panose="02020603050405020304" pitchFamily="18" charset="0"/>
                </a:rPr>
                <a:t>4.1.1. </a:t>
              </a: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Single Page Application (SPA) là gì</a:t>
              </a:r>
              <a:endParaRPr lang="vi-VN" sz="2800" b="1">
                <a:latin typeface="Times New Roman" panose="02020603050405020304" pitchFamily="18" charset="0"/>
                <a:cs typeface="Times New Roman" panose="02020603050405020304" pitchFamily="18" charset="0"/>
              </a:endParaRPr>
            </a:p>
          </p:txBody>
        </p:sp>
        <p:grpSp>
          <p:nvGrpSpPr>
            <p:cNvPr id="4" name="Group 17">
              <a:extLst>
                <a:ext uri="{FF2B5EF4-FFF2-40B4-BE49-F238E27FC236}">
                  <a16:creationId xmlns:a16="http://schemas.microsoft.com/office/drawing/2014/main" id="{1BF61B65-CCEE-CDE7-DC40-21C672C2C55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AF4542C-8DEE-F7CA-0700-714D80F11B0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CBB79DB2-EB71-9A5D-4150-E7CA84313A4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990ACAA-13E9-9103-13BD-358B7D0B9F2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D921ECF5-F36D-8C38-9C99-E0AD255FA0ED}"/>
              </a:ext>
            </a:extLst>
          </p:cNvPr>
          <p:cNvSpPr txBox="1"/>
          <p:nvPr/>
        </p:nvSpPr>
        <p:spPr>
          <a:xfrm>
            <a:off x="415252" y="704782"/>
            <a:ext cx="11294292" cy="5565947"/>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Tại sao cần Routing?</a:t>
            </a:r>
          </a:p>
          <a:p>
            <a:pPr algn="just">
              <a:lnSpc>
                <a:spcPct val="150000"/>
              </a:lnSpc>
              <a:buNone/>
            </a:pPr>
            <a:r>
              <a:rPr lang="vi-VN" sz="2400">
                <a:latin typeface="Times New Roman" panose="02020603050405020304" pitchFamily="18" charset="0"/>
                <a:cs typeface="Times New Roman" panose="02020603050405020304" pitchFamily="18" charset="0"/>
              </a:rPr>
              <a:t>Trong SPA, vì chúng ta không "chuyển trang" theo cách truyền thống (yêu cầu server trả về file HTML mới), nên ta cần một cơ chế để </a:t>
            </a:r>
            <a:r>
              <a:rPr lang="vi-VN" sz="2400" b="1">
                <a:latin typeface="Times New Roman" panose="02020603050405020304" pitchFamily="18" charset="0"/>
                <a:cs typeface="Times New Roman" panose="02020603050405020304" pitchFamily="18" charset="0"/>
              </a:rPr>
              <a:t>giả lập việc chuyển trang</a:t>
            </a:r>
            <a:r>
              <a:rPr lang="en-US" sz="2400">
                <a:latin typeface="Times New Roman" panose="02020603050405020304" pitchFamily="18" charset="0"/>
                <a:cs typeface="Times New Roman" panose="02020603050405020304" pitchFamily="18" charset="0"/>
                <a:sym typeface="Wingdings" panose="05000000000000000000" pitchFamily="2" charset="2"/>
              </a:rPr>
              <a:t></a:t>
            </a:r>
            <a:r>
              <a:rPr lang="vi-VN" sz="2400" b="1">
                <a:solidFill>
                  <a:srgbClr val="FF0000"/>
                </a:solidFill>
                <a:latin typeface="Times New Roman" panose="02020603050405020304" pitchFamily="18" charset="0"/>
                <a:cs typeface="Times New Roman" panose="02020603050405020304" pitchFamily="18" charset="0"/>
              </a:rPr>
              <a:t>Routing</a:t>
            </a:r>
            <a:r>
              <a:rPr lang="vi-VN" sz="2400">
                <a:latin typeface="Times New Roman" panose="02020603050405020304" pitchFamily="18" charset="0"/>
                <a:cs typeface="Times New Roman" panose="02020603050405020304" pitchFamily="18" charset="0"/>
              </a:rPr>
              <a:t>.</a:t>
            </a:r>
          </a:p>
          <a:p>
            <a:pPr marL="342900" indent="-342900" algn="just">
              <a:lnSpc>
                <a:spcPct val="150000"/>
              </a:lnSpc>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Routing đóng vai trò là "người điều phối":</a:t>
            </a:r>
          </a:p>
          <a:p>
            <a:pPr algn="just">
              <a:lnSpc>
                <a:spcPct val="150000"/>
              </a:lnSpc>
              <a:buFont typeface="+mj-lt"/>
              <a:buAutoNum type="arabicPeriod"/>
            </a:pP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Duy trì trạng thái:</a:t>
            </a:r>
            <a:r>
              <a:rPr lang="vi-VN" sz="2400">
                <a:latin typeface="Times New Roman" panose="02020603050405020304" pitchFamily="18" charset="0"/>
                <a:cs typeface="Times New Roman" panose="02020603050405020304" pitchFamily="18" charset="0"/>
              </a:rPr>
              <a:t> Giúp người dùng có thể dùng nút </a:t>
            </a:r>
            <a:r>
              <a:rPr lang="vi-VN" sz="2400" i="1">
                <a:latin typeface="Times New Roman" panose="02020603050405020304" pitchFamily="18" charset="0"/>
                <a:cs typeface="Times New Roman" panose="02020603050405020304" pitchFamily="18" charset="0"/>
              </a:rPr>
              <a:t>Back/Forward</a:t>
            </a:r>
            <a:r>
              <a:rPr lang="vi-VN" sz="2400">
                <a:latin typeface="Times New Roman" panose="02020603050405020304" pitchFamily="18" charset="0"/>
                <a:cs typeface="Times New Roman" panose="02020603050405020304" pitchFamily="18" charset="0"/>
              </a:rPr>
              <a:t> của trình duyệt để quay lại màn hình trước đó mà không làm mất dữ liệu đã nhập.</a:t>
            </a:r>
          </a:p>
          <a:p>
            <a:pPr algn="just">
              <a:lnSpc>
                <a:spcPct val="150000"/>
              </a:lnSpc>
              <a:buFont typeface="+mj-lt"/>
              <a:buAutoNum type="arabicPeriod"/>
            </a:pP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Định hướng (Deep Linking):</a:t>
            </a:r>
            <a:r>
              <a:rPr lang="vi-VN" sz="2400">
                <a:latin typeface="Times New Roman" panose="02020603050405020304" pitchFamily="18" charset="0"/>
                <a:cs typeface="Times New Roman" panose="02020603050405020304" pitchFamily="18" charset="0"/>
              </a:rPr>
              <a:t> Cho phép người dùng truy cập trực tiếp vào một phần cụ thể của ứng dụng qua URL (ví dụ: </a:t>
            </a:r>
            <a:r>
              <a:rPr lang="en-US" sz="2400">
                <a:latin typeface="Times New Roman" panose="02020603050405020304" pitchFamily="18" charset="0"/>
                <a:cs typeface="Times New Roman" panose="02020603050405020304" pitchFamily="18" charset="0"/>
              </a:rPr>
              <a:t>tranduythanh</a:t>
            </a:r>
            <a:r>
              <a:rPr lang="vi-VN" sz="2400">
                <a:latin typeface="Times New Roman" panose="02020603050405020304" pitchFamily="18" charset="0"/>
                <a:cs typeface="Times New Roman" panose="02020603050405020304" pitchFamily="18" charset="0"/>
              </a:rPr>
              <a:t>.com/products/123).</a:t>
            </a:r>
          </a:p>
          <a:p>
            <a:pPr algn="just">
              <a:lnSpc>
                <a:spcPct val="150000"/>
              </a:lnSpc>
              <a:buFont typeface="+mj-lt"/>
              <a:buAutoNum type="arabicPeriod"/>
            </a:pP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Tách biệt logic giao diện:</a:t>
            </a:r>
            <a:r>
              <a:rPr lang="vi-VN" sz="2400">
                <a:latin typeface="Times New Roman" panose="02020603050405020304" pitchFamily="18" charset="0"/>
                <a:cs typeface="Times New Roman" panose="02020603050405020304" pitchFamily="18" charset="0"/>
              </a:rPr>
              <a:t> Routing giúp ứng dụng hiển thị đúng Component cần thiết tương ứng với URL mà không cần tải lại toàn bộ ứng dụng.</a:t>
            </a:r>
          </a:p>
        </p:txBody>
      </p:sp>
    </p:spTree>
    <p:extLst>
      <p:ext uri="{BB962C8B-B14F-4D97-AF65-F5344CB8AC3E}">
        <p14:creationId xmlns:p14="http://schemas.microsoft.com/office/powerpoint/2010/main" val="29209617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7F8A738-C170-1CEC-44E1-1E2C3B359F4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4983CF9-39E6-03EA-9DA3-8E8828821AD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AA8D174-14B2-3CA7-CEEF-E79679BEFC2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grpSp>
        <p:nvGrpSpPr>
          <p:cNvPr id="2" name="Group 1">
            <a:extLst>
              <a:ext uri="{FF2B5EF4-FFF2-40B4-BE49-F238E27FC236}">
                <a16:creationId xmlns:a16="http://schemas.microsoft.com/office/drawing/2014/main" id="{031CC284-0B96-459B-5D1C-B65D09C75DA7}"/>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75469328-9B53-06F1-E0F6-E806F7E409FD}"/>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a:latin typeface="Times New Roman" panose="02020603050405020304" pitchFamily="18" charset="0"/>
                  <a:cs typeface="Times New Roman" panose="02020603050405020304" pitchFamily="18" charset="0"/>
                </a:rPr>
                <a:t>4.1.2.</a:t>
              </a: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Cơ chế routing hoạt động trong Angular.</a:t>
              </a:r>
              <a:endParaRPr lang="vi-VN" sz="2800" b="1">
                <a:latin typeface="Times New Roman" panose="02020603050405020304" pitchFamily="18" charset="0"/>
                <a:cs typeface="Times New Roman" panose="02020603050405020304" pitchFamily="18" charset="0"/>
              </a:endParaRPr>
            </a:p>
          </p:txBody>
        </p:sp>
        <p:grpSp>
          <p:nvGrpSpPr>
            <p:cNvPr id="4" name="Group 17">
              <a:extLst>
                <a:ext uri="{FF2B5EF4-FFF2-40B4-BE49-F238E27FC236}">
                  <a16:creationId xmlns:a16="http://schemas.microsoft.com/office/drawing/2014/main" id="{EE4D0455-0296-C85A-C821-C37DB24906C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8DA911C1-0000-DF3D-CBEF-EEDD22D0A02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587E98F-2192-762D-FB2A-DA91439ED7F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BE58ED3-7091-00CB-D67E-17147E240EE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576189D2-DECB-EF57-23CC-44600D80533C}"/>
              </a:ext>
            </a:extLst>
          </p:cNvPr>
          <p:cNvSpPr txBox="1"/>
          <p:nvPr/>
        </p:nvSpPr>
        <p:spPr>
          <a:xfrm>
            <a:off x="388797" y="883629"/>
            <a:ext cx="11564547" cy="1200329"/>
          </a:xfrm>
          <a:prstGeom prst="rect">
            <a:avLst/>
          </a:prstGeom>
          <a:noFill/>
        </p:spPr>
        <p:txBody>
          <a:bodyPr wrap="square">
            <a:spAutoFit/>
          </a:bodyPr>
          <a:lstStyle/>
          <a:p>
            <a:pPr marL="457200" indent="-457200" algn="just">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Cơ chế routing của Angular dựa trên việc ánh xạ giữa </a:t>
            </a:r>
            <a:r>
              <a:rPr lang="vi-VN" sz="2400" b="1">
                <a:latin typeface="Times New Roman" panose="02020603050405020304" pitchFamily="18" charset="0"/>
                <a:cs typeface="Times New Roman" panose="02020603050405020304" pitchFamily="18" charset="0"/>
              </a:rPr>
              <a:t>URL</a:t>
            </a:r>
            <a:r>
              <a:rPr lang="vi-VN" sz="2400">
                <a:latin typeface="Times New Roman" panose="02020603050405020304" pitchFamily="18" charset="0"/>
                <a:cs typeface="Times New Roman" panose="02020603050405020304" pitchFamily="18" charset="0"/>
              </a:rPr>
              <a:t> và </a:t>
            </a:r>
            <a:r>
              <a:rPr lang="vi-VN" sz="2400" b="1">
                <a:latin typeface="Times New Roman" panose="02020603050405020304" pitchFamily="18" charset="0"/>
                <a:cs typeface="Times New Roman" panose="02020603050405020304" pitchFamily="18" charset="0"/>
              </a:rPr>
              <a:t>Component</a:t>
            </a:r>
            <a:r>
              <a:rPr lang="vi-VN" sz="2400">
                <a:latin typeface="Times New Roman" panose="02020603050405020304" pitchFamily="18" charset="0"/>
                <a:cs typeface="Times New Roman" panose="02020603050405020304" pitchFamily="18" charset="0"/>
              </a:rPr>
              <a:t>. Khi URL thay đổi, Angular Router sẽ đảm nhận việc "tháo dỡ" Component cũ và "gắn" Component mới vào DOM.</a:t>
            </a:r>
            <a:endParaRPr lang="vi-VN" sz="21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371D47F3-E4E0-4B42-3B0D-7247D2F2BBCA}"/>
              </a:ext>
            </a:extLst>
          </p:cNvPr>
          <p:cNvPicPr>
            <a:picLocks noChangeAspect="1"/>
          </p:cNvPicPr>
          <p:nvPr/>
        </p:nvPicPr>
        <p:blipFill>
          <a:blip r:embed="rId3"/>
          <a:srcRect t="7994"/>
          <a:stretch>
            <a:fillRect/>
          </a:stretch>
        </p:blipFill>
        <p:spPr>
          <a:xfrm>
            <a:off x="1895567" y="2039315"/>
            <a:ext cx="8551006" cy="4286331"/>
          </a:xfrm>
          <a:prstGeom prst="rect">
            <a:avLst/>
          </a:prstGeom>
        </p:spPr>
      </p:pic>
    </p:spTree>
    <p:extLst>
      <p:ext uri="{BB962C8B-B14F-4D97-AF65-F5344CB8AC3E}">
        <p14:creationId xmlns:p14="http://schemas.microsoft.com/office/powerpoint/2010/main" val="1891289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080FF1B-F5E4-56EC-AD54-3DB97FA58B1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012BC17-0530-4F80-3AF2-BDA1D4164F4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EC625D1-27E8-96C1-81AA-14DE4E918883}"/>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grpSp>
        <p:nvGrpSpPr>
          <p:cNvPr id="2" name="Group 1">
            <a:extLst>
              <a:ext uri="{FF2B5EF4-FFF2-40B4-BE49-F238E27FC236}">
                <a16:creationId xmlns:a16="http://schemas.microsoft.com/office/drawing/2014/main" id="{09691BD0-39F1-0373-F4A2-F509D10487D8}"/>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9D5CBC89-07D7-F429-44C8-E2231A6B308A}"/>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a:latin typeface="Times New Roman" panose="02020603050405020304" pitchFamily="18" charset="0"/>
                  <a:cs typeface="Times New Roman" panose="02020603050405020304" pitchFamily="18" charset="0"/>
                </a:rPr>
                <a:t>4.1.2.</a:t>
              </a: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Cơ chế routing hoạt động trong Angular.</a:t>
              </a:r>
              <a:endParaRPr lang="vi-VN" sz="2800" b="1">
                <a:latin typeface="Times New Roman" panose="02020603050405020304" pitchFamily="18" charset="0"/>
                <a:cs typeface="Times New Roman" panose="02020603050405020304" pitchFamily="18" charset="0"/>
              </a:endParaRPr>
            </a:p>
          </p:txBody>
        </p:sp>
        <p:grpSp>
          <p:nvGrpSpPr>
            <p:cNvPr id="4" name="Group 17">
              <a:extLst>
                <a:ext uri="{FF2B5EF4-FFF2-40B4-BE49-F238E27FC236}">
                  <a16:creationId xmlns:a16="http://schemas.microsoft.com/office/drawing/2014/main" id="{A616B0E1-6DCB-793C-D364-505FE2804FF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1485298-8232-6451-74ED-A90DC3CFEDA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D508479-6AC7-7101-44AF-56FBA74F394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873619E-68EC-2B54-4BF3-FF42C0CB644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1" name="TextBox 10">
            <a:extLst>
              <a:ext uri="{FF2B5EF4-FFF2-40B4-BE49-F238E27FC236}">
                <a16:creationId xmlns:a16="http://schemas.microsoft.com/office/drawing/2014/main" id="{5635A5A2-CB71-9194-A079-35F3C3D000A5}"/>
              </a:ext>
            </a:extLst>
          </p:cNvPr>
          <p:cNvSpPr txBox="1"/>
          <p:nvPr/>
        </p:nvSpPr>
        <p:spPr>
          <a:xfrm>
            <a:off x="554626" y="841012"/>
            <a:ext cx="10911562" cy="5011949"/>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Các thành phần cốt lõi:</a:t>
            </a:r>
          </a:p>
          <a:p>
            <a:pPr algn="just">
              <a:lnSpc>
                <a:spcPct val="150000"/>
              </a:lnSpc>
              <a:buFont typeface="+mj-lt"/>
              <a:buAutoNum type="arabicPeriod"/>
            </a:pP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Routes (Cấu hình):</a:t>
            </a:r>
            <a:r>
              <a:rPr lang="vi-VN" sz="2400">
                <a:latin typeface="Times New Roman" panose="02020603050405020304" pitchFamily="18" charset="0"/>
                <a:cs typeface="Times New Roman" panose="02020603050405020304" pitchFamily="18" charset="0"/>
              </a:rPr>
              <a:t> Một mảng chứa các đối tượng định nghĩa đường dẫn nào sẽ gọi Component nào.</a:t>
            </a:r>
          </a:p>
          <a:p>
            <a:pPr algn="just">
              <a:lnSpc>
                <a:spcPct val="150000"/>
              </a:lnSpc>
              <a:buFont typeface="+mj-lt"/>
              <a:buAutoNum type="arabicPeriod"/>
            </a:pP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RouterOutlet:</a:t>
            </a:r>
            <a:r>
              <a:rPr lang="vi-VN" sz="2400">
                <a:latin typeface="Times New Roman" panose="02020603050405020304" pitchFamily="18" charset="0"/>
                <a:cs typeface="Times New Roman" panose="02020603050405020304" pitchFamily="18" charset="0"/>
              </a:rPr>
              <a:t> Một chỉ thị (directive) đóng vai trò là "chỗ chứa" (placeholder). Angular sẽ render Component được chọn vào đúng vị trí của thẻ này trong file HTML.</a:t>
            </a:r>
          </a:p>
          <a:p>
            <a:pPr algn="just">
              <a:lnSpc>
                <a:spcPct val="150000"/>
              </a:lnSpc>
              <a:buFont typeface="+mj-lt"/>
              <a:buAutoNum type="arabicPeriod"/>
            </a:pP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RouterLink:</a:t>
            </a:r>
            <a:r>
              <a:rPr lang="vi-VN" sz="2400">
                <a:latin typeface="Times New Roman" panose="02020603050405020304" pitchFamily="18" charset="0"/>
                <a:cs typeface="Times New Roman" panose="02020603050405020304" pitchFamily="18" charset="0"/>
              </a:rPr>
              <a:t> Thay thế cho thẻ &lt;a&gt; truyền thống, dùng để điều hướng mà không gây reload trang.</a:t>
            </a:r>
          </a:p>
          <a:p>
            <a:pPr algn="just">
              <a:lnSpc>
                <a:spcPct val="150000"/>
              </a:lnSpc>
              <a:buFont typeface="+mj-lt"/>
              <a:buAutoNum type="arabicPeriod"/>
            </a:pP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Router (Service):</a:t>
            </a:r>
            <a:r>
              <a:rPr lang="vi-VN" sz="2400">
                <a:latin typeface="Times New Roman" panose="02020603050405020304" pitchFamily="18" charset="0"/>
                <a:cs typeface="Times New Roman" panose="02020603050405020304" pitchFamily="18" charset="0"/>
              </a:rPr>
              <a:t> Công cụ dùng trong code để điều hướng bằng lập trình (ví dụ: this.router.navigate(['/login'])).</a:t>
            </a:r>
          </a:p>
        </p:txBody>
      </p:sp>
    </p:spTree>
    <p:extLst>
      <p:ext uri="{BB962C8B-B14F-4D97-AF65-F5344CB8AC3E}">
        <p14:creationId xmlns:p14="http://schemas.microsoft.com/office/powerpoint/2010/main" val="574552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38B01EF-12BF-DB8E-BC23-C781167FBD9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43E160B-075B-CA0B-F94F-BB181517EFA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FC227B8-3CC0-4837-1D5F-5BBEED89951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grpSp>
        <p:nvGrpSpPr>
          <p:cNvPr id="2" name="Group 1">
            <a:extLst>
              <a:ext uri="{FF2B5EF4-FFF2-40B4-BE49-F238E27FC236}">
                <a16:creationId xmlns:a16="http://schemas.microsoft.com/office/drawing/2014/main" id="{10ED9916-2AF7-A7AD-2319-DE9816D07CF5}"/>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E71DD6CE-F50C-6C92-5AF8-383E5BF885E6}"/>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a:latin typeface="Times New Roman" panose="02020603050405020304" pitchFamily="18" charset="0"/>
                  <a:cs typeface="Times New Roman" panose="02020603050405020304" pitchFamily="18" charset="0"/>
                </a:rPr>
                <a:t>4.1.2.</a:t>
              </a: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Cơ chế routing hoạt động trong Angular.</a:t>
              </a:r>
              <a:endParaRPr lang="vi-VN" sz="2800" b="1">
                <a:latin typeface="Times New Roman" panose="02020603050405020304" pitchFamily="18" charset="0"/>
                <a:cs typeface="Times New Roman" panose="02020603050405020304" pitchFamily="18" charset="0"/>
              </a:endParaRPr>
            </a:p>
          </p:txBody>
        </p:sp>
        <p:grpSp>
          <p:nvGrpSpPr>
            <p:cNvPr id="4" name="Group 17">
              <a:extLst>
                <a:ext uri="{FF2B5EF4-FFF2-40B4-BE49-F238E27FC236}">
                  <a16:creationId xmlns:a16="http://schemas.microsoft.com/office/drawing/2014/main" id="{2ADCA92E-F9AB-1994-BC61-8D8F4C24E30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81D1499E-6321-2594-D437-4018141461D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87F2CF0-0115-1BF9-F021-6FD97F09E97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AB5E2F1-DD30-A925-B4C9-782BFDCC855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DCC54C9F-C1F9-B43B-071E-B7EFD8FB7DCC}"/>
              </a:ext>
            </a:extLst>
          </p:cNvPr>
          <p:cNvSpPr txBox="1"/>
          <p:nvPr/>
        </p:nvSpPr>
        <p:spPr>
          <a:xfrm>
            <a:off x="506472" y="841012"/>
            <a:ext cx="11179055" cy="3349956"/>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Luồng hoạt động (Workflow):</a:t>
            </a:r>
          </a:p>
          <a:p>
            <a:pPr>
              <a:lnSpc>
                <a:spcPct val="150000"/>
              </a:lnSpc>
              <a:buFont typeface="+mj-lt"/>
              <a:buAutoNum type="arabicPeriod"/>
            </a:pP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Người dùng nhấn một đường link hoặc nhập URL.</a:t>
            </a:r>
          </a:p>
          <a:p>
            <a:pPr>
              <a:lnSpc>
                <a:spcPct val="150000"/>
              </a:lnSpc>
              <a:buFont typeface="+mj-lt"/>
              <a:buAutoNum type="arabicPeriod"/>
            </a:pP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Angular Router "bắt" lấy sự kiện thay đổi URL.</a:t>
            </a:r>
          </a:p>
          <a:p>
            <a:pPr>
              <a:lnSpc>
                <a:spcPct val="150000"/>
              </a:lnSpc>
              <a:buFont typeface="+mj-lt"/>
              <a:buAutoNum type="arabicPeriod"/>
            </a:pP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Router so khớp URL đó với cấu hình trong mảng Routes.</a:t>
            </a:r>
          </a:p>
          <a:p>
            <a:pPr>
              <a:lnSpc>
                <a:spcPct val="150000"/>
              </a:lnSpc>
              <a:buFont typeface="+mj-lt"/>
              <a:buAutoNum type="arabicPeriod"/>
            </a:pP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Router tìm thấy Component tương ứng.</a:t>
            </a:r>
          </a:p>
          <a:p>
            <a:pPr>
              <a:lnSpc>
                <a:spcPct val="150000"/>
              </a:lnSpc>
              <a:buFont typeface="+mj-lt"/>
              <a:buAutoNum type="arabicPeriod"/>
            </a:pP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Router hiển thị Component đó vào thẻ &lt;router-outlet&gt;.</a:t>
            </a:r>
          </a:p>
        </p:txBody>
      </p:sp>
    </p:spTree>
    <p:extLst>
      <p:ext uri="{BB962C8B-B14F-4D97-AF65-F5344CB8AC3E}">
        <p14:creationId xmlns:p14="http://schemas.microsoft.com/office/powerpoint/2010/main" val="428846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8E19AFE-956A-AE7F-5195-AA2A973443C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A470B92-299F-B8D9-966F-DBD9AEADC45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F084707-8069-8A60-144C-71779C90DCD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grpSp>
        <p:nvGrpSpPr>
          <p:cNvPr id="2" name="Group 1">
            <a:extLst>
              <a:ext uri="{FF2B5EF4-FFF2-40B4-BE49-F238E27FC236}">
                <a16:creationId xmlns:a16="http://schemas.microsoft.com/office/drawing/2014/main" id="{EB5A90AD-631F-77B9-9C26-E5B0631321FE}"/>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4487D2F4-3149-F9FE-775C-68BEA6ED1F4B}"/>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a:latin typeface="Times New Roman" panose="02020603050405020304" pitchFamily="18" charset="0"/>
                  <a:cs typeface="Times New Roman" panose="02020603050405020304" pitchFamily="18" charset="0"/>
                </a:rPr>
                <a:t>4.1.2.</a:t>
              </a: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Cơ chế routing hoạt động trong Angular.</a:t>
              </a:r>
              <a:endParaRPr lang="vi-VN" sz="2800" b="1">
                <a:latin typeface="Times New Roman" panose="02020603050405020304" pitchFamily="18" charset="0"/>
                <a:cs typeface="Times New Roman" panose="02020603050405020304" pitchFamily="18" charset="0"/>
              </a:endParaRPr>
            </a:p>
          </p:txBody>
        </p:sp>
        <p:grpSp>
          <p:nvGrpSpPr>
            <p:cNvPr id="4" name="Group 17">
              <a:extLst>
                <a:ext uri="{FF2B5EF4-FFF2-40B4-BE49-F238E27FC236}">
                  <a16:creationId xmlns:a16="http://schemas.microsoft.com/office/drawing/2014/main" id="{9EF614AE-1289-6CC1-C1B8-F9E11B42217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CB79097-C23E-7C91-15B3-63728638A89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DB32D14-0C7C-F30C-A1F7-FF7EA9961A2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763721C-475D-9776-EF62-9394810353F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0" name="Picture 9">
            <a:extLst>
              <a:ext uri="{FF2B5EF4-FFF2-40B4-BE49-F238E27FC236}">
                <a16:creationId xmlns:a16="http://schemas.microsoft.com/office/drawing/2014/main" id="{986CE5E9-C323-FD7C-A59E-2C9B875145A0}"/>
              </a:ext>
            </a:extLst>
          </p:cNvPr>
          <p:cNvPicPr>
            <a:picLocks noChangeAspect="1"/>
          </p:cNvPicPr>
          <p:nvPr/>
        </p:nvPicPr>
        <p:blipFill>
          <a:blip r:embed="rId3"/>
          <a:stretch>
            <a:fillRect/>
          </a:stretch>
        </p:blipFill>
        <p:spPr>
          <a:xfrm>
            <a:off x="542786" y="826309"/>
            <a:ext cx="9910409" cy="5414966"/>
          </a:xfrm>
          <a:prstGeom prst="rect">
            <a:avLst/>
          </a:prstGeom>
        </p:spPr>
      </p:pic>
    </p:spTree>
    <p:extLst>
      <p:ext uri="{BB962C8B-B14F-4D97-AF65-F5344CB8AC3E}">
        <p14:creationId xmlns:p14="http://schemas.microsoft.com/office/powerpoint/2010/main" val="818223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E5F62A9-271F-D7AC-DF03-84B01F98BCC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9E2FA2D-CF28-863B-57AB-A981BDA2000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B733ED4-4292-39B2-33B8-AACC6CB49673}"/>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grpSp>
        <p:nvGrpSpPr>
          <p:cNvPr id="2" name="Group 1">
            <a:extLst>
              <a:ext uri="{FF2B5EF4-FFF2-40B4-BE49-F238E27FC236}">
                <a16:creationId xmlns:a16="http://schemas.microsoft.com/office/drawing/2014/main" id="{D8CF4DA5-9030-8EB8-E2C8-6FC1A018956C}"/>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C66932D5-3B75-FB9B-8DC0-08AF56E3E425}"/>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a:latin typeface="Times New Roman" panose="02020603050405020304" pitchFamily="18" charset="0"/>
                  <a:cs typeface="Times New Roman" panose="02020603050405020304" pitchFamily="18" charset="0"/>
                </a:rPr>
                <a:t>4.1.2.</a:t>
              </a: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Cơ chế routing hoạt động trong Angular.</a:t>
              </a:r>
              <a:endParaRPr lang="vi-VN" sz="2800" b="1">
                <a:latin typeface="Times New Roman" panose="02020603050405020304" pitchFamily="18" charset="0"/>
                <a:cs typeface="Times New Roman" panose="02020603050405020304" pitchFamily="18" charset="0"/>
              </a:endParaRPr>
            </a:p>
          </p:txBody>
        </p:sp>
        <p:grpSp>
          <p:nvGrpSpPr>
            <p:cNvPr id="4" name="Group 17">
              <a:extLst>
                <a:ext uri="{FF2B5EF4-FFF2-40B4-BE49-F238E27FC236}">
                  <a16:creationId xmlns:a16="http://schemas.microsoft.com/office/drawing/2014/main" id="{C52D2F5C-B2A8-0A40-4D76-33D709A8445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547B19A-B88E-CCF2-2141-CA91D57F5F3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7763106-27FB-BC10-59FE-0D108E86B94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485EC3B-4478-7AD0-25FE-5ACE4F5290B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0" name="Picture 9">
            <a:extLst>
              <a:ext uri="{FF2B5EF4-FFF2-40B4-BE49-F238E27FC236}">
                <a16:creationId xmlns:a16="http://schemas.microsoft.com/office/drawing/2014/main" id="{773E983E-9755-9219-8CD8-EE706C7BBC10}"/>
              </a:ext>
            </a:extLst>
          </p:cNvPr>
          <p:cNvPicPr>
            <a:picLocks noChangeAspect="1"/>
          </p:cNvPicPr>
          <p:nvPr/>
        </p:nvPicPr>
        <p:blipFill>
          <a:blip r:embed="rId3"/>
          <a:stretch>
            <a:fillRect/>
          </a:stretch>
        </p:blipFill>
        <p:spPr>
          <a:xfrm>
            <a:off x="621873" y="1027744"/>
            <a:ext cx="6988146" cy="4183743"/>
          </a:xfrm>
          <a:prstGeom prst="rect">
            <a:avLst/>
          </a:prstGeom>
        </p:spPr>
      </p:pic>
    </p:spTree>
    <p:extLst>
      <p:ext uri="{BB962C8B-B14F-4D97-AF65-F5344CB8AC3E}">
        <p14:creationId xmlns:p14="http://schemas.microsoft.com/office/powerpoint/2010/main" val="3741625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EA4C6FE-6D16-888F-B8E4-AE237E0A571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905FC5F-7798-E92C-58D8-0BCD72FF626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252F5D0-744F-E2B6-1CA1-929F4D3A43F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grpSp>
        <p:nvGrpSpPr>
          <p:cNvPr id="2" name="Group 1">
            <a:extLst>
              <a:ext uri="{FF2B5EF4-FFF2-40B4-BE49-F238E27FC236}">
                <a16:creationId xmlns:a16="http://schemas.microsoft.com/office/drawing/2014/main" id="{D59C4AE7-E100-C8E9-6967-89DB8DE4CB00}"/>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6350CF0A-A480-BB7C-CD21-6FFC29D0467F}"/>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a:latin typeface="Times New Roman" panose="02020603050405020304" pitchFamily="18" charset="0"/>
                  <a:cs typeface="Times New Roman" panose="02020603050405020304" pitchFamily="18" charset="0"/>
                </a:rPr>
                <a:t>4.1.3. So sánh với routing truyền thống</a:t>
              </a:r>
              <a:endParaRPr lang="vi-VN" sz="2800" b="1">
                <a:latin typeface="Times New Roman" panose="02020603050405020304" pitchFamily="18" charset="0"/>
                <a:cs typeface="Times New Roman" panose="02020603050405020304" pitchFamily="18" charset="0"/>
              </a:endParaRPr>
            </a:p>
          </p:txBody>
        </p:sp>
        <p:grpSp>
          <p:nvGrpSpPr>
            <p:cNvPr id="4" name="Group 17">
              <a:extLst>
                <a:ext uri="{FF2B5EF4-FFF2-40B4-BE49-F238E27FC236}">
                  <a16:creationId xmlns:a16="http://schemas.microsoft.com/office/drawing/2014/main" id="{AC2CCD8E-458D-5CA8-E339-9117EB647B0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8358BE0-97A0-D494-3B7D-C5809E8C385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01C1BB7-1F54-F3E3-47E2-141577C3F60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40AB87A-CA5F-61BE-5277-940AC09FEFB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graphicFrame>
        <p:nvGraphicFramePr>
          <p:cNvPr id="8" name="Table 7">
            <a:extLst>
              <a:ext uri="{FF2B5EF4-FFF2-40B4-BE49-F238E27FC236}">
                <a16:creationId xmlns:a16="http://schemas.microsoft.com/office/drawing/2014/main" id="{3C7F53FD-C722-F6C8-7F40-AA1148E49095}"/>
              </a:ext>
            </a:extLst>
          </p:cNvPr>
          <p:cNvGraphicFramePr>
            <a:graphicFrameLocks noGrp="1"/>
          </p:cNvGraphicFramePr>
          <p:nvPr>
            <p:extLst>
              <p:ext uri="{D42A27DB-BD31-4B8C-83A1-F6EECF244321}">
                <p14:modId xmlns:p14="http://schemas.microsoft.com/office/powerpoint/2010/main" val="3304503198"/>
              </p:ext>
            </p:extLst>
          </p:nvPr>
        </p:nvGraphicFramePr>
        <p:xfrm>
          <a:off x="542785" y="851559"/>
          <a:ext cx="11131284" cy="5120640"/>
        </p:xfrm>
        <a:graphic>
          <a:graphicData uri="http://schemas.openxmlformats.org/drawingml/2006/table">
            <a:tbl>
              <a:tblPr>
                <a:tableStyleId>{5940675A-B579-460E-94D1-54222C63F5DA}</a:tableStyleId>
              </a:tblPr>
              <a:tblGrid>
                <a:gridCol w="2915435">
                  <a:extLst>
                    <a:ext uri="{9D8B030D-6E8A-4147-A177-3AD203B41FA5}">
                      <a16:colId xmlns:a16="http://schemas.microsoft.com/office/drawing/2014/main" val="3705253611"/>
                    </a:ext>
                  </a:extLst>
                </a:gridCol>
                <a:gridCol w="4180114">
                  <a:extLst>
                    <a:ext uri="{9D8B030D-6E8A-4147-A177-3AD203B41FA5}">
                      <a16:colId xmlns:a16="http://schemas.microsoft.com/office/drawing/2014/main" val="1449408769"/>
                    </a:ext>
                  </a:extLst>
                </a:gridCol>
                <a:gridCol w="4035735">
                  <a:extLst>
                    <a:ext uri="{9D8B030D-6E8A-4147-A177-3AD203B41FA5}">
                      <a16:colId xmlns:a16="http://schemas.microsoft.com/office/drawing/2014/main" val="1097152948"/>
                    </a:ext>
                  </a:extLst>
                </a:gridCol>
              </a:tblGrid>
              <a:tr h="0">
                <a:tc>
                  <a:txBody>
                    <a:bodyPr/>
                    <a:lstStyle/>
                    <a:p>
                      <a:pPr algn="ctr" rtl="0">
                        <a:buNone/>
                      </a:pPr>
                      <a:r>
                        <a:rPr lang="en-US" sz="2000" b="1">
                          <a:solidFill>
                            <a:srgbClr val="1F1F1F"/>
                          </a:solidFill>
                          <a:effectLst/>
                          <a:latin typeface="Times New Roman" panose="02020603050405020304" pitchFamily="18" charset="0"/>
                          <a:cs typeface="Times New Roman" panose="02020603050405020304" pitchFamily="18" charset="0"/>
                        </a:rPr>
                        <a:t>Đặc điểm</a:t>
                      </a:r>
                      <a:endParaRPr lang="en-US" sz="20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tc>
                  <a:txBody>
                    <a:bodyPr/>
                    <a:lstStyle/>
                    <a:p>
                      <a:pPr algn="ctr" rtl="0">
                        <a:buNone/>
                      </a:pPr>
                      <a:r>
                        <a:rPr lang="en-US" sz="2000" b="1">
                          <a:solidFill>
                            <a:srgbClr val="1F1F1F"/>
                          </a:solidFill>
                          <a:effectLst/>
                          <a:latin typeface="Times New Roman" panose="02020603050405020304" pitchFamily="18" charset="0"/>
                          <a:cs typeface="Times New Roman" panose="02020603050405020304" pitchFamily="18" charset="0"/>
                        </a:rPr>
                        <a:t>Routing truyền thống (MPA)</a:t>
                      </a:r>
                      <a:endParaRPr lang="en-US" sz="20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tc>
                  <a:txBody>
                    <a:bodyPr/>
                    <a:lstStyle/>
                    <a:p>
                      <a:pPr algn="ctr" rtl="0">
                        <a:buNone/>
                      </a:pPr>
                      <a:r>
                        <a:rPr lang="en-US" sz="2000" b="1">
                          <a:solidFill>
                            <a:srgbClr val="1F1F1F"/>
                          </a:solidFill>
                          <a:effectLst/>
                          <a:latin typeface="Times New Roman" panose="02020603050405020304" pitchFamily="18" charset="0"/>
                          <a:cs typeface="Times New Roman" panose="02020603050405020304" pitchFamily="18" charset="0"/>
                        </a:rPr>
                        <a:t>Angular Routing (SPA)</a:t>
                      </a:r>
                      <a:endParaRPr lang="en-US" sz="20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extLst>
                  <a:ext uri="{0D108BD9-81ED-4DB2-BD59-A6C34878D82A}">
                    <a16:rowId xmlns:a16="http://schemas.microsoft.com/office/drawing/2014/main" val="2872982142"/>
                  </a:ext>
                </a:extLst>
              </a:tr>
              <a:tr h="0">
                <a:tc>
                  <a:txBody>
                    <a:bodyPr/>
                    <a:lstStyle/>
                    <a:p>
                      <a:pPr rtl="0">
                        <a:buNone/>
                      </a:pPr>
                      <a:r>
                        <a:rPr lang="vi-VN" sz="2000" b="1">
                          <a:solidFill>
                            <a:srgbClr val="1F1F1F"/>
                          </a:solidFill>
                          <a:effectLst/>
                          <a:latin typeface="Times New Roman" panose="02020603050405020304" pitchFamily="18" charset="0"/>
                          <a:cs typeface="Times New Roman" panose="02020603050405020304" pitchFamily="18" charset="0"/>
                        </a:rPr>
                        <a:t>Cơ chế tải trang</a:t>
                      </a:r>
                      <a:endParaRPr lang="vi-VN" sz="20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000">
                          <a:solidFill>
                            <a:srgbClr val="1F1F1F"/>
                          </a:solidFill>
                          <a:effectLst/>
                          <a:latin typeface="Times New Roman" panose="02020603050405020304" pitchFamily="18" charset="0"/>
                          <a:cs typeface="Times New Roman" panose="02020603050405020304" pitchFamily="18" charset="0"/>
                        </a:rPr>
                        <a:t>Mỗi lần click, trình duyệt gửi request lên Server, Server trả về một file HTML mới.</a:t>
                      </a:r>
                    </a:p>
                  </a:txBody>
                  <a:tcPr marT="121920" marB="121920" anchor="ctr"/>
                </a:tc>
                <a:tc>
                  <a:txBody>
                    <a:bodyPr/>
                    <a:lstStyle/>
                    <a:p>
                      <a:pPr algn="just" rtl="0">
                        <a:buNone/>
                      </a:pPr>
                      <a:r>
                        <a:rPr lang="en-US" sz="2000">
                          <a:solidFill>
                            <a:srgbClr val="1F1F1F"/>
                          </a:solidFill>
                          <a:effectLst/>
                          <a:latin typeface="Times New Roman" panose="02020603050405020304" pitchFamily="18" charset="0"/>
                          <a:cs typeface="Times New Roman" panose="02020603050405020304" pitchFamily="18" charset="0"/>
                        </a:rPr>
                        <a:t>Chỉ tải HTML 1 lần. Những lần sau chỉ tải dữ liệu (JSON) và render Component mới.</a:t>
                      </a:r>
                    </a:p>
                  </a:txBody>
                  <a:tcPr marT="121920" marB="121920" anchor="ctr"/>
                </a:tc>
                <a:extLst>
                  <a:ext uri="{0D108BD9-81ED-4DB2-BD59-A6C34878D82A}">
                    <a16:rowId xmlns:a16="http://schemas.microsoft.com/office/drawing/2014/main" val="2358472627"/>
                  </a:ext>
                </a:extLst>
              </a:tr>
              <a:tr h="0">
                <a:tc>
                  <a:txBody>
                    <a:bodyPr/>
                    <a:lstStyle/>
                    <a:p>
                      <a:pPr rtl="0">
                        <a:buNone/>
                      </a:pPr>
                      <a:r>
                        <a:rPr lang="en-US" sz="2000" b="1">
                          <a:solidFill>
                            <a:srgbClr val="1F1F1F"/>
                          </a:solidFill>
                          <a:effectLst/>
                          <a:latin typeface="Times New Roman" panose="02020603050405020304" pitchFamily="18" charset="0"/>
                          <a:cs typeface="Times New Roman" panose="02020603050405020304" pitchFamily="18" charset="0"/>
                        </a:rPr>
                        <a:t>Trải nghiệm (UX)</a:t>
                      </a:r>
                      <a:endParaRPr lang="en-US" sz="20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000">
                          <a:solidFill>
                            <a:srgbClr val="1F1F1F"/>
                          </a:solidFill>
                          <a:effectLst/>
                          <a:latin typeface="Times New Roman" panose="02020603050405020304" pitchFamily="18" charset="0"/>
                          <a:cs typeface="Times New Roman" panose="02020603050405020304" pitchFamily="18" charset="0"/>
                        </a:rPr>
                        <a:t>Có độ trễ (nhấp nháy trắng màn hình khi tải trang).</a:t>
                      </a:r>
                    </a:p>
                  </a:txBody>
                  <a:tcPr marT="121920" marB="121920" anchor="ctr"/>
                </a:tc>
                <a:tc>
                  <a:txBody>
                    <a:bodyPr/>
                    <a:lstStyle/>
                    <a:p>
                      <a:pPr algn="just" rtl="0">
                        <a:buNone/>
                      </a:pPr>
                      <a:r>
                        <a:rPr lang="vi-VN" sz="2000">
                          <a:solidFill>
                            <a:srgbClr val="1F1F1F"/>
                          </a:solidFill>
                          <a:effectLst/>
                          <a:latin typeface="Times New Roman" panose="02020603050405020304" pitchFamily="18" charset="0"/>
                          <a:cs typeface="Times New Roman" panose="02020603050405020304" pitchFamily="18" charset="0"/>
                        </a:rPr>
                        <a:t>Mượt mà như ứng dụng desktop, tốc độ nhanh.</a:t>
                      </a:r>
                    </a:p>
                  </a:txBody>
                  <a:tcPr marT="121920" marB="121920" anchor="ctr"/>
                </a:tc>
                <a:extLst>
                  <a:ext uri="{0D108BD9-81ED-4DB2-BD59-A6C34878D82A}">
                    <a16:rowId xmlns:a16="http://schemas.microsoft.com/office/drawing/2014/main" val="868918829"/>
                  </a:ext>
                </a:extLst>
              </a:tr>
              <a:tr h="0">
                <a:tc>
                  <a:txBody>
                    <a:bodyPr/>
                    <a:lstStyle/>
                    <a:p>
                      <a:pPr rtl="0">
                        <a:buNone/>
                      </a:pPr>
                      <a:r>
                        <a:rPr lang="en-US" sz="2000" b="1">
                          <a:solidFill>
                            <a:srgbClr val="1F1F1F"/>
                          </a:solidFill>
                          <a:effectLst/>
                          <a:latin typeface="Times New Roman" panose="02020603050405020304" pitchFamily="18" charset="0"/>
                          <a:cs typeface="Times New Roman" panose="02020603050405020304" pitchFamily="18" charset="0"/>
                        </a:rPr>
                        <a:t>Tải nguyên (Resources)</a:t>
                      </a:r>
                      <a:endParaRPr lang="en-US" sz="20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000">
                          <a:solidFill>
                            <a:srgbClr val="1F1F1F"/>
                          </a:solidFill>
                          <a:effectLst/>
                          <a:latin typeface="Times New Roman" panose="02020603050405020304" pitchFamily="18" charset="0"/>
                          <a:cs typeface="Times New Roman" panose="02020603050405020304" pitchFamily="18" charset="0"/>
                        </a:rPr>
                        <a:t>Phải tải lại toàn bộ CSS, JS, Assets ở mỗi trang.</a:t>
                      </a:r>
                    </a:p>
                  </a:txBody>
                  <a:tcPr marT="121920" marB="121920" anchor="ctr"/>
                </a:tc>
                <a:tc>
                  <a:txBody>
                    <a:bodyPr/>
                    <a:lstStyle/>
                    <a:p>
                      <a:pPr algn="just" rtl="0">
                        <a:buNone/>
                      </a:pPr>
                      <a:r>
                        <a:rPr lang="en-US" sz="2000">
                          <a:solidFill>
                            <a:srgbClr val="1F1F1F"/>
                          </a:solidFill>
                          <a:effectLst/>
                          <a:latin typeface="Times New Roman" panose="02020603050405020304" pitchFamily="18" charset="0"/>
                          <a:cs typeface="Times New Roman" panose="02020603050405020304" pitchFamily="18" charset="0"/>
                        </a:rPr>
                        <a:t>Chỉ tải tài nguyên cần thiết cho Component hiện tại (Lazy Loading).</a:t>
                      </a:r>
                    </a:p>
                  </a:txBody>
                  <a:tcPr marT="121920" marB="121920" anchor="ctr"/>
                </a:tc>
                <a:extLst>
                  <a:ext uri="{0D108BD9-81ED-4DB2-BD59-A6C34878D82A}">
                    <a16:rowId xmlns:a16="http://schemas.microsoft.com/office/drawing/2014/main" val="816951418"/>
                  </a:ext>
                </a:extLst>
              </a:tr>
              <a:tr h="0">
                <a:tc>
                  <a:txBody>
                    <a:bodyPr/>
                    <a:lstStyle/>
                    <a:p>
                      <a:pPr rtl="0">
                        <a:buNone/>
                      </a:pPr>
                      <a:r>
                        <a:rPr lang="en-US" sz="2000" b="1">
                          <a:solidFill>
                            <a:srgbClr val="1F1F1F"/>
                          </a:solidFill>
                          <a:effectLst/>
                          <a:latin typeface="Times New Roman" panose="02020603050405020304" pitchFamily="18" charset="0"/>
                          <a:cs typeface="Times New Roman" panose="02020603050405020304" pitchFamily="18" charset="0"/>
                        </a:rPr>
                        <a:t>Độ phức tạp</a:t>
                      </a:r>
                      <a:endParaRPr lang="en-US" sz="20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vi-VN" sz="2000">
                          <a:solidFill>
                            <a:srgbClr val="1F1F1F"/>
                          </a:solidFill>
                          <a:effectLst/>
                          <a:latin typeface="Times New Roman" panose="02020603050405020304" pitchFamily="18" charset="0"/>
                          <a:cs typeface="Times New Roman" panose="02020603050405020304" pitchFamily="18" charset="0"/>
                        </a:rPr>
                        <a:t>Đơn giản, dễ làm SEO.</a:t>
                      </a:r>
                    </a:p>
                  </a:txBody>
                  <a:tcPr marT="121920" marB="121920" anchor="ctr"/>
                </a:tc>
                <a:tc>
                  <a:txBody>
                    <a:bodyPr/>
                    <a:lstStyle/>
                    <a:p>
                      <a:pPr algn="just" rtl="0">
                        <a:buNone/>
                      </a:pPr>
                      <a:r>
                        <a:rPr lang="vi-VN" sz="2000">
                          <a:solidFill>
                            <a:srgbClr val="1F1F1F"/>
                          </a:solidFill>
                          <a:effectLst/>
                          <a:latin typeface="Times New Roman" panose="02020603050405020304" pitchFamily="18" charset="0"/>
                          <a:cs typeface="Times New Roman" panose="02020603050405020304" pitchFamily="18" charset="0"/>
                        </a:rPr>
                        <a:t>Phức tạp hơn trong quản lý trạng thái, cần cấu hình Router.</a:t>
                      </a:r>
                    </a:p>
                  </a:txBody>
                  <a:tcPr marT="121920" marB="121920" anchor="ctr"/>
                </a:tc>
                <a:extLst>
                  <a:ext uri="{0D108BD9-81ED-4DB2-BD59-A6C34878D82A}">
                    <a16:rowId xmlns:a16="http://schemas.microsoft.com/office/drawing/2014/main" val="4096224151"/>
                  </a:ext>
                </a:extLst>
              </a:tr>
              <a:tr h="0">
                <a:tc>
                  <a:txBody>
                    <a:bodyPr/>
                    <a:lstStyle/>
                    <a:p>
                      <a:pPr rtl="0">
                        <a:buNone/>
                      </a:pPr>
                      <a:r>
                        <a:rPr lang="en-US" sz="2000" b="1">
                          <a:solidFill>
                            <a:srgbClr val="1F1F1F"/>
                          </a:solidFill>
                          <a:effectLst/>
                          <a:latin typeface="Times New Roman" panose="02020603050405020304" pitchFamily="18" charset="0"/>
                          <a:cs typeface="Times New Roman" panose="02020603050405020304" pitchFamily="18" charset="0"/>
                        </a:rPr>
                        <a:t>Giao tiếp với Server</a:t>
                      </a:r>
                      <a:endParaRPr lang="en-US" sz="20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000">
                          <a:solidFill>
                            <a:srgbClr val="1F1F1F"/>
                          </a:solidFill>
                          <a:effectLst/>
                          <a:latin typeface="Times New Roman" panose="02020603050405020304" pitchFamily="18" charset="0"/>
                          <a:cs typeface="Times New Roman" panose="02020603050405020304" pitchFamily="18" charset="0"/>
                        </a:rPr>
                        <a:t>Dựa trên URL để server trả về file.</a:t>
                      </a:r>
                    </a:p>
                  </a:txBody>
                  <a:tcPr marT="121920" marB="121920" anchor="ctr"/>
                </a:tc>
                <a:tc>
                  <a:txBody>
                    <a:bodyPr/>
                    <a:lstStyle/>
                    <a:p>
                      <a:pPr algn="just" rtl="0">
                        <a:buNone/>
                      </a:pPr>
                      <a:r>
                        <a:rPr lang="en-US" sz="2000">
                          <a:solidFill>
                            <a:srgbClr val="1F1F1F"/>
                          </a:solidFill>
                          <a:effectLst/>
                          <a:latin typeface="Times New Roman" panose="02020603050405020304" pitchFamily="18" charset="0"/>
                          <a:cs typeface="Times New Roman" panose="02020603050405020304" pitchFamily="18" charset="0"/>
                        </a:rPr>
                        <a:t>Dựa trên API để nhận dữ liệu, hiển thị giao diện phía client.</a:t>
                      </a:r>
                    </a:p>
                  </a:txBody>
                  <a:tcPr marT="121920" marB="121920" anchor="ctr"/>
                </a:tc>
                <a:extLst>
                  <a:ext uri="{0D108BD9-81ED-4DB2-BD59-A6C34878D82A}">
                    <a16:rowId xmlns:a16="http://schemas.microsoft.com/office/drawing/2014/main" val="1454767791"/>
                  </a:ext>
                </a:extLst>
              </a:tr>
            </a:tbl>
          </a:graphicData>
        </a:graphic>
      </p:graphicFrame>
    </p:spTree>
    <p:extLst>
      <p:ext uri="{BB962C8B-B14F-4D97-AF65-F5344CB8AC3E}">
        <p14:creationId xmlns:p14="http://schemas.microsoft.com/office/powerpoint/2010/main" val="39212725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E5592BC-E01D-62A3-8A9C-9318C58B557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20E5D4F-70F1-845D-8930-78C6E281C09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EEA36D1-2179-20BA-E3B2-D8BA33854147}"/>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grpSp>
        <p:nvGrpSpPr>
          <p:cNvPr id="2" name="Group 1">
            <a:extLst>
              <a:ext uri="{FF2B5EF4-FFF2-40B4-BE49-F238E27FC236}">
                <a16:creationId xmlns:a16="http://schemas.microsoft.com/office/drawing/2014/main" id="{F5C0AD8C-0398-96E9-10E9-DD2711740BA2}"/>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C61A4065-5C30-833D-6906-DC9FCAA3F4AA}"/>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a:latin typeface="Times New Roman" panose="02020603050405020304" pitchFamily="18" charset="0"/>
                  <a:cs typeface="Times New Roman" panose="02020603050405020304" pitchFamily="18" charset="0"/>
                </a:rPr>
                <a:t>4.1.3. So sánh với routing truyền thống</a:t>
              </a:r>
              <a:endParaRPr lang="vi-VN" sz="2800" b="1">
                <a:latin typeface="Times New Roman" panose="02020603050405020304" pitchFamily="18" charset="0"/>
                <a:cs typeface="Times New Roman" panose="02020603050405020304" pitchFamily="18" charset="0"/>
              </a:endParaRPr>
            </a:p>
          </p:txBody>
        </p:sp>
        <p:grpSp>
          <p:nvGrpSpPr>
            <p:cNvPr id="4" name="Group 17">
              <a:extLst>
                <a:ext uri="{FF2B5EF4-FFF2-40B4-BE49-F238E27FC236}">
                  <a16:creationId xmlns:a16="http://schemas.microsoft.com/office/drawing/2014/main" id="{11799EF2-3B84-2BC6-0C0D-56E7AB06509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D24D422-0438-C3BF-01B9-45E7E5B12BD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7FA649C-696A-6655-3578-0B76E2F28BE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D9141D0-DD6F-3206-D1B3-CEECC96F638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AFD5439B-EC35-E426-53F2-8A26CBA269A0}"/>
              </a:ext>
            </a:extLst>
          </p:cNvPr>
          <p:cNvSpPr txBox="1"/>
          <p:nvPr/>
        </p:nvSpPr>
        <p:spPr>
          <a:xfrm>
            <a:off x="488137" y="841012"/>
            <a:ext cx="11185931" cy="5115311"/>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000" b="1">
                <a:latin typeface="Times New Roman" panose="02020603050405020304" pitchFamily="18" charset="0"/>
                <a:cs typeface="Times New Roman" panose="02020603050405020304" pitchFamily="18" charset="0"/>
              </a:rPr>
              <a:t>Ví dụ </a:t>
            </a:r>
            <a:r>
              <a:rPr lang="vi-VN" sz="2000" b="1">
                <a:latin typeface="Times New Roman" panose="02020603050405020304" pitchFamily="18" charset="0"/>
                <a:cs typeface="Times New Roman" panose="02020603050405020304" pitchFamily="18" charset="0"/>
              </a:rPr>
              <a:t>MPA (Multi-Page Application): "Khu trung tâm thương mại truyền thống"</a:t>
            </a:r>
          </a:p>
          <a:p>
            <a:pPr algn="just">
              <a:lnSpc>
                <a:spcPct val="150000"/>
              </a:lnSpc>
              <a:buNone/>
            </a:pPr>
            <a:r>
              <a:rPr lang="en-US" sz="2000">
                <a:latin typeface="Times New Roman" panose="02020603050405020304" pitchFamily="18" charset="0"/>
                <a:cs typeface="Times New Roman" panose="02020603050405020304" pitchFamily="18" charset="0"/>
              </a:rPr>
              <a:t>Giả sử Ta </a:t>
            </a:r>
            <a:r>
              <a:rPr lang="vi-VN" sz="2000">
                <a:latin typeface="Times New Roman" panose="02020603050405020304" pitchFamily="18" charset="0"/>
                <a:cs typeface="Times New Roman" panose="02020603050405020304" pitchFamily="18" charset="0"/>
              </a:rPr>
              <a:t>đang đi mua sắm tại một khu trung tâm thương mại lớn có nhiều cửa hàng riêng biệt.</a:t>
            </a:r>
          </a:p>
          <a:p>
            <a:pPr algn="just">
              <a:lnSpc>
                <a:spcPct val="150000"/>
              </a:lnSpc>
              <a:buFont typeface="Arial" panose="020B0604020202020204" pitchFamily="34" charset="0"/>
              <a:buChar char="•"/>
            </a:pPr>
            <a:r>
              <a:rPr lang="vi-VN" sz="2000" b="1">
                <a:latin typeface="Times New Roman" panose="02020603050405020304" pitchFamily="18" charset="0"/>
                <a:cs typeface="Times New Roman" panose="02020603050405020304" pitchFamily="18" charset="0"/>
              </a:rPr>
              <a:t>Trải nghiệm:</a:t>
            </a:r>
            <a:r>
              <a:rPr lang="vi-VN" sz="2000">
                <a:latin typeface="Times New Roman" panose="02020603050405020304" pitchFamily="18" charset="0"/>
                <a:cs typeface="Times New Roman" panose="02020603050405020304" pitchFamily="18" charset="0"/>
              </a:rPr>
              <a:t> </a:t>
            </a:r>
            <a:r>
              <a:rPr lang="en-US" sz="2000">
                <a:latin typeface="Times New Roman" panose="02020603050405020304" pitchFamily="18" charset="0"/>
                <a:cs typeface="Times New Roman" panose="02020603050405020304" pitchFamily="18" charset="0"/>
              </a:rPr>
              <a:t>Ta </a:t>
            </a:r>
            <a:r>
              <a:rPr lang="vi-VN" sz="2000">
                <a:latin typeface="Times New Roman" panose="02020603050405020304" pitchFamily="18" charset="0"/>
                <a:cs typeface="Times New Roman" panose="02020603050405020304" pitchFamily="18" charset="0"/>
              </a:rPr>
              <a:t>muốn mua giày ở cửa hàng A, sau đó muốn kiểm tra giỏ hàng ở cửa hàng B. </a:t>
            </a:r>
            <a:r>
              <a:rPr lang="en-US" sz="2000">
                <a:latin typeface="Times New Roman" panose="02020603050405020304" pitchFamily="18" charset="0"/>
                <a:cs typeface="Times New Roman" panose="02020603050405020304" pitchFamily="18" charset="0"/>
              </a:rPr>
              <a:t>Ta </a:t>
            </a:r>
            <a:r>
              <a:rPr lang="vi-VN" sz="2000">
                <a:latin typeface="Times New Roman" panose="02020603050405020304" pitchFamily="18" charset="0"/>
                <a:cs typeface="Times New Roman" panose="02020603050405020304" pitchFamily="18" charset="0"/>
              </a:rPr>
              <a:t>phải bước ra khỏi cửa hàng A, đi bộ ngoài hành lang (thời gian chờ tải trang - network latency), rồi mới được đẩy cửa bước vào cửa hàng B.</a:t>
            </a:r>
          </a:p>
          <a:p>
            <a:pPr algn="just">
              <a:lnSpc>
                <a:spcPct val="150000"/>
              </a:lnSpc>
              <a:buFont typeface="Arial" panose="020B0604020202020204" pitchFamily="34" charset="0"/>
              <a:buChar char="•"/>
            </a:pPr>
            <a:r>
              <a:rPr lang="vi-VN" sz="2000" b="1">
                <a:latin typeface="Times New Roman" panose="02020603050405020304" pitchFamily="18" charset="0"/>
                <a:cs typeface="Times New Roman" panose="02020603050405020304" pitchFamily="18" charset="0"/>
              </a:rPr>
              <a:t>Điểm bất tiện</a:t>
            </a:r>
            <a:r>
              <a:rPr lang="en-US" sz="2000" b="1">
                <a:latin typeface="Times New Roman" panose="02020603050405020304" pitchFamily="18" charset="0"/>
                <a:cs typeface="Times New Roman" panose="02020603050405020304" pitchFamily="18" charset="0"/>
              </a:rPr>
              <a:t> làm cho trải nghiệm không tốt</a:t>
            </a:r>
            <a:r>
              <a:rPr lang="vi-VN" sz="2000" b="1">
                <a:latin typeface="Times New Roman" panose="02020603050405020304" pitchFamily="18" charset="0"/>
                <a:cs typeface="Times New Roman" panose="02020603050405020304" pitchFamily="18" charset="0"/>
              </a:rPr>
              <a:t>:</a:t>
            </a:r>
            <a:endParaRPr lang="vi-VN" sz="2000">
              <a:latin typeface="Times New Roman" panose="02020603050405020304" pitchFamily="18" charset="0"/>
              <a:cs typeface="Times New Roman" panose="02020603050405020304" pitchFamily="18" charset="0"/>
            </a:endParaRPr>
          </a:p>
          <a:p>
            <a:pPr marL="742950" lvl="1" indent="-285750" algn="just">
              <a:lnSpc>
                <a:spcPct val="150000"/>
              </a:lnSpc>
              <a:buFont typeface="Arial" panose="020B0604020202020204" pitchFamily="34" charset="0"/>
              <a:buChar char="•"/>
            </a:pPr>
            <a:r>
              <a:rPr lang="vi-VN" sz="2000" b="1">
                <a:latin typeface="Times New Roman" panose="02020603050405020304" pitchFamily="18" charset="0"/>
                <a:cs typeface="Times New Roman" panose="02020603050405020304" pitchFamily="18" charset="0"/>
              </a:rPr>
              <a:t>Mất kết nối:</a:t>
            </a:r>
            <a:r>
              <a:rPr lang="vi-VN" sz="2000">
                <a:latin typeface="Times New Roman" panose="02020603050405020304" pitchFamily="18" charset="0"/>
                <a:cs typeface="Times New Roman" panose="02020603050405020304" pitchFamily="18" charset="0"/>
              </a:rPr>
              <a:t> Mỗi lần sang cửa hàng mới, </a:t>
            </a:r>
            <a:r>
              <a:rPr lang="en-US" sz="2000">
                <a:latin typeface="Times New Roman" panose="02020603050405020304" pitchFamily="18" charset="0"/>
                <a:cs typeface="Times New Roman" panose="02020603050405020304" pitchFamily="18" charset="0"/>
              </a:rPr>
              <a:t>Ta </a:t>
            </a:r>
            <a:r>
              <a:rPr lang="vi-VN" sz="2000">
                <a:latin typeface="Times New Roman" panose="02020603050405020304" pitchFamily="18" charset="0"/>
                <a:cs typeface="Times New Roman" panose="02020603050405020304" pitchFamily="18" charset="0"/>
              </a:rPr>
              <a:t>phải xuất trình lại "thẻ thành viên" (re-authenticate).</a:t>
            </a:r>
          </a:p>
          <a:p>
            <a:pPr marL="742950" lvl="1" indent="-285750" algn="just">
              <a:lnSpc>
                <a:spcPct val="150000"/>
              </a:lnSpc>
              <a:buFont typeface="Arial" panose="020B0604020202020204" pitchFamily="34" charset="0"/>
              <a:buChar char="•"/>
            </a:pPr>
            <a:r>
              <a:rPr lang="vi-VN" sz="2000" b="1">
                <a:latin typeface="Times New Roman" panose="02020603050405020304" pitchFamily="18" charset="0"/>
                <a:cs typeface="Times New Roman" panose="02020603050405020304" pitchFamily="18" charset="0"/>
              </a:rPr>
              <a:t>Gián đoạn:</a:t>
            </a:r>
            <a:r>
              <a:rPr lang="vi-VN" sz="2000">
                <a:latin typeface="Times New Roman" panose="02020603050405020304" pitchFamily="18" charset="0"/>
                <a:cs typeface="Times New Roman" panose="02020603050405020304" pitchFamily="18" charset="0"/>
              </a:rPr>
              <a:t> Các hiệu ứng âm nhạc trong cửa hàng A (nhạc nền, quảng cáo) bị ngắt quãng hoàn toàn khi </a:t>
            </a:r>
            <a:r>
              <a:rPr lang="en-US" sz="2000">
                <a:latin typeface="Times New Roman" panose="02020603050405020304" pitchFamily="18" charset="0"/>
                <a:cs typeface="Times New Roman" panose="02020603050405020304" pitchFamily="18" charset="0"/>
              </a:rPr>
              <a:t>Ta </a:t>
            </a:r>
            <a:r>
              <a:rPr lang="vi-VN" sz="2000">
                <a:latin typeface="Times New Roman" panose="02020603050405020304" pitchFamily="18" charset="0"/>
                <a:cs typeface="Times New Roman" panose="02020603050405020304" pitchFamily="18" charset="0"/>
              </a:rPr>
              <a:t>bước ra</a:t>
            </a:r>
            <a:r>
              <a:rPr lang="en-US" sz="2000">
                <a:latin typeface="Times New Roman" panose="02020603050405020304" pitchFamily="18" charset="0"/>
                <a:cs typeface="Times New Roman" panose="02020603050405020304" pitchFamily="18" charset="0"/>
              </a:rPr>
              <a:t> ngoài</a:t>
            </a:r>
            <a:r>
              <a:rPr lang="vi-VN" sz="2000">
                <a:latin typeface="Times New Roman" panose="02020603050405020304" pitchFamily="18" charset="0"/>
                <a:cs typeface="Times New Roman" panose="02020603050405020304" pitchFamily="18" charset="0"/>
              </a:rPr>
              <a:t>.</a:t>
            </a:r>
          </a:p>
          <a:p>
            <a:pPr marL="742950" lvl="1" indent="-285750" algn="just">
              <a:lnSpc>
                <a:spcPct val="150000"/>
              </a:lnSpc>
              <a:buFont typeface="Arial" panose="020B0604020202020204" pitchFamily="34" charset="0"/>
              <a:buChar char="•"/>
            </a:pPr>
            <a:r>
              <a:rPr lang="vi-VN" sz="2000" b="1">
                <a:latin typeface="Times New Roman" panose="02020603050405020304" pitchFamily="18" charset="0"/>
                <a:cs typeface="Times New Roman" panose="02020603050405020304" pitchFamily="18" charset="0"/>
              </a:rPr>
              <a:t>Tải lại:</a:t>
            </a:r>
            <a:r>
              <a:rPr lang="vi-VN" sz="2000">
                <a:latin typeface="Times New Roman" panose="02020603050405020304" pitchFamily="18" charset="0"/>
                <a:cs typeface="Times New Roman" panose="02020603050405020304" pitchFamily="18" charset="0"/>
              </a:rPr>
              <a:t> Mỗi lần vào cửa hàng, nhân viên lại phải bê nguyên bộ giá kệ, bảng hiệu ra sắp xếp lại từ đầu (tải lại toàn bộ HTML, CSS, JS).</a:t>
            </a:r>
          </a:p>
        </p:txBody>
      </p:sp>
    </p:spTree>
    <p:extLst>
      <p:ext uri="{BB962C8B-B14F-4D97-AF65-F5344CB8AC3E}">
        <p14:creationId xmlns:p14="http://schemas.microsoft.com/office/powerpoint/2010/main" val="7922538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A9E75EC-5796-F543-ED07-DFE76DE004A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0A7E4BF2-0B80-3902-6C87-86F8C0A10F3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3B5AEF6-7F65-EE05-4336-A200253CC40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grpSp>
        <p:nvGrpSpPr>
          <p:cNvPr id="2" name="Group 1">
            <a:extLst>
              <a:ext uri="{FF2B5EF4-FFF2-40B4-BE49-F238E27FC236}">
                <a16:creationId xmlns:a16="http://schemas.microsoft.com/office/drawing/2014/main" id="{03B1EA29-26AA-9D47-4D07-569ABB42DF4E}"/>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A08DBB4D-65D4-A5DB-D9F9-4D0065A51EFB}"/>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r>
                <a:rPr lang="vi-VN" sz="2800">
                  <a:latin typeface="Times New Roman" panose="02020603050405020304" pitchFamily="18" charset="0"/>
                  <a:cs typeface="Times New Roman" panose="02020603050405020304" pitchFamily="18" charset="0"/>
                </a:rPr>
                <a:t>4.1.3. So sánh với routing truyền thống</a:t>
              </a:r>
              <a:endParaRPr lang="vi-VN" sz="2800" b="1">
                <a:latin typeface="Times New Roman" panose="02020603050405020304" pitchFamily="18" charset="0"/>
                <a:cs typeface="Times New Roman" panose="02020603050405020304" pitchFamily="18" charset="0"/>
              </a:endParaRPr>
            </a:p>
          </p:txBody>
        </p:sp>
        <p:grpSp>
          <p:nvGrpSpPr>
            <p:cNvPr id="4" name="Group 17">
              <a:extLst>
                <a:ext uri="{FF2B5EF4-FFF2-40B4-BE49-F238E27FC236}">
                  <a16:creationId xmlns:a16="http://schemas.microsoft.com/office/drawing/2014/main" id="{5C0038E1-0882-7166-CFBF-1EFFECE98819}"/>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A381DBB-D0FC-731A-B543-5FDB89E957C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E96E185-72A4-6B70-F2F3-D2E77DD52E2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0ED8E1A-319D-AC46-79F9-01FF3DFBC86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61BC5477-8D14-E8DF-CFA5-A322432868F8}"/>
              </a:ext>
            </a:extLst>
          </p:cNvPr>
          <p:cNvSpPr txBox="1"/>
          <p:nvPr/>
        </p:nvSpPr>
        <p:spPr>
          <a:xfrm>
            <a:off x="488137" y="841012"/>
            <a:ext cx="11309686" cy="5632311"/>
          </a:xfrm>
          <a:prstGeom prst="rect">
            <a:avLst/>
          </a:prstGeom>
          <a:noFill/>
        </p:spPr>
        <p:txBody>
          <a:bodyPr wrap="square">
            <a:spAutoFit/>
          </a:bodyPr>
          <a:lstStyle/>
          <a:p>
            <a:pPr marL="342900" indent="-342900" algn="just">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Ví dụ </a:t>
            </a:r>
            <a:r>
              <a:rPr lang="vi-VN" sz="2400" b="1">
                <a:latin typeface="Times New Roman" panose="02020603050405020304" pitchFamily="18" charset="0"/>
                <a:cs typeface="Times New Roman" panose="02020603050405020304" pitchFamily="18" charset="0"/>
              </a:rPr>
              <a:t>SPA (Single Page Application): "Triển lãm thực tế ảo (VR) tại một hội trường lớn"</a:t>
            </a:r>
          </a:p>
          <a:p>
            <a:pPr algn="just"/>
            <a:r>
              <a:rPr lang="en-US" sz="2400">
                <a:latin typeface="Times New Roman" panose="02020603050405020304" pitchFamily="18" charset="0"/>
                <a:cs typeface="Times New Roman" panose="02020603050405020304" pitchFamily="18" charset="0"/>
              </a:rPr>
              <a:t>Giả sử ta </a:t>
            </a:r>
            <a:r>
              <a:rPr lang="vi-VN" sz="2400">
                <a:latin typeface="Times New Roman" panose="02020603050405020304" pitchFamily="18" charset="0"/>
                <a:cs typeface="Times New Roman" panose="02020603050405020304" pitchFamily="18" charset="0"/>
              </a:rPr>
              <a:t>đứng trong một hội trường. </a:t>
            </a:r>
            <a:r>
              <a:rPr lang="en-US" sz="2400">
                <a:latin typeface="Times New Roman" panose="02020603050405020304" pitchFamily="18" charset="0"/>
                <a:cs typeface="Times New Roman" panose="02020603050405020304" pitchFamily="18" charset="0"/>
              </a:rPr>
              <a:t>Ta </a:t>
            </a:r>
            <a:r>
              <a:rPr lang="vi-VN" sz="2400">
                <a:latin typeface="Times New Roman" panose="02020603050405020304" pitchFamily="18" charset="0"/>
                <a:cs typeface="Times New Roman" panose="02020603050405020304" pitchFamily="18" charset="0"/>
              </a:rPr>
              <a:t>không cần di chuyển đâu cả, hội trường chỉ là một </a:t>
            </a:r>
            <a:r>
              <a:rPr lang="en-US" sz="2400">
                <a:latin typeface="Times New Roman" panose="02020603050405020304" pitchFamily="18" charset="0"/>
                <a:cs typeface="Times New Roman" panose="02020603050405020304" pitchFamily="18" charset="0"/>
              </a:rPr>
              <a:t>Cover </a:t>
            </a:r>
            <a:r>
              <a:rPr lang="vi-VN" sz="2400">
                <a:latin typeface="Times New Roman" panose="02020603050405020304" pitchFamily="18" charset="0"/>
                <a:cs typeface="Times New Roman" panose="02020603050405020304" pitchFamily="18" charset="0"/>
              </a:rPr>
              <a:t>cố định.</a:t>
            </a:r>
          </a:p>
          <a:p>
            <a:pPr marL="342900" indent="-342900" algn="just">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Trải nghiệm:</a:t>
            </a:r>
            <a:r>
              <a:rPr lang="vi-VN" sz="240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Ta </a:t>
            </a:r>
            <a:r>
              <a:rPr lang="vi-VN" sz="2400">
                <a:latin typeface="Times New Roman" panose="02020603050405020304" pitchFamily="18" charset="0"/>
                <a:cs typeface="Times New Roman" panose="02020603050405020304" pitchFamily="18" charset="0"/>
              </a:rPr>
              <a:t>đứng yên một chỗ, nhưng chỉ với một cái nhấn nút, không gian xung quanh </a:t>
            </a:r>
            <a:r>
              <a:rPr lang="en-US" sz="2400">
                <a:latin typeface="Times New Roman" panose="02020603050405020304" pitchFamily="18" charset="0"/>
                <a:cs typeface="Times New Roman" panose="02020603050405020304" pitchFamily="18" charset="0"/>
              </a:rPr>
              <a:t>Ta</a:t>
            </a:r>
            <a:r>
              <a:rPr lang="vi-VN" sz="2400">
                <a:latin typeface="Times New Roman" panose="02020603050405020304" pitchFamily="18" charset="0"/>
                <a:cs typeface="Times New Roman" panose="02020603050405020304" pitchFamily="18" charset="0"/>
              </a:rPr>
              <a:t> (các gian hàng - Component) biến đổi tức thì. </a:t>
            </a:r>
            <a:r>
              <a:rPr lang="en-US" sz="2400">
                <a:latin typeface="Times New Roman" panose="02020603050405020304" pitchFamily="18" charset="0"/>
                <a:cs typeface="Times New Roman" panose="02020603050405020304" pitchFamily="18" charset="0"/>
              </a:rPr>
              <a:t>Ta</a:t>
            </a:r>
            <a:r>
              <a:rPr lang="vi-VN" sz="2400">
                <a:latin typeface="Times New Roman" panose="02020603050405020304" pitchFamily="18" charset="0"/>
                <a:cs typeface="Times New Roman" panose="02020603050405020304" pitchFamily="18" charset="0"/>
              </a:rPr>
              <a:t> đang ở gian hàng Giày, nhấn nút, gian hàng biến thành Giỏ hàng ngay trước mắt </a:t>
            </a:r>
            <a:r>
              <a:rPr lang="en-US" sz="2400">
                <a:latin typeface="Times New Roman" panose="02020603050405020304" pitchFamily="18" charset="0"/>
                <a:cs typeface="Times New Roman" panose="02020603050405020304" pitchFamily="18" charset="0"/>
              </a:rPr>
              <a:t>Ta</a:t>
            </a:r>
            <a:r>
              <a:rPr lang="vi-VN" sz="2400">
                <a:latin typeface="Times New Roman" panose="02020603050405020304" pitchFamily="18" charset="0"/>
                <a:cs typeface="Times New Roman" panose="02020603050405020304" pitchFamily="18" charset="0"/>
              </a:rPr>
              <a:t>.</a:t>
            </a:r>
          </a:p>
          <a:p>
            <a:pPr marL="342900" indent="-342900" algn="just">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Điểm ưu việt:</a:t>
            </a:r>
            <a:endParaRPr lang="vi-VN" sz="2400">
              <a:latin typeface="Times New Roman" panose="02020603050405020304" pitchFamily="18" charset="0"/>
              <a:cs typeface="Times New Roman" panose="02020603050405020304" pitchFamily="18" charset="0"/>
            </a:endParaRPr>
          </a:p>
          <a:p>
            <a:pPr marL="342900" lvl="1" indent="-342900" algn="just">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Giỏ hàng luôn "trên tay":</a:t>
            </a:r>
            <a:r>
              <a:rPr lang="vi-VN" sz="2400">
                <a:latin typeface="Times New Roman" panose="02020603050405020304" pitchFamily="18" charset="0"/>
                <a:cs typeface="Times New Roman" panose="02020603050405020304" pitchFamily="18" charset="0"/>
              </a:rPr>
              <a:t> Vì </a:t>
            </a:r>
            <a:r>
              <a:rPr lang="en-US" sz="2400">
                <a:latin typeface="Times New Roman" panose="02020603050405020304" pitchFamily="18" charset="0"/>
                <a:cs typeface="Times New Roman" panose="02020603050405020304" pitchFamily="18" charset="0"/>
              </a:rPr>
              <a:t>Ta</a:t>
            </a:r>
            <a:r>
              <a:rPr lang="vi-VN" sz="2400">
                <a:latin typeface="Times New Roman" panose="02020603050405020304" pitchFamily="18" charset="0"/>
                <a:cs typeface="Times New Roman" panose="02020603050405020304" pitchFamily="18" charset="0"/>
              </a:rPr>
              <a:t> không bao giờ rời khỏi hội trường, cái "Giỏ hàng" (State) </a:t>
            </a:r>
            <a:r>
              <a:rPr lang="en-US" sz="2400">
                <a:latin typeface="Times New Roman" panose="02020603050405020304" pitchFamily="18" charset="0"/>
                <a:cs typeface="Times New Roman" panose="02020603050405020304" pitchFamily="18" charset="0"/>
              </a:rPr>
              <a:t>Ta</a:t>
            </a:r>
            <a:r>
              <a:rPr lang="vi-VN" sz="2400">
                <a:latin typeface="Times New Roman" panose="02020603050405020304" pitchFamily="18" charset="0"/>
                <a:cs typeface="Times New Roman" panose="02020603050405020304" pitchFamily="18" charset="0"/>
              </a:rPr>
              <a:t> cầm trên tay luôn được giữ nguyên. </a:t>
            </a:r>
            <a:r>
              <a:rPr lang="en-US" sz="2400">
                <a:latin typeface="Times New Roman" panose="02020603050405020304" pitchFamily="18" charset="0"/>
                <a:cs typeface="Times New Roman" panose="02020603050405020304" pitchFamily="18" charset="0"/>
              </a:rPr>
              <a:t>Ta</a:t>
            </a:r>
            <a:r>
              <a:rPr lang="vi-VN" sz="2400">
                <a:latin typeface="Times New Roman" panose="02020603050405020304" pitchFamily="18" charset="0"/>
                <a:cs typeface="Times New Roman" panose="02020603050405020304" pitchFamily="18" charset="0"/>
              </a:rPr>
              <a:t> không bao giờ sợ bị mất danh sách sản phẩm đã chọn khi chuyển giữa các trang.</a:t>
            </a:r>
          </a:p>
          <a:p>
            <a:pPr marL="342900" lvl="1" indent="-342900" algn="just">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Tức thì:</a:t>
            </a:r>
            <a:r>
              <a:rPr lang="vi-VN" sz="2400">
                <a:latin typeface="Times New Roman" panose="02020603050405020304" pitchFamily="18" charset="0"/>
                <a:cs typeface="Times New Roman" panose="02020603050405020304" pitchFamily="18" charset="0"/>
              </a:rPr>
              <a:t> Không có "thời gian chết" ở hành lang. Hội trường (header, footer, menu) luôn sáng đèn, chỉ có hàng hóa bên trong thay đổi.</a:t>
            </a:r>
          </a:p>
          <a:p>
            <a:pPr marL="342900" lvl="1" indent="-342900" algn="just">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Tiết kiệm năng lượng:</a:t>
            </a:r>
            <a:r>
              <a:rPr lang="vi-VN" sz="240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Ta</a:t>
            </a:r>
            <a:r>
              <a:rPr lang="vi-VN" sz="2400">
                <a:latin typeface="Times New Roman" panose="02020603050405020304" pitchFamily="18" charset="0"/>
                <a:cs typeface="Times New Roman" panose="02020603050405020304" pitchFamily="18" charset="0"/>
              </a:rPr>
              <a:t> không cần phải xây lại toàn bộ hội trường mỗi khi đổi hàng, </a:t>
            </a:r>
            <a:r>
              <a:rPr lang="en-US" sz="2400">
                <a:latin typeface="Times New Roman" panose="02020603050405020304" pitchFamily="18" charset="0"/>
                <a:cs typeface="Times New Roman" panose="02020603050405020304" pitchFamily="18" charset="0"/>
              </a:rPr>
              <a:t>Ta</a:t>
            </a:r>
            <a:r>
              <a:rPr lang="vi-VN" sz="2400">
                <a:latin typeface="Times New Roman" panose="02020603050405020304" pitchFamily="18" charset="0"/>
                <a:cs typeface="Times New Roman" panose="02020603050405020304" pitchFamily="18" charset="0"/>
              </a:rPr>
              <a:t> chỉ cần thay đổi các món đồ bày biện bên trong (chỉ tải dữ liệu JSON mới từ Server).</a:t>
            </a:r>
          </a:p>
        </p:txBody>
      </p:sp>
    </p:spTree>
    <p:extLst>
      <p:ext uri="{BB962C8B-B14F-4D97-AF65-F5344CB8AC3E}">
        <p14:creationId xmlns:p14="http://schemas.microsoft.com/office/powerpoint/2010/main" val="1760357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863D224-010A-790C-B3E9-91716B72E5A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154A04C-45A5-3962-40C1-EFF03C0B4D5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CF44547-3276-9D91-A7CE-C7F2EC5B0E2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grpSp>
        <p:nvGrpSpPr>
          <p:cNvPr id="2" name="Group 1">
            <a:extLst>
              <a:ext uri="{FF2B5EF4-FFF2-40B4-BE49-F238E27FC236}">
                <a16:creationId xmlns:a16="http://schemas.microsoft.com/office/drawing/2014/main" id="{5D2B4D8D-0961-1320-3B2B-0F76FD2BE9CE}"/>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667BD4C0-1174-F0BC-0449-0D5430FA1765}"/>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4.2. Cấu hình Routing cơ bản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86B3DF94-A2C9-819D-E32B-3B17238D0B6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47CF9ED-249B-A2D6-9AA2-3F9EE9CAC26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AC3228D-B267-B512-B50E-1209CDD6B81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124C824-9486-0531-36F7-39B8B9F8198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927D41CA-4C7F-1637-E0EB-3825B99F327F}"/>
              </a:ext>
            </a:extLst>
          </p:cNvPr>
          <p:cNvSpPr txBox="1"/>
          <p:nvPr/>
        </p:nvSpPr>
        <p:spPr>
          <a:xfrm>
            <a:off x="542786" y="841012"/>
            <a:ext cx="11564547" cy="1200329"/>
          </a:xfrm>
          <a:prstGeom prst="rect">
            <a:avLst/>
          </a:prstGeom>
          <a:noFill/>
        </p:spPr>
        <p:txBody>
          <a:bodyPr wrap="square">
            <a:spAutoFit/>
          </a:bodyPr>
          <a:lstStyle/>
          <a:p>
            <a:pPr marL="457200" indent="-457200" algn="just">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4.2.1. Tạo app-routing.module.ts</a:t>
            </a:r>
          </a:p>
          <a:p>
            <a:pPr marL="457200" indent="-457200" algn="just">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4.2.2. Khai báo các Route cơ bản</a:t>
            </a:r>
          </a:p>
          <a:p>
            <a:pPr marL="457200" indent="-457200" algn="just">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4.2.3. Cách sử dụng router-outlet và routerLink</a:t>
            </a:r>
          </a:p>
        </p:txBody>
      </p:sp>
      <p:grpSp>
        <p:nvGrpSpPr>
          <p:cNvPr id="23" name="Group 22">
            <a:extLst>
              <a:ext uri="{FF2B5EF4-FFF2-40B4-BE49-F238E27FC236}">
                <a16:creationId xmlns:a16="http://schemas.microsoft.com/office/drawing/2014/main" id="{0C9376CC-B77B-ACD3-396B-54E6EB9EFF2C}"/>
              </a:ext>
            </a:extLst>
          </p:cNvPr>
          <p:cNvGrpSpPr/>
          <p:nvPr/>
        </p:nvGrpSpPr>
        <p:grpSpPr>
          <a:xfrm>
            <a:off x="962178" y="2133336"/>
            <a:ext cx="4468819" cy="3517626"/>
            <a:chOff x="2998781" y="1530449"/>
            <a:chExt cx="4468819" cy="3517626"/>
          </a:xfrm>
        </p:grpSpPr>
        <p:sp>
          <p:nvSpPr>
            <p:cNvPr id="24" name="Rectangle 23">
              <a:extLst>
                <a:ext uri="{FF2B5EF4-FFF2-40B4-BE49-F238E27FC236}">
                  <a16:creationId xmlns:a16="http://schemas.microsoft.com/office/drawing/2014/main" id="{0E822F30-E857-F552-E928-01CCF423D26E}"/>
                </a:ext>
              </a:extLst>
            </p:cNvPr>
            <p:cNvSpPr/>
            <p:nvPr/>
          </p:nvSpPr>
          <p:spPr>
            <a:xfrm>
              <a:off x="3048000" y="1924237"/>
              <a:ext cx="4419600" cy="3123838"/>
            </a:xfrm>
            <a:prstGeom prst="rect">
              <a:avLst/>
            </a:prstGeom>
            <a:noFill/>
            <a:ln w="9525" cap="flat" cmpd="sng" algn="ctr">
              <a:solidFill>
                <a:srgbClr val="DBEFF9">
                  <a:lumMod val="2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white"/>
                </a:solidFill>
                <a:effectLst/>
                <a:uLnTx/>
                <a:uFillTx/>
                <a:latin typeface="Georgia"/>
                <a:ea typeface="+mn-ea"/>
                <a:cs typeface="+mn-cs"/>
              </a:endParaRPr>
            </a:p>
          </p:txBody>
        </p:sp>
        <p:sp>
          <p:nvSpPr>
            <p:cNvPr id="25" name="TextBox 24">
              <a:extLst>
                <a:ext uri="{FF2B5EF4-FFF2-40B4-BE49-F238E27FC236}">
                  <a16:creationId xmlns:a16="http://schemas.microsoft.com/office/drawing/2014/main" id="{CF2EA794-DD6E-81C5-BF72-87CC182741A3}"/>
                </a:ext>
              </a:extLst>
            </p:cNvPr>
            <p:cNvSpPr txBox="1"/>
            <p:nvPr/>
          </p:nvSpPr>
          <p:spPr>
            <a:xfrm>
              <a:off x="2998781" y="1530449"/>
              <a:ext cx="1205779"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VN" sz="1800" b="0" i="1" u="none" strike="noStrike" kern="1200" cap="none" spc="0" normalizeH="0" baseline="0" noProof="0">
                  <a:ln>
                    <a:noFill/>
                  </a:ln>
                  <a:solidFill>
                    <a:prstClr val="black"/>
                  </a:solidFill>
                  <a:effectLst/>
                  <a:uLnTx/>
                  <a:uFillTx/>
                  <a:latin typeface="Georgia"/>
                  <a:ea typeface="+mn-ea"/>
                  <a:cs typeface="+mn-cs"/>
                </a:rPr>
                <a:t>/</a:t>
              </a:r>
              <a:r>
                <a:rPr kumimoji="0" lang="en-US" sz="1800" b="0" i="1" u="none" strike="noStrike" kern="1200" cap="none" spc="0" normalizeH="0" baseline="0" noProof="0">
                  <a:ln>
                    <a:noFill/>
                  </a:ln>
                  <a:solidFill>
                    <a:prstClr val="black"/>
                  </a:solidFill>
                  <a:effectLst/>
                  <a:uLnTx/>
                  <a:uFillTx/>
                  <a:latin typeface="Georgia"/>
                  <a:ea typeface="+mn-ea"/>
                  <a:cs typeface="+mn-cs"/>
                </a:rPr>
                <a:t>products</a:t>
              </a:r>
              <a:endParaRPr kumimoji="0" lang="en-VN" sz="1800" b="0" i="1" u="none" strike="noStrike" kern="1200" cap="none" spc="0" normalizeH="0" baseline="0" noProof="0">
                <a:ln>
                  <a:noFill/>
                </a:ln>
                <a:solidFill>
                  <a:prstClr val="black"/>
                </a:solidFill>
                <a:effectLst/>
                <a:uLnTx/>
                <a:uFillTx/>
                <a:latin typeface="Georgia"/>
                <a:ea typeface="+mn-ea"/>
                <a:cs typeface="+mn-cs"/>
              </a:endParaRPr>
            </a:p>
          </p:txBody>
        </p:sp>
        <p:sp>
          <p:nvSpPr>
            <p:cNvPr id="26" name="Rectangle 25">
              <a:extLst>
                <a:ext uri="{FF2B5EF4-FFF2-40B4-BE49-F238E27FC236}">
                  <a16:creationId xmlns:a16="http://schemas.microsoft.com/office/drawing/2014/main" id="{86C56C97-F088-69CF-E784-08039D3C84A5}"/>
                </a:ext>
              </a:extLst>
            </p:cNvPr>
            <p:cNvSpPr/>
            <p:nvPr/>
          </p:nvSpPr>
          <p:spPr>
            <a:xfrm>
              <a:off x="3314700" y="2590800"/>
              <a:ext cx="3924300" cy="2265526"/>
            </a:xfrm>
            <a:prstGeom prst="rect">
              <a:avLst/>
            </a:prstGeom>
            <a:noFill/>
            <a:ln w="3175" cap="flat" cmpd="sng" algn="ctr">
              <a:solidFill>
                <a:srgbClr val="DBEFF9">
                  <a:lumMod val="2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white"/>
                </a:solidFill>
                <a:effectLst/>
                <a:uLnTx/>
                <a:uFillTx/>
                <a:latin typeface="Georgia"/>
                <a:ea typeface="+mn-ea"/>
                <a:cs typeface="+mn-cs"/>
              </a:endParaRPr>
            </a:p>
          </p:txBody>
        </p:sp>
        <p:sp>
          <p:nvSpPr>
            <p:cNvPr id="27" name="Rounded Rectangle 2">
              <a:extLst>
                <a:ext uri="{FF2B5EF4-FFF2-40B4-BE49-F238E27FC236}">
                  <a16:creationId xmlns:a16="http://schemas.microsoft.com/office/drawing/2014/main" id="{45725115-E446-15EC-FA97-F2536DFF2FB7}"/>
                </a:ext>
              </a:extLst>
            </p:cNvPr>
            <p:cNvSpPr/>
            <p:nvPr/>
          </p:nvSpPr>
          <p:spPr>
            <a:xfrm>
              <a:off x="3314700" y="2209800"/>
              <a:ext cx="1235700" cy="304800"/>
            </a:xfrm>
            <a:prstGeom prst="roundRect">
              <a:avLst/>
            </a:prstGeom>
            <a:gradFill rotWithShape="1">
              <a:gsLst>
                <a:gs pos="100000">
                  <a:srgbClr val="17406D">
                    <a:tint val="80000"/>
                    <a:satMod val="250000"/>
                  </a:srgbClr>
                </a:gs>
                <a:gs pos="60000">
                  <a:srgbClr val="17406D">
                    <a:shade val="38000"/>
                    <a:satMod val="175000"/>
                  </a:srgbClr>
                </a:gs>
                <a:gs pos="0">
                  <a:srgbClr val="17406D">
                    <a:shade val="30000"/>
                    <a:satMod val="175000"/>
                  </a:srgbClr>
                </a:gs>
              </a:gsLst>
              <a:lin ang="5400000" scaled="0"/>
            </a:gra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Georgia"/>
                  <a:ea typeface="+mn-ea"/>
                  <a:cs typeface="+mn-cs"/>
                </a:rPr>
                <a:t>Products</a:t>
              </a:r>
              <a:endParaRPr kumimoji="0" lang="en-VN" sz="1800" b="0" i="0" u="none" strike="noStrike" kern="1200" cap="none" spc="0" normalizeH="0" baseline="0" noProof="0">
                <a:ln>
                  <a:noFill/>
                </a:ln>
                <a:solidFill>
                  <a:prstClr val="white"/>
                </a:solidFill>
                <a:effectLst/>
                <a:uLnTx/>
                <a:uFillTx/>
                <a:latin typeface="Georgia"/>
                <a:ea typeface="+mn-ea"/>
                <a:cs typeface="+mn-cs"/>
              </a:endParaRPr>
            </a:p>
          </p:txBody>
        </p:sp>
        <p:sp>
          <p:nvSpPr>
            <p:cNvPr id="28" name="Rounded Rectangle 21">
              <a:extLst>
                <a:ext uri="{FF2B5EF4-FFF2-40B4-BE49-F238E27FC236}">
                  <a16:creationId xmlns:a16="http://schemas.microsoft.com/office/drawing/2014/main" id="{A235C542-1901-646E-B88E-0366131C4542}"/>
                </a:ext>
              </a:extLst>
            </p:cNvPr>
            <p:cNvSpPr/>
            <p:nvPr/>
          </p:nvSpPr>
          <p:spPr>
            <a:xfrm>
              <a:off x="4754133" y="2209800"/>
              <a:ext cx="1446312" cy="304800"/>
            </a:xfrm>
            <a:prstGeom prst="roundRect">
              <a:avLst/>
            </a:prstGeom>
            <a:gradFill rotWithShape="1">
              <a:gsLst>
                <a:gs pos="100000">
                  <a:sysClr val="window" lastClr="FFFFFF">
                    <a:tint val="80000"/>
                    <a:satMod val="250000"/>
                  </a:sysClr>
                </a:gs>
                <a:gs pos="60000">
                  <a:sysClr val="window" lastClr="FFFFFF">
                    <a:shade val="38000"/>
                    <a:satMod val="175000"/>
                  </a:sysClr>
                </a:gs>
                <a:gs pos="0">
                  <a:sysClr val="window" lastClr="FFFFFF">
                    <a:shade val="30000"/>
                    <a:satMod val="175000"/>
                  </a:sysClr>
                </a:gs>
              </a:gsLst>
              <a:lin ang="5400000" scaled="0"/>
            </a:gra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ysClr val="windowText" lastClr="000000"/>
                  </a:solidFill>
                  <a:effectLst/>
                  <a:uLnTx/>
                  <a:uFillTx/>
                  <a:latin typeface="Georgia"/>
                  <a:ea typeface="+mn-ea"/>
                  <a:cs typeface="+mn-cs"/>
                </a:rPr>
                <a:t>Contacts</a:t>
              </a:r>
              <a:endParaRPr kumimoji="0" lang="en-VN" sz="1800" b="0" i="0" u="none" strike="noStrike" kern="1200" cap="none" spc="0" normalizeH="0" baseline="0" noProof="0">
                <a:ln>
                  <a:noFill/>
                </a:ln>
                <a:solidFill>
                  <a:sysClr val="windowText" lastClr="000000"/>
                </a:solidFill>
                <a:effectLst/>
                <a:uLnTx/>
                <a:uFillTx/>
                <a:latin typeface="Georgia"/>
                <a:ea typeface="+mn-ea"/>
                <a:cs typeface="+mn-cs"/>
              </a:endParaRPr>
            </a:p>
          </p:txBody>
        </p:sp>
        <p:sp>
          <p:nvSpPr>
            <p:cNvPr id="29" name="Rectangle 28">
              <a:extLst>
                <a:ext uri="{FF2B5EF4-FFF2-40B4-BE49-F238E27FC236}">
                  <a16:creationId xmlns:a16="http://schemas.microsoft.com/office/drawing/2014/main" id="{4D844EF6-91FA-7B06-4E5D-5EB688D25947}"/>
                </a:ext>
              </a:extLst>
            </p:cNvPr>
            <p:cNvSpPr/>
            <p:nvPr/>
          </p:nvSpPr>
          <p:spPr>
            <a:xfrm>
              <a:off x="3478240" y="2800163"/>
              <a:ext cx="3608360" cy="1848037"/>
            </a:xfrm>
            <a:prstGeom prst="rect">
              <a:avLst/>
            </a:prstGeom>
            <a:solidFill>
              <a:srgbClr val="17406D"/>
            </a:solidFill>
            <a:ln>
              <a:noFill/>
            </a:ln>
            <a:effectLst/>
          </p:spPr>
          <p:txBody>
            <a:bodyPr rtlCol="0" anchor="ctr"/>
            <a:lstStyle/>
            <a:p>
              <a:pPr lvl="0" algn="ctr">
                <a:buClrTx/>
              </a:pPr>
              <a:r>
                <a:rPr lang="en-VN" sz="1800" b="1" kern="1200">
                  <a:solidFill>
                    <a:prstClr val="white"/>
                  </a:solidFill>
                  <a:latin typeface="Georgia"/>
                  <a:ea typeface="+mn-ea"/>
                  <a:cs typeface="+mn-cs"/>
                </a:rPr>
                <a:t>product-list-component</a:t>
              </a:r>
              <a:endParaRPr kumimoji="0" lang="en-VN" sz="1800" b="1" i="0" u="none" strike="noStrike" kern="1200" cap="none" spc="0" normalizeH="0" baseline="0" noProof="0">
                <a:ln>
                  <a:noFill/>
                </a:ln>
                <a:solidFill>
                  <a:prstClr val="white"/>
                </a:solidFill>
                <a:effectLst/>
                <a:uLnTx/>
                <a:uFillTx/>
                <a:latin typeface="Georgia"/>
                <a:ea typeface="+mn-ea"/>
                <a:cs typeface="+mn-cs"/>
              </a:endParaRPr>
            </a:p>
          </p:txBody>
        </p:sp>
      </p:grpSp>
      <p:grpSp>
        <p:nvGrpSpPr>
          <p:cNvPr id="30" name="Group 29">
            <a:extLst>
              <a:ext uri="{FF2B5EF4-FFF2-40B4-BE49-F238E27FC236}">
                <a16:creationId xmlns:a16="http://schemas.microsoft.com/office/drawing/2014/main" id="{F2DF919E-F1CC-0BC3-48A1-BEA08D0C1BAC}"/>
              </a:ext>
            </a:extLst>
          </p:cNvPr>
          <p:cNvGrpSpPr/>
          <p:nvPr/>
        </p:nvGrpSpPr>
        <p:grpSpPr>
          <a:xfrm>
            <a:off x="6955227" y="2063030"/>
            <a:ext cx="4468819" cy="3517626"/>
            <a:chOff x="6550448" y="1855642"/>
            <a:chExt cx="4468819" cy="3517626"/>
          </a:xfrm>
        </p:grpSpPr>
        <p:sp>
          <p:nvSpPr>
            <p:cNvPr id="31" name="Rectangle 30">
              <a:extLst>
                <a:ext uri="{FF2B5EF4-FFF2-40B4-BE49-F238E27FC236}">
                  <a16:creationId xmlns:a16="http://schemas.microsoft.com/office/drawing/2014/main" id="{EE4AAE7E-B384-A5C8-A454-E97A3441BDAE}"/>
                </a:ext>
              </a:extLst>
            </p:cNvPr>
            <p:cNvSpPr/>
            <p:nvPr/>
          </p:nvSpPr>
          <p:spPr>
            <a:xfrm>
              <a:off x="6599667" y="2249430"/>
              <a:ext cx="4419600" cy="3123838"/>
            </a:xfrm>
            <a:prstGeom prst="rect">
              <a:avLst/>
            </a:prstGeom>
            <a:noFill/>
            <a:ln w="9525" cap="flat" cmpd="sng" algn="ctr">
              <a:solidFill>
                <a:srgbClr val="DBEFF9">
                  <a:lumMod val="2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white"/>
                </a:solidFill>
                <a:effectLst/>
                <a:uLnTx/>
                <a:uFillTx/>
                <a:latin typeface="Georgia"/>
                <a:ea typeface="+mn-ea"/>
                <a:cs typeface="+mn-cs"/>
              </a:endParaRPr>
            </a:p>
          </p:txBody>
        </p:sp>
        <p:sp>
          <p:nvSpPr>
            <p:cNvPr id="32" name="TextBox 31">
              <a:extLst>
                <a:ext uri="{FF2B5EF4-FFF2-40B4-BE49-F238E27FC236}">
                  <a16:creationId xmlns:a16="http://schemas.microsoft.com/office/drawing/2014/main" id="{DA4EA944-DC97-CBC8-5E6F-19AABBD5DB38}"/>
                </a:ext>
              </a:extLst>
            </p:cNvPr>
            <p:cNvSpPr txBox="1"/>
            <p:nvPr/>
          </p:nvSpPr>
          <p:spPr>
            <a:xfrm>
              <a:off x="6550448" y="1855642"/>
              <a:ext cx="1196161"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VN" sz="1800" b="0" i="1" u="none" strike="noStrike" kern="1200" cap="none" spc="0" normalizeH="0" baseline="0" noProof="0">
                  <a:ln>
                    <a:noFill/>
                  </a:ln>
                  <a:solidFill>
                    <a:prstClr val="black"/>
                  </a:solidFill>
                  <a:effectLst/>
                  <a:uLnTx/>
                  <a:uFillTx/>
                  <a:latin typeface="Georgia"/>
                  <a:ea typeface="+mn-ea"/>
                  <a:cs typeface="+mn-cs"/>
                </a:rPr>
                <a:t>/</a:t>
              </a:r>
              <a:r>
                <a:rPr kumimoji="0" lang="en-US" sz="1800" b="0" i="1" u="none" strike="noStrike" kern="1200" cap="none" spc="0" normalizeH="0" baseline="0" noProof="0">
                  <a:ln>
                    <a:noFill/>
                  </a:ln>
                  <a:solidFill>
                    <a:prstClr val="black"/>
                  </a:solidFill>
                  <a:effectLst/>
                  <a:uLnTx/>
                  <a:uFillTx/>
                  <a:latin typeface="Georgia"/>
                  <a:ea typeface="+mn-ea"/>
                  <a:cs typeface="+mn-cs"/>
                </a:rPr>
                <a:t>contacts</a:t>
              </a:r>
              <a:endParaRPr kumimoji="0" lang="en-VN" sz="1800" b="0" i="1" u="none" strike="noStrike" kern="1200" cap="none" spc="0" normalizeH="0" baseline="0" noProof="0">
                <a:ln>
                  <a:noFill/>
                </a:ln>
                <a:solidFill>
                  <a:prstClr val="black"/>
                </a:solidFill>
                <a:effectLst/>
                <a:uLnTx/>
                <a:uFillTx/>
                <a:latin typeface="Georgia"/>
                <a:ea typeface="+mn-ea"/>
                <a:cs typeface="+mn-cs"/>
              </a:endParaRPr>
            </a:p>
          </p:txBody>
        </p:sp>
        <p:sp>
          <p:nvSpPr>
            <p:cNvPr id="33" name="Rectangle 32">
              <a:extLst>
                <a:ext uri="{FF2B5EF4-FFF2-40B4-BE49-F238E27FC236}">
                  <a16:creationId xmlns:a16="http://schemas.microsoft.com/office/drawing/2014/main" id="{94A6B53C-6DFD-B474-0663-B63998DAC8DF}"/>
                </a:ext>
              </a:extLst>
            </p:cNvPr>
            <p:cNvSpPr/>
            <p:nvPr/>
          </p:nvSpPr>
          <p:spPr>
            <a:xfrm>
              <a:off x="6866367" y="2915993"/>
              <a:ext cx="3924300" cy="2265526"/>
            </a:xfrm>
            <a:prstGeom prst="rect">
              <a:avLst/>
            </a:prstGeom>
            <a:noFill/>
            <a:ln w="3175" cap="flat" cmpd="sng" algn="ctr">
              <a:solidFill>
                <a:srgbClr val="DBEFF9">
                  <a:lumMod val="2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VN" sz="1800" b="0" i="0" u="none" strike="noStrike" kern="1200" cap="none" spc="0" normalizeH="0" baseline="0" noProof="0">
                <a:ln>
                  <a:noFill/>
                </a:ln>
                <a:solidFill>
                  <a:prstClr val="white"/>
                </a:solidFill>
                <a:effectLst/>
                <a:uLnTx/>
                <a:uFillTx/>
                <a:latin typeface="Georgia"/>
                <a:ea typeface="+mn-ea"/>
                <a:cs typeface="+mn-cs"/>
              </a:endParaRPr>
            </a:p>
          </p:txBody>
        </p:sp>
        <p:sp>
          <p:nvSpPr>
            <p:cNvPr id="34" name="Rectangle 33">
              <a:extLst>
                <a:ext uri="{FF2B5EF4-FFF2-40B4-BE49-F238E27FC236}">
                  <a16:creationId xmlns:a16="http://schemas.microsoft.com/office/drawing/2014/main" id="{DA6D10DD-0DD3-3D4B-C6A8-2CFF85FEAB68}"/>
                </a:ext>
              </a:extLst>
            </p:cNvPr>
            <p:cNvSpPr/>
            <p:nvPr/>
          </p:nvSpPr>
          <p:spPr>
            <a:xfrm>
              <a:off x="7029907" y="3125356"/>
              <a:ext cx="3608360" cy="1848037"/>
            </a:xfrm>
            <a:prstGeom prst="rect">
              <a:avLst/>
            </a:prstGeom>
            <a:solidFill>
              <a:srgbClr val="17406D"/>
            </a:solidFill>
            <a:ln>
              <a:noFill/>
            </a:ln>
            <a:effectLst/>
          </p:spPr>
          <p:txBody>
            <a:bodyPr rtlCol="0" anchor="ctr"/>
            <a:lstStyle/>
            <a:p>
              <a:pPr lvl="0" algn="ctr">
                <a:buClrTx/>
              </a:pPr>
              <a:r>
                <a:rPr lang="en-US" sz="1800" b="1" kern="1200">
                  <a:solidFill>
                    <a:prstClr val="white"/>
                  </a:solidFill>
                  <a:latin typeface="Georgia"/>
                  <a:ea typeface="+mn-ea"/>
                  <a:cs typeface="+mn-cs"/>
                </a:rPr>
                <a:t>contact</a:t>
              </a:r>
            </a:p>
            <a:p>
              <a:pPr lvl="0" algn="ctr">
                <a:buClrTx/>
              </a:pPr>
              <a:r>
                <a:rPr lang="en-VN" sz="1800" b="1" kern="1200">
                  <a:solidFill>
                    <a:prstClr val="white"/>
                  </a:solidFill>
                  <a:latin typeface="Georgia"/>
                  <a:ea typeface="+mn-ea"/>
                  <a:cs typeface="+mn-cs"/>
                </a:rPr>
                <a:t>component</a:t>
              </a:r>
              <a:endParaRPr kumimoji="0" lang="en-VN" sz="1800" b="1" i="0" u="none" strike="noStrike" kern="1200" cap="none" spc="0" normalizeH="0" baseline="0" noProof="0">
                <a:ln>
                  <a:noFill/>
                </a:ln>
                <a:solidFill>
                  <a:prstClr val="white"/>
                </a:solidFill>
                <a:effectLst/>
                <a:uLnTx/>
                <a:uFillTx/>
                <a:latin typeface="Georgia"/>
                <a:ea typeface="+mn-ea"/>
                <a:cs typeface="+mn-cs"/>
              </a:endParaRPr>
            </a:p>
          </p:txBody>
        </p:sp>
        <p:sp>
          <p:nvSpPr>
            <p:cNvPr id="35" name="Rounded Rectangle 30">
              <a:extLst>
                <a:ext uri="{FF2B5EF4-FFF2-40B4-BE49-F238E27FC236}">
                  <a16:creationId xmlns:a16="http://schemas.microsoft.com/office/drawing/2014/main" id="{247EFF2E-E707-9BE7-EA1F-539D328100EB}"/>
                </a:ext>
              </a:extLst>
            </p:cNvPr>
            <p:cNvSpPr/>
            <p:nvPr/>
          </p:nvSpPr>
          <p:spPr>
            <a:xfrm>
              <a:off x="6859060" y="2541163"/>
              <a:ext cx="1316396" cy="304800"/>
            </a:xfrm>
            <a:prstGeom prst="roundRect">
              <a:avLst/>
            </a:prstGeom>
            <a:gradFill rotWithShape="1">
              <a:gsLst>
                <a:gs pos="100000">
                  <a:sysClr val="window" lastClr="FFFFFF">
                    <a:tint val="80000"/>
                    <a:satMod val="250000"/>
                  </a:sysClr>
                </a:gs>
                <a:gs pos="60000">
                  <a:sysClr val="window" lastClr="FFFFFF">
                    <a:shade val="38000"/>
                    <a:satMod val="175000"/>
                  </a:sysClr>
                </a:gs>
                <a:gs pos="0">
                  <a:sysClr val="window" lastClr="FFFFFF">
                    <a:shade val="30000"/>
                    <a:satMod val="175000"/>
                  </a:sysClr>
                </a:gs>
              </a:gsLst>
              <a:lin ang="5400000" scaled="0"/>
            </a:gra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ysClr val="windowText" lastClr="000000"/>
                  </a:solidFill>
                  <a:effectLst/>
                  <a:uLnTx/>
                  <a:uFillTx/>
                  <a:latin typeface="Georgia"/>
                  <a:ea typeface="+mn-ea"/>
                  <a:cs typeface="+mn-cs"/>
                </a:rPr>
                <a:t>Products</a:t>
              </a:r>
              <a:endParaRPr kumimoji="0" lang="en-VN" sz="1800" b="0" i="0" u="none" strike="noStrike" kern="1200" cap="none" spc="0" normalizeH="0" baseline="0" noProof="0">
                <a:ln>
                  <a:noFill/>
                </a:ln>
                <a:solidFill>
                  <a:sysClr val="windowText" lastClr="000000"/>
                </a:solidFill>
                <a:effectLst/>
                <a:uLnTx/>
                <a:uFillTx/>
                <a:latin typeface="Georgia"/>
                <a:ea typeface="+mn-ea"/>
                <a:cs typeface="+mn-cs"/>
              </a:endParaRPr>
            </a:p>
          </p:txBody>
        </p:sp>
        <p:sp>
          <p:nvSpPr>
            <p:cNvPr id="36" name="Rounded Rectangle 31">
              <a:extLst>
                <a:ext uri="{FF2B5EF4-FFF2-40B4-BE49-F238E27FC236}">
                  <a16:creationId xmlns:a16="http://schemas.microsoft.com/office/drawing/2014/main" id="{6CBC72C8-DD2E-0FFD-6354-26CBA68C7642}"/>
                </a:ext>
              </a:extLst>
            </p:cNvPr>
            <p:cNvSpPr/>
            <p:nvPr/>
          </p:nvSpPr>
          <p:spPr>
            <a:xfrm>
              <a:off x="8492862" y="2534993"/>
              <a:ext cx="1538893" cy="304800"/>
            </a:xfrm>
            <a:prstGeom prst="roundRect">
              <a:avLst/>
            </a:prstGeom>
            <a:gradFill rotWithShape="1">
              <a:gsLst>
                <a:gs pos="100000">
                  <a:srgbClr val="17406D">
                    <a:tint val="80000"/>
                    <a:satMod val="250000"/>
                  </a:srgbClr>
                </a:gs>
                <a:gs pos="60000">
                  <a:srgbClr val="17406D">
                    <a:shade val="38000"/>
                    <a:satMod val="175000"/>
                  </a:srgbClr>
                </a:gs>
                <a:gs pos="0">
                  <a:srgbClr val="17406D">
                    <a:shade val="30000"/>
                    <a:satMod val="175000"/>
                  </a:srgbClr>
                </a:gs>
              </a:gsLst>
              <a:lin ang="5400000" scaled="0"/>
            </a:gra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Georgia"/>
                  <a:ea typeface="+mn-ea"/>
                  <a:cs typeface="+mn-cs"/>
                </a:rPr>
                <a:t>Contacts</a:t>
              </a:r>
              <a:endParaRPr kumimoji="0" lang="en-VN" sz="1800" b="0" i="0" u="none" strike="noStrike" kern="1200" cap="none" spc="0" normalizeH="0" baseline="0" noProof="0">
                <a:ln>
                  <a:noFill/>
                </a:ln>
                <a:solidFill>
                  <a:prstClr val="white"/>
                </a:solidFill>
                <a:effectLst/>
                <a:uLnTx/>
                <a:uFillTx/>
                <a:latin typeface="Georgia"/>
                <a:ea typeface="+mn-ea"/>
                <a:cs typeface="+mn-cs"/>
              </a:endParaRPr>
            </a:p>
          </p:txBody>
        </p:sp>
      </p:grpSp>
    </p:spTree>
    <p:extLst>
      <p:ext uri="{BB962C8B-B14F-4D97-AF65-F5344CB8AC3E}">
        <p14:creationId xmlns:p14="http://schemas.microsoft.com/office/powerpoint/2010/main" val="33067707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347978B-18C3-A726-CCF8-263A378E666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EE65DF8-897C-5E9D-E260-04FB92A58D4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B23DDF7-0A0D-E885-C80D-F907930C6597}"/>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grpSp>
        <p:nvGrpSpPr>
          <p:cNvPr id="2" name="Group 1">
            <a:extLst>
              <a:ext uri="{FF2B5EF4-FFF2-40B4-BE49-F238E27FC236}">
                <a16:creationId xmlns:a16="http://schemas.microsoft.com/office/drawing/2014/main" id="{B3BBAF2E-EC2C-83AB-60ED-F4BB75D8801F}"/>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3036F257-A295-0BED-C30D-9AB024C2DDB1}"/>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4.2.1. Tạo app-routing.module.ts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4653A7B-0D8C-8751-A8EC-C850D59CA9C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F75F8FA-F129-6B0C-126C-29D3E883619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71CCC62-01E2-5D68-D609-EC8C42EAD1E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E4ED0CF-4B5A-3419-8CD3-05A992A73F3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D924FB1-4164-FE54-0153-31CB87DF1CA6}"/>
              </a:ext>
            </a:extLst>
          </p:cNvPr>
          <p:cNvSpPr txBox="1"/>
          <p:nvPr/>
        </p:nvSpPr>
        <p:spPr>
          <a:xfrm>
            <a:off x="542786"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Mở app-routing-module.ts có cấu hình mặc định như dưới đây:</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39DD6ADE-3F69-A944-DCD2-B7359DEEBC22}"/>
              </a:ext>
            </a:extLst>
          </p:cNvPr>
          <p:cNvPicPr>
            <a:picLocks noChangeAspect="1"/>
          </p:cNvPicPr>
          <p:nvPr/>
        </p:nvPicPr>
        <p:blipFill>
          <a:blip r:embed="rId3"/>
          <a:stretch>
            <a:fillRect/>
          </a:stretch>
        </p:blipFill>
        <p:spPr>
          <a:xfrm>
            <a:off x="95146" y="1371304"/>
            <a:ext cx="12001707" cy="4288235"/>
          </a:xfrm>
          <a:prstGeom prst="rect">
            <a:avLst/>
          </a:prstGeom>
        </p:spPr>
      </p:pic>
      <p:sp>
        <p:nvSpPr>
          <p:cNvPr id="11" name="Rectangle 10">
            <a:extLst>
              <a:ext uri="{FF2B5EF4-FFF2-40B4-BE49-F238E27FC236}">
                <a16:creationId xmlns:a16="http://schemas.microsoft.com/office/drawing/2014/main" id="{AED48B3B-89D0-9A61-5AE9-FF3E1AF06DA4}"/>
              </a:ext>
            </a:extLst>
          </p:cNvPr>
          <p:cNvSpPr/>
          <p:nvPr/>
        </p:nvSpPr>
        <p:spPr>
          <a:xfrm>
            <a:off x="4723254" y="3045833"/>
            <a:ext cx="4592626" cy="46751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77532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463C3FF-0B41-FA2A-3EF6-56F772E2BA8E}"/>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2D71774-5516-4B5B-653C-6906837E911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CDC90B2-B08E-9272-567D-AC71DD497EB3}"/>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grpSp>
        <p:nvGrpSpPr>
          <p:cNvPr id="2" name="Group 1">
            <a:extLst>
              <a:ext uri="{FF2B5EF4-FFF2-40B4-BE49-F238E27FC236}">
                <a16:creationId xmlns:a16="http://schemas.microsoft.com/office/drawing/2014/main" id="{B77B5112-F3FE-0AC5-91F3-EE5138DA778A}"/>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BC76F680-9ECD-37AA-216A-2080277D0511}"/>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4.2.2. Khai báo các Route cơ bản</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6A4C83E1-27F1-67EB-760F-6D0E41D9C33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414E672-AD06-C83B-14FD-4A4342A3F00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35486E5-158F-64B5-B704-FADA4DBF548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A4FB7AF-91A3-225E-8BFA-78A35564002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2D7D0D8-1C00-CABE-E66D-5D4FB76996C2}"/>
              </a:ext>
            </a:extLst>
          </p:cNvPr>
          <p:cNvSpPr txBox="1"/>
          <p:nvPr/>
        </p:nvSpPr>
        <p:spPr>
          <a:xfrm>
            <a:off x="542786"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Khai báo route cho Danh sách Products và Contact component</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E0CC870E-704D-67C2-DBAA-8E637814A30F}"/>
              </a:ext>
            </a:extLst>
          </p:cNvPr>
          <p:cNvPicPr>
            <a:picLocks noChangeAspect="1"/>
          </p:cNvPicPr>
          <p:nvPr/>
        </p:nvPicPr>
        <p:blipFill>
          <a:blip r:embed="rId3"/>
          <a:stretch>
            <a:fillRect/>
          </a:stretch>
        </p:blipFill>
        <p:spPr>
          <a:xfrm>
            <a:off x="686573" y="1302677"/>
            <a:ext cx="11276971" cy="4982848"/>
          </a:xfrm>
          <a:prstGeom prst="rect">
            <a:avLst/>
          </a:prstGeom>
        </p:spPr>
      </p:pic>
      <p:sp>
        <p:nvSpPr>
          <p:cNvPr id="11" name="Rectangle 10">
            <a:extLst>
              <a:ext uri="{FF2B5EF4-FFF2-40B4-BE49-F238E27FC236}">
                <a16:creationId xmlns:a16="http://schemas.microsoft.com/office/drawing/2014/main" id="{85DA6E20-F9C2-8F1F-105B-C72D241C5E0B}"/>
              </a:ext>
            </a:extLst>
          </p:cNvPr>
          <p:cNvSpPr/>
          <p:nvPr/>
        </p:nvSpPr>
        <p:spPr>
          <a:xfrm>
            <a:off x="1038153" y="3320716"/>
            <a:ext cx="6964566" cy="119628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345645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C42E2E0-BA59-8E4E-D05A-E8F31B23E28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B84F761-AE36-C1DF-417D-8DC08ECA323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E15B1E5-56AE-F985-2AE8-D02BE4C71A6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grpSp>
        <p:nvGrpSpPr>
          <p:cNvPr id="2" name="Group 1">
            <a:extLst>
              <a:ext uri="{FF2B5EF4-FFF2-40B4-BE49-F238E27FC236}">
                <a16:creationId xmlns:a16="http://schemas.microsoft.com/office/drawing/2014/main" id="{98679386-D249-0FEC-4225-A7E431543ED2}"/>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5891BE9B-F088-0FE6-8568-3ECB2926B366}"/>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4.2.3. Cách sử dụng router-outlet và routerLink</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B9E87F2-630B-55D4-0E84-CD2885108DC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4F88B37-AD46-A8C9-7939-BEA791AEAAC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B5E9D09-BD88-E46C-1718-26448BE8E04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0601428-9ED1-1183-17A0-02AA682A7EF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44FAA927-2422-4E01-B46D-BBA1C2990D73}"/>
              </a:ext>
            </a:extLst>
          </p:cNvPr>
          <p:cNvSpPr txBox="1"/>
          <p:nvPr/>
        </p:nvSpPr>
        <p:spPr>
          <a:xfrm>
            <a:off x="542786"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app.html</a:t>
            </a:r>
          </a:p>
        </p:txBody>
      </p:sp>
      <p:pic>
        <p:nvPicPr>
          <p:cNvPr id="10" name="Picture 9">
            <a:extLst>
              <a:ext uri="{FF2B5EF4-FFF2-40B4-BE49-F238E27FC236}">
                <a16:creationId xmlns:a16="http://schemas.microsoft.com/office/drawing/2014/main" id="{A3B4599B-8652-F10A-E212-9388D88D2700}"/>
              </a:ext>
            </a:extLst>
          </p:cNvPr>
          <p:cNvPicPr>
            <a:picLocks noChangeAspect="1"/>
          </p:cNvPicPr>
          <p:nvPr/>
        </p:nvPicPr>
        <p:blipFill>
          <a:blip r:embed="rId3"/>
          <a:stretch>
            <a:fillRect/>
          </a:stretch>
        </p:blipFill>
        <p:spPr>
          <a:xfrm>
            <a:off x="728132" y="1474186"/>
            <a:ext cx="7437765" cy="2994920"/>
          </a:xfrm>
          <a:prstGeom prst="rect">
            <a:avLst/>
          </a:prstGeom>
        </p:spPr>
      </p:pic>
      <p:sp>
        <p:nvSpPr>
          <p:cNvPr id="11" name="TextBox 10">
            <a:extLst>
              <a:ext uri="{FF2B5EF4-FFF2-40B4-BE49-F238E27FC236}">
                <a16:creationId xmlns:a16="http://schemas.microsoft.com/office/drawing/2014/main" id="{EC6C7EDF-6754-20E9-2E2C-FD404656B8D2}"/>
              </a:ext>
            </a:extLst>
          </p:cNvPr>
          <p:cNvSpPr txBox="1"/>
          <p:nvPr/>
        </p:nvSpPr>
        <p:spPr>
          <a:xfrm>
            <a:off x="627453" y="4640615"/>
            <a:ext cx="11411001"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Khi nhấn vào </a:t>
            </a:r>
            <a:r>
              <a:rPr lang="en-US" sz="2400" b="1">
                <a:latin typeface="Times New Roman" panose="02020603050405020304" pitchFamily="18" charset="0"/>
                <a:cs typeface="Times New Roman" panose="02020603050405020304" pitchFamily="18" charset="0"/>
              </a:rPr>
              <a:t>routerLink</a:t>
            </a:r>
            <a:r>
              <a:rPr lang="en-US" sz="2400">
                <a:latin typeface="Times New Roman" panose="02020603050405020304" pitchFamily="18" charset="0"/>
                <a:cs typeface="Times New Roman" panose="02020603050405020304" pitchFamily="18" charset="0"/>
              </a:rPr>
              <a:t>, các component sẽ được nạp vào </a:t>
            </a:r>
            <a:r>
              <a:rPr lang="en-US" sz="2400" b="1">
                <a:latin typeface="Times New Roman" panose="02020603050405020304" pitchFamily="18" charset="0"/>
                <a:cs typeface="Times New Roman" panose="02020603050405020304" pitchFamily="18" charset="0"/>
              </a:rPr>
              <a:t>router-outlet</a:t>
            </a:r>
            <a:endParaRPr lang="vi-VN"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54204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4866581-FA7C-658D-E1F8-D60ADBDFA77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61BD8FC-7127-94E6-61D0-AD09288AED2F}"/>
              </a:ext>
            </a:extLst>
          </p:cNvPr>
          <p:cNvSpPr txBox="1">
            <a:spLocks noGrp="1"/>
          </p:cNvSpPr>
          <p:nvPr>
            <p:ph type="ftr" idx="11"/>
          </p:nvPr>
        </p:nvSpPr>
        <p:spPr>
          <a:xfrm>
            <a:off x="728132" y="64568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3B2078A-C962-BF99-F451-E753F33EB921}"/>
              </a:ext>
            </a:extLst>
          </p:cNvPr>
          <p:cNvSpPr txBox="1">
            <a:spLocks noGrp="1"/>
          </p:cNvSpPr>
          <p:nvPr>
            <p:ph type="sldNum" idx="12"/>
          </p:nvPr>
        </p:nvSpPr>
        <p:spPr>
          <a:xfrm>
            <a:off x="3098799" y="64050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grpSp>
        <p:nvGrpSpPr>
          <p:cNvPr id="2" name="Group 1">
            <a:extLst>
              <a:ext uri="{FF2B5EF4-FFF2-40B4-BE49-F238E27FC236}">
                <a16:creationId xmlns:a16="http://schemas.microsoft.com/office/drawing/2014/main" id="{7E1EED13-F443-6430-B52D-F1ACA32A68AA}"/>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7683DD98-F5D2-83EC-84D5-633204961A19}"/>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4.2.3. Cách sử dụng router-outlet và routerLink</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A4F8F0BB-AF29-1C80-FBEB-8EDDCEF0CE7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51D26E6-C20C-E0D6-C725-88FA1EFA4FF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B9D9FC5-7721-F211-D6A1-AB5A6DF7609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E0F8E75-7C5A-7785-8EB3-FFAF45BC6D1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0" name="Picture 9">
            <a:extLst>
              <a:ext uri="{FF2B5EF4-FFF2-40B4-BE49-F238E27FC236}">
                <a16:creationId xmlns:a16="http://schemas.microsoft.com/office/drawing/2014/main" id="{8DE443A9-D58C-AFCE-7D99-2259CCBA19D3}"/>
              </a:ext>
            </a:extLst>
          </p:cNvPr>
          <p:cNvPicPr>
            <a:picLocks noChangeAspect="1"/>
          </p:cNvPicPr>
          <p:nvPr/>
        </p:nvPicPr>
        <p:blipFill>
          <a:blip r:embed="rId3"/>
          <a:srcRect r="11250"/>
          <a:stretch>
            <a:fillRect/>
          </a:stretch>
        </p:blipFill>
        <p:spPr>
          <a:xfrm>
            <a:off x="3059678" y="2885039"/>
            <a:ext cx="4391733" cy="1992556"/>
          </a:xfrm>
          <a:prstGeom prst="rect">
            <a:avLst/>
          </a:prstGeom>
          <a:ln>
            <a:solidFill>
              <a:srgbClr val="002060"/>
            </a:solidFill>
          </a:ln>
        </p:spPr>
      </p:pic>
      <p:pic>
        <p:nvPicPr>
          <p:cNvPr id="8" name="Picture 7">
            <a:extLst>
              <a:ext uri="{FF2B5EF4-FFF2-40B4-BE49-F238E27FC236}">
                <a16:creationId xmlns:a16="http://schemas.microsoft.com/office/drawing/2014/main" id="{2E50356C-A8EB-8A3C-EB8B-ACE27B49ECF7}"/>
              </a:ext>
            </a:extLst>
          </p:cNvPr>
          <p:cNvPicPr>
            <a:picLocks noChangeAspect="1"/>
          </p:cNvPicPr>
          <p:nvPr/>
        </p:nvPicPr>
        <p:blipFill>
          <a:blip r:embed="rId4"/>
          <a:srcRect t="39701" r="38291" b="35768"/>
          <a:stretch>
            <a:fillRect/>
          </a:stretch>
        </p:blipFill>
        <p:spPr>
          <a:xfrm>
            <a:off x="6046119" y="958698"/>
            <a:ext cx="6105167" cy="1072409"/>
          </a:xfrm>
          <a:prstGeom prst="rect">
            <a:avLst/>
          </a:prstGeom>
        </p:spPr>
      </p:pic>
      <p:sp>
        <p:nvSpPr>
          <p:cNvPr id="11" name="Rectangle 10">
            <a:extLst>
              <a:ext uri="{FF2B5EF4-FFF2-40B4-BE49-F238E27FC236}">
                <a16:creationId xmlns:a16="http://schemas.microsoft.com/office/drawing/2014/main" id="{158C8E8D-9402-FD0E-F1F5-6C702AC70C40}"/>
              </a:ext>
            </a:extLst>
          </p:cNvPr>
          <p:cNvSpPr/>
          <p:nvPr/>
        </p:nvSpPr>
        <p:spPr>
          <a:xfrm>
            <a:off x="7641035" y="1181474"/>
            <a:ext cx="1045841" cy="313428"/>
          </a:xfrm>
          <a:prstGeom prst="rect">
            <a:avLst/>
          </a:prstGeom>
          <a:no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8B873AFE-E19A-61CA-DC34-4D77B8971C30}"/>
              </a:ext>
            </a:extLst>
          </p:cNvPr>
          <p:cNvPicPr>
            <a:picLocks noChangeAspect="1"/>
          </p:cNvPicPr>
          <p:nvPr/>
        </p:nvPicPr>
        <p:blipFill>
          <a:blip r:embed="rId5"/>
          <a:srcRect r="12825" b="4370"/>
          <a:stretch>
            <a:fillRect/>
          </a:stretch>
        </p:blipFill>
        <p:spPr>
          <a:xfrm>
            <a:off x="8518351" y="2420578"/>
            <a:ext cx="3306966" cy="3199372"/>
          </a:xfrm>
          <a:prstGeom prst="rect">
            <a:avLst/>
          </a:prstGeom>
        </p:spPr>
      </p:pic>
      <p:sp>
        <p:nvSpPr>
          <p:cNvPr id="14" name="Rectangle 13">
            <a:extLst>
              <a:ext uri="{FF2B5EF4-FFF2-40B4-BE49-F238E27FC236}">
                <a16:creationId xmlns:a16="http://schemas.microsoft.com/office/drawing/2014/main" id="{8C1D3606-77AC-B698-C32B-14DA415025C6}"/>
              </a:ext>
            </a:extLst>
          </p:cNvPr>
          <p:cNvSpPr/>
          <p:nvPr/>
        </p:nvSpPr>
        <p:spPr>
          <a:xfrm>
            <a:off x="7641035" y="1530646"/>
            <a:ext cx="1045841" cy="33174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27BD603-3049-DBA4-756D-A5B5AEEFA493}"/>
              </a:ext>
            </a:extLst>
          </p:cNvPr>
          <p:cNvSpPr/>
          <p:nvPr/>
        </p:nvSpPr>
        <p:spPr>
          <a:xfrm>
            <a:off x="5177128" y="3695406"/>
            <a:ext cx="1065537" cy="313428"/>
          </a:xfrm>
          <a:prstGeom prst="rect">
            <a:avLst/>
          </a:prstGeom>
          <a:no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B46D18F-40B9-1988-4924-8F5B797ED471}"/>
              </a:ext>
            </a:extLst>
          </p:cNvPr>
          <p:cNvSpPr/>
          <p:nvPr/>
        </p:nvSpPr>
        <p:spPr>
          <a:xfrm>
            <a:off x="5180784" y="4074396"/>
            <a:ext cx="1061881" cy="38193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Connector: Elbow 19">
            <a:extLst>
              <a:ext uri="{FF2B5EF4-FFF2-40B4-BE49-F238E27FC236}">
                <a16:creationId xmlns:a16="http://schemas.microsoft.com/office/drawing/2014/main" id="{2BC8C992-073B-A642-56B4-38FBDC3E5459}"/>
              </a:ext>
            </a:extLst>
          </p:cNvPr>
          <p:cNvCxnSpPr>
            <a:cxnSpLocks/>
          </p:cNvCxnSpPr>
          <p:nvPr/>
        </p:nvCxnSpPr>
        <p:spPr>
          <a:xfrm rot="5400000">
            <a:off x="5637314" y="1678576"/>
            <a:ext cx="2441694" cy="1560344"/>
          </a:xfrm>
          <a:prstGeom prst="bentConnector3">
            <a:avLst>
              <a:gd name="adj1" fmla="val -120"/>
            </a:avLst>
          </a:prstGeom>
          <a:ln w="19050">
            <a:solidFill>
              <a:srgbClr val="00206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10A7590F-A36C-A0AA-AA18-BE15D81F36E9}"/>
              </a:ext>
            </a:extLst>
          </p:cNvPr>
          <p:cNvCxnSpPr>
            <a:cxnSpLocks/>
            <a:stCxn id="14" idx="2"/>
          </p:cNvCxnSpPr>
          <p:nvPr/>
        </p:nvCxnSpPr>
        <p:spPr>
          <a:xfrm rot="5400000">
            <a:off x="6060119" y="2044932"/>
            <a:ext cx="2286382" cy="1921292"/>
          </a:xfrm>
          <a:prstGeom prst="bentConnector3">
            <a:avLst>
              <a:gd name="adj1" fmla="val 100217"/>
            </a:avLst>
          </a:prstGeom>
          <a:ln w="19050">
            <a:solidFill>
              <a:srgbClr val="FF0000"/>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C0AB089C-DA7C-A0EB-12BA-5BA8788D960D}"/>
              </a:ext>
            </a:extLst>
          </p:cNvPr>
          <p:cNvSpPr/>
          <p:nvPr/>
        </p:nvSpPr>
        <p:spPr>
          <a:xfrm>
            <a:off x="8499767" y="4180904"/>
            <a:ext cx="1540110" cy="26813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Connector: Elbow 29">
            <a:extLst>
              <a:ext uri="{FF2B5EF4-FFF2-40B4-BE49-F238E27FC236}">
                <a16:creationId xmlns:a16="http://schemas.microsoft.com/office/drawing/2014/main" id="{968D674B-D0A1-CC00-8EE7-0C07A9C85F1A}"/>
              </a:ext>
            </a:extLst>
          </p:cNvPr>
          <p:cNvCxnSpPr>
            <a:cxnSpLocks/>
            <a:stCxn id="34" idx="2"/>
            <a:endCxn id="28" idx="0"/>
          </p:cNvCxnSpPr>
          <p:nvPr/>
        </p:nvCxnSpPr>
        <p:spPr>
          <a:xfrm rot="5400000">
            <a:off x="8575285" y="2556926"/>
            <a:ext cx="2318515" cy="929440"/>
          </a:xfrm>
          <a:prstGeom prst="bentConnector3">
            <a:avLst/>
          </a:prstGeom>
          <a:ln w="1905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A7EC319B-BAD5-73A6-4AB8-D07F9EFC73E7}"/>
              </a:ext>
            </a:extLst>
          </p:cNvPr>
          <p:cNvSpPr/>
          <p:nvPr/>
        </p:nvSpPr>
        <p:spPr>
          <a:xfrm>
            <a:off x="9810735" y="1511298"/>
            <a:ext cx="777054" cy="35109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EF40BB82-3150-62D6-A5CB-C30F1D667B7D}"/>
              </a:ext>
            </a:extLst>
          </p:cNvPr>
          <p:cNvSpPr/>
          <p:nvPr/>
        </p:nvSpPr>
        <p:spPr>
          <a:xfrm>
            <a:off x="8518351" y="5336006"/>
            <a:ext cx="3355096" cy="268132"/>
          </a:xfrm>
          <a:prstGeom prst="rect">
            <a:avLst/>
          </a:prstGeom>
          <a:no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3E9D6FCE-D02F-6A9F-083B-0BB13410EA1F}"/>
              </a:ext>
            </a:extLst>
          </p:cNvPr>
          <p:cNvSpPr/>
          <p:nvPr/>
        </p:nvSpPr>
        <p:spPr>
          <a:xfrm>
            <a:off x="9810735" y="1161871"/>
            <a:ext cx="2097088" cy="313428"/>
          </a:xfrm>
          <a:prstGeom prst="rect">
            <a:avLst/>
          </a:prstGeom>
          <a:no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Connector: Elbow 40">
            <a:extLst>
              <a:ext uri="{FF2B5EF4-FFF2-40B4-BE49-F238E27FC236}">
                <a16:creationId xmlns:a16="http://schemas.microsoft.com/office/drawing/2014/main" id="{0C8B540C-E919-1893-F78E-11A58004971C}"/>
              </a:ext>
            </a:extLst>
          </p:cNvPr>
          <p:cNvCxnSpPr>
            <a:cxnSpLocks/>
            <a:stCxn id="39" idx="2"/>
            <a:endCxn id="37" idx="0"/>
          </p:cNvCxnSpPr>
          <p:nvPr/>
        </p:nvCxnSpPr>
        <p:spPr>
          <a:xfrm rot="5400000">
            <a:off x="8597236" y="3073962"/>
            <a:ext cx="3860707" cy="663380"/>
          </a:xfrm>
          <a:prstGeom prst="bentConnector3">
            <a:avLst/>
          </a:prstGeom>
          <a:ln w="28575">
            <a:solidFill>
              <a:srgbClr val="00206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53" name="Picture 52">
            <a:extLst>
              <a:ext uri="{FF2B5EF4-FFF2-40B4-BE49-F238E27FC236}">
                <a16:creationId xmlns:a16="http://schemas.microsoft.com/office/drawing/2014/main" id="{76560101-A231-53B4-0F25-5DCCA26DED39}"/>
              </a:ext>
            </a:extLst>
          </p:cNvPr>
          <p:cNvPicPr>
            <a:picLocks noChangeAspect="1"/>
          </p:cNvPicPr>
          <p:nvPr/>
        </p:nvPicPr>
        <p:blipFill>
          <a:blip r:embed="rId6"/>
          <a:stretch>
            <a:fillRect/>
          </a:stretch>
        </p:blipFill>
        <p:spPr>
          <a:xfrm>
            <a:off x="178213" y="969256"/>
            <a:ext cx="2435724" cy="2633048"/>
          </a:xfrm>
          <a:prstGeom prst="rect">
            <a:avLst/>
          </a:prstGeom>
          <a:ln>
            <a:solidFill>
              <a:srgbClr val="002060"/>
            </a:solidFill>
          </a:ln>
        </p:spPr>
      </p:pic>
      <p:pic>
        <p:nvPicPr>
          <p:cNvPr id="55" name="Picture 54">
            <a:extLst>
              <a:ext uri="{FF2B5EF4-FFF2-40B4-BE49-F238E27FC236}">
                <a16:creationId xmlns:a16="http://schemas.microsoft.com/office/drawing/2014/main" id="{C4A3F6DC-88A8-9C8F-32A8-3102F782BA2D}"/>
              </a:ext>
            </a:extLst>
          </p:cNvPr>
          <p:cNvPicPr>
            <a:picLocks noChangeAspect="1"/>
          </p:cNvPicPr>
          <p:nvPr/>
        </p:nvPicPr>
        <p:blipFill>
          <a:blip r:embed="rId7"/>
          <a:srcRect r="6841"/>
          <a:stretch>
            <a:fillRect/>
          </a:stretch>
        </p:blipFill>
        <p:spPr>
          <a:xfrm>
            <a:off x="178214" y="3742240"/>
            <a:ext cx="2435724" cy="2674007"/>
          </a:xfrm>
          <a:prstGeom prst="rect">
            <a:avLst/>
          </a:prstGeom>
          <a:ln>
            <a:solidFill>
              <a:srgbClr val="002060"/>
            </a:solidFill>
          </a:ln>
        </p:spPr>
      </p:pic>
      <p:sp>
        <p:nvSpPr>
          <p:cNvPr id="73" name="Rectangle 72">
            <a:extLst>
              <a:ext uri="{FF2B5EF4-FFF2-40B4-BE49-F238E27FC236}">
                <a16:creationId xmlns:a16="http://schemas.microsoft.com/office/drawing/2014/main" id="{32BE0E46-3A84-BD43-2514-FFC4885D5B8B}"/>
              </a:ext>
            </a:extLst>
          </p:cNvPr>
          <p:cNvSpPr/>
          <p:nvPr/>
        </p:nvSpPr>
        <p:spPr>
          <a:xfrm>
            <a:off x="178213" y="1981324"/>
            <a:ext cx="736186" cy="313428"/>
          </a:xfrm>
          <a:prstGeom prst="rect">
            <a:avLst/>
          </a:prstGeom>
          <a:no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Connector: Elbow 74">
            <a:extLst>
              <a:ext uri="{FF2B5EF4-FFF2-40B4-BE49-F238E27FC236}">
                <a16:creationId xmlns:a16="http://schemas.microsoft.com/office/drawing/2014/main" id="{BA57E403-BB8D-BF0B-5D02-2101757EA450}"/>
              </a:ext>
            </a:extLst>
          </p:cNvPr>
          <p:cNvCxnSpPr>
            <a:cxnSpLocks/>
            <a:stCxn id="73" idx="0"/>
            <a:endCxn id="15" idx="0"/>
          </p:cNvCxnSpPr>
          <p:nvPr/>
        </p:nvCxnSpPr>
        <p:spPr>
          <a:xfrm rot="16200000" flipH="1">
            <a:off x="2271060" y="256570"/>
            <a:ext cx="1714082" cy="5163591"/>
          </a:xfrm>
          <a:prstGeom prst="bentConnector3">
            <a:avLst>
              <a:gd name="adj1" fmla="val -13337"/>
            </a:avLst>
          </a:prstGeom>
          <a:ln w="19050">
            <a:solidFill>
              <a:srgbClr val="00206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6E5FF804-CF10-8144-3825-4F22B3CA9800}"/>
              </a:ext>
            </a:extLst>
          </p:cNvPr>
          <p:cNvCxnSpPr>
            <a:cxnSpLocks/>
          </p:cNvCxnSpPr>
          <p:nvPr/>
        </p:nvCxnSpPr>
        <p:spPr>
          <a:xfrm>
            <a:off x="8686876" y="1795169"/>
            <a:ext cx="1123859" cy="0"/>
          </a:xfrm>
          <a:prstGeom prst="straightConnector1">
            <a:avLst/>
          </a:prstGeom>
          <a:ln w="1905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85" name="Rectangle 84">
            <a:extLst>
              <a:ext uri="{FF2B5EF4-FFF2-40B4-BE49-F238E27FC236}">
                <a16:creationId xmlns:a16="http://schemas.microsoft.com/office/drawing/2014/main" id="{2799E509-382C-493A-0150-DC8669ECDF23}"/>
              </a:ext>
            </a:extLst>
          </p:cNvPr>
          <p:cNvSpPr/>
          <p:nvPr/>
        </p:nvSpPr>
        <p:spPr>
          <a:xfrm>
            <a:off x="949253" y="4771086"/>
            <a:ext cx="1061881" cy="31342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7" name="Connector: Elbow 86">
            <a:extLst>
              <a:ext uri="{FF2B5EF4-FFF2-40B4-BE49-F238E27FC236}">
                <a16:creationId xmlns:a16="http://schemas.microsoft.com/office/drawing/2014/main" id="{AF0817F3-01C2-A74B-34C7-F7340249CDEF}"/>
              </a:ext>
            </a:extLst>
          </p:cNvPr>
          <p:cNvCxnSpPr>
            <a:cxnSpLocks/>
            <a:stCxn id="85" idx="0"/>
          </p:cNvCxnSpPr>
          <p:nvPr/>
        </p:nvCxnSpPr>
        <p:spPr>
          <a:xfrm rot="5400000" flipH="1" flipV="1">
            <a:off x="3017503" y="2611461"/>
            <a:ext cx="622316" cy="3696934"/>
          </a:xfrm>
          <a:prstGeom prst="bentConnector2">
            <a:avLst/>
          </a:prstGeom>
          <a:ln w="1905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9" name="Connector: Elbow 88">
            <a:extLst>
              <a:ext uri="{FF2B5EF4-FFF2-40B4-BE49-F238E27FC236}">
                <a16:creationId xmlns:a16="http://schemas.microsoft.com/office/drawing/2014/main" id="{9A7F37A8-72CE-CA49-9E45-0FCD277F18D5}"/>
              </a:ext>
            </a:extLst>
          </p:cNvPr>
          <p:cNvCxnSpPr>
            <a:endCxn id="39" idx="0"/>
          </p:cNvCxnSpPr>
          <p:nvPr/>
        </p:nvCxnSpPr>
        <p:spPr>
          <a:xfrm flipV="1">
            <a:off x="8686876" y="1161871"/>
            <a:ext cx="2172403" cy="156714"/>
          </a:xfrm>
          <a:prstGeom prst="bentConnector4">
            <a:avLst>
              <a:gd name="adj1" fmla="val 34412"/>
              <a:gd name="adj2" fmla="val 24587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A8FE0BAD-C103-34E7-1A61-5D66DDF07AC2}"/>
              </a:ext>
            </a:extLst>
          </p:cNvPr>
          <p:cNvSpPr txBox="1"/>
          <p:nvPr/>
        </p:nvSpPr>
        <p:spPr>
          <a:xfrm>
            <a:off x="6425753" y="701814"/>
            <a:ext cx="3614124" cy="338554"/>
          </a:xfrm>
          <a:prstGeom prst="rect">
            <a:avLst/>
          </a:prstGeom>
          <a:noFill/>
        </p:spPr>
        <p:txBody>
          <a:bodyPr wrap="square">
            <a:spAutoFit/>
          </a:bodyPr>
          <a:lstStyle/>
          <a:p>
            <a:r>
              <a:rPr lang="en-US" sz="1600"/>
              <a:t>app-routing-module.ts</a:t>
            </a:r>
          </a:p>
        </p:txBody>
      </p:sp>
      <p:sp>
        <p:nvSpPr>
          <p:cNvPr id="9" name="Rectangle 8">
            <a:extLst>
              <a:ext uri="{FF2B5EF4-FFF2-40B4-BE49-F238E27FC236}">
                <a16:creationId xmlns:a16="http://schemas.microsoft.com/office/drawing/2014/main" id="{A8666646-6050-2064-23C0-95ADB5BE534D}"/>
              </a:ext>
            </a:extLst>
          </p:cNvPr>
          <p:cNvSpPr/>
          <p:nvPr/>
        </p:nvSpPr>
        <p:spPr>
          <a:xfrm>
            <a:off x="3224463" y="4640752"/>
            <a:ext cx="3996285" cy="455617"/>
          </a:xfrm>
          <a:prstGeom prst="rect">
            <a:avLst/>
          </a:prstGeom>
          <a:solidFill>
            <a:srgbClr val="FFFF00">
              <a:alpha val="26000"/>
            </a:srgbClr>
          </a:solidFill>
          <a:ln>
            <a:solidFill>
              <a:srgbClr val="7030A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Connector: Elbow 15">
            <a:extLst>
              <a:ext uri="{FF2B5EF4-FFF2-40B4-BE49-F238E27FC236}">
                <a16:creationId xmlns:a16="http://schemas.microsoft.com/office/drawing/2014/main" id="{BA9DBDDE-50BE-2D2E-23FF-9456A2E9A9DA}"/>
              </a:ext>
            </a:extLst>
          </p:cNvPr>
          <p:cNvCxnSpPr>
            <a:cxnSpLocks/>
            <a:stCxn id="28" idx="2"/>
          </p:cNvCxnSpPr>
          <p:nvPr/>
        </p:nvCxnSpPr>
        <p:spPr>
          <a:xfrm rot="5400000">
            <a:off x="7966191" y="3703593"/>
            <a:ext cx="558188" cy="2049074"/>
          </a:xfrm>
          <a:prstGeom prst="bent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BDB413D3-F75D-765B-F368-4B3AC2BE4A36}"/>
              </a:ext>
            </a:extLst>
          </p:cNvPr>
          <p:cNvCxnSpPr>
            <a:cxnSpLocks/>
            <a:stCxn id="37" idx="2"/>
          </p:cNvCxnSpPr>
          <p:nvPr/>
        </p:nvCxnSpPr>
        <p:spPr>
          <a:xfrm rot="5400000" flipH="1">
            <a:off x="8216794" y="3625034"/>
            <a:ext cx="507769" cy="3450441"/>
          </a:xfrm>
          <a:prstGeom prst="bentConnector4">
            <a:avLst>
              <a:gd name="adj1" fmla="val -45020"/>
              <a:gd name="adj2" fmla="val 99995"/>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4083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anim calcmode="lin" valueType="num">
                                      <p:cBhvr additive="base">
                                        <p:cTn id="7" dur="500" fill="hold"/>
                                        <p:tgtEl>
                                          <p:spTgt spid="73"/>
                                        </p:tgtEl>
                                        <p:attrNameLst>
                                          <p:attrName>ppt_x</p:attrName>
                                        </p:attrNameLst>
                                      </p:cBhvr>
                                      <p:tavLst>
                                        <p:tav tm="0">
                                          <p:val>
                                            <p:strVal val="0-#ppt_w/2"/>
                                          </p:val>
                                        </p:tav>
                                        <p:tav tm="100000">
                                          <p:val>
                                            <p:strVal val="#ppt_x"/>
                                          </p:val>
                                        </p:tav>
                                      </p:tavLst>
                                    </p:anim>
                                    <p:anim calcmode="lin" valueType="num">
                                      <p:cBhvr additive="base">
                                        <p:cTn id="8" dur="500" fill="hold"/>
                                        <p:tgtEl>
                                          <p:spTgt spid="7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75"/>
                                        </p:tgtEl>
                                        <p:attrNameLst>
                                          <p:attrName>style.visibility</p:attrName>
                                        </p:attrNameLst>
                                      </p:cBhvr>
                                      <p:to>
                                        <p:strVal val="visible"/>
                                      </p:to>
                                    </p:set>
                                    <p:anim calcmode="lin" valueType="num">
                                      <p:cBhvr additive="base">
                                        <p:cTn id="12" dur="500" fill="hold"/>
                                        <p:tgtEl>
                                          <p:spTgt spid="75"/>
                                        </p:tgtEl>
                                        <p:attrNameLst>
                                          <p:attrName>ppt_x</p:attrName>
                                        </p:attrNameLst>
                                      </p:cBhvr>
                                      <p:tavLst>
                                        <p:tav tm="0">
                                          <p:val>
                                            <p:strVal val="0-#ppt_w/2"/>
                                          </p:val>
                                        </p:tav>
                                        <p:tav tm="100000">
                                          <p:val>
                                            <p:strVal val="#ppt_x"/>
                                          </p:val>
                                        </p:tav>
                                      </p:tavLst>
                                    </p:anim>
                                    <p:anim calcmode="lin" valueType="num">
                                      <p:cBhvr additive="base">
                                        <p:cTn id="13" dur="500" fill="hold"/>
                                        <p:tgtEl>
                                          <p:spTgt spid="75"/>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par>
                          <p:cTn id="18" fill="hold">
                            <p:stCondLst>
                              <p:cond delay="1500"/>
                            </p:stCondLst>
                            <p:childTnLst>
                              <p:par>
                                <p:cTn id="19" presetID="2" presetClass="entr" presetSubtype="8" fill="hold" nodeType="afterEffect">
                                  <p:stCondLst>
                                    <p:cond delay="0"/>
                                  </p:stCondLst>
                                  <p:childTnLst>
                                    <p:set>
                                      <p:cBhvr>
                                        <p:cTn id="20" dur="1" fill="hold">
                                          <p:stCondLst>
                                            <p:cond delay="0"/>
                                          </p:stCondLst>
                                        </p:cTn>
                                        <p:tgtEl>
                                          <p:spTgt spid="20"/>
                                        </p:tgtEl>
                                        <p:attrNameLst>
                                          <p:attrName>style.visibility</p:attrName>
                                        </p:attrNameLst>
                                      </p:cBhvr>
                                      <p:to>
                                        <p:strVal val="visible"/>
                                      </p:to>
                                    </p:set>
                                    <p:anim calcmode="lin" valueType="num">
                                      <p:cBhvr additive="base">
                                        <p:cTn id="21" dur="500" fill="hold"/>
                                        <p:tgtEl>
                                          <p:spTgt spid="20"/>
                                        </p:tgtEl>
                                        <p:attrNameLst>
                                          <p:attrName>ppt_x</p:attrName>
                                        </p:attrNameLst>
                                      </p:cBhvr>
                                      <p:tavLst>
                                        <p:tav tm="0">
                                          <p:val>
                                            <p:strVal val="0-#ppt_w/2"/>
                                          </p:val>
                                        </p:tav>
                                        <p:tav tm="100000">
                                          <p:val>
                                            <p:strVal val="#ppt_x"/>
                                          </p:val>
                                        </p:tav>
                                      </p:tavLst>
                                    </p:anim>
                                    <p:anim calcmode="lin" valueType="num">
                                      <p:cBhvr additive="base">
                                        <p:cTn id="22" dur="500" fill="hold"/>
                                        <p:tgtEl>
                                          <p:spTgt spid="20"/>
                                        </p:tgtEl>
                                        <p:attrNameLst>
                                          <p:attrName>ppt_y</p:attrName>
                                        </p:attrNameLst>
                                      </p:cBhvr>
                                      <p:tavLst>
                                        <p:tav tm="0">
                                          <p:val>
                                            <p:strVal val="#ppt_y"/>
                                          </p:val>
                                        </p:tav>
                                        <p:tav tm="100000">
                                          <p:val>
                                            <p:strVal val="#ppt_y"/>
                                          </p:val>
                                        </p:tav>
                                      </p:tavLst>
                                    </p:anim>
                                  </p:childTnLst>
                                </p:cTn>
                              </p:par>
                            </p:childTnLst>
                          </p:cTn>
                        </p:par>
                        <p:par>
                          <p:cTn id="23" fill="hold">
                            <p:stCondLst>
                              <p:cond delay="2000"/>
                            </p:stCondLst>
                            <p:childTnLst>
                              <p:par>
                                <p:cTn id="24" presetID="10" presetClass="entr" presetSubtype="0"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childTnLst>
                          </p:cTn>
                        </p:par>
                        <p:par>
                          <p:cTn id="27" fill="hold">
                            <p:stCondLst>
                              <p:cond delay="2500"/>
                            </p:stCondLst>
                            <p:childTnLst>
                              <p:par>
                                <p:cTn id="28" presetID="2" presetClass="entr" presetSubtype="8" fill="hold" nodeType="afterEffect">
                                  <p:stCondLst>
                                    <p:cond delay="0"/>
                                  </p:stCondLst>
                                  <p:childTnLst>
                                    <p:set>
                                      <p:cBhvr>
                                        <p:cTn id="29" dur="1" fill="hold">
                                          <p:stCondLst>
                                            <p:cond delay="0"/>
                                          </p:stCondLst>
                                        </p:cTn>
                                        <p:tgtEl>
                                          <p:spTgt spid="89"/>
                                        </p:tgtEl>
                                        <p:attrNameLst>
                                          <p:attrName>style.visibility</p:attrName>
                                        </p:attrNameLst>
                                      </p:cBhvr>
                                      <p:to>
                                        <p:strVal val="visible"/>
                                      </p:to>
                                    </p:set>
                                    <p:anim calcmode="lin" valueType="num">
                                      <p:cBhvr additive="base">
                                        <p:cTn id="30" dur="500" fill="hold"/>
                                        <p:tgtEl>
                                          <p:spTgt spid="89"/>
                                        </p:tgtEl>
                                        <p:attrNameLst>
                                          <p:attrName>ppt_x</p:attrName>
                                        </p:attrNameLst>
                                      </p:cBhvr>
                                      <p:tavLst>
                                        <p:tav tm="0">
                                          <p:val>
                                            <p:strVal val="0-#ppt_w/2"/>
                                          </p:val>
                                        </p:tav>
                                        <p:tav tm="100000">
                                          <p:val>
                                            <p:strVal val="#ppt_x"/>
                                          </p:val>
                                        </p:tav>
                                      </p:tavLst>
                                    </p:anim>
                                    <p:anim calcmode="lin" valueType="num">
                                      <p:cBhvr additive="base">
                                        <p:cTn id="31" dur="500" fill="hold"/>
                                        <p:tgtEl>
                                          <p:spTgt spid="89"/>
                                        </p:tgtEl>
                                        <p:attrNameLst>
                                          <p:attrName>ppt_y</p:attrName>
                                        </p:attrNameLst>
                                      </p:cBhvr>
                                      <p:tavLst>
                                        <p:tav tm="0">
                                          <p:val>
                                            <p:strVal val="#ppt_y"/>
                                          </p:val>
                                        </p:tav>
                                        <p:tav tm="100000">
                                          <p:val>
                                            <p:strVal val="#ppt_y"/>
                                          </p:val>
                                        </p:tav>
                                      </p:tavLst>
                                    </p:anim>
                                  </p:childTnLst>
                                </p:cTn>
                              </p:par>
                            </p:childTnLst>
                          </p:cTn>
                        </p:par>
                        <p:par>
                          <p:cTn id="32" fill="hold">
                            <p:stCondLst>
                              <p:cond delay="3000"/>
                            </p:stCondLst>
                            <p:childTnLst>
                              <p:par>
                                <p:cTn id="33" presetID="10" presetClass="entr" presetSubtype="0" fill="hold" grpId="0" nodeType="after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fade">
                                      <p:cBhvr>
                                        <p:cTn id="35" dur="500"/>
                                        <p:tgtEl>
                                          <p:spTgt spid="39"/>
                                        </p:tgtEl>
                                      </p:cBhvr>
                                    </p:animEffect>
                                  </p:childTnLst>
                                </p:cTn>
                              </p:par>
                            </p:childTnLst>
                          </p:cTn>
                        </p:par>
                        <p:par>
                          <p:cTn id="36" fill="hold">
                            <p:stCondLst>
                              <p:cond delay="3500"/>
                            </p:stCondLst>
                            <p:childTnLst>
                              <p:par>
                                <p:cTn id="37" presetID="2" presetClass="entr" presetSubtype="8" fill="hold" nodeType="afterEffect">
                                  <p:stCondLst>
                                    <p:cond delay="0"/>
                                  </p:stCondLst>
                                  <p:childTnLst>
                                    <p:set>
                                      <p:cBhvr>
                                        <p:cTn id="38" dur="1" fill="hold">
                                          <p:stCondLst>
                                            <p:cond delay="0"/>
                                          </p:stCondLst>
                                        </p:cTn>
                                        <p:tgtEl>
                                          <p:spTgt spid="41"/>
                                        </p:tgtEl>
                                        <p:attrNameLst>
                                          <p:attrName>style.visibility</p:attrName>
                                        </p:attrNameLst>
                                      </p:cBhvr>
                                      <p:to>
                                        <p:strVal val="visible"/>
                                      </p:to>
                                    </p:set>
                                    <p:anim calcmode="lin" valueType="num">
                                      <p:cBhvr additive="base">
                                        <p:cTn id="39" dur="500" fill="hold"/>
                                        <p:tgtEl>
                                          <p:spTgt spid="41"/>
                                        </p:tgtEl>
                                        <p:attrNameLst>
                                          <p:attrName>ppt_x</p:attrName>
                                        </p:attrNameLst>
                                      </p:cBhvr>
                                      <p:tavLst>
                                        <p:tav tm="0">
                                          <p:val>
                                            <p:strVal val="0-#ppt_w/2"/>
                                          </p:val>
                                        </p:tav>
                                        <p:tav tm="100000">
                                          <p:val>
                                            <p:strVal val="#ppt_x"/>
                                          </p:val>
                                        </p:tav>
                                      </p:tavLst>
                                    </p:anim>
                                    <p:anim calcmode="lin" valueType="num">
                                      <p:cBhvr additive="base">
                                        <p:cTn id="40" dur="500" fill="hold"/>
                                        <p:tgtEl>
                                          <p:spTgt spid="41"/>
                                        </p:tgtEl>
                                        <p:attrNameLst>
                                          <p:attrName>ppt_y</p:attrName>
                                        </p:attrNameLst>
                                      </p:cBhvr>
                                      <p:tavLst>
                                        <p:tav tm="0">
                                          <p:val>
                                            <p:strVal val="#ppt_y"/>
                                          </p:val>
                                        </p:tav>
                                        <p:tav tm="100000">
                                          <p:val>
                                            <p:strVal val="#ppt_y"/>
                                          </p:val>
                                        </p:tav>
                                      </p:tavLst>
                                    </p:anim>
                                  </p:childTnLst>
                                </p:cTn>
                              </p:par>
                            </p:childTnLst>
                          </p:cTn>
                        </p:par>
                        <p:par>
                          <p:cTn id="41" fill="hold">
                            <p:stCondLst>
                              <p:cond delay="4000"/>
                            </p:stCondLst>
                            <p:childTnLst>
                              <p:par>
                                <p:cTn id="42" presetID="10" presetClass="entr" presetSubtype="0" fill="hold" grpId="0" nodeType="afterEffect">
                                  <p:stCondLst>
                                    <p:cond delay="0"/>
                                  </p:stCondLst>
                                  <p:childTnLst>
                                    <p:set>
                                      <p:cBhvr>
                                        <p:cTn id="43" dur="1" fill="hold">
                                          <p:stCondLst>
                                            <p:cond delay="0"/>
                                          </p:stCondLst>
                                        </p:cTn>
                                        <p:tgtEl>
                                          <p:spTgt spid="37"/>
                                        </p:tgtEl>
                                        <p:attrNameLst>
                                          <p:attrName>style.visibility</p:attrName>
                                        </p:attrNameLst>
                                      </p:cBhvr>
                                      <p:to>
                                        <p:strVal val="visible"/>
                                      </p:to>
                                    </p:set>
                                    <p:animEffect transition="in" filter="fade">
                                      <p:cBhvr>
                                        <p:cTn id="44" dur="500"/>
                                        <p:tgtEl>
                                          <p:spTgt spid="37"/>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85"/>
                                        </p:tgtEl>
                                        <p:attrNameLst>
                                          <p:attrName>style.visibility</p:attrName>
                                        </p:attrNameLst>
                                      </p:cBhvr>
                                      <p:to>
                                        <p:strVal val="visible"/>
                                      </p:to>
                                    </p:set>
                                    <p:anim calcmode="lin" valueType="num">
                                      <p:cBhvr additive="base">
                                        <p:cTn id="49" dur="500" fill="hold"/>
                                        <p:tgtEl>
                                          <p:spTgt spid="85"/>
                                        </p:tgtEl>
                                        <p:attrNameLst>
                                          <p:attrName>ppt_x</p:attrName>
                                        </p:attrNameLst>
                                      </p:cBhvr>
                                      <p:tavLst>
                                        <p:tav tm="0">
                                          <p:val>
                                            <p:strVal val="0-#ppt_w/2"/>
                                          </p:val>
                                        </p:tav>
                                        <p:tav tm="100000">
                                          <p:val>
                                            <p:strVal val="#ppt_x"/>
                                          </p:val>
                                        </p:tav>
                                      </p:tavLst>
                                    </p:anim>
                                    <p:anim calcmode="lin" valueType="num">
                                      <p:cBhvr additive="base">
                                        <p:cTn id="50" dur="500" fill="hold"/>
                                        <p:tgtEl>
                                          <p:spTgt spid="85"/>
                                        </p:tgtEl>
                                        <p:attrNameLst>
                                          <p:attrName>ppt_y</p:attrName>
                                        </p:attrNameLst>
                                      </p:cBhvr>
                                      <p:tavLst>
                                        <p:tav tm="0">
                                          <p:val>
                                            <p:strVal val="#ppt_y"/>
                                          </p:val>
                                        </p:tav>
                                        <p:tav tm="100000">
                                          <p:val>
                                            <p:strVal val="#ppt_y"/>
                                          </p:val>
                                        </p:tav>
                                      </p:tavLst>
                                    </p:anim>
                                  </p:childTnLst>
                                </p:cTn>
                              </p:par>
                            </p:childTnLst>
                          </p:cTn>
                        </p:par>
                        <p:par>
                          <p:cTn id="51" fill="hold">
                            <p:stCondLst>
                              <p:cond delay="500"/>
                            </p:stCondLst>
                            <p:childTnLst>
                              <p:par>
                                <p:cTn id="52" presetID="2" presetClass="entr" presetSubtype="8" fill="hold" nodeType="afterEffect">
                                  <p:stCondLst>
                                    <p:cond delay="0"/>
                                  </p:stCondLst>
                                  <p:childTnLst>
                                    <p:set>
                                      <p:cBhvr>
                                        <p:cTn id="53" dur="1" fill="hold">
                                          <p:stCondLst>
                                            <p:cond delay="0"/>
                                          </p:stCondLst>
                                        </p:cTn>
                                        <p:tgtEl>
                                          <p:spTgt spid="87"/>
                                        </p:tgtEl>
                                        <p:attrNameLst>
                                          <p:attrName>style.visibility</p:attrName>
                                        </p:attrNameLst>
                                      </p:cBhvr>
                                      <p:to>
                                        <p:strVal val="visible"/>
                                      </p:to>
                                    </p:set>
                                    <p:anim calcmode="lin" valueType="num">
                                      <p:cBhvr additive="base">
                                        <p:cTn id="54" dur="500" fill="hold"/>
                                        <p:tgtEl>
                                          <p:spTgt spid="87"/>
                                        </p:tgtEl>
                                        <p:attrNameLst>
                                          <p:attrName>ppt_x</p:attrName>
                                        </p:attrNameLst>
                                      </p:cBhvr>
                                      <p:tavLst>
                                        <p:tav tm="0">
                                          <p:val>
                                            <p:strVal val="0-#ppt_w/2"/>
                                          </p:val>
                                        </p:tav>
                                        <p:tav tm="100000">
                                          <p:val>
                                            <p:strVal val="#ppt_x"/>
                                          </p:val>
                                        </p:tav>
                                      </p:tavLst>
                                    </p:anim>
                                    <p:anim calcmode="lin" valueType="num">
                                      <p:cBhvr additive="base">
                                        <p:cTn id="55" dur="500" fill="hold"/>
                                        <p:tgtEl>
                                          <p:spTgt spid="87"/>
                                        </p:tgtEl>
                                        <p:attrNameLst>
                                          <p:attrName>ppt_y</p:attrName>
                                        </p:attrNameLst>
                                      </p:cBhvr>
                                      <p:tavLst>
                                        <p:tav tm="0">
                                          <p:val>
                                            <p:strVal val="#ppt_y"/>
                                          </p:val>
                                        </p:tav>
                                        <p:tav tm="100000">
                                          <p:val>
                                            <p:strVal val="#ppt_y"/>
                                          </p:val>
                                        </p:tav>
                                      </p:tavLst>
                                    </p:anim>
                                  </p:childTnLst>
                                </p:cTn>
                              </p:par>
                            </p:childTnLst>
                          </p:cTn>
                        </p:par>
                        <p:par>
                          <p:cTn id="56" fill="hold">
                            <p:stCondLst>
                              <p:cond delay="1000"/>
                            </p:stCondLst>
                            <p:childTnLst>
                              <p:par>
                                <p:cTn id="57" presetID="2" presetClass="entr" presetSubtype="8" fill="hold" grpId="0" nodeType="afterEffect">
                                  <p:stCondLst>
                                    <p:cond delay="0"/>
                                  </p:stCondLst>
                                  <p:childTnLst>
                                    <p:set>
                                      <p:cBhvr>
                                        <p:cTn id="58" dur="1" fill="hold">
                                          <p:stCondLst>
                                            <p:cond delay="0"/>
                                          </p:stCondLst>
                                        </p:cTn>
                                        <p:tgtEl>
                                          <p:spTgt spid="18"/>
                                        </p:tgtEl>
                                        <p:attrNameLst>
                                          <p:attrName>style.visibility</p:attrName>
                                        </p:attrNameLst>
                                      </p:cBhvr>
                                      <p:to>
                                        <p:strVal val="visible"/>
                                      </p:to>
                                    </p:set>
                                    <p:anim calcmode="lin" valueType="num">
                                      <p:cBhvr additive="base">
                                        <p:cTn id="59" dur="500" fill="hold"/>
                                        <p:tgtEl>
                                          <p:spTgt spid="18"/>
                                        </p:tgtEl>
                                        <p:attrNameLst>
                                          <p:attrName>ppt_x</p:attrName>
                                        </p:attrNameLst>
                                      </p:cBhvr>
                                      <p:tavLst>
                                        <p:tav tm="0">
                                          <p:val>
                                            <p:strVal val="0-#ppt_w/2"/>
                                          </p:val>
                                        </p:tav>
                                        <p:tav tm="100000">
                                          <p:val>
                                            <p:strVal val="#ppt_x"/>
                                          </p:val>
                                        </p:tav>
                                      </p:tavLst>
                                    </p:anim>
                                    <p:anim calcmode="lin" valueType="num">
                                      <p:cBhvr additive="base">
                                        <p:cTn id="60" dur="500" fill="hold"/>
                                        <p:tgtEl>
                                          <p:spTgt spid="18"/>
                                        </p:tgtEl>
                                        <p:attrNameLst>
                                          <p:attrName>ppt_y</p:attrName>
                                        </p:attrNameLst>
                                      </p:cBhvr>
                                      <p:tavLst>
                                        <p:tav tm="0">
                                          <p:val>
                                            <p:strVal val="#ppt_y"/>
                                          </p:val>
                                        </p:tav>
                                        <p:tav tm="100000">
                                          <p:val>
                                            <p:strVal val="#ppt_y"/>
                                          </p:val>
                                        </p:tav>
                                      </p:tavLst>
                                    </p:anim>
                                  </p:childTnLst>
                                </p:cTn>
                              </p:par>
                            </p:childTnLst>
                          </p:cTn>
                        </p:par>
                        <p:par>
                          <p:cTn id="61" fill="hold">
                            <p:stCondLst>
                              <p:cond delay="1500"/>
                            </p:stCondLst>
                            <p:childTnLst>
                              <p:par>
                                <p:cTn id="62" presetID="2" presetClass="entr" presetSubtype="8" fill="hold" nodeType="afterEffect">
                                  <p:stCondLst>
                                    <p:cond delay="0"/>
                                  </p:stCondLst>
                                  <p:childTnLst>
                                    <p:set>
                                      <p:cBhvr>
                                        <p:cTn id="63" dur="1" fill="hold">
                                          <p:stCondLst>
                                            <p:cond delay="0"/>
                                          </p:stCondLst>
                                        </p:cTn>
                                        <p:tgtEl>
                                          <p:spTgt spid="22"/>
                                        </p:tgtEl>
                                        <p:attrNameLst>
                                          <p:attrName>style.visibility</p:attrName>
                                        </p:attrNameLst>
                                      </p:cBhvr>
                                      <p:to>
                                        <p:strVal val="visible"/>
                                      </p:to>
                                    </p:set>
                                    <p:anim calcmode="lin" valueType="num">
                                      <p:cBhvr additive="base">
                                        <p:cTn id="64" dur="500" fill="hold"/>
                                        <p:tgtEl>
                                          <p:spTgt spid="22"/>
                                        </p:tgtEl>
                                        <p:attrNameLst>
                                          <p:attrName>ppt_x</p:attrName>
                                        </p:attrNameLst>
                                      </p:cBhvr>
                                      <p:tavLst>
                                        <p:tav tm="0">
                                          <p:val>
                                            <p:strVal val="0-#ppt_w/2"/>
                                          </p:val>
                                        </p:tav>
                                        <p:tav tm="100000">
                                          <p:val>
                                            <p:strVal val="#ppt_x"/>
                                          </p:val>
                                        </p:tav>
                                      </p:tavLst>
                                    </p:anim>
                                    <p:anim calcmode="lin" valueType="num">
                                      <p:cBhvr additive="base">
                                        <p:cTn id="65" dur="500" fill="hold"/>
                                        <p:tgtEl>
                                          <p:spTgt spid="22"/>
                                        </p:tgtEl>
                                        <p:attrNameLst>
                                          <p:attrName>ppt_y</p:attrName>
                                        </p:attrNameLst>
                                      </p:cBhvr>
                                      <p:tavLst>
                                        <p:tav tm="0">
                                          <p:val>
                                            <p:strVal val="#ppt_y"/>
                                          </p:val>
                                        </p:tav>
                                        <p:tav tm="100000">
                                          <p:val>
                                            <p:strVal val="#ppt_y"/>
                                          </p:val>
                                        </p:tav>
                                      </p:tavLst>
                                    </p:anim>
                                  </p:childTnLst>
                                </p:cTn>
                              </p:par>
                            </p:childTnLst>
                          </p:cTn>
                        </p:par>
                        <p:par>
                          <p:cTn id="66" fill="hold">
                            <p:stCondLst>
                              <p:cond delay="2000"/>
                            </p:stCondLst>
                            <p:childTnLst>
                              <p:par>
                                <p:cTn id="67" presetID="2" presetClass="entr" presetSubtype="8" fill="hold" grpId="0" nodeType="afterEffect">
                                  <p:stCondLst>
                                    <p:cond delay="0"/>
                                  </p:stCondLst>
                                  <p:childTnLst>
                                    <p:set>
                                      <p:cBhvr>
                                        <p:cTn id="68" dur="1" fill="hold">
                                          <p:stCondLst>
                                            <p:cond delay="0"/>
                                          </p:stCondLst>
                                        </p:cTn>
                                        <p:tgtEl>
                                          <p:spTgt spid="14"/>
                                        </p:tgtEl>
                                        <p:attrNameLst>
                                          <p:attrName>style.visibility</p:attrName>
                                        </p:attrNameLst>
                                      </p:cBhvr>
                                      <p:to>
                                        <p:strVal val="visible"/>
                                      </p:to>
                                    </p:set>
                                    <p:anim calcmode="lin" valueType="num">
                                      <p:cBhvr additive="base">
                                        <p:cTn id="69" dur="500" fill="hold"/>
                                        <p:tgtEl>
                                          <p:spTgt spid="14"/>
                                        </p:tgtEl>
                                        <p:attrNameLst>
                                          <p:attrName>ppt_x</p:attrName>
                                        </p:attrNameLst>
                                      </p:cBhvr>
                                      <p:tavLst>
                                        <p:tav tm="0">
                                          <p:val>
                                            <p:strVal val="0-#ppt_w/2"/>
                                          </p:val>
                                        </p:tav>
                                        <p:tav tm="100000">
                                          <p:val>
                                            <p:strVal val="#ppt_x"/>
                                          </p:val>
                                        </p:tav>
                                      </p:tavLst>
                                    </p:anim>
                                    <p:anim calcmode="lin" valueType="num">
                                      <p:cBhvr additive="base">
                                        <p:cTn id="70" dur="500" fill="hold"/>
                                        <p:tgtEl>
                                          <p:spTgt spid="14"/>
                                        </p:tgtEl>
                                        <p:attrNameLst>
                                          <p:attrName>ppt_y</p:attrName>
                                        </p:attrNameLst>
                                      </p:cBhvr>
                                      <p:tavLst>
                                        <p:tav tm="0">
                                          <p:val>
                                            <p:strVal val="#ppt_y"/>
                                          </p:val>
                                        </p:tav>
                                        <p:tav tm="100000">
                                          <p:val>
                                            <p:strVal val="#ppt_y"/>
                                          </p:val>
                                        </p:tav>
                                      </p:tavLst>
                                    </p:anim>
                                  </p:childTnLst>
                                </p:cTn>
                              </p:par>
                            </p:childTnLst>
                          </p:cTn>
                        </p:par>
                        <p:par>
                          <p:cTn id="71" fill="hold">
                            <p:stCondLst>
                              <p:cond delay="2500"/>
                            </p:stCondLst>
                            <p:childTnLst>
                              <p:par>
                                <p:cTn id="72" presetID="2" presetClass="entr" presetSubtype="8" fill="hold" nodeType="afterEffect">
                                  <p:stCondLst>
                                    <p:cond delay="0"/>
                                  </p:stCondLst>
                                  <p:childTnLst>
                                    <p:set>
                                      <p:cBhvr>
                                        <p:cTn id="73" dur="1" fill="hold">
                                          <p:stCondLst>
                                            <p:cond delay="0"/>
                                          </p:stCondLst>
                                        </p:cTn>
                                        <p:tgtEl>
                                          <p:spTgt spid="83"/>
                                        </p:tgtEl>
                                        <p:attrNameLst>
                                          <p:attrName>style.visibility</p:attrName>
                                        </p:attrNameLst>
                                      </p:cBhvr>
                                      <p:to>
                                        <p:strVal val="visible"/>
                                      </p:to>
                                    </p:set>
                                    <p:anim calcmode="lin" valueType="num">
                                      <p:cBhvr additive="base">
                                        <p:cTn id="74" dur="500" fill="hold"/>
                                        <p:tgtEl>
                                          <p:spTgt spid="83"/>
                                        </p:tgtEl>
                                        <p:attrNameLst>
                                          <p:attrName>ppt_x</p:attrName>
                                        </p:attrNameLst>
                                      </p:cBhvr>
                                      <p:tavLst>
                                        <p:tav tm="0">
                                          <p:val>
                                            <p:strVal val="0-#ppt_w/2"/>
                                          </p:val>
                                        </p:tav>
                                        <p:tav tm="100000">
                                          <p:val>
                                            <p:strVal val="#ppt_x"/>
                                          </p:val>
                                        </p:tav>
                                      </p:tavLst>
                                    </p:anim>
                                    <p:anim calcmode="lin" valueType="num">
                                      <p:cBhvr additive="base">
                                        <p:cTn id="75" dur="500" fill="hold"/>
                                        <p:tgtEl>
                                          <p:spTgt spid="83"/>
                                        </p:tgtEl>
                                        <p:attrNameLst>
                                          <p:attrName>ppt_y</p:attrName>
                                        </p:attrNameLst>
                                      </p:cBhvr>
                                      <p:tavLst>
                                        <p:tav tm="0">
                                          <p:val>
                                            <p:strVal val="#ppt_y"/>
                                          </p:val>
                                        </p:tav>
                                        <p:tav tm="100000">
                                          <p:val>
                                            <p:strVal val="#ppt_y"/>
                                          </p:val>
                                        </p:tav>
                                      </p:tavLst>
                                    </p:anim>
                                  </p:childTnLst>
                                </p:cTn>
                              </p:par>
                            </p:childTnLst>
                          </p:cTn>
                        </p:par>
                        <p:par>
                          <p:cTn id="76" fill="hold">
                            <p:stCondLst>
                              <p:cond delay="3000"/>
                            </p:stCondLst>
                            <p:childTnLst>
                              <p:par>
                                <p:cTn id="77" presetID="2" presetClass="entr" presetSubtype="8" fill="hold" grpId="0" nodeType="afterEffect">
                                  <p:stCondLst>
                                    <p:cond delay="0"/>
                                  </p:stCondLst>
                                  <p:childTnLst>
                                    <p:set>
                                      <p:cBhvr>
                                        <p:cTn id="78" dur="1" fill="hold">
                                          <p:stCondLst>
                                            <p:cond delay="0"/>
                                          </p:stCondLst>
                                        </p:cTn>
                                        <p:tgtEl>
                                          <p:spTgt spid="34"/>
                                        </p:tgtEl>
                                        <p:attrNameLst>
                                          <p:attrName>style.visibility</p:attrName>
                                        </p:attrNameLst>
                                      </p:cBhvr>
                                      <p:to>
                                        <p:strVal val="visible"/>
                                      </p:to>
                                    </p:set>
                                    <p:anim calcmode="lin" valueType="num">
                                      <p:cBhvr additive="base">
                                        <p:cTn id="79" dur="500" fill="hold"/>
                                        <p:tgtEl>
                                          <p:spTgt spid="34"/>
                                        </p:tgtEl>
                                        <p:attrNameLst>
                                          <p:attrName>ppt_x</p:attrName>
                                        </p:attrNameLst>
                                      </p:cBhvr>
                                      <p:tavLst>
                                        <p:tav tm="0">
                                          <p:val>
                                            <p:strVal val="0-#ppt_w/2"/>
                                          </p:val>
                                        </p:tav>
                                        <p:tav tm="100000">
                                          <p:val>
                                            <p:strVal val="#ppt_x"/>
                                          </p:val>
                                        </p:tav>
                                      </p:tavLst>
                                    </p:anim>
                                    <p:anim calcmode="lin" valueType="num">
                                      <p:cBhvr additive="base">
                                        <p:cTn id="80" dur="500" fill="hold"/>
                                        <p:tgtEl>
                                          <p:spTgt spid="34"/>
                                        </p:tgtEl>
                                        <p:attrNameLst>
                                          <p:attrName>ppt_y</p:attrName>
                                        </p:attrNameLst>
                                      </p:cBhvr>
                                      <p:tavLst>
                                        <p:tav tm="0">
                                          <p:val>
                                            <p:strVal val="#ppt_y"/>
                                          </p:val>
                                        </p:tav>
                                        <p:tav tm="100000">
                                          <p:val>
                                            <p:strVal val="#ppt_y"/>
                                          </p:val>
                                        </p:tav>
                                      </p:tavLst>
                                    </p:anim>
                                  </p:childTnLst>
                                </p:cTn>
                              </p:par>
                            </p:childTnLst>
                          </p:cTn>
                        </p:par>
                        <p:par>
                          <p:cTn id="81" fill="hold">
                            <p:stCondLst>
                              <p:cond delay="3500"/>
                            </p:stCondLst>
                            <p:childTnLst>
                              <p:par>
                                <p:cTn id="82" presetID="2" presetClass="entr" presetSubtype="8" fill="hold" nodeType="afterEffect">
                                  <p:stCondLst>
                                    <p:cond delay="0"/>
                                  </p:stCondLst>
                                  <p:childTnLst>
                                    <p:set>
                                      <p:cBhvr>
                                        <p:cTn id="83" dur="1" fill="hold">
                                          <p:stCondLst>
                                            <p:cond delay="0"/>
                                          </p:stCondLst>
                                        </p:cTn>
                                        <p:tgtEl>
                                          <p:spTgt spid="30"/>
                                        </p:tgtEl>
                                        <p:attrNameLst>
                                          <p:attrName>style.visibility</p:attrName>
                                        </p:attrNameLst>
                                      </p:cBhvr>
                                      <p:to>
                                        <p:strVal val="visible"/>
                                      </p:to>
                                    </p:set>
                                    <p:anim calcmode="lin" valueType="num">
                                      <p:cBhvr additive="base">
                                        <p:cTn id="84" dur="500" fill="hold"/>
                                        <p:tgtEl>
                                          <p:spTgt spid="30"/>
                                        </p:tgtEl>
                                        <p:attrNameLst>
                                          <p:attrName>ppt_x</p:attrName>
                                        </p:attrNameLst>
                                      </p:cBhvr>
                                      <p:tavLst>
                                        <p:tav tm="0">
                                          <p:val>
                                            <p:strVal val="0-#ppt_w/2"/>
                                          </p:val>
                                        </p:tav>
                                        <p:tav tm="100000">
                                          <p:val>
                                            <p:strVal val="#ppt_x"/>
                                          </p:val>
                                        </p:tav>
                                      </p:tavLst>
                                    </p:anim>
                                    <p:anim calcmode="lin" valueType="num">
                                      <p:cBhvr additive="base">
                                        <p:cTn id="85" dur="500" fill="hold"/>
                                        <p:tgtEl>
                                          <p:spTgt spid="30"/>
                                        </p:tgtEl>
                                        <p:attrNameLst>
                                          <p:attrName>ppt_y</p:attrName>
                                        </p:attrNameLst>
                                      </p:cBhvr>
                                      <p:tavLst>
                                        <p:tav tm="0">
                                          <p:val>
                                            <p:strVal val="#ppt_y"/>
                                          </p:val>
                                        </p:tav>
                                        <p:tav tm="100000">
                                          <p:val>
                                            <p:strVal val="#ppt_y"/>
                                          </p:val>
                                        </p:tav>
                                      </p:tavLst>
                                    </p:anim>
                                  </p:childTnLst>
                                </p:cTn>
                              </p:par>
                            </p:childTnLst>
                          </p:cTn>
                        </p:par>
                        <p:par>
                          <p:cTn id="86" fill="hold">
                            <p:stCondLst>
                              <p:cond delay="4000"/>
                            </p:stCondLst>
                            <p:childTnLst>
                              <p:par>
                                <p:cTn id="87" presetID="2" presetClass="entr" presetSubtype="8" fill="hold" grpId="0" nodeType="afterEffect">
                                  <p:stCondLst>
                                    <p:cond delay="0"/>
                                  </p:stCondLst>
                                  <p:childTnLst>
                                    <p:set>
                                      <p:cBhvr>
                                        <p:cTn id="88" dur="1" fill="hold">
                                          <p:stCondLst>
                                            <p:cond delay="0"/>
                                          </p:stCondLst>
                                        </p:cTn>
                                        <p:tgtEl>
                                          <p:spTgt spid="28"/>
                                        </p:tgtEl>
                                        <p:attrNameLst>
                                          <p:attrName>style.visibility</p:attrName>
                                        </p:attrNameLst>
                                      </p:cBhvr>
                                      <p:to>
                                        <p:strVal val="visible"/>
                                      </p:to>
                                    </p:set>
                                    <p:anim calcmode="lin" valueType="num">
                                      <p:cBhvr additive="base">
                                        <p:cTn id="89" dur="500" fill="hold"/>
                                        <p:tgtEl>
                                          <p:spTgt spid="28"/>
                                        </p:tgtEl>
                                        <p:attrNameLst>
                                          <p:attrName>ppt_x</p:attrName>
                                        </p:attrNameLst>
                                      </p:cBhvr>
                                      <p:tavLst>
                                        <p:tav tm="0">
                                          <p:val>
                                            <p:strVal val="0-#ppt_w/2"/>
                                          </p:val>
                                        </p:tav>
                                        <p:tav tm="100000">
                                          <p:val>
                                            <p:strVal val="#ppt_x"/>
                                          </p:val>
                                        </p:tav>
                                      </p:tavLst>
                                    </p:anim>
                                    <p:anim calcmode="lin" valueType="num">
                                      <p:cBhvr additive="base">
                                        <p:cTn id="90" dur="500" fill="hold"/>
                                        <p:tgtEl>
                                          <p:spTgt spid="28"/>
                                        </p:tgtEl>
                                        <p:attrNameLst>
                                          <p:attrName>ppt_y</p:attrName>
                                        </p:attrNameLst>
                                      </p:cBhvr>
                                      <p:tavLst>
                                        <p:tav tm="0">
                                          <p:val>
                                            <p:strVal val="#ppt_y"/>
                                          </p:val>
                                        </p:tav>
                                        <p:tav tm="100000">
                                          <p:val>
                                            <p:strVal val="#ppt_y"/>
                                          </p:val>
                                        </p:tav>
                                      </p:tavLst>
                                    </p:anim>
                                  </p:childTnLst>
                                </p:cTn>
                              </p:par>
                            </p:childTnLst>
                          </p:cTn>
                        </p:par>
                        <p:par>
                          <p:cTn id="91" fill="hold">
                            <p:stCondLst>
                              <p:cond delay="4500"/>
                            </p:stCondLst>
                            <p:childTnLst>
                              <p:par>
                                <p:cTn id="92" presetID="2" presetClass="entr" presetSubtype="2" fill="hold" nodeType="afterEffect">
                                  <p:stCondLst>
                                    <p:cond delay="0"/>
                                  </p:stCondLst>
                                  <p:childTnLst>
                                    <p:set>
                                      <p:cBhvr>
                                        <p:cTn id="93" dur="1" fill="hold">
                                          <p:stCondLst>
                                            <p:cond delay="0"/>
                                          </p:stCondLst>
                                        </p:cTn>
                                        <p:tgtEl>
                                          <p:spTgt spid="16"/>
                                        </p:tgtEl>
                                        <p:attrNameLst>
                                          <p:attrName>style.visibility</p:attrName>
                                        </p:attrNameLst>
                                      </p:cBhvr>
                                      <p:to>
                                        <p:strVal val="visible"/>
                                      </p:to>
                                    </p:set>
                                    <p:anim calcmode="lin" valueType="num">
                                      <p:cBhvr additive="base">
                                        <p:cTn id="94" dur="500" fill="hold"/>
                                        <p:tgtEl>
                                          <p:spTgt spid="16"/>
                                        </p:tgtEl>
                                        <p:attrNameLst>
                                          <p:attrName>ppt_x</p:attrName>
                                        </p:attrNameLst>
                                      </p:cBhvr>
                                      <p:tavLst>
                                        <p:tav tm="0">
                                          <p:val>
                                            <p:strVal val="1+#ppt_w/2"/>
                                          </p:val>
                                        </p:tav>
                                        <p:tav tm="100000">
                                          <p:val>
                                            <p:strVal val="#ppt_x"/>
                                          </p:val>
                                        </p:tav>
                                      </p:tavLst>
                                    </p:anim>
                                    <p:anim calcmode="lin" valueType="num">
                                      <p:cBhvr additive="base">
                                        <p:cTn id="95" dur="500" fill="hold"/>
                                        <p:tgtEl>
                                          <p:spTgt spid="16"/>
                                        </p:tgtEl>
                                        <p:attrNameLst>
                                          <p:attrName>ppt_y</p:attrName>
                                        </p:attrNameLst>
                                      </p:cBhvr>
                                      <p:tavLst>
                                        <p:tav tm="0">
                                          <p:val>
                                            <p:strVal val="#ppt_y"/>
                                          </p:val>
                                        </p:tav>
                                        <p:tav tm="100000">
                                          <p:val>
                                            <p:strVal val="#ppt_y"/>
                                          </p:val>
                                        </p:tav>
                                      </p:tavLst>
                                    </p:anim>
                                  </p:childTnLst>
                                </p:cTn>
                              </p:par>
                            </p:childTnLst>
                          </p:cTn>
                        </p:par>
                        <p:par>
                          <p:cTn id="96" fill="hold">
                            <p:stCondLst>
                              <p:cond delay="5000"/>
                            </p:stCondLst>
                            <p:childTnLst>
                              <p:par>
                                <p:cTn id="97" presetID="2" presetClass="entr" presetSubtype="2" fill="hold" nodeType="afterEffect">
                                  <p:stCondLst>
                                    <p:cond delay="0"/>
                                  </p:stCondLst>
                                  <p:childTnLst>
                                    <p:set>
                                      <p:cBhvr>
                                        <p:cTn id="98" dur="1" fill="hold">
                                          <p:stCondLst>
                                            <p:cond delay="0"/>
                                          </p:stCondLst>
                                        </p:cTn>
                                        <p:tgtEl>
                                          <p:spTgt spid="19"/>
                                        </p:tgtEl>
                                        <p:attrNameLst>
                                          <p:attrName>style.visibility</p:attrName>
                                        </p:attrNameLst>
                                      </p:cBhvr>
                                      <p:to>
                                        <p:strVal val="visible"/>
                                      </p:to>
                                    </p:set>
                                    <p:anim calcmode="lin" valueType="num">
                                      <p:cBhvr additive="base">
                                        <p:cTn id="99" dur="500" fill="hold"/>
                                        <p:tgtEl>
                                          <p:spTgt spid="19"/>
                                        </p:tgtEl>
                                        <p:attrNameLst>
                                          <p:attrName>ppt_x</p:attrName>
                                        </p:attrNameLst>
                                      </p:cBhvr>
                                      <p:tavLst>
                                        <p:tav tm="0">
                                          <p:val>
                                            <p:strVal val="1+#ppt_w/2"/>
                                          </p:val>
                                        </p:tav>
                                        <p:tav tm="100000">
                                          <p:val>
                                            <p:strVal val="#ppt_x"/>
                                          </p:val>
                                        </p:tav>
                                      </p:tavLst>
                                    </p:anim>
                                    <p:anim calcmode="lin" valueType="num">
                                      <p:cBhvr additive="base">
                                        <p:cTn id="100" dur="500" fill="hold"/>
                                        <p:tgtEl>
                                          <p:spTgt spid="19"/>
                                        </p:tgtEl>
                                        <p:attrNameLst>
                                          <p:attrName>ppt_y</p:attrName>
                                        </p:attrNameLst>
                                      </p:cBhvr>
                                      <p:tavLst>
                                        <p:tav tm="0">
                                          <p:val>
                                            <p:strVal val="#ppt_y"/>
                                          </p:val>
                                        </p:tav>
                                        <p:tav tm="100000">
                                          <p:val>
                                            <p:strVal val="#ppt_y"/>
                                          </p:val>
                                        </p:tav>
                                      </p:tavLst>
                                    </p:anim>
                                  </p:childTnLst>
                                </p:cTn>
                              </p:par>
                            </p:childTnLst>
                          </p:cTn>
                        </p:par>
                        <p:par>
                          <p:cTn id="101" fill="hold">
                            <p:stCondLst>
                              <p:cond delay="5500"/>
                            </p:stCondLst>
                            <p:childTnLst>
                              <p:par>
                                <p:cTn id="102" presetID="1" presetClass="entr" presetSubtype="0" fill="hold" grpId="0" nodeType="afterEffect">
                                  <p:stCondLst>
                                    <p:cond delay="0"/>
                                  </p:stCondLst>
                                  <p:childTnLst>
                                    <p:set>
                                      <p:cBhvr>
                                        <p:cTn id="10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P spid="15" grpId="0" animBg="1"/>
      <p:bldP spid="18" grpId="0" animBg="1"/>
      <p:bldP spid="28" grpId="0" animBg="1"/>
      <p:bldP spid="34" grpId="0" animBg="1"/>
      <p:bldP spid="37" grpId="0" animBg="1"/>
      <p:bldP spid="39" grpId="0" animBg="1"/>
      <p:bldP spid="73" grpId="0" animBg="1"/>
      <p:bldP spid="85" grpId="0" animBg="1"/>
      <p:bldP spid="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D997FD8-E3C3-F978-CDC0-1E953D9129A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181AA14-0A3C-C33B-795E-314C63FDC97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BFB7977-5D7C-4762-30E7-49F94C01581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grpSp>
        <p:nvGrpSpPr>
          <p:cNvPr id="2" name="Group 1">
            <a:extLst>
              <a:ext uri="{FF2B5EF4-FFF2-40B4-BE49-F238E27FC236}">
                <a16:creationId xmlns:a16="http://schemas.microsoft.com/office/drawing/2014/main" id="{18E59902-CF98-63CC-F646-9BA174462B74}"/>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C849F6C3-2920-D033-2050-F11B0EA5961F}"/>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4.3. Cấu hình Routing nâng cao</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8A71AC7-AD96-4C04-C37B-AC5124112F5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78D73B0-2C5C-1AFF-9414-D2050EC7C75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FFA37A9-6FAA-0794-664F-CA57429AAB5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75CCB01-856A-F068-AC46-E7E8B84C7A0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D0F30FA-0879-C83F-DA68-74F3D3EC243E}"/>
              </a:ext>
            </a:extLst>
          </p:cNvPr>
          <p:cNvSpPr txBox="1"/>
          <p:nvPr/>
        </p:nvSpPr>
        <p:spPr>
          <a:xfrm>
            <a:off x="476030" y="841012"/>
            <a:ext cx="11564547" cy="1938992"/>
          </a:xfrm>
          <a:prstGeom prst="rect">
            <a:avLst/>
          </a:prstGeom>
          <a:noFill/>
        </p:spPr>
        <p:txBody>
          <a:bodyPr wrap="square">
            <a:spAutoFit/>
          </a:bodyPr>
          <a:lstStyle/>
          <a:p>
            <a:pPr marL="457200" indent="-457200" algn="just">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4.3.1. Route với tham số :id</a:t>
            </a:r>
          </a:p>
          <a:p>
            <a:pPr marL="457200" indent="-457200" algn="just">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4.3.</a:t>
            </a:r>
            <a:r>
              <a:rPr lang="en-US" sz="2400">
                <a:latin typeface="Times New Roman" panose="02020603050405020304" pitchFamily="18" charset="0"/>
                <a:cs typeface="Times New Roman" panose="02020603050405020304" pitchFamily="18" charset="0"/>
              </a:rPr>
              <a:t>2</a:t>
            </a:r>
            <a:r>
              <a:rPr lang="vi-VN" sz="2400">
                <a:latin typeface="Times New Roman" panose="02020603050405020304" pitchFamily="18" charset="0"/>
                <a:cs typeface="Times New Roman" panose="02020603050405020304" pitchFamily="18" charset="0"/>
              </a:rPr>
              <a:t>. Redirect routes</a:t>
            </a:r>
            <a:endParaRPr lang="en-US" sz="240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4.3.</a:t>
            </a:r>
            <a:r>
              <a:rPr lang="en-US" sz="2400">
                <a:latin typeface="Times New Roman" panose="02020603050405020304" pitchFamily="18" charset="0"/>
                <a:cs typeface="Times New Roman" panose="02020603050405020304" pitchFamily="18" charset="0"/>
              </a:rPr>
              <a:t>3</a:t>
            </a:r>
            <a:r>
              <a:rPr lang="vi-VN" sz="2400">
                <a:latin typeface="Times New Roman" panose="02020603050405020304" pitchFamily="18" charset="0"/>
                <a:cs typeface="Times New Roman" panose="02020603050405020304" pitchFamily="18" charset="0"/>
              </a:rPr>
              <a:t>. Route với slug</a:t>
            </a:r>
            <a:r>
              <a:rPr lang="en-US" sz="2400">
                <a:latin typeface="Times New Roman" panose="02020603050405020304" pitchFamily="18" charset="0"/>
                <a:cs typeface="Times New Roman" panose="02020603050405020304" pitchFamily="18" charset="0"/>
              </a:rPr>
              <a:t> hỗ trợ kỹ thuật SEO</a:t>
            </a:r>
          </a:p>
          <a:p>
            <a:pPr marL="457200" indent="-457200" algn="just">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4.</a:t>
            </a:r>
            <a:r>
              <a:rPr lang="en-US" sz="2400">
                <a:latin typeface="Times New Roman" panose="02020603050405020304" pitchFamily="18" charset="0"/>
                <a:cs typeface="Times New Roman" panose="02020603050405020304" pitchFamily="18" charset="0"/>
              </a:rPr>
              <a:t>3</a:t>
            </a:r>
            <a:r>
              <a:rPr lang="vi-VN" sz="2400">
                <a:latin typeface="Times New Roman" panose="02020603050405020304" pitchFamily="18" charset="0"/>
                <a:cs typeface="Times New Roman" panose="02020603050405020304" pitchFamily="18" charset="0"/>
              </a:rPr>
              <a:t>.</a:t>
            </a:r>
            <a:r>
              <a:rPr lang="en-US" sz="2400">
                <a:latin typeface="Times New Roman" panose="02020603050405020304" pitchFamily="18" charset="0"/>
                <a:cs typeface="Times New Roman" panose="02020603050405020304" pitchFamily="18" charset="0"/>
              </a:rPr>
              <a:t>4</a:t>
            </a:r>
            <a:r>
              <a:rPr lang="vi-VN" sz="2400">
                <a:latin typeface="Times New Roman" panose="02020603050405020304" pitchFamily="18" charset="0"/>
                <a:cs typeface="Times New Roman" panose="02020603050405020304" pitchFamily="18" charset="0"/>
              </a:rPr>
              <a:t>. Route với </a:t>
            </a:r>
            <a:r>
              <a:rPr lang="en-US" sz="2400">
                <a:latin typeface="Times New Roman" panose="02020603050405020304" pitchFamily="18" charset="0"/>
                <a:cs typeface="Times New Roman" panose="02020603050405020304" pitchFamily="18" charset="0"/>
              </a:rPr>
              <a:t>Query Parameters và Filtering</a:t>
            </a:r>
            <a:endParaRPr lang="vi-VN" sz="240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4.3.5. Wildcard (**) route cho Not Found page</a:t>
            </a:r>
          </a:p>
        </p:txBody>
      </p:sp>
      <p:sp>
        <p:nvSpPr>
          <p:cNvPr id="8" name="TextBox 7">
            <a:extLst>
              <a:ext uri="{FF2B5EF4-FFF2-40B4-BE49-F238E27FC236}">
                <a16:creationId xmlns:a16="http://schemas.microsoft.com/office/drawing/2014/main" id="{F88D5CA5-2EE2-E7E8-FA3C-83EBC663CF06}"/>
              </a:ext>
            </a:extLst>
          </p:cNvPr>
          <p:cNvSpPr txBox="1"/>
          <p:nvPr/>
        </p:nvSpPr>
        <p:spPr>
          <a:xfrm>
            <a:off x="388797" y="2838074"/>
            <a:ext cx="11327173" cy="1107996"/>
          </a:xfrm>
          <a:prstGeom prst="rect">
            <a:avLst/>
          </a:prstGeom>
          <a:noFill/>
        </p:spPr>
        <p:txBody>
          <a:bodyPr wrap="square" rtlCol="0">
            <a:spAutoFit/>
          </a:bodyPr>
          <a:lstStyle/>
          <a:p>
            <a:pPr marL="342900" indent="-342900" algn="just">
              <a:buFont typeface="Wingdings" panose="05000000000000000000" pitchFamily="2" charset="2"/>
              <a:buChar char="q"/>
            </a:pPr>
            <a:r>
              <a:rPr lang="en-US" sz="2200">
                <a:latin typeface="Times New Roman" panose="02020603050405020304" pitchFamily="18" charset="0"/>
                <a:cs typeface="Times New Roman" panose="02020603050405020304" pitchFamily="18" charset="0"/>
              </a:rPr>
              <a:t>Ở các slides bài học trước, chúng ta đã minh họa Routing trên dữ liệu trong component, trong phần Routing nâng cao này chúng ta sẽ minh họa trên dữ liệu được lưu trong JSON, tức là sử dụng các HTTP Service có Handle error</a:t>
            </a:r>
          </a:p>
        </p:txBody>
      </p:sp>
      <p:sp>
        <p:nvSpPr>
          <p:cNvPr id="10" name="Rectangle 1">
            <a:extLst>
              <a:ext uri="{FF2B5EF4-FFF2-40B4-BE49-F238E27FC236}">
                <a16:creationId xmlns:a16="http://schemas.microsoft.com/office/drawing/2014/main" id="{3E2674BC-E652-7143-40D5-7F7366F19428}"/>
              </a:ext>
            </a:extLst>
          </p:cNvPr>
          <p:cNvSpPr>
            <a:spLocks noChangeArrowheads="1"/>
          </p:cNvSpPr>
          <p:nvPr/>
        </p:nvSpPr>
        <p:spPr bwMode="auto">
          <a:xfrm>
            <a:off x="476030" y="3915291"/>
            <a:ext cx="11120806"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2200" b="1" i="0" u="sng" strike="noStrike" cap="none" normalizeH="0" baseline="0">
                <a:ln>
                  <a:noFill/>
                </a:ln>
                <a:solidFill>
                  <a:schemeClr val="tx1"/>
                </a:solidFill>
                <a:effectLst/>
                <a:latin typeface="Times New Roman" panose="02020603050405020304" pitchFamily="18" charset="0"/>
                <a:cs typeface="Times New Roman" panose="02020603050405020304" pitchFamily="18" charset="0"/>
              </a:rPr>
              <a:t>Lưu ý trong bài học sẽ tiếp tục review biến dạng signal:</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Biến bình thường:</a:t>
            </a:r>
            <a:r>
              <a:rPr kumimoji="0" lang="en-US" altLang="en-US" sz="2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Mỗi khi có thay đổi, Angular phải chạy cơ chế "Change Detection" để quét toàn bộ cây Component từ trên xuống dưới nhằm tìm ra chỗ nào cần cập nhật. Điều này khá tốn tài nguyên.</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2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Signal:</a:t>
            </a:r>
            <a:r>
              <a:rPr kumimoji="0" lang="en-US" altLang="en-US" sz="2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Khi giá trị của product thay đổi, Angular biết </a:t>
            </a:r>
            <a:r>
              <a:rPr kumimoji="0" lang="en-US" altLang="en-US" sz="2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chính xác</a:t>
            </a:r>
            <a:r>
              <a:rPr kumimoji="0" lang="en-US" altLang="en-US" sz="2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chỗ nào trong HTML đang đọc biến này và chỉ cập nhật duy nhất chỗ đó. Ứng dụng sẽ chạy mượt hơn, đặc biệt là khi dữ liệu thay đổi liên tục.</a:t>
            </a:r>
          </a:p>
        </p:txBody>
      </p:sp>
    </p:spTree>
    <p:extLst>
      <p:ext uri="{BB962C8B-B14F-4D97-AF65-F5344CB8AC3E}">
        <p14:creationId xmlns:p14="http://schemas.microsoft.com/office/powerpoint/2010/main" val="12316841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CF6B094-FBDA-F5A3-20D8-1A9BC574707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4ED66BD-0498-C5A0-5E62-4BB4CA6F340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FFE2CD9-ADC8-6A5F-D953-DC3E9228AAD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grpSp>
        <p:nvGrpSpPr>
          <p:cNvPr id="2" name="Group 1">
            <a:extLst>
              <a:ext uri="{FF2B5EF4-FFF2-40B4-BE49-F238E27FC236}">
                <a16:creationId xmlns:a16="http://schemas.microsoft.com/office/drawing/2014/main" id="{ABD4D2BE-B0DF-4C41-50AF-9AE7CF8BED3F}"/>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D6451A01-6D86-D84C-5293-CB478510016C}"/>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4.3.1. Route với tham số :id</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F246475-E2F3-84AF-60B8-4F8FDDCBC93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BE6891-D115-F10D-BBB6-1745422E298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417A4E2-0717-4366-F1FC-45E1BC66E8B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E0B0B5F-4A83-7BAD-46B9-BECD7D3BB2E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2A973B80-F033-7634-0DA2-EDA1B55100B7}"/>
              </a:ext>
            </a:extLst>
          </p:cNvPr>
          <p:cNvSpPr txBox="1"/>
          <p:nvPr/>
        </p:nvSpPr>
        <p:spPr>
          <a:xfrm>
            <a:off x="542786" y="841012"/>
            <a:ext cx="11411891" cy="2241960"/>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Trong TMĐT, ta không tạo 10.000 component cho 10.000 sản phẩm. Ta dùng </a:t>
            </a:r>
            <a:r>
              <a:rPr lang="vi-VN" sz="2400" b="1">
                <a:latin typeface="Times New Roman" panose="02020603050405020304" pitchFamily="18" charset="0"/>
                <a:cs typeface="Times New Roman" panose="02020603050405020304" pitchFamily="18" charset="0"/>
              </a:rPr>
              <a:t>Dynamic Routing</a:t>
            </a:r>
            <a:r>
              <a:rPr lang="vi-VN" sz="2400">
                <a:latin typeface="Times New Roman" panose="02020603050405020304" pitchFamily="18" charset="0"/>
                <a:cs typeface="Times New Roman" panose="02020603050405020304" pitchFamily="18" charset="0"/>
              </a:rPr>
              <a:t>.</a:t>
            </a:r>
          </a:p>
          <a:p>
            <a:pPr marL="342900" indent="-342900">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:id</a:t>
            </a:r>
            <a:r>
              <a:rPr lang="vi-VN" sz="2400">
                <a:latin typeface="Times New Roman" panose="02020603050405020304" pitchFamily="18" charset="0"/>
                <a:cs typeface="Times New Roman" panose="02020603050405020304" pitchFamily="18" charset="0"/>
              </a:rPr>
              <a:t>: Định danh duy nhất (Primary Key) trong database (ví dụ: product</a:t>
            </a:r>
            <a:r>
              <a:rPr lang="en-US" sz="2400">
                <a:latin typeface="Times New Roman" panose="02020603050405020304" pitchFamily="18" charset="0"/>
                <a:cs typeface="Times New Roman" panose="02020603050405020304" pitchFamily="18" charset="0"/>
              </a:rPr>
              <a:t>s</a:t>
            </a:r>
            <a:r>
              <a:rPr lang="vi-VN" sz="2400">
                <a:latin typeface="Times New Roman" panose="02020603050405020304" pitchFamily="18" charset="0"/>
                <a:cs typeface="Times New Roman" panose="02020603050405020304" pitchFamily="18" charset="0"/>
              </a:rPr>
              <a:t>/123).</a:t>
            </a:r>
            <a:r>
              <a:rPr lang="en-US" sz="2400">
                <a:latin typeface="Times New Roman" panose="02020603050405020304" pitchFamily="18" charset="0"/>
                <a:cs typeface="Times New Roman" panose="02020603050405020304" pitchFamily="18" charset="0"/>
              </a:rPr>
              <a:t> Được dùng để xem chi tiết Sản phẩm</a:t>
            </a:r>
            <a:endParaRPr lang="vi-VN" sz="240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EF034BCE-7E2C-5C87-02FF-E2B48F105396}"/>
              </a:ext>
            </a:extLst>
          </p:cNvPr>
          <p:cNvSpPr txBox="1"/>
          <p:nvPr/>
        </p:nvSpPr>
        <p:spPr>
          <a:xfrm>
            <a:off x="542785" y="3022949"/>
            <a:ext cx="11411891" cy="579967"/>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Nhắc lại cấu trúc class Product:</a:t>
            </a:r>
            <a:endParaRPr lang="vi-VN" sz="240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F66A506E-3D98-F5F5-16A9-53DACCA82AF4}"/>
              </a:ext>
            </a:extLst>
          </p:cNvPr>
          <p:cNvPicPr>
            <a:picLocks noChangeAspect="1"/>
          </p:cNvPicPr>
          <p:nvPr/>
        </p:nvPicPr>
        <p:blipFill>
          <a:blip r:embed="rId3"/>
          <a:stretch>
            <a:fillRect/>
          </a:stretch>
        </p:blipFill>
        <p:spPr>
          <a:xfrm>
            <a:off x="4136124" y="3686334"/>
            <a:ext cx="4793395" cy="2659610"/>
          </a:xfrm>
          <a:prstGeom prst="rect">
            <a:avLst/>
          </a:prstGeom>
        </p:spPr>
      </p:pic>
    </p:spTree>
    <p:extLst>
      <p:ext uri="{BB962C8B-B14F-4D97-AF65-F5344CB8AC3E}">
        <p14:creationId xmlns:p14="http://schemas.microsoft.com/office/powerpoint/2010/main" val="25037963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B1038C8-B3A9-6EF3-1C41-4F76D23E762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038AC1B-1836-A7CB-0E79-51710CE1781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5BA67C9-8E9F-01E9-A1FB-5A369A13DE1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grpSp>
        <p:nvGrpSpPr>
          <p:cNvPr id="2" name="Group 1">
            <a:extLst>
              <a:ext uri="{FF2B5EF4-FFF2-40B4-BE49-F238E27FC236}">
                <a16:creationId xmlns:a16="http://schemas.microsoft.com/office/drawing/2014/main" id="{ABE7EF6E-6082-85E9-5974-A59F9564FDEF}"/>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5A41D9B8-4F4E-7EB2-EF44-E337159020C5}"/>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4.3.1. Route với tham số :id</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4B25F2F-CA42-3949-EAA3-8E540FAB0B2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6AB09F7-0D62-22B1-EE47-92AAE52D89E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320F0E8-71EA-B695-41F7-1D92FC02F45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6E125CB-4156-3927-7B76-398CFB135F2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064D6E0B-BD52-C1B9-65C8-F5E228DB202E}"/>
              </a:ext>
            </a:extLst>
          </p:cNvPr>
          <p:cNvSpPr txBox="1"/>
          <p:nvPr/>
        </p:nvSpPr>
        <p:spPr>
          <a:xfrm>
            <a:off x="415252" y="746237"/>
            <a:ext cx="11685079" cy="579967"/>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 Mở lại </a:t>
            </a:r>
            <a:r>
              <a:rPr lang="en-US" sz="2400" b="1">
                <a:latin typeface="Times New Roman" panose="02020603050405020304" pitchFamily="18" charset="0"/>
                <a:cs typeface="Times New Roman" panose="02020603050405020304" pitchFamily="18" charset="0"/>
              </a:rPr>
              <a:t>ProductHttpHandleErrorService.ts </a:t>
            </a:r>
            <a:r>
              <a:rPr lang="en-US" sz="2400">
                <a:latin typeface="Times New Roman" panose="02020603050405020304" pitchFamily="18" charset="0"/>
                <a:cs typeface="Times New Roman" panose="02020603050405020304" pitchFamily="18" charset="0"/>
              </a:rPr>
              <a:t>và bổ sung hàm lấy chi tiết sản phẩm</a:t>
            </a:r>
            <a:endParaRPr lang="vi-VN" sz="240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582B2FB9-8F63-C508-E786-B4E0D174908E}"/>
              </a:ext>
            </a:extLst>
          </p:cNvPr>
          <p:cNvPicPr>
            <a:picLocks noChangeAspect="1"/>
          </p:cNvPicPr>
          <p:nvPr/>
        </p:nvPicPr>
        <p:blipFill>
          <a:blip r:embed="rId3"/>
          <a:stretch>
            <a:fillRect/>
          </a:stretch>
        </p:blipFill>
        <p:spPr>
          <a:xfrm>
            <a:off x="633642" y="1341247"/>
            <a:ext cx="8386605" cy="5038108"/>
          </a:xfrm>
          <a:prstGeom prst="rect">
            <a:avLst/>
          </a:prstGeom>
        </p:spPr>
      </p:pic>
      <p:sp>
        <p:nvSpPr>
          <p:cNvPr id="11" name="Rectangle 10">
            <a:extLst>
              <a:ext uri="{FF2B5EF4-FFF2-40B4-BE49-F238E27FC236}">
                <a16:creationId xmlns:a16="http://schemas.microsoft.com/office/drawing/2014/main" id="{9C740879-13B5-AF63-AFB7-D4EBF820EE63}"/>
              </a:ext>
            </a:extLst>
          </p:cNvPr>
          <p:cNvSpPr/>
          <p:nvPr/>
        </p:nvSpPr>
        <p:spPr>
          <a:xfrm>
            <a:off x="825023" y="4757630"/>
            <a:ext cx="8573359" cy="1568016"/>
          </a:xfrm>
          <a:prstGeom prst="rect">
            <a:avLst/>
          </a:prstGeom>
          <a:no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516D3CC-2EBB-961E-7D6A-07EBDB2AC829}"/>
              </a:ext>
            </a:extLst>
          </p:cNvPr>
          <p:cNvSpPr txBox="1"/>
          <p:nvPr/>
        </p:nvSpPr>
        <p:spPr>
          <a:xfrm>
            <a:off x="7287699" y="1987393"/>
            <a:ext cx="4361161" cy="2424382"/>
          </a:xfrm>
          <a:prstGeom prst="rect">
            <a:avLst/>
          </a:prstGeom>
          <a:noFill/>
          <a:ln>
            <a:solidFill>
              <a:schemeClr val="accent1"/>
            </a:solidFill>
          </a:ln>
        </p:spPr>
        <p:txBody>
          <a:bodyPr wrap="square">
            <a:spAutoFit/>
          </a:bodyPr>
          <a:lstStyle/>
          <a:p>
            <a:pPr>
              <a:lnSpc>
                <a:spcPts val="2250"/>
              </a:lnSpc>
              <a:buNone/>
            </a:pPr>
            <a:r>
              <a:rPr lang="en-US" b="0">
                <a:solidFill>
                  <a:srgbClr val="000000"/>
                </a:solidFill>
                <a:effectLst/>
                <a:latin typeface="Consolas" panose="020B0609020204030204" pitchFamily="49" charset="0"/>
              </a:rPr>
              <a:t>  getProductById(id: number): Observable&lt;Product | undefined&gt; {</a:t>
            </a: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return</a:t>
            </a: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.getProductList().pipe(</a:t>
            </a:r>
          </a:p>
          <a:p>
            <a:pPr>
              <a:lnSpc>
                <a:spcPts val="2250"/>
              </a:lnSpc>
              <a:buNone/>
            </a:pPr>
            <a:r>
              <a:rPr lang="en-US" b="0">
                <a:solidFill>
                  <a:srgbClr val="000000"/>
                </a:solidFill>
                <a:effectLst/>
                <a:latin typeface="Consolas" panose="020B0609020204030204" pitchFamily="49" charset="0"/>
              </a:rPr>
              <a:t>      map((products: Product[]) </a:t>
            </a:r>
            <a:r>
              <a:rPr lang="en-US" b="0">
                <a:solidFill>
                  <a:srgbClr val="0000FF"/>
                </a:solidFill>
                <a:effectLst/>
                <a:latin typeface="Consolas" panose="020B0609020204030204" pitchFamily="49" charset="0"/>
              </a:rPr>
              <a:t>=&gt;</a:t>
            </a:r>
            <a:r>
              <a:rPr lang="en-US" b="0">
                <a:solidFill>
                  <a:srgbClr val="000000"/>
                </a:solidFill>
                <a:effectLst/>
                <a:latin typeface="Consolas" panose="020B0609020204030204" pitchFamily="49" charset="0"/>
              </a:rPr>
              <a:t> products.find(p </a:t>
            </a:r>
            <a:r>
              <a:rPr lang="en-US" b="0">
                <a:solidFill>
                  <a:srgbClr val="0000FF"/>
                </a:solidFill>
                <a:effectLst/>
                <a:latin typeface="Consolas" panose="020B0609020204030204" pitchFamily="49" charset="0"/>
              </a:rPr>
              <a:t>=&gt;</a:t>
            </a:r>
            <a:r>
              <a:rPr lang="en-US" b="0">
                <a:solidFill>
                  <a:srgbClr val="000000"/>
                </a:solidFill>
                <a:effectLst/>
                <a:latin typeface="Consolas" panose="020B0609020204030204" pitchFamily="49" charset="0"/>
              </a:rPr>
              <a:t> p.id === id)),</a:t>
            </a:r>
          </a:p>
          <a:p>
            <a:pPr>
              <a:lnSpc>
                <a:spcPts val="2250"/>
              </a:lnSpc>
              <a:buNone/>
            </a:pPr>
            <a:r>
              <a:rPr lang="en-US" b="0">
                <a:solidFill>
                  <a:srgbClr val="000000"/>
                </a:solidFill>
                <a:effectLst/>
                <a:latin typeface="Consolas" panose="020B0609020204030204" pitchFamily="49" charset="0"/>
              </a:rPr>
              <a:t>      catchError(</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.handleError)</a:t>
            </a:r>
          </a:p>
          <a:p>
            <a:pPr>
              <a:lnSpc>
                <a:spcPts val="2250"/>
              </a:lnSpc>
              <a:buNone/>
            </a:pPr>
            <a:r>
              <a:rPr lang="en-US" b="0">
                <a:solidFill>
                  <a:srgbClr val="000000"/>
                </a:solidFill>
                <a:effectLst/>
                <a:latin typeface="Consolas" panose="020B0609020204030204" pitchFamily="49" charset="0"/>
              </a:rPr>
              <a:t>    );</a:t>
            </a:r>
          </a:p>
          <a:p>
            <a:pPr>
              <a:lnSpc>
                <a:spcPts val="2250"/>
              </a:lnSpc>
              <a:buNone/>
            </a:pPr>
            <a:r>
              <a:rPr lang="en-US" b="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31122948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6DE8612-B104-1A18-C769-BAA757E5656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15CD7E2-7E63-8214-08F0-CD50AA939BB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3F0DCAC-B4D4-2745-227F-28CBD2A193B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grpSp>
        <p:nvGrpSpPr>
          <p:cNvPr id="2" name="Group 1">
            <a:extLst>
              <a:ext uri="{FF2B5EF4-FFF2-40B4-BE49-F238E27FC236}">
                <a16:creationId xmlns:a16="http://schemas.microsoft.com/office/drawing/2014/main" id="{F7A6F956-9E9D-37BF-6B89-22E8C90780EB}"/>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134CBA06-C2D0-F275-5300-7B7469EC4104}"/>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4.3.1. Route với tham số :id</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1E5BCD1-FDB6-EC6A-61F9-C9F069C0217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2D26506-C1A6-6BD8-6237-06A145DDA62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57058BF-8187-779C-E296-B380A81DF9F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4AF3811-0D5D-4162-A32F-DEF5ED3C440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DE403045-0F23-04EC-DF8C-AE93BCE1AAEE}"/>
              </a:ext>
            </a:extLst>
          </p:cNvPr>
          <p:cNvSpPr txBox="1"/>
          <p:nvPr/>
        </p:nvSpPr>
        <p:spPr>
          <a:xfrm>
            <a:off x="415252" y="746237"/>
            <a:ext cx="11685079" cy="579967"/>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Tạo </a:t>
            </a:r>
            <a:r>
              <a:rPr lang="en-US" sz="2400" b="1">
                <a:latin typeface="Times New Roman" panose="02020603050405020304" pitchFamily="18" charset="0"/>
                <a:cs typeface="Times New Roman" panose="02020603050405020304" pitchFamily="18" charset="0"/>
              </a:rPr>
              <a:t>product-detail-component</a:t>
            </a:r>
            <a:r>
              <a:rPr lang="en-US" sz="2400">
                <a:latin typeface="Times New Roman" panose="02020603050405020304" pitchFamily="18" charset="0"/>
                <a:cs typeface="Times New Roman" panose="02020603050405020304" pitchFamily="18" charset="0"/>
              </a:rPr>
              <a:t> để hiện thị thông tin chi tiết của sản phẩm</a:t>
            </a:r>
            <a:endParaRPr lang="vi-VN" sz="240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DA2EEE04-AB5F-0C71-3E62-CBB4650FCF93}"/>
              </a:ext>
            </a:extLst>
          </p:cNvPr>
          <p:cNvPicPr>
            <a:picLocks noChangeAspect="1"/>
          </p:cNvPicPr>
          <p:nvPr/>
        </p:nvPicPr>
        <p:blipFill>
          <a:blip r:embed="rId3"/>
          <a:stretch>
            <a:fillRect/>
          </a:stretch>
        </p:blipFill>
        <p:spPr>
          <a:xfrm>
            <a:off x="564686" y="1483362"/>
            <a:ext cx="4740051" cy="2164268"/>
          </a:xfrm>
          <a:prstGeom prst="rect">
            <a:avLst/>
          </a:prstGeom>
        </p:spPr>
      </p:pic>
      <p:pic>
        <p:nvPicPr>
          <p:cNvPr id="12" name="Picture 11">
            <a:extLst>
              <a:ext uri="{FF2B5EF4-FFF2-40B4-BE49-F238E27FC236}">
                <a16:creationId xmlns:a16="http://schemas.microsoft.com/office/drawing/2014/main" id="{BBBB8F60-E79E-7F94-2112-788B493F3F35}"/>
              </a:ext>
            </a:extLst>
          </p:cNvPr>
          <p:cNvPicPr>
            <a:picLocks noChangeAspect="1"/>
          </p:cNvPicPr>
          <p:nvPr/>
        </p:nvPicPr>
        <p:blipFill>
          <a:blip r:embed="rId4"/>
          <a:stretch>
            <a:fillRect/>
          </a:stretch>
        </p:blipFill>
        <p:spPr>
          <a:xfrm>
            <a:off x="5984153" y="1961306"/>
            <a:ext cx="5845047" cy="723963"/>
          </a:xfrm>
          <a:prstGeom prst="rect">
            <a:avLst/>
          </a:prstGeom>
        </p:spPr>
      </p:pic>
      <p:pic>
        <p:nvPicPr>
          <p:cNvPr id="14" name="Picture 13">
            <a:extLst>
              <a:ext uri="{FF2B5EF4-FFF2-40B4-BE49-F238E27FC236}">
                <a16:creationId xmlns:a16="http://schemas.microsoft.com/office/drawing/2014/main" id="{447A5CC6-F4EB-15D9-831C-27A2C16940F8}"/>
              </a:ext>
            </a:extLst>
          </p:cNvPr>
          <p:cNvPicPr>
            <a:picLocks noChangeAspect="1"/>
          </p:cNvPicPr>
          <p:nvPr/>
        </p:nvPicPr>
        <p:blipFill>
          <a:blip r:embed="rId5"/>
          <a:stretch>
            <a:fillRect/>
          </a:stretch>
        </p:blipFill>
        <p:spPr>
          <a:xfrm>
            <a:off x="5469465" y="4172731"/>
            <a:ext cx="6452708" cy="2189191"/>
          </a:xfrm>
          <a:prstGeom prst="rect">
            <a:avLst/>
          </a:prstGeom>
        </p:spPr>
      </p:pic>
      <p:pic>
        <p:nvPicPr>
          <p:cNvPr id="16" name="Picture 15">
            <a:extLst>
              <a:ext uri="{FF2B5EF4-FFF2-40B4-BE49-F238E27FC236}">
                <a16:creationId xmlns:a16="http://schemas.microsoft.com/office/drawing/2014/main" id="{135550EC-8723-01BA-BA28-64F92F6AEAE7}"/>
              </a:ext>
            </a:extLst>
          </p:cNvPr>
          <p:cNvPicPr>
            <a:picLocks noChangeAspect="1"/>
          </p:cNvPicPr>
          <p:nvPr/>
        </p:nvPicPr>
        <p:blipFill>
          <a:blip r:embed="rId6"/>
          <a:stretch>
            <a:fillRect/>
          </a:stretch>
        </p:blipFill>
        <p:spPr>
          <a:xfrm>
            <a:off x="787417" y="3804789"/>
            <a:ext cx="3330229" cy="2598645"/>
          </a:xfrm>
          <a:prstGeom prst="rect">
            <a:avLst/>
          </a:prstGeom>
        </p:spPr>
      </p:pic>
      <p:cxnSp>
        <p:nvCxnSpPr>
          <p:cNvPr id="18" name="Connector: Elbow 17">
            <a:extLst>
              <a:ext uri="{FF2B5EF4-FFF2-40B4-BE49-F238E27FC236}">
                <a16:creationId xmlns:a16="http://schemas.microsoft.com/office/drawing/2014/main" id="{CDE0FDC7-0067-96B1-5EE8-D3741713EFC6}"/>
              </a:ext>
            </a:extLst>
          </p:cNvPr>
          <p:cNvCxnSpPr>
            <a:endCxn id="12" idx="2"/>
          </p:cNvCxnSpPr>
          <p:nvPr/>
        </p:nvCxnSpPr>
        <p:spPr>
          <a:xfrm flipV="1">
            <a:off x="4929510" y="2685269"/>
            <a:ext cx="3977167" cy="690448"/>
          </a:xfrm>
          <a:prstGeom prst="bentConnector2">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9FE02694-3A8C-9641-991D-B3C5B38445AA}"/>
              </a:ext>
            </a:extLst>
          </p:cNvPr>
          <p:cNvCxnSpPr/>
          <p:nvPr/>
        </p:nvCxnSpPr>
        <p:spPr>
          <a:xfrm rot="5400000">
            <a:off x="9309005" y="3224464"/>
            <a:ext cx="1876926" cy="460637"/>
          </a:xfrm>
          <a:prstGeom prst="bentConnector3">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805548A-35FB-3653-2D37-2C708DF54F92}"/>
              </a:ext>
            </a:extLst>
          </p:cNvPr>
          <p:cNvCxnSpPr>
            <a:stCxn id="14" idx="1"/>
          </p:cNvCxnSpPr>
          <p:nvPr/>
        </p:nvCxnSpPr>
        <p:spPr>
          <a:xfrm flipH="1" flipV="1">
            <a:off x="4117646" y="5267326"/>
            <a:ext cx="1351819" cy="1"/>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88558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0DE66C1-AEBF-9E44-E747-D7C4709F6EA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259BFDA-2315-1963-6838-13AA35C683D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3B7EAC7-36DA-31E6-1F1A-C9DE50B682B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grpSp>
        <p:nvGrpSpPr>
          <p:cNvPr id="2" name="Group 1">
            <a:extLst>
              <a:ext uri="{FF2B5EF4-FFF2-40B4-BE49-F238E27FC236}">
                <a16:creationId xmlns:a16="http://schemas.microsoft.com/office/drawing/2014/main" id="{79CA8C09-A446-B733-3EDD-0035FBB5D3AF}"/>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D06357E0-E042-C7B9-64E5-F3FA73D5E1FF}"/>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4.3.1. Route với tham số :id</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651E0302-EE82-6C80-EC05-4046C19964A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FED752A-7A15-24F5-22E9-F0C2B673B89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312F347-F2E2-F1AA-52A4-1AD9F98A0CF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5409D18-BC07-EF64-6EA4-451EEC9FF31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77EB6F99-E53E-98E6-02AA-088C4C410F1E}"/>
              </a:ext>
            </a:extLst>
          </p:cNvPr>
          <p:cNvSpPr txBox="1"/>
          <p:nvPr/>
        </p:nvSpPr>
        <p:spPr>
          <a:xfrm>
            <a:off x="415252" y="746237"/>
            <a:ext cx="11685079" cy="579967"/>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3: product-detail-component.ts</a:t>
            </a:r>
            <a:endParaRPr lang="vi-VN" sz="240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2A0184BE-E1CA-F59B-F33A-C67A410D24C1}"/>
              </a:ext>
            </a:extLst>
          </p:cNvPr>
          <p:cNvPicPr>
            <a:picLocks noChangeAspect="1"/>
          </p:cNvPicPr>
          <p:nvPr/>
        </p:nvPicPr>
        <p:blipFill>
          <a:blip r:embed="rId3"/>
          <a:stretch>
            <a:fillRect/>
          </a:stretch>
        </p:blipFill>
        <p:spPr>
          <a:xfrm>
            <a:off x="388797" y="1326204"/>
            <a:ext cx="9893395" cy="5098072"/>
          </a:xfrm>
          <a:prstGeom prst="rect">
            <a:avLst/>
          </a:prstGeom>
        </p:spPr>
      </p:pic>
      <p:sp>
        <p:nvSpPr>
          <p:cNvPr id="15" name="TextBox 14">
            <a:extLst>
              <a:ext uri="{FF2B5EF4-FFF2-40B4-BE49-F238E27FC236}">
                <a16:creationId xmlns:a16="http://schemas.microsoft.com/office/drawing/2014/main" id="{27718743-A262-1009-6779-F047E165AA07}"/>
              </a:ext>
            </a:extLst>
          </p:cNvPr>
          <p:cNvSpPr txBox="1"/>
          <p:nvPr/>
        </p:nvSpPr>
        <p:spPr>
          <a:xfrm>
            <a:off x="5894328" y="2877198"/>
            <a:ext cx="6206003" cy="2129429"/>
          </a:xfrm>
          <a:prstGeom prst="rect">
            <a:avLst/>
          </a:prstGeom>
          <a:noFill/>
          <a:ln>
            <a:solidFill>
              <a:srgbClr val="002060"/>
            </a:solidFill>
          </a:ln>
        </p:spPr>
        <p:txBody>
          <a:bodyPr wrap="square">
            <a:spAutoFit/>
          </a:bodyPr>
          <a:lstStyle/>
          <a:p>
            <a:pPr>
              <a:lnSpc>
                <a:spcPts val="2250"/>
              </a:lnSpc>
              <a:buNone/>
            </a:pPr>
            <a:r>
              <a:rPr lang="en-US" b="0">
                <a:solidFill>
                  <a:srgbClr val="0000FF"/>
                </a:solidFill>
                <a:effectLst/>
                <a:latin typeface="Consolas" panose="020B0609020204030204" pitchFamily="49" charset="0"/>
              </a:rPr>
              <a:t>export</a:t>
            </a: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class</a:t>
            </a:r>
            <a:r>
              <a:rPr lang="en-US" b="0">
                <a:solidFill>
                  <a:srgbClr val="000000"/>
                </a:solidFill>
                <a:effectLst/>
                <a:latin typeface="Consolas" panose="020B0609020204030204" pitchFamily="49" charset="0"/>
              </a:rPr>
              <a:t> ProductDetailComponent {</a:t>
            </a:r>
          </a:p>
          <a:p>
            <a:pPr>
              <a:lnSpc>
                <a:spcPts val="2250"/>
              </a:lnSpc>
              <a:buNone/>
            </a:pPr>
            <a:r>
              <a:rPr lang="en-US" b="0">
                <a:solidFill>
                  <a:srgbClr val="000000"/>
                </a:solidFill>
                <a:effectLst/>
                <a:latin typeface="Consolas" panose="020B0609020204030204" pitchFamily="49" charset="0"/>
              </a:rPr>
              <a:t>  product=signal&lt;Product|null&gt;(</a:t>
            </a:r>
            <a:r>
              <a:rPr lang="en-US" b="0">
                <a:solidFill>
                  <a:srgbClr val="0000FF"/>
                </a:solidFill>
                <a:effectLst/>
                <a:latin typeface="Consolas" panose="020B0609020204030204" pitchFamily="49" charset="0"/>
              </a:rPr>
              <a:t>null</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  errMessage=signal(</a:t>
            </a:r>
            <a:r>
              <a:rPr lang="en-US" b="0">
                <a:solidFill>
                  <a:srgbClr val="A31515"/>
                </a:solidFill>
                <a:effectLst/>
                <a:latin typeface="Consolas" panose="020B0609020204030204" pitchFamily="49" charset="0"/>
              </a:rPr>
              <a:t>""</a:t>
            </a:r>
            <a:r>
              <a:rPr lang="en-US" b="0">
                <a:solidFill>
                  <a:srgbClr val="000000"/>
                </a:solidFill>
                <a:effectLst/>
                <a:latin typeface="Consolas" panose="020B0609020204030204" pitchFamily="49" charset="0"/>
              </a:rPr>
              <a:t>)</a:t>
            </a: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constructor</a:t>
            </a:r>
            <a:r>
              <a:rPr lang="en-US" b="0">
                <a:solidFill>
                  <a:srgbClr val="000000"/>
                </a:solidFill>
                <a:effectLst/>
                <a:latin typeface="Consolas" panose="020B0609020204030204" pitchFamily="49" charset="0"/>
              </a:rPr>
              <a:t>(</a:t>
            </a:r>
            <a:r>
              <a:rPr lang="en-US" b="0">
                <a:solidFill>
                  <a:srgbClr val="0000FF"/>
                </a:solidFill>
                <a:effectLst/>
                <a:latin typeface="Consolas" panose="020B0609020204030204" pitchFamily="49" charset="0"/>
              </a:rPr>
              <a:t>private</a:t>
            </a:r>
            <a:r>
              <a:rPr lang="en-US" b="0">
                <a:solidFill>
                  <a:srgbClr val="000000"/>
                </a:solidFill>
                <a:effectLst/>
                <a:latin typeface="Consolas" panose="020B0609020204030204" pitchFamily="49" charset="0"/>
              </a:rPr>
              <a:t> _service:ProductHttpHandleErrorService,</a:t>
            </a: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private</a:t>
            </a:r>
            <a:r>
              <a:rPr lang="en-US" b="0">
                <a:solidFill>
                  <a:srgbClr val="000000"/>
                </a:solidFill>
                <a:effectLst/>
                <a:latin typeface="Consolas" panose="020B0609020204030204" pitchFamily="49" charset="0"/>
              </a:rPr>
              <a:t> router:Router,</a:t>
            </a: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private</a:t>
            </a:r>
            <a:r>
              <a:rPr lang="en-US" b="0">
                <a:solidFill>
                  <a:srgbClr val="000000"/>
                </a:solidFill>
                <a:effectLst/>
                <a:latin typeface="Consolas" panose="020B0609020204030204" pitchFamily="49" charset="0"/>
              </a:rPr>
              <a:t> activateRoute:ActivatedRoute){</a:t>
            </a:r>
          </a:p>
          <a:p>
            <a:pPr>
              <a:lnSpc>
                <a:spcPts val="2250"/>
              </a:lnSpc>
              <a:buNone/>
            </a:pPr>
            <a:r>
              <a:rPr lang="en-US" b="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25693645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6ED863F-3722-7AA2-D065-800A5D91E74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BC724AC-196E-5266-76AD-01EAAC43A12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F44A0CB-906B-BCA4-62A0-EE3943D39F9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grpSp>
        <p:nvGrpSpPr>
          <p:cNvPr id="2" name="Group 1">
            <a:extLst>
              <a:ext uri="{FF2B5EF4-FFF2-40B4-BE49-F238E27FC236}">
                <a16:creationId xmlns:a16="http://schemas.microsoft.com/office/drawing/2014/main" id="{2D810DC6-4C0D-DD16-1CE6-13C00B53E33C}"/>
              </a:ext>
            </a:extLst>
          </p:cNvPr>
          <p:cNvGrpSpPr/>
          <p:nvPr/>
        </p:nvGrpSpPr>
        <p:grpSpPr>
          <a:xfrm>
            <a:off x="214276" y="229075"/>
            <a:ext cx="5389002" cy="508000"/>
            <a:chOff x="789624" y="1191463"/>
            <a:chExt cx="5389002" cy="508000"/>
          </a:xfrm>
        </p:grpSpPr>
        <p:sp>
          <p:nvSpPr>
            <p:cNvPr id="3" name="AutoShape 52">
              <a:extLst>
                <a:ext uri="{FF2B5EF4-FFF2-40B4-BE49-F238E27FC236}">
                  <a16:creationId xmlns:a16="http://schemas.microsoft.com/office/drawing/2014/main" id="{E2B97F93-CA31-4B85-3948-502E53783030}"/>
                </a:ext>
              </a:extLst>
            </p:cNvPr>
            <p:cNvSpPr>
              <a:spLocks noChangeArrowheads="1"/>
            </p:cNvSpPr>
            <p:nvPr/>
          </p:nvSpPr>
          <p:spPr bwMode="gray">
            <a:xfrm>
              <a:off x="990600" y="1191463"/>
              <a:ext cx="51880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4.3.1. Route với tham số :id</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14B9F2A-183B-BFE5-44FB-AEDB521F897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008FD5F-57D5-42FE-1878-538713F6C7A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F53D021-0641-6A3C-73F4-34B87D8095A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1B76BA3-A86D-DC46-9C06-5C433A47E7D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87C22544-3EE0-DCBB-6E6A-8D587404DDA0}"/>
              </a:ext>
            </a:extLst>
          </p:cNvPr>
          <p:cNvSpPr txBox="1"/>
          <p:nvPr/>
        </p:nvSpPr>
        <p:spPr>
          <a:xfrm>
            <a:off x="415252" y="746237"/>
            <a:ext cx="11685079" cy="579967"/>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3: product-detail-component.ts</a:t>
            </a:r>
            <a:endParaRPr lang="vi-VN" sz="240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9BD3539B-972B-4D3A-C67F-4A9155AA44EC}"/>
              </a:ext>
            </a:extLst>
          </p:cNvPr>
          <p:cNvPicPr>
            <a:picLocks noChangeAspect="1"/>
          </p:cNvPicPr>
          <p:nvPr/>
        </p:nvPicPr>
        <p:blipFill>
          <a:blip r:embed="rId3"/>
          <a:stretch>
            <a:fillRect/>
          </a:stretch>
        </p:blipFill>
        <p:spPr>
          <a:xfrm>
            <a:off x="667869" y="1378062"/>
            <a:ext cx="4719541" cy="4999442"/>
          </a:xfrm>
          <a:prstGeom prst="rect">
            <a:avLst/>
          </a:prstGeom>
        </p:spPr>
      </p:pic>
      <p:sp>
        <p:nvSpPr>
          <p:cNvPr id="13" name="TextBox 12">
            <a:extLst>
              <a:ext uri="{FF2B5EF4-FFF2-40B4-BE49-F238E27FC236}">
                <a16:creationId xmlns:a16="http://schemas.microsoft.com/office/drawing/2014/main" id="{902DF5EE-DFFB-597F-5AFA-AB45758D31A0}"/>
              </a:ext>
            </a:extLst>
          </p:cNvPr>
          <p:cNvSpPr txBox="1"/>
          <p:nvPr/>
        </p:nvSpPr>
        <p:spPr>
          <a:xfrm>
            <a:off x="5742471" y="1335366"/>
            <a:ext cx="6297672" cy="4832092"/>
          </a:xfrm>
          <a:prstGeom prst="rect">
            <a:avLst/>
          </a:prstGeom>
          <a:noFill/>
          <a:ln>
            <a:solidFill>
              <a:srgbClr val="002060"/>
            </a:solidFill>
          </a:ln>
        </p:spPr>
        <p:txBody>
          <a:bodyPr wrap="square">
            <a:spAutoFit/>
          </a:bodyPr>
          <a:lstStyle/>
          <a:p>
            <a:pPr>
              <a:buNone/>
            </a:pPr>
            <a:r>
              <a:rPr lang="en-US" b="0">
                <a:solidFill>
                  <a:srgbClr val="000000"/>
                </a:solidFill>
                <a:effectLst/>
                <a:latin typeface="Consolas" panose="020B0609020204030204" pitchFamily="49" charset="0"/>
              </a:rPr>
              <a:t>ngOnInit():void{</a:t>
            </a:r>
          </a:p>
          <a:p>
            <a:pPr>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.activateRoute.paramMap.subscribe(</a:t>
            </a:r>
          </a:p>
          <a:p>
            <a:pPr>
              <a:buNone/>
            </a:pPr>
            <a:r>
              <a:rPr lang="en-US" b="0">
                <a:solidFill>
                  <a:srgbClr val="000000"/>
                </a:solidFill>
                <a:effectLst/>
                <a:latin typeface="Consolas" panose="020B0609020204030204" pitchFamily="49" charset="0"/>
              </a:rPr>
              <a:t>      (param)</a:t>
            </a:r>
            <a:r>
              <a:rPr lang="en-US" b="0">
                <a:solidFill>
                  <a:srgbClr val="0000FF"/>
                </a:solidFill>
                <a:effectLst/>
                <a:latin typeface="Consolas" panose="020B0609020204030204" pitchFamily="49" charset="0"/>
              </a:rPr>
              <a:t>=&gt;</a:t>
            </a:r>
            <a:r>
              <a:rPr lang="en-US" b="0">
                <a:solidFill>
                  <a:srgbClr val="000000"/>
                </a:solidFill>
                <a:effectLst/>
                <a:latin typeface="Consolas" panose="020B0609020204030204" pitchFamily="49" charset="0"/>
              </a:rPr>
              <a:t>{</a:t>
            </a:r>
          </a:p>
          <a:p>
            <a:pPr>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let</a:t>
            </a:r>
            <a:r>
              <a:rPr lang="en-US" b="0">
                <a:solidFill>
                  <a:srgbClr val="000000"/>
                </a:solidFill>
                <a:effectLst/>
                <a:latin typeface="Consolas" panose="020B0609020204030204" pitchFamily="49" charset="0"/>
              </a:rPr>
              <a:t> idParam=param.get(</a:t>
            </a:r>
            <a:r>
              <a:rPr lang="en-US" b="0">
                <a:solidFill>
                  <a:srgbClr val="A31515"/>
                </a:solidFill>
                <a:effectLst/>
                <a:latin typeface="Consolas" panose="020B0609020204030204" pitchFamily="49" charset="0"/>
              </a:rPr>
              <a:t>'id'</a:t>
            </a:r>
            <a:r>
              <a:rPr lang="en-US" b="0">
                <a:solidFill>
                  <a:srgbClr val="000000"/>
                </a:solidFill>
                <a:effectLst/>
                <a:latin typeface="Consolas" panose="020B0609020204030204" pitchFamily="49" charset="0"/>
              </a:rPr>
              <a:t>)</a:t>
            </a:r>
          </a:p>
          <a:p>
            <a:pPr>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if</a:t>
            </a:r>
            <a:r>
              <a:rPr lang="en-US" b="0">
                <a:solidFill>
                  <a:srgbClr val="000000"/>
                </a:solidFill>
                <a:effectLst/>
                <a:latin typeface="Consolas" panose="020B0609020204030204" pitchFamily="49" charset="0"/>
              </a:rPr>
              <a:t>(idParam!=</a:t>
            </a:r>
            <a:r>
              <a:rPr lang="en-US" b="0">
                <a:solidFill>
                  <a:srgbClr val="0000FF"/>
                </a:solidFill>
                <a:effectLst/>
                <a:latin typeface="Consolas" panose="020B0609020204030204" pitchFamily="49" charset="0"/>
              </a:rPr>
              <a:t>null</a:t>
            </a:r>
            <a:r>
              <a:rPr lang="en-US" b="0">
                <a:solidFill>
                  <a:srgbClr val="000000"/>
                </a:solidFill>
                <a:effectLst/>
                <a:latin typeface="Consolas" panose="020B0609020204030204" pitchFamily="49" charset="0"/>
              </a:rPr>
              <a:t>)</a:t>
            </a:r>
          </a:p>
          <a:p>
            <a:pPr>
              <a:buNone/>
            </a:pPr>
            <a:r>
              <a:rPr lang="en-US" b="0">
                <a:solidFill>
                  <a:srgbClr val="000000"/>
                </a:solidFill>
                <a:effectLst/>
                <a:latin typeface="Consolas" panose="020B0609020204030204" pitchFamily="49" charset="0"/>
              </a:rPr>
              <a:t>        {</a:t>
            </a:r>
          </a:p>
          <a:p>
            <a:pPr>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let</a:t>
            </a:r>
            <a:r>
              <a:rPr lang="en-US" b="0">
                <a:solidFill>
                  <a:srgbClr val="000000"/>
                </a:solidFill>
                <a:effectLst/>
                <a:latin typeface="Consolas" panose="020B0609020204030204" pitchFamily="49" charset="0"/>
              </a:rPr>
              <a:t> id=parseInt(idParam)</a:t>
            </a:r>
          </a:p>
          <a:p>
            <a:pPr>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._service.getProductById(id).subscribe(</a:t>
            </a:r>
          </a:p>
          <a:p>
            <a:pPr>
              <a:buNone/>
            </a:pPr>
            <a:r>
              <a:rPr lang="en-US" b="0">
                <a:solidFill>
                  <a:srgbClr val="000000"/>
                </a:solidFill>
                <a:effectLst/>
                <a:latin typeface="Consolas" panose="020B0609020204030204" pitchFamily="49" charset="0"/>
              </a:rPr>
              <a:t>            {</a:t>
            </a:r>
          </a:p>
          <a:p>
            <a:pPr>
              <a:buNone/>
            </a:pPr>
            <a:r>
              <a:rPr lang="en-US" b="0">
                <a:solidFill>
                  <a:srgbClr val="000000"/>
                </a:solidFill>
                <a:effectLst/>
                <a:latin typeface="Consolas" panose="020B0609020204030204" pitchFamily="49" charset="0"/>
              </a:rPr>
              <a:t>              next:(data)</a:t>
            </a:r>
            <a:r>
              <a:rPr lang="en-US" b="0">
                <a:solidFill>
                  <a:srgbClr val="0000FF"/>
                </a:solidFill>
                <a:effectLst/>
                <a:latin typeface="Consolas" panose="020B0609020204030204" pitchFamily="49" charset="0"/>
              </a:rPr>
              <a:t>=&gt;</a:t>
            </a:r>
            <a:r>
              <a:rPr lang="en-US" b="0">
                <a:solidFill>
                  <a:srgbClr val="000000"/>
                </a:solidFill>
                <a:effectLst/>
                <a:latin typeface="Consolas" panose="020B0609020204030204" pitchFamily="49" charset="0"/>
              </a:rPr>
              <a:t>{</a:t>
            </a:r>
          </a:p>
          <a:p>
            <a:pPr>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.product.set(data??</a:t>
            </a:r>
            <a:r>
              <a:rPr lang="en-US" b="0">
                <a:solidFill>
                  <a:srgbClr val="0000FF"/>
                </a:solidFill>
                <a:effectLst/>
                <a:latin typeface="Consolas" panose="020B0609020204030204" pitchFamily="49" charset="0"/>
              </a:rPr>
              <a:t>null</a:t>
            </a:r>
            <a:r>
              <a:rPr lang="en-US" b="0">
                <a:solidFill>
                  <a:srgbClr val="000000"/>
                </a:solidFill>
                <a:effectLst/>
                <a:latin typeface="Consolas" panose="020B0609020204030204" pitchFamily="49" charset="0"/>
              </a:rPr>
              <a:t>);</a:t>
            </a:r>
          </a:p>
          <a:p>
            <a:pPr>
              <a:buNone/>
            </a:pPr>
            <a:r>
              <a:rPr lang="en-US" b="0">
                <a:solidFill>
                  <a:srgbClr val="000000"/>
                </a:solidFill>
                <a:effectLst/>
                <a:latin typeface="Consolas" panose="020B0609020204030204" pitchFamily="49" charset="0"/>
              </a:rPr>
              <a:t>              },</a:t>
            </a:r>
          </a:p>
          <a:p>
            <a:pPr>
              <a:buNone/>
            </a:pPr>
            <a:r>
              <a:rPr lang="en-US" b="0">
                <a:solidFill>
                  <a:srgbClr val="000000"/>
                </a:solidFill>
                <a:effectLst/>
                <a:latin typeface="Consolas" panose="020B0609020204030204" pitchFamily="49" charset="0"/>
              </a:rPr>
              <a:t>              error: (err) </a:t>
            </a:r>
            <a:r>
              <a:rPr lang="en-US" b="0">
                <a:solidFill>
                  <a:srgbClr val="0000FF"/>
                </a:solidFill>
                <a:effectLst/>
                <a:latin typeface="Consolas" panose="020B0609020204030204" pitchFamily="49" charset="0"/>
              </a:rPr>
              <a:t>=&gt;</a:t>
            </a:r>
            <a:r>
              <a:rPr lang="en-US" b="0">
                <a:solidFill>
                  <a:srgbClr val="000000"/>
                </a:solidFill>
                <a:effectLst/>
                <a:latin typeface="Consolas" panose="020B0609020204030204" pitchFamily="49" charset="0"/>
              </a:rPr>
              <a:t>{</a:t>
            </a:r>
          </a:p>
          <a:p>
            <a:pPr>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this</a:t>
            </a:r>
            <a:r>
              <a:rPr lang="en-US" b="0">
                <a:solidFill>
                  <a:srgbClr val="000000"/>
                </a:solidFill>
                <a:effectLst/>
                <a:latin typeface="Consolas" panose="020B0609020204030204" pitchFamily="49" charset="0"/>
              </a:rPr>
              <a:t>.errMessage.set(err)</a:t>
            </a:r>
          </a:p>
          <a:p>
            <a:pPr>
              <a:buNone/>
            </a:pPr>
            <a:r>
              <a:rPr lang="en-US" b="0">
                <a:solidFill>
                  <a:srgbClr val="000000"/>
                </a:solidFill>
                <a:effectLst/>
                <a:latin typeface="Consolas" panose="020B0609020204030204" pitchFamily="49" charset="0"/>
              </a:rPr>
              <a:t>              }</a:t>
            </a:r>
          </a:p>
          <a:p>
            <a:pPr>
              <a:buNone/>
            </a:pPr>
            <a:r>
              <a:rPr lang="en-US" b="0">
                <a:solidFill>
                  <a:srgbClr val="000000"/>
                </a:solidFill>
                <a:effectLst/>
                <a:latin typeface="Consolas" panose="020B0609020204030204" pitchFamily="49" charset="0"/>
              </a:rPr>
              <a:t>            }</a:t>
            </a:r>
          </a:p>
          <a:p>
            <a:pPr>
              <a:buNone/>
            </a:pPr>
            <a:r>
              <a:rPr lang="en-US" b="0">
                <a:solidFill>
                  <a:srgbClr val="000000"/>
                </a:solidFill>
                <a:effectLst/>
                <a:latin typeface="Consolas" panose="020B0609020204030204" pitchFamily="49" charset="0"/>
              </a:rPr>
              <a:t>          )</a:t>
            </a:r>
          </a:p>
          <a:p>
            <a:pPr>
              <a:buNone/>
            </a:pPr>
            <a:r>
              <a:rPr lang="en-US" b="0">
                <a:solidFill>
                  <a:srgbClr val="000000"/>
                </a:solidFill>
                <a:effectLst/>
                <a:latin typeface="Consolas" panose="020B0609020204030204" pitchFamily="49" charset="0"/>
              </a:rPr>
              <a:t>        }</a:t>
            </a:r>
          </a:p>
          <a:p>
            <a:pPr>
              <a:buNone/>
            </a:pPr>
            <a:r>
              <a:rPr lang="en-US" b="0">
                <a:solidFill>
                  <a:srgbClr val="000000"/>
                </a:solidFill>
                <a:effectLst/>
                <a:latin typeface="Consolas" panose="020B0609020204030204" pitchFamily="49" charset="0"/>
              </a:rPr>
              <a:t>      }</a:t>
            </a:r>
          </a:p>
          <a:p>
            <a:pPr>
              <a:buNone/>
            </a:pPr>
            <a:r>
              <a:rPr lang="en-US" b="0">
                <a:solidFill>
                  <a:srgbClr val="000000"/>
                </a:solidFill>
                <a:effectLst/>
                <a:latin typeface="Consolas" panose="020B0609020204030204" pitchFamily="49" charset="0"/>
              </a:rPr>
              <a:t>    );</a:t>
            </a:r>
          </a:p>
          <a:p>
            <a:pPr>
              <a:buNone/>
            </a:pPr>
            <a:r>
              <a:rPr lang="en-US" b="0">
                <a:solidFill>
                  <a:srgbClr val="000000"/>
                </a:solidFill>
                <a:effectLst/>
                <a:latin typeface="Consolas" panose="020B0609020204030204" pitchFamily="49" charset="0"/>
              </a:rPr>
              <a:t>  }</a:t>
            </a:r>
          </a:p>
          <a:p>
            <a:pPr>
              <a:buNone/>
            </a:pPr>
            <a:r>
              <a:rPr lang="en-US" b="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25933654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58EEE6E-C7D3-F737-8E5F-2A13F0ACF00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4403F21-014D-D8BD-62AD-69B6A53E37B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6705847-BCC5-A626-888D-3C1063D4901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grpSp>
        <p:nvGrpSpPr>
          <p:cNvPr id="2" name="Group 1">
            <a:extLst>
              <a:ext uri="{FF2B5EF4-FFF2-40B4-BE49-F238E27FC236}">
                <a16:creationId xmlns:a16="http://schemas.microsoft.com/office/drawing/2014/main" id="{876EC88F-0EB3-0D68-FBEF-9D9FE9A5B420}"/>
              </a:ext>
            </a:extLst>
          </p:cNvPr>
          <p:cNvGrpSpPr/>
          <p:nvPr/>
        </p:nvGrpSpPr>
        <p:grpSpPr>
          <a:xfrm>
            <a:off x="214276" y="229075"/>
            <a:ext cx="5389002" cy="508000"/>
            <a:chOff x="789624" y="1191463"/>
            <a:chExt cx="5389002" cy="508000"/>
          </a:xfrm>
        </p:grpSpPr>
        <p:sp>
          <p:nvSpPr>
            <p:cNvPr id="3" name="AutoShape 52">
              <a:extLst>
                <a:ext uri="{FF2B5EF4-FFF2-40B4-BE49-F238E27FC236}">
                  <a16:creationId xmlns:a16="http://schemas.microsoft.com/office/drawing/2014/main" id="{2044983E-1DEC-2F7F-A368-4D11C6343990}"/>
                </a:ext>
              </a:extLst>
            </p:cNvPr>
            <p:cNvSpPr>
              <a:spLocks noChangeArrowheads="1"/>
            </p:cNvSpPr>
            <p:nvPr/>
          </p:nvSpPr>
          <p:spPr bwMode="gray">
            <a:xfrm>
              <a:off x="990600" y="1191463"/>
              <a:ext cx="51880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4.3.1. Route với tham số :id</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C6FE954-E6A6-C869-B7CC-E61091ED034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3F1B4BE-7487-D1CC-FC09-514B5ED905D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C9822C5-EBFA-05FE-FE55-E883CABD87B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7B26BD4-6FB4-A908-2269-4AF2FBB699F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0D4EFC76-F718-2366-4D0F-7AAA3F80162A}"/>
              </a:ext>
            </a:extLst>
          </p:cNvPr>
          <p:cNvSpPr txBox="1"/>
          <p:nvPr/>
        </p:nvSpPr>
        <p:spPr>
          <a:xfrm>
            <a:off x="414006" y="671095"/>
            <a:ext cx="5834294" cy="579967"/>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4: product-detail-component.html</a:t>
            </a:r>
            <a:endParaRPr lang="vi-VN" sz="240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B8860504-57FC-9F9A-801E-DE063E407541}"/>
              </a:ext>
            </a:extLst>
          </p:cNvPr>
          <p:cNvPicPr>
            <a:picLocks noChangeAspect="1"/>
          </p:cNvPicPr>
          <p:nvPr/>
        </p:nvPicPr>
        <p:blipFill>
          <a:blip r:embed="rId3"/>
          <a:srcRect/>
          <a:stretch/>
        </p:blipFill>
        <p:spPr>
          <a:xfrm>
            <a:off x="6410911" y="466928"/>
            <a:ext cx="5099502" cy="6106108"/>
          </a:xfrm>
          <a:prstGeom prst="rect">
            <a:avLst/>
          </a:prstGeom>
        </p:spPr>
      </p:pic>
      <p:sp>
        <p:nvSpPr>
          <p:cNvPr id="16" name="TextBox 15">
            <a:extLst>
              <a:ext uri="{FF2B5EF4-FFF2-40B4-BE49-F238E27FC236}">
                <a16:creationId xmlns:a16="http://schemas.microsoft.com/office/drawing/2014/main" id="{D8556934-99B9-6B63-044F-E4367706A3F1}"/>
              </a:ext>
            </a:extLst>
          </p:cNvPr>
          <p:cNvSpPr txBox="1"/>
          <p:nvPr/>
        </p:nvSpPr>
        <p:spPr>
          <a:xfrm>
            <a:off x="542786" y="1204976"/>
            <a:ext cx="5339032" cy="5293757"/>
          </a:xfrm>
          <a:prstGeom prst="rect">
            <a:avLst/>
          </a:prstGeom>
          <a:noFill/>
          <a:ln>
            <a:solidFill>
              <a:srgbClr val="002060"/>
            </a:solidFill>
          </a:ln>
        </p:spPr>
        <p:txBody>
          <a:bodyPr wrap="square">
            <a:spAutoFit/>
          </a:bodyPr>
          <a:lstStyle/>
          <a:p>
            <a:pPr>
              <a:buNone/>
            </a:pPr>
            <a:r>
              <a:rPr lang="en-US" sz="1300" b="0">
                <a:solidFill>
                  <a:srgbClr val="800000"/>
                </a:solidFill>
                <a:effectLst/>
                <a:latin typeface="Consolas" panose="020B0609020204030204" pitchFamily="49" charset="0"/>
              </a:rPr>
              <a:t>&lt;p&gt;</a:t>
            </a:r>
            <a:r>
              <a:rPr lang="en-US" sz="1300" b="0">
                <a:solidFill>
                  <a:srgbClr val="000000"/>
                </a:solidFill>
                <a:effectLst/>
                <a:latin typeface="Consolas" panose="020B0609020204030204" pitchFamily="49" charset="0"/>
              </a:rPr>
              <a:t>product-detail-component works!</a:t>
            </a:r>
            <a:r>
              <a:rPr lang="en-US" sz="1300" b="0">
                <a:solidFill>
                  <a:srgbClr val="800000"/>
                </a:solidFill>
                <a:effectLst/>
                <a:latin typeface="Consolas" panose="020B0609020204030204" pitchFamily="49" charset="0"/>
              </a:rPr>
              <a:t>&lt;/p&gt;</a:t>
            </a:r>
            <a:endParaRPr lang="en-US" sz="1300" b="0">
              <a:solidFill>
                <a:srgbClr val="000000"/>
              </a:solidFill>
              <a:effectLst/>
              <a:latin typeface="Consolas" panose="020B0609020204030204" pitchFamily="49" charset="0"/>
            </a:endParaRPr>
          </a:p>
          <a:p>
            <a:pPr>
              <a:buNone/>
            </a:pPr>
            <a:r>
              <a:rPr lang="en-US" sz="1300" b="0">
                <a:solidFill>
                  <a:srgbClr val="800000"/>
                </a:solidFill>
                <a:effectLst/>
                <a:latin typeface="Consolas" panose="020B0609020204030204" pitchFamily="49" charset="0"/>
              </a:rPr>
              <a:t>&lt;p&gt;</a:t>
            </a:r>
            <a:endParaRPr lang="en-US" sz="1300" b="0">
              <a:solidFill>
                <a:srgbClr val="000000"/>
              </a:solidFill>
              <a:effectLst/>
              <a:latin typeface="Consolas" panose="020B0609020204030204" pitchFamily="49" charset="0"/>
            </a:endParaRPr>
          </a:p>
          <a:p>
            <a:pPr>
              <a:buNone/>
            </a:pPr>
            <a:r>
              <a:rPr lang="en-US" sz="1300" b="0">
                <a:solidFill>
                  <a:srgbClr val="000000"/>
                </a:solidFill>
                <a:effectLst/>
                <a:latin typeface="Consolas" panose="020B0609020204030204" pitchFamily="49" charset="0"/>
              </a:rPr>
              <a:t>  {{errMessage()}}</a:t>
            </a:r>
          </a:p>
          <a:p>
            <a:pPr>
              <a:buNone/>
            </a:pPr>
            <a:r>
              <a:rPr lang="en-US" sz="1300" b="0">
                <a:solidFill>
                  <a:srgbClr val="800000"/>
                </a:solidFill>
                <a:effectLst/>
                <a:latin typeface="Consolas" panose="020B0609020204030204" pitchFamily="49" charset="0"/>
              </a:rPr>
              <a:t>&lt;/p&gt;</a:t>
            </a:r>
            <a:endParaRPr lang="en-US" sz="1300" b="0">
              <a:solidFill>
                <a:srgbClr val="000000"/>
              </a:solidFill>
              <a:effectLst/>
              <a:latin typeface="Consolas" panose="020B0609020204030204" pitchFamily="49" charset="0"/>
            </a:endParaRPr>
          </a:p>
          <a:p>
            <a:pPr>
              <a:buNone/>
            </a:pPr>
            <a:r>
              <a:rPr lang="en-US" sz="1300" b="0">
                <a:solidFill>
                  <a:srgbClr val="800000"/>
                </a:solidFill>
                <a:effectLst/>
                <a:latin typeface="Consolas" panose="020B0609020204030204" pitchFamily="49" charset="0"/>
              </a:rPr>
              <a:t>&lt;table</a:t>
            </a:r>
            <a:r>
              <a:rPr lang="en-US" sz="1300" b="0">
                <a:solidFill>
                  <a:srgbClr val="000000"/>
                </a:solidFill>
                <a:effectLst/>
                <a:latin typeface="Consolas" panose="020B0609020204030204" pitchFamily="49" charset="0"/>
              </a:rPr>
              <a:t> </a:t>
            </a:r>
            <a:r>
              <a:rPr lang="en-US" sz="1300" b="0">
                <a:solidFill>
                  <a:srgbClr val="CD3131"/>
                </a:solidFill>
                <a:effectLst/>
                <a:latin typeface="Consolas" panose="020B0609020204030204" pitchFamily="49" charset="0"/>
              </a:rPr>
              <a:t>border</a:t>
            </a:r>
            <a:r>
              <a:rPr lang="en-US" sz="1300" b="0">
                <a:solidFill>
                  <a:srgbClr val="000000"/>
                </a:solidFill>
                <a:effectLst/>
                <a:latin typeface="Consolas" panose="020B0609020204030204" pitchFamily="49" charset="0"/>
              </a:rPr>
              <a:t>=</a:t>
            </a:r>
            <a:r>
              <a:rPr lang="en-US" sz="1300" b="0">
                <a:solidFill>
                  <a:srgbClr val="0000FF"/>
                </a:solidFill>
                <a:effectLst/>
                <a:latin typeface="Consolas" panose="020B0609020204030204" pitchFamily="49" charset="0"/>
              </a:rPr>
              <a:t>"1"</a:t>
            </a:r>
            <a:r>
              <a:rPr lang="en-US" sz="1300" b="0">
                <a:solidFill>
                  <a:srgbClr val="800000"/>
                </a:solidFill>
                <a:effectLst/>
                <a:latin typeface="Consolas" panose="020B0609020204030204" pitchFamily="49" charset="0"/>
              </a:rPr>
              <a:t>&gt;</a:t>
            </a:r>
            <a:endParaRPr lang="en-US" sz="1300" b="0">
              <a:solidFill>
                <a:srgbClr val="000000"/>
              </a:solidFill>
              <a:effectLst/>
              <a:latin typeface="Consolas" panose="020B0609020204030204" pitchFamily="49" charset="0"/>
            </a:endParaRPr>
          </a:p>
          <a:p>
            <a:pPr>
              <a:buNone/>
            </a:pPr>
            <a:r>
              <a:rPr lang="en-US" sz="1300" b="0">
                <a:solidFill>
                  <a:srgbClr val="000000"/>
                </a:solidFill>
                <a:effectLst/>
                <a:latin typeface="Consolas" panose="020B0609020204030204" pitchFamily="49" charset="0"/>
              </a:rPr>
              <a:t>  </a:t>
            </a:r>
            <a:r>
              <a:rPr lang="en-US" sz="1300" b="0">
                <a:solidFill>
                  <a:srgbClr val="0000FF"/>
                </a:solidFill>
                <a:effectLst/>
                <a:latin typeface="Consolas" panose="020B0609020204030204" pitchFamily="49" charset="0"/>
              </a:rPr>
              <a:t>@if</a:t>
            </a:r>
            <a:r>
              <a:rPr lang="en-US" sz="1300" b="0">
                <a:solidFill>
                  <a:srgbClr val="000000"/>
                </a:solidFill>
                <a:effectLst/>
                <a:latin typeface="Consolas" panose="020B0609020204030204" pitchFamily="49" charset="0"/>
              </a:rPr>
              <a:t> (product()!=</a:t>
            </a:r>
            <a:r>
              <a:rPr lang="en-US" sz="1300" b="0">
                <a:solidFill>
                  <a:srgbClr val="0000FF"/>
                </a:solidFill>
                <a:effectLst/>
                <a:latin typeface="Consolas" panose="020B0609020204030204" pitchFamily="49" charset="0"/>
              </a:rPr>
              <a:t>null</a:t>
            </a:r>
            <a:r>
              <a:rPr lang="en-US" sz="1300" b="0">
                <a:solidFill>
                  <a:srgbClr val="000000"/>
                </a:solidFill>
                <a:effectLst/>
                <a:latin typeface="Consolas" panose="020B0609020204030204" pitchFamily="49" charset="0"/>
              </a:rPr>
              <a:t>){</a:t>
            </a:r>
          </a:p>
          <a:p>
            <a:pPr>
              <a:buNone/>
            </a:pPr>
            <a:r>
              <a:rPr lang="en-US" sz="1300" b="0">
                <a:solidFill>
                  <a:srgbClr val="000000"/>
                </a:solidFill>
                <a:effectLst/>
                <a:latin typeface="Consolas" panose="020B0609020204030204" pitchFamily="49" charset="0"/>
              </a:rPr>
              <a:t>  </a:t>
            </a:r>
            <a:r>
              <a:rPr lang="en-US" sz="1300" b="0">
                <a:solidFill>
                  <a:srgbClr val="800000"/>
                </a:solidFill>
                <a:effectLst/>
                <a:latin typeface="Consolas" panose="020B0609020204030204" pitchFamily="49" charset="0"/>
              </a:rPr>
              <a:t>&lt;tr&gt;</a:t>
            </a:r>
            <a:endParaRPr lang="en-US" sz="1300" b="0">
              <a:solidFill>
                <a:srgbClr val="000000"/>
              </a:solidFill>
              <a:effectLst/>
              <a:latin typeface="Consolas" panose="020B0609020204030204" pitchFamily="49" charset="0"/>
            </a:endParaRPr>
          </a:p>
          <a:p>
            <a:pPr>
              <a:buNone/>
            </a:pPr>
            <a:r>
              <a:rPr lang="en-US" sz="1300" b="0">
                <a:solidFill>
                  <a:srgbClr val="000000"/>
                </a:solidFill>
                <a:effectLst/>
                <a:latin typeface="Consolas" panose="020B0609020204030204" pitchFamily="49" charset="0"/>
              </a:rPr>
              <a:t>    </a:t>
            </a:r>
            <a:r>
              <a:rPr lang="en-US" sz="1300" b="0">
                <a:solidFill>
                  <a:srgbClr val="800000"/>
                </a:solidFill>
                <a:effectLst/>
                <a:latin typeface="Consolas" panose="020B0609020204030204" pitchFamily="49" charset="0"/>
              </a:rPr>
              <a:t>&lt;td&gt;</a:t>
            </a:r>
            <a:r>
              <a:rPr lang="en-US" sz="1300" b="0">
                <a:solidFill>
                  <a:srgbClr val="000000"/>
                </a:solidFill>
                <a:effectLst/>
                <a:latin typeface="Consolas" panose="020B0609020204030204" pitchFamily="49" charset="0"/>
              </a:rPr>
              <a:t>Product ID:</a:t>
            </a:r>
            <a:r>
              <a:rPr lang="en-US" sz="1300" b="0">
                <a:solidFill>
                  <a:srgbClr val="800000"/>
                </a:solidFill>
                <a:effectLst/>
                <a:latin typeface="Consolas" panose="020B0609020204030204" pitchFamily="49" charset="0"/>
              </a:rPr>
              <a:t>&lt;/td&gt;</a:t>
            </a:r>
            <a:endParaRPr lang="en-US" sz="1300" b="0">
              <a:solidFill>
                <a:srgbClr val="000000"/>
              </a:solidFill>
              <a:effectLst/>
              <a:latin typeface="Consolas" panose="020B0609020204030204" pitchFamily="49" charset="0"/>
            </a:endParaRPr>
          </a:p>
          <a:p>
            <a:pPr>
              <a:buNone/>
            </a:pPr>
            <a:r>
              <a:rPr lang="en-US" sz="1300" b="0">
                <a:solidFill>
                  <a:srgbClr val="000000"/>
                </a:solidFill>
                <a:effectLst/>
                <a:latin typeface="Consolas" panose="020B0609020204030204" pitchFamily="49" charset="0"/>
              </a:rPr>
              <a:t>    </a:t>
            </a:r>
            <a:r>
              <a:rPr lang="en-US" sz="1300" b="0">
                <a:solidFill>
                  <a:srgbClr val="800000"/>
                </a:solidFill>
                <a:effectLst/>
                <a:latin typeface="Consolas" panose="020B0609020204030204" pitchFamily="49" charset="0"/>
              </a:rPr>
              <a:t>&lt;td&gt;</a:t>
            </a:r>
            <a:r>
              <a:rPr lang="en-US" sz="1300" b="0">
                <a:solidFill>
                  <a:srgbClr val="000000"/>
                </a:solidFill>
                <a:effectLst/>
                <a:latin typeface="Consolas" panose="020B0609020204030204" pitchFamily="49" charset="0"/>
              </a:rPr>
              <a:t>{{product()?.id}}</a:t>
            </a:r>
            <a:r>
              <a:rPr lang="en-US" sz="1300" b="0">
                <a:solidFill>
                  <a:srgbClr val="800000"/>
                </a:solidFill>
                <a:effectLst/>
                <a:latin typeface="Consolas" panose="020B0609020204030204" pitchFamily="49" charset="0"/>
              </a:rPr>
              <a:t>&lt;/td&gt;</a:t>
            </a:r>
            <a:endParaRPr lang="en-US" sz="1300" b="0">
              <a:solidFill>
                <a:srgbClr val="000000"/>
              </a:solidFill>
              <a:effectLst/>
              <a:latin typeface="Consolas" panose="020B0609020204030204" pitchFamily="49" charset="0"/>
            </a:endParaRPr>
          </a:p>
          <a:p>
            <a:pPr>
              <a:buNone/>
            </a:pPr>
            <a:r>
              <a:rPr lang="en-US" sz="1300" b="0">
                <a:solidFill>
                  <a:srgbClr val="000000"/>
                </a:solidFill>
                <a:effectLst/>
                <a:latin typeface="Consolas" panose="020B0609020204030204" pitchFamily="49" charset="0"/>
              </a:rPr>
              <a:t>  </a:t>
            </a:r>
            <a:r>
              <a:rPr lang="en-US" sz="1300" b="0">
                <a:solidFill>
                  <a:srgbClr val="800000"/>
                </a:solidFill>
                <a:effectLst/>
                <a:latin typeface="Consolas" panose="020B0609020204030204" pitchFamily="49" charset="0"/>
              </a:rPr>
              <a:t>&lt;/tr&gt;</a:t>
            </a:r>
            <a:endParaRPr lang="en-US" sz="1300" b="0">
              <a:solidFill>
                <a:srgbClr val="000000"/>
              </a:solidFill>
              <a:effectLst/>
              <a:latin typeface="Consolas" panose="020B0609020204030204" pitchFamily="49" charset="0"/>
            </a:endParaRPr>
          </a:p>
          <a:p>
            <a:pPr>
              <a:buNone/>
            </a:pPr>
            <a:r>
              <a:rPr lang="en-US" sz="1300" b="0">
                <a:solidFill>
                  <a:srgbClr val="000000"/>
                </a:solidFill>
                <a:effectLst/>
                <a:latin typeface="Consolas" panose="020B0609020204030204" pitchFamily="49" charset="0"/>
              </a:rPr>
              <a:t>  </a:t>
            </a:r>
            <a:r>
              <a:rPr lang="en-US" sz="1300" b="0">
                <a:solidFill>
                  <a:srgbClr val="800000"/>
                </a:solidFill>
                <a:effectLst/>
                <a:latin typeface="Consolas" panose="020B0609020204030204" pitchFamily="49" charset="0"/>
              </a:rPr>
              <a:t>&lt;tr&gt;</a:t>
            </a:r>
            <a:endParaRPr lang="en-US" sz="1300" b="0">
              <a:solidFill>
                <a:srgbClr val="000000"/>
              </a:solidFill>
              <a:effectLst/>
              <a:latin typeface="Consolas" panose="020B0609020204030204" pitchFamily="49" charset="0"/>
            </a:endParaRPr>
          </a:p>
          <a:p>
            <a:pPr>
              <a:buNone/>
            </a:pPr>
            <a:r>
              <a:rPr lang="en-US" sz="1300" b="0">
                <a:solidFill>
                  <a:srgbClr val="000000"/>
                </a:solidFill>
                <a:effectLst/>
                <a:latin typeface="Consolas" panose="020B0609020204030204" pitchFamily="49" charset="0"/>
              </a:rPr>
              <a:t>    </a:t>
            </a:r>
            <a:r>
              <a:rPr lang="en-US" sz="1300" b="0">
                <a:solidFill>
                  <a:srgbClr val="800000"/>
                </a:solidFill>
                <a:effectLst/>
                <a:latin typeface="Consolas" panose="020B0609020204030204" pitchFamily="49" charset="0"/>
              </a:rPr>
              <a:t>&lt;td&gt;</a:t>
            </a:r>
            <a:r>
              <a:rPr lang="en-US" sz="1300" b="0">
                <a:solidFill>
                  <a:srgbClr val="000000"/>
                </a:solidFill>
                <a:effectLst/>
                <a:latin typeface="Consolas" panose="020B0609020204030204" pitchFamily="49" charset="0"/>
              </a:rPr>
              <a:t>Product Name:</a:t>
            </a:r>
            <a:r>
              <a:rPr lang="en-US" sz="1300" b="0">
                <a:solidFill>
                  <a:srgbClr val="800000"/>
                </a:solidFill>
                <a:effectLst/>
                <a:latin typeface="Consolas" panose="020B0609020204030204" pitchFamily="49" charset="0"/>
              </a:rPr>
              <a:t>&lt;/td&gt;</a:t>
            </a:r>
            <a:endParaRPr lang="en-US" sz="1300" b="0">
              <a:solidFill>
                <a:srgbClr val="000000"/>
              </a:solidFill>
              <a:effectLst/>
              <a:latin typeface="Consolas" panose="020B0609020204030204" pitchFamily="49" charset="0"/>
            </a:endParaRPr>
          </a:p>
          <a:p>
            <a:pPr>
              <a:buNone/>
            </a:pPr>
            <a:r>
              <a:rPr lang="en-US" sz="1300" b="0">
                <a:solidFill>
                  <a:srgbClr val="000000"/>
                </a:solidFill>
                <a:effectLst/>
                <a:latin typeface="Consolas" panose="020B0609020204030204" pitchFamily="49" charset="0"/>
              </a:rPr>
              <a:t>    </a:t>
            </a:r>
            <a:r>
              <a:rPr lang="en-US" sz="1300" b="0">
                <a:solidFill>
                  <a:srgbClr val="800000"/>
                </a:solidFill>
                <a:effectLst/>
                <a:latin typeface="Consolas" panose="020B0609020204030204" pitchFamily="49" charset="0"/>
              </a:rPr>
              <a:t>&lt;td&gt;</a:t>
            </a:r>
            <a:r>
              <a:rPr lang="en-US" sz="1300" b="0">
                <a:solidFill>
                  <a:srgbClr val="000000"/>
                </a:solidFill>
                <a:effectLst/>
                <a:latin typeface="Consolas" panose="020B0609020204030204" pitchFamily="49" charset="0"/>
              </a:rPr>
              <a:t>{{product()?.name}}</a:t>
            </a:r>
            <a:r>
              <a:rPr lang="en-US" sz="1300" b="0">
                <a:solidFill>
                  <a:srgbClr val="800000"/>
                </a:solidFill>
                <a:effectLst/>
                <a:latin typeface="Consolas" panose="020B0609020204030204" pitchFamily="49" charset="0"/>
              </a:rPr>
              <a:t>&lt;/td&gt;</a:t>
            </a:r>
            <a:endParaRPr lang="en-US" sz="1300" b="0">
              <a:solidFill>
                <a:srgbClr val="000000"/>
              </a:solidFill>
              <a:effectLst/>
              <a:latin typeface="Consolas" panose="020B0609020204030204" pitchFamily="49" charset="0"/>
            </a:endParaRPr>
          </a:p>
          <a:p>
            <a:pPr>
              <a:buNone/>
            </a:pPr>
            <a:r>
              <a:rPr lang="en-US" sz="1300" b="0">
                <a:solidFill>
                  <a:srgbClr val="000000"/>
                </a:solidFill>
                <a:effectLst/>
                <a:latin typeface="Consolas" panose="020B0609020204030204" pitchFamily="49" charset="0"/>
              </a:rPr>
              <a:t>  </a:t>
            </a:r>
            <a:r>
              <a:rPr lang="en-US" sz="1300" b="0">
                <a:solidFill>
                  <a:srgbClr val="800000"/>
                </a:solidFill>
                <a:effectLst/>
                <a:latin typeface="Consolas" panose="020B0609020204030204" pitchFamily="49" charset="0"/>
              </a:rPr>
              <a:t>&lt;/tr&gt;</a:t>
            </a:r>
            <a:endParaRPr lang="en-US" sz="1300" b="0">
              <a:solidFill>
                <a:srgbClr val="000000"/>
              </a:solidFill>
              <a:effectLst/>
              <a:latin typeface="Consolas" panose="020B0609020204030204" pitchFamily="49" charset="0"/>
            </a:endParaRPr>
          </a:p>
          <a:p>
            <a:pPr>
              <a:buNone/>
            </a:pPr>
            <a:r>
              <a:rPr lang="en-US" sz="1300" b="0">
                <a:solidFill>
                  <a:srgbClr val="000000"/>
                </a:solidFill>
                <a:effectLst/>
                <a:latin typeface="Consolas" panose="020B0609020204030204" pitchFamily="49" charset="0"/>
              </a:rPr>
              <a:t>  </a:t>
            </a:r>
            <a:r>
              <a:rPr lang="en-US" sz="1300" b="0">
                <a:solidFill>
                  <a:srgbClr val="800000"/>
                </a:solidFill>
                <a:effectLst/>
                <a:latin typeface="Consolas" panose="020B0609020204030204" pitchFamily="49" charset="0"/>
              </a:rPr>
              <a:t>&lt;tr&gt;</a:t>
            </a:r>
            <a:endParaRPr lang="en-US" sz="1300" b="0">
              <a:solidFill>
                <a:srgbClr val="000000"/>
              </a:solidFill>
              <a:effectLst/>
              <a:latin typeface="Consolas" panose="020B0609020204030204" pitchFamily="49" charset="0"/>
            </a:endParaRPr>
          </a:p>
          <a:p>
            <a:pPr>
              <a:buNone/>
            </a:pPr>
            <a:r>
              <a:rPr lang="en-US" sz="1300" b="0">
                <a:solidFill>
                  <a:srgbClr val="000000"/>
                </a:solidFill>
                <a:effectLst/>
                <a:latin typeface="Consolas" panose="020B0609020204030204" pitchFamily="49" charset="0"/>
              </a:rPr>
              <a:t>    </a:t>
            </a:r>
            <a:r>
              <a:rPr lang="en-US" sz="1300" b="0">
                <a:solidFill>
                  <a:srgbClr val="800000"/>
                </a:solidFill>
                <a:effectLst/>
                <a:latin typeface="Consolas" panose="020B0609020204030204" pitchFamily="49" charset="0"/>
              </a:rPr>
              <a:t>&lt;td&gt;</a:t>
            </a:r>
            <a:r>
              <a:rPr lang="en-US" sz="1300" b="0">
                <a:solidFill>
                  <a:srgbClr val="000000"/>
                </a:solidFill>
                <a:effectLst/>
                <a:latin typeface="Consolas" panose="020B0609020204030204" pitchFamily="49" charset="0"/>
              </a:rPr>
              <a:t>Price:</a:t>
            </a:r>
            <a:r>
              <a:rPr lang="en-US" sz="1300" b="0">
                <a:solidFill>
                  <a:srgbClr val="800000"/>
                </a:solidFill>
                <a:effectLst/>
                <a:latin typeface="Consolas" panose="020B0609020204030204" pitchFamily="49" charset="0"/>
              </a:rPr>
              <a:t>&lt;/td&gt;</a:t>
            </a:r>
            <a:endParaRPr lang="en-US" sz="1300" b="0">
              <a:solidFill>
                <a:srgbClr val="000000"/>
              </a:solidFill>
              <a:effectLst/>
              <a:latin typeface="Consolas" panose="020B0609020204030204" pitchFamily="49" charset="0"/>
            </a:endParaRPr>
          </a:p>
          <a:p>
            <a:pPr>
              <a:buNone/>
            </a:pPr>
            <a:r>
              <a:rPr lang="en-US" sz="1300" b="0">
                <a:solidFill>
                  <a:srgbClr val="000000"/>
                </a:solidFill>
                <a:effectLst/>
                <a:latin typeface="Consolas" panose="020B0609020204030204" pitchFamily="49" charset="0"/>
              </a:rPr>
              <a:t>    </a:t>
            </a:r>
            <a:r>
              <a:rPr lang="en-US" sz="1300" b="0">
                <a:solidFill>
                  <a:srgbClr val="800000"/>
                </a:solidFill>
                <a:effectLst/>
                <a:latin typeface="Consolas" panose="020B0609020204030204" pitchFamily="49" charset="0"/>
              </a:rPr>
              <a:t>&lt;td&gt;</a:t>
            </a:r>
            <a:r>
              <a:rPr lang="en-US" sz="1300" b="0">
                <a:solidFill>
                  <a:srgbClr val="000000"/>
                </a:solidFill>
                <a:effectLst/>
                <a:latin typeface="Consolas" panose="020B0609020204030204" pitchFamily="49" charset="0"/>
              </a:rPr>
              <a:t>{{product()?.price}}</a:t>
            </a:r>
            <a:r>
              <a:rPr lang="en-US" sz="1300" b="0">
                <a:solidFill>
                  <a:srgbClr val="800000"/>
                </a:solidFill>
                <a:effectLst/>
                <a:latin typeface="Consolas" panose="020B0609020204030204" pitchFamily="49" charset="0"/>
              </a:rPr>
              <a:t>&lt;/td&gt;</a:t>
            </a:r>
            <a:endParaRPr lang="en-US" sz="1300" b="0">
              <a:solidFill>
                <a:srgbClr val="000000"/>
              </a:solidFill>
              <a:effectLst/>
              <a:latin typeface="Consolas" panose="020B0609020204030204" pitchFamily="49" charset="0"/>
            </a:endParaRPr>
          </a:p>
          <a:p>
            <a:pPr>
              <a:buNone/>
            </a:pPr>
            <a:r>
              <a:rPr lang="en-US" sz="1300" b="0">
                <a:solidFill>
                  <a:srgbClr val="000000"/>
                </a:solidFill>
                <a:effectLst/>
                <a:latin typeface="Consolas" panose="020B0609020204030204" pitchFamily="49" charset="0"/>
              </a:rPr>
              <a:t>  </a:t>
            </a:r>
            <a:r>
              <a:rPr lang="en-US" sz="1300" b="0">
                <a:solidFill>
                  <a:srgbClr val="800000"/>
                </a:solidFill>
                <a:effectLst/>
                <a:latin typeface="Consolas" panose="020B0609020204030204" pitchFamily="49" charset="0"/>
              </a:rPr>
              <a:t>&lt;/tr&gt;</a:t>
            </a:r>
            <a:endParaRPr lang="en-US" sz="1300" b="0">
              <a:solidFill>
                <a:srgbClr val="000000"/>
              </a:solidFill>
              <a:effectLst/>
              <a:latin typeface="Consolas" panose="020B0609020204030204" pitchFamily="49" charset="0"/>
            </a:endParaRPr>
          </a:p>
          <a:p>
            <a:pPr>
              <a:buNone/>
            </a:pPr>
            <a:r>
              <a:rPr lang="en-US" sz="1300" b="0">
                <a:solidFill>
                  <a:srgbClr val="000000"/>
                </a:solidFill>
                <a:effectLst/>
                <a:latin typeface="Consolas" panose="020B0609020204030204" pitchFamily="49" charset="0"/>
              </a:rPr>
              <a:t>  }</a:t>
            </a:r>
          </a:p>
          <a:p>
            <a:pPr>
              <a:buNone/>
            </a:pPr>
            <a:r>
              <a:rPr lang="en-US" sz="1300" b="0">
                <a:solidFill>
                  <a:srgbClr val="000000"/>
                </a:solidFill>
                <a:effectLst/>
                <a:latin typeface="Consolas" panose="020B0609020204030204" pitchFamily="49" charset="0"/>
              </a:rPr>
              <a:t>  </a:t>
            </a:r>
            <a:r>
              <a:rPr lang="en-US" sz="1300" b="0">
                <a:solidFill>
                  <a:srgbClr val="0000FF"/>
                </a:solidFill>
                <a:effectLst/>
                <a:latin typeface="Consolas" panose="020B0609020204030204" pitchFamily="49" charset="0"/>
              </a:rPr>
              <a:t>@else</a:t>
            </a:r>
            <a:endParaRPr lang="en-US" sz="1300" b="0">
              <a:solidFill>
                <a:srgbClr val="000000"/>
              </a:solidFill>
              <a:effectLst/>
              <a:latin typeface="Consolas" panose="020B0609020204030204" pitchFamily="49" charset="0"/>
            </a:endParaRPr>
          </a:p>
          <a:p>
            <a:pPr>
              <a:buNone/>
            </a:pPr>
            <a:r>
              <a:rPr lang="en-US" sz="1300" b="0">
                <a:solidFill>
                  <a:srgbClr val="000000"/>
                </a:solidFill>
                <a:effectLst/>
                <a:latin typeface="Consolas" panose="020B0609020204030204" pitchFamily="49" charset="0"/>
              </a:rPr>
              <a:t>  {</a:t>
            </a:r>
          </a:p>
          <a:p>
            <a:pPr>
              <a:buNone/>
            </a:pPr>
            <a:r>
              <a:rPr lang="en-US" sz="1300" b="0">
                <a:solidFill>
                  <a:srgbClr val="000000"/>
                </a:solidFill>
                <a:effectLst/>
                <a:latin typeface="Consolas" panose="020B0609020204030204" pitchFamily="49" charset="0"/>
              </a:rPr>
              <a:t>    </a:t>
            </a:r>
            <a:r>
              <a:rPr lang="en-US" sz="1300" b="0">
                <a:solidFill>
                  <a:srgbClr val="800000"/>
                </a:solidFill>
                <a:effectLst/>
                <a:latin typeface="Consolas" panose="020B0609020204030204" pitchFamily="49" charset="0"/>
              </a:rPr>
              <a:t>&lt;tr&gt;</a:t>
            </a:r>
            <a:endParaRPr lang="en-US" sz="1300" b="0">
              <a:solidFill>
                <a:srgbClr val="000000"/>
              </a:solidFill>
              <a:effectLst/>
              <a:latin typeface="Consolas" panose="020B0609020204030204" pitchFamily="49" charset="0"/>
            </a:endParaRPr>
          </a:p>
          <a:p>
            <a:pPr>
              <a:buNone/>
            </a:pPr>
            <a:r>
              <a:rPr lang="en-US" sz="1300" b="0">
                <a:solidFill>
                  <a:srgbClr val="000000"/>
                </a:solidFill>
                <a:effectLst/>
                <a:latin typeface="Consolas" panose="020B0609020204030204" pitchFamily="49" charset="0"/>
              </a:rPr>
              <a:t>      </a:t>
            </a:r>
            <a:r>
              <a:rPr lang="en-US" sz="1300" b="0">
                <a:solidFill>
                  <a:srgbClr val="800000"/>
                </a:solidFill>
                <a:effectLst/>
                <a:latin typeface="Consolas" panose="020B0609020204030204" pitchFamily="49" charset="0"/>
              </a:rPr>
              <a:t>&lt;td</a:t>
            </a:r>
            <a:r>
              <a:rPr lang="en-US" sz="1300" b="0">
                <a:solidFill>
                  <a:srgbClr val="000000"/>
                </a:solidFill>
                <a:effectLst/>
                <a:latin typeface="Consolas" panose="020B0609020204030204" pitchFamily="49" charset="0"/>
              </a:rPr>
              <a:t> </a:t>
            </a:r>
            <a:r>
              <a:rPr lang="en-US" sz="1300" b="0">
                <a:solidFill>
                  <a:srgbClr val="E50000"/>
                </a:solidFill>
                <a:effectLst/>
                <a:latin typeface="Consolas" panose="020B0609020204030204" pitchFamily="49" charset="0"/>
              </a:rPr>
              <a:t>colspan</a:t>
            </a:r>
            <a:r>
              <a:rPr lang="en-US" sz="1300" b="0">
                <a:solidFill>
                  <a:srgbClr val="000000"/>
                </a:solidFill>
                <a:effectLst/>
                <a:latin typeface="Consolas" panose="020B0609020204030204" pitchFamily="49" charset="0"/>
              </a:rPr>
              <a:t>=</a:t>
            </a:r>
            <a:r>
              <a:rPr lang="en-US" sz="1300" b="0">
                <a:solidFill>
                  <a:srgbClr val="0000FF"/>
                </a:solidFill>
                <a:effectLst/>
                <a:latin typeface="Consolas" panose="020B0609020204030204" pitchFamily="49" charset="0"/>
              </a:rPr>
              <a:t>"2"</a:t>
            </a:r>
            <a:r>
              <a:rPr lang="en-US" sz="1300" b="0">
                <a:solidFill>
                  <a:srgbClr val="800000"/>
                </a:solidFill>
                <a:effectLst/>
                <a:latin typeface="Consolas" panose="020B0609020204030204" pitchFamily="49" charset="0"/>
              </a:rPr>
              <a:t>&gt;</a:t>
            </a:r>
            <a:r>
              <a:rPr lang="en-US" sz="1300" b="0">
                <a:solidFill>
                  <a:srgbClr val="000000"/>
                </a:solidFill>
                <a:effectLst/>
                <a:latin typeface="Consolas" panose="020B0609020204030204" pitchFamily="49" charset="0"/>
              </a:rPr>
              <a:t>Cannot find the product</a:t>
            </a:r>
            <a:r>
              <a:rPr lang="en-US" sz="1300" b="0">
                <a:solidFill>
                  <a:srgbClr val="800000"/>
                </a:solidFill>
                <a:effectLst/>
                <a:latin typeface="Consolas" panose="020B0609020204030204" pitchFamily="49" charset="0"/>
              </a:rPr>
              <a:t>&lt;/td&gt;</a:t>
            </a:r>
            <a:endParaRPr lang="en-US" sz="1300" b="0">
              <a:solidFill>
                <a:srgbClr val="000000"/>
              </a:solidFill>
              <a:effectLst/>
              <a:latin typeface="Consolas" panose="020B0609020204030204" pitchFamily="49" charset="0"/>
            </a:endParaRPr>
          </a:p>
          <a:p>
            <a:pPr>
              <a:buNone/>
            </a:pPr>
            <a:r>
              <a:rPr lang="en-US" sz="1300" b="0">
                <a:solidFill>
                  <a:srgbClr val="000000"/>
                </a:solidFill>
                <a:effectLst/>
                <a:latin typeface="Consolas" panose="020B0609020204030204" pitchFamily="49" charset="0"/>
              </a:rPr>
              <a:t>    </a:t>
            </a:r>
            <a:r>
              <a:rPr lang="en-US" sz="1300" b="0">
                <a:solidFill>
                  <a:srgbClr val="800000"/>
                </a:solidFill>
                <a:effectLst/>
                <a:latin typeface="Consolas" panose="020B0609020204030204" pitchFamily="49" charset="0"/>
              </a:rPr>
              <a:t>&lt;/tr&gt;</a:t>
            </a:r>
            <a:endParaRPr lang="en-US" sz="1300" b="0">
              <a:solidFill>
                <a:srgbClr val="000000"/>
              </a:solidFill>
              <a:effectLst/>
              <a:latin typeface="Consolas" panose="020B0609020204030204" pitchFamily="49" charset="0"/>
            </a:endParaRPr>
          </a:p>
          <a:p>
            <a:pPr>
              <a:buNone/>
            </a:pPr>
            <a:r>
              <a:rPr lang="en-US" sz="1300" b="0">
                <a:solidFill>
                  <a:srgbClr val="000000"/>
                </a:solidFill>
                <a:effectLst/>
                <a:latin typeface="Consolas" panose="020B0609020204030204" pitchFamily="49" charset="0"/>
              </a:rPr>
              <a:t>  }</a:t>
            </a:r>
          </a:p>
          <a:p>
            <a:pPr>
              <a:buNone/>
            </a:pPr>
            <a:r>
              <a:rPr lang="en-US" sz="1300" b="0">
                <a:solidFill>
                  <a:srgbClr val="800000"/>
                </a:solidFill>
                <a:effectLst/>
                <a:latin typeface="Consolas" panose="020B0609020204030204" pitchFamily="49" charset="0"/>
              </a:rPr>
              <a:t>&lt;/table&gt;</a:t>
            </a:r>
            <a:endParaRPr lang="en-US" sz="1300" b="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3243519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424390C-9902-4A93-ABB7-DD94F473AE0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DAB72CCC-047F-77D3-3464-B923664981C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584685B-EB1F-6BD6-1652-0872D1FED2F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grpSp>
        <p:nvGrpSpPr>
          <p:cNvPr id="2" name="Group 1">
            <a:extLst>
              <a:ext uri="{FF2B5EF4-FFF2-40B4-BE49-F238E27FC236}">
                <a16:creationId xmlns:a16="http://schemas.microsoft.com/office/drawing/2014/main" id="{D570B72A-DC69-31FF-537A-D86DBEBF790C}"/>
              </a:ext>
            </a:extLst>
          </p:cNvPr>
          <p:cNvGrpSpPr/>
          <p:nvPr/>
        </p:nvGrpSpPr>
        <p:grpSpPr>
          <a:xfrm>
            <a:off x="214276" y="229075"/>
            <a:ext cx="5389002" cy="508000"/>
            <a:chOff x="789624" y="1191463"/>
            <a:chExt cx="5389002" cy="508000"/>
          </a:xfrm>
        </p:grpSpPr>
        <p:sp>
          <p:nvSpPr>
            <p:cNvPr id="3" name="AutoShape 52">
              <a:extLst>
                <a:ext uri="{FF2B5EF4-FFF2-40B4-BE49-F238E27FC236}">
                  <a16:creationId xmlns:a16="http://schemas.microsoft.com/office/drawing/2014/main" id="{5CED9E87-B056-3C68-06E3-F6AF6D30B2FE}"/>
                </a:ext>
              </a:extLst>
            </p:cNvPr>
            <p:cNvSpPr>
              <a:spLocks noChangeArrowheads="1"/>
            </p:cNvSpPr>
            <p:nvPr/>
          </p:nvSpPr>
          <p:spPr bwMode="gray">
            <a:xfrm>
              <a:off x="990600" y="1191463"/>
              <a:ext cx="51880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4.3.1. Route với tham số :id</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75E3748-D79D-F5F9-04AD-C7DAE17E7F3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29A10EB-AD4D-B9B5-280A-033DDC7F838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C8409C2-1A49-C724-20FF-E902D65D59D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8DEA882-E95E-BB21-4EFA-AD977B6417B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498F742A-41F9-D206-40FF-2B3D90E52827}"/>
              </a:ext>
            </a:extLst>
          </p:cNvPr>
          <p:cNvSpPr txBox="1"/>
          <p:nvPr/>
        </p:nvSpPr>
        <p:spPr>
          <a:xfrm>
            <a:off x="415252" y="746237"/>
            <a:ext cx="11685079" cy="579967"/>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5: Cấu hình routing có tham số id</a:t>
            </a:r>
            <a:endParaRPr lang="vi-VN" sz="240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263F97F0-4723-4CA6-0083-C9A01E3244D8}"/>
              </a:ext>
            </a:extLst>
          </p:cNvPr>
          <p:cNvPicPr>
            <a:picLocks noChangeAspect="1"/>
          </p:cNvPicPr>
          <p:nvPr/>
        </p:nvPicPr>
        <p:blipFill>
          <a:blip r:embed="rId3"/>
          <a:stretch>
            <a:fillRect/>
          </a:stretch>
        </p:blipFill>
        <p:spPr>
          <a:xfrm>
            <a:off x="542786" y="1313849"/>
            <a:ext cx="6977525" cy="5063655"/>
          </a:xfrm>
          <a:prstGeom prst="rect">
            <a:avLst/>
          </a:prstGeom>
        </p:spPr>
      </p:pic>
      <p:sp>
        <p:nvSpPr>
          <p:cNvPr id="12" name="Rectangle 11">
            <a:extLst>
              <a:ext uri="{FF2B5EF4-FFF2-40B4-BE49-F238E27FC236}">
                <a16:creationId xmlns:a16="http://schemas.microsoft.com/office/drawing/2014/main" id="{E0CB81FB-FE66-68BC-442F-8AA6228F8E32}"/>
              </a:ext>
            </a:extLst>
          </p:cNvPr>
          <p:cNvSpPr/>
          <p:nvPr/>
        </p:nvSpPr>
        <p:spPr>
          <a:xfrm>
            <a:off x="666893" y="4228241"/>
            <a:ext cx="6977525" cy="32313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52729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97721E3-CCDB-C9B9-361A-E7C53AD4078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A4A7BB5-E4D2-780F-EF3C-7557E5EBF74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5AB19A0-42D3-884A-AF21-4902A3A6C0A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grpSp>
        <p:nvGrpSpPr>
          <p:cNvPr id="2" name="Group 1">
            <a:extLst>
              <a:ext uri="{FF2B5EF4-FFF2-40B4-BE49-F238E27FC236}">
                <a16:creationId xmlns:a16="http://schemas.microsoft.com/office/drawing/2014/main" id="{F447F9B3-C369-FB90-FA90-75085259480C}"/>
              </a:ext>
            </a:extLst>
          </p:cNvPr>
          <p:cNvGrpSpPr/>
          <p:nvPr/>
        </p:nvGrpSpPr>
        <p:grpSpPr>
          <a:xfrm>
            <a:off x="214276" y="229075"/>
            <a:ext cx="5389002" cy="508000"/>
            <a:chOff x="789624" y="1191463"/>
            <a:chExt cx="5389002" cy="508000"/>
          </a:xfrm>
        </p:grpSpPr>
        <p:sp>
          <p:nvSpPr>
            <p:cNvPr id="3" name="AutoShape 52">
              <a:extLst>
                <a:ext uri="{FF2B5EF4-FFF2-40B4-BE49-F238E27FC236}">
                  <a16:creationId xmlns:a16="http://schemas.microsoft.com/office/drawing/2014/main" id="{6758E5BA-4E61-5A0E-6528-22715A3100EF}"/>
                </a:ext>
              </a:extLst>
            </p:cNvPr>
            <p:cNvSpPr>
              <a:spLocks noChangeArrowheads="1"/>
            </p:cNvSpPr>
            <p:nvPr/>
          </p:nvSpPr>
          <p:spPr bwMode="gray">
            <a:xfrm>
              <a:off x="990600" y="1191463"/>
              <a:ext cx="518802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4.3.1. Route với tham số :id</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B9B3DAE2-47ED-275F-CEB9-68D1A981651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0076D28-19F9-E363-867A-8687819DE8A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F2E922A-B1F9-96FE-4993-73B54145F67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87FB6D5-52C2-1B37-ED10-B4853EE1F6E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9F4B0C51-0025-9F80-3B54-A257F4729ED5}"/>
              </a:ext>
            </a:extLst>
          </p:cNvPr>
          <p:cNvSpPr txBox="1"/>
          <p:nvPr/>
        </p:nvSpPr>
        <p:spPr>
          <a:xfrm>
            <a:off x="415252" y="746237"/>
            <a:ext cx="11685079" cy="579967"/>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6: Chạy thử nghiệm kết quả route cho tham số id</a:t>
            </a:r>
            <a:endParaRPr lang="vi-VN" sz="240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82C55934-ED64-4C57-308B-CFE4891A706B}"/>
              </a:ext>
            </a:extLst>
          </p:cNvPr>
          <p:cNvSpPr txBox="1"/>
          <p:nvPr/>
        </p:nvSpPr>
        <p:spPr>
          <a:xfrm>
            <a:off x="7311781" y="1412508"/>
            <a:ext cx="3774478" cy="369332"/>
          </a:xfrm>
          <a:prstGeom prst="rect">
            <a:avLst/>
          </a:prstGeom>
          <a:noFill/>
        </p:spPr>
        <p:txBody>
          <a:bodyPr wrap="square">
            <a:spAutoFit/>
          </a:bodyPr>
          <a:lstStyle/>
          <a:p>
            <a:r>
              <a:rPr lang="en-US" sz="1800"/>
              <a:t>http://localhost:4200/products/3</a:t>
            </a:r>
          </a:p>
        </p:txBody>
      </p:sp>
      <p:sp>
        <p:nvSpPr>
          <p:cNvPr id="17" name="TextBox 16">
            <a:extLst>
              <a:ext uri="{FF2B5EF4-FFF2-40B4-BE49-F238E27FC236}">
                <a16:creationId xmlns:a16="http://schemas.microsoft.com/office/drawing/2014/main" id="{ACB14B02-8049-BCD3-F744-9787AE62D82D}"/>
              </a:ext>
            </a:extLst>
          </p:cNvPr>
          <p:cNvSpPr txBox="1"/>
          <p:nvPr/>
        </p:nvSpPr>
        <p:spPr>
          <a:xfrm>
            <a:off x="312839" y="1363757"/>
            <a:ext cx="3774478" cy="369332"/>
          </a:xfrm>
          <a:prstGeom prst="rect">
            <a:avLst/>
          </a:prstGeom>
          <a:noFill/>
        </p:spPr>
        <p:txBody>
          <a:bodyPr wrap="square">
            <a:spAutoFit/>
          </a:bodyPr>
          <a:lstStyle/>
          <a:p>
            <a:r>
              <a:rPr lang="en-US" sz="1800"/>
              <a:t>http://localhost:4200/products/1</a:t>
            </a:r>
          </a:p>
        </p:txBody>
      </p:sp>
      <p:pic>
        <p:nvPicPr>
          <p:cNvPr id="19" name="Picture 18">
            <a:extLst>
              <a:ext uri="{FF2B5EF4-FFF2-40B4-BE49-F238E27FC236}">
                <a16:creationId xmlns:a16="http://schemas.microsoft.com/office/drawing/2014/main" id="{B9BE7E00-5B04-CF23-605E-E0B9E1219452}"/>
              </a:ext>
            </a:extLst>
          </p:cNvPr>
          <p:cNvPicPr>
            <a:picLocks noChangeAspect="1"/>
          </p:cNvPicPr>
          <p:nvPr/>
        </p:nvPicPr>
        <p:blipFill>
          <a:blip r:embed="rId3"/>
          <a:srcRect r="53143"/>
          <a:stretch>
            <a:fillRect/>
          </a:stretch>
        </p:blipFill>
        <p:spPr>
          <a:xfrm>
            <a:off x="312839" y="1733089"/>
            <a:ext cx="4039155" cy="4410075"/>
          </a:xfrm>
          <a:prstGeom prst="rect">
            <a:avLst/>
          </a:prstGeom>
        </p:spPr>
      </p:pic>
      <p:pic>
        <p:nvPicPr>
          <p:cNvPr id="21" name="Picture 20">
            <a:extLst>
              <a:ext uri="{FF2B5EF4-FFF2-40B4-BE49-F238E27FC236}">
                <a16:creationId xmlns:a16="http://schemas.microsoft.com/office/drawing/2014/main" id="{E38BBA0E-4BF0-E95D-94AD-788B50C1EB77}"/>
              </a:ext>
            </a:extLst>
          </p:cNvPr>
          <p:cNvPicPr>
            <a:picLocks noChangeAspect="1"/>
          </p:cNvPicPr>
          <p:nvPr/>
        </p:nvPicPr>
        <p:blipFill>
          <a:blip r:embed="rId4"/>
          <a:srcRect r="53143"/>
          <a:stretch>
            <a:fillRect/>
          </a:stretch>
        </p:blipFill>
        <p:spPr>
          <a:xfrm>
            <a:off x="7114208" y="1781840"/>
            <a:ext cx="4039156" cy="4410075"/>
          </a:xfrm>
          <a:prstGeom prst="rect">
            <a:avLst/>
          </a:prstGeom>
        </p:spPr>
      </p:pic>
    </p:spTree>
    <p:extLst>
      <p:ext uri="{BB962C8B-B14F-4D97-AF65-F5344CB8AC3E}">
        <p14:creationId xmlns:p14="http://schemas.microsoft.com/office/powerpoint/2010/main" val="33715256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2A642BD-9356-D6F3-9272-77E161EEB3F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74AE4F2-AD9F-E1D4-205C-36FB4D0382B7}"/>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BA95A44-2DDD-A992-FEDC-C3B60F0641C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grpSp>
        <p:nvGrpSpPr>
          <p:cNvPr id="2" name="Group 1">
            <a:extLst>
              <a:ext uri="{FF2B5EF4-FFF2-40B4-BE49-F238E27FC236}">
                <a16:creationId xmlns:a16="http://schemas.microsoft.com/office/drawing/2014/main" id="{FF94C330-A530-8CA6-AE5C-8A0DB134621A}"/>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40CC5245-0C2D-83BC-92FE-0F3DA29820CB}"/>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4.3.</a:t>
              </a:r>
              <a:r>
                <a:rPr lang="en-US" sz="2800">
                  <a:latin typeface="Times New Roman" panose="02020603050405020304" pitchFamily="18" charset="0"/>
                  <a:cs typeface="Times New Roman" panose="02020603050405020304" pitchFamily="18" charset="0"/>
                </a:rPr>
                <a:t>2</a:t>
              </a:r>
              <a:r>
                <a:rPr lang="vi-VN" sz="2800">
                  <a:latin typeface="Times New Roman" panose="02020603050405020304" pitchFamily="18" charset="0"/>
                  <a:cs typeface="Times New Roman" panose="02020603050405020304" pitchFamily="18" charset="0"/>
                </a:rPr>
                <a:t>. Redirect routes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8C33A0CF-4A55-98EA-653D-428D82A598A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342A707-58B7-395D-77C3-CAA3BC69637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8944368-FDE1-8C09-A45D-61A1F396FB7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E08C88B-B3AA-628C-EA53-918C6E01C09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9F4E9D54-705F-55BD-40A5-F3D373B87F95}"/>
              </a:ext>
            </a:extLst>
          </p:cNvPr>
          <p:cNvSpPr txBox="1"/>
          <p:nvPr/>
        </p:nvSpPr>
        <p:spPr>
          <a:xfrm>
            <a:off x="476030" y="841012"/>
            <a:ext cx="11564547" cy="4154984"/>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Từ trang danh sách Products, nhấn vào sản phẩm nào thì sẽ hiển thị chi tiết sản phẩm đó. Từ trang chi tiết sản phẩm bấm quay trở về thì trang danh sách Producs sẽ được hiển thị lại.</a:t>
            </a:r>
          </a:p>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Cụ thể task:</a:t>
            </a:r>
          </a:p>
          <a:p>
            <a:pPr marL="457200" indent="-457200" algn="just">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Tạo một Component </a:t>
            </a:r>
            <a:r>
              <a:rPr lang="en-US" sz="2400" b="1">
                <a:latin typeface="Times New Roman" panose="02020603050405020304" pitchFamily="18" charset="0"/>
                <a:cs typeface="Times New Roman" panose="02020603050405020304" pitchFamily="18" charset="0"/>
              </a:rPr>
              <a:t>ProductListAdvancedComponent</a:t>
            </a:r>
            <a:r>
              <a:rPr lang="en-US" sz="2400">
                <a:latin typeface="Times New Roman" panose="02020603050405020304" pitchFamily="18" charset="0"/>
                <a:cs typeface="Times New Roman" panose="02020603050405020304" pitchFamily="18" charset="0"/>
              </a:rPr>
              <a:t> để hiển thị danh sách sản phẩm</a:t>
            </a:r>
          </a:p>
          <a:p>
            <a:pPr marL="457200" indent="-457200" algn="just">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Danh sách sản phẩm được tái sử dụng từ </a:t>
            </a:r>
            <a:r>
              <a:rPr lang="en-US" sz="2400" b="1">
                <a:latin typeface="Times New Roman" panose="02020603050405020304" pitchFamily="18" charset="0"/>
                <a:cs typeface="Times New Roman" panose="02020603050405020304" pitchFamily="18" charset="0"/>
              </a:rPr>
              <a:t>product-http-handle-error-service.ts</a:t>
            </a:r>
            <a:r>
              <a:rPr lang="en-US" sz="2400">
                <a:latin typeface="Times New Roman" panose="02020603050405020304" pitchFamily="18" charset="0"/>
                <a:cs typeface="Times New Roman" panose="02020603050405020304" pitchFamily="18" charset="0"/>
              </a:rPr>
              <a:t>.</a:t>
            </a:r>
          </a:p>
          <a:p>
            <a:pPr marL="457200" indent="-457200" algn="just">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Trong component ProductListAdvanced có nút </a:t>
            </a:r>
            <a:r>
              <a:rPr lang="en-US" sz="2400">
                <a:solidFill>
                  <a:srgbClr val="FF0000"/>
                </a:solidFill>
                <a:latin typeface="Times New Roman" panose="02020603050405020304" pitchFamily="18" charset="0"/>
                <a:cs typeface="Times New Roman" panose="02020603050405020304" pitchFamily="18" charset="0"/>
              </a:rPr>
              <a:t>detail</a:t>
            </a:r>
            <a:r>
              <a:rPr lang="en-US" sz="2400">
                <a:latin typeface="Times New Roman" panose="02020603050405020304" pitchFamily="18" charset="0"/>
                <a:cs typeface="Times New Roman" panose="02020603050405020304" pitchFamily="18" charset="0"/>
              </a:rPr>
              <a:t> để hiển thị chi tiết sản phẩm vào “product-detail-component” đã làm ở slide bài học trước</a:t>
            </a:r>
          </a:p>
          <a:p>
            <a:pPr marL="457200" indent="-457200" algn="just">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Sử dụng Redirect routes (hay là các lệnh navigate để chuyển trang): Chuyển từ </a:t>
            </a:r>
            <a:r>
              <a:rPr lang="en-US" sz="2400" b="1">
                <a:latin typeface="Times New Roman" panose="02020603050405020304" pitchFamily="18" charset="0"/>
                <a:cs typeface="Times New Roman" panose="02020603050405020304" pitchFamily="18" charset="0"/>
              </a:rPr>
              <a:t>ProductListAdvancedComponent</a:t>
            </a:r>
            <a:r>
              <a:rPr lang="en-US" sz="2400">
                <a:latin typeface="Times New Roman" panose="02020603050405020304" pitchFamily="18" charset="0"/>
                <a:cs typeface="Times New Roman" panose="02020603050405020304" pitchFamily="18" charset="0"/>
              </a:rPr>
              <a:t> qua </a:t>
            </a:r>
            <a:r>
              <a:rPr lang="en-US" sz="2400" b="1">
                <a:latin typeface="Times New Roman" panose="02020603050405020304" pitchFamily="18" charset="0"/>
                <a:cs typeface="Times New Roman" panose="02020603050405020304" pitchFamily="18" charset="0"/>
              </a:rPr>
              <a:t>ProductDetailComponent</a:t>
            </a:r>
            <a:r>
              <a:rPr lang="en-US" sz="2400">
                <a:latin typeface="Times New Roman" panose="02020603050405020304" pitchFamily="18" charset="0"/>
                <a:cs typeface="Times New Roman" panose="02020603050405020304" pitchFamily="18" charset="0"/>
              </a:rPr>
              <a:t> và ngược lại.</a:t>
            </a:r>
          </a:p>
          <a:p>
            <a:pPr marL="457200" indent="-457200" algn="just">
              <a:buFont typeface="Wingdings" panose="05000000000000000000" pitchFamily="2" charset="2"/>
              <a:buChar char="v"/>
            </a:pPr>
            <a:endParaRPr lang="vi-V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9532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68386D3-651A-9A06-23DD-97FB3B9BC03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661790E-9549-4D73-4A44-23502E0D75E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4B3C9A1-A124-7B96-D285-815E3A80192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grpSp>
        <p:nvGrpSpPr>
          <p:cNvPr id="2" name="Group 1">
            <a:extLst>
              <a:ext uri="{FF2B5EF4-FFF2-40B4-BE49-F238E27FC236}">
                <a16:creationId xmlns:a16="http://schemas.microsoft.com/office/drawing/2014/main" id="{7803EB8F-E9B0-DA26-30C7-2143DA14AA8F}"/>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9328BDEA-60A9-781C-2006-D282A7ABD13B}"/>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4.3.</a:t>
              </a:r>
              <a:r>
                <a:rPr lang="en-US" sz="2800">
                  <a:latin typeface="Times New Roman" panose="02020603050405020304" pitchFamily="18" charset="0"/>
                  <a:cs typeface="Times New Roman" panose="02020603050405020304" pitchFamily="18" charset="0"/>
                </a:rPr>
                <a:t>2</a:t>
              </a:r>
              <a:r>
                <a:rPr lang="vi-VN" sz="2800">
                  <a:latin typeface="Times New Roman" panose="02020603050405020304" pitchFamily="18" charset="0"/>
                  <a:cs typeface="Times New Roman" panose="02020603050405020304" pitchFamily="18" charset="0"/>
                </a:rPr>
                <a:t>. Redirect routes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0B41BD2-517B-25C2-E768-96F011D92B6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9B82143-8FBB-7B86-0206-E5C689938E3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CE6A73D-BBE2-6D3A-C41E-BFF60512B10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EB71403D-9253-C270-D150-1CE4D8FC810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C24CCC87-3132-8DA9-EB80-7B0E32BED329}"/>
              </a:ext>
            </a:extLst>
          </p:cNvPr>
          <p:cNvSpPr txBox="1"/>
          <p:nvPr/>
        </p:nvSpPr>
        <p:spPr>
          <a:xfrm>
            <a:off x="476030"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 Tạo </a:t>
            </a:r>
            <a:r>
              <a:rPr lang="en-US" sz="2400" b="1">
                <a:latin typeface="Times New Roman" panose="02020603050405020304" pitchFamily="18" charset="0"/>
                <a:cs typeface="Times New Roman" panose="02020603050405020304" pitchFamily="18" charset="0"/>
              </a:rPr>
              <a:t>ProductListAdvancedComponent</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2A806B2D-5B3C-33E6-1F71-1DC9AD00E182}"/>
              </a:ext>
            </a:extLst>
          </p:cNvPr>
          <p:cNvPicPr>
            <a:picLocks noChangeAspect="1"/>
          </p:cNvPicPr>
          <p:nvPr/>
        </p:nvPicPr>
        <p:blipFill>
          <a:blip r:embed="rId3"/>
          <a:stretch>
            <a:fillRect/>
          </a:stretch>
        </p:blipFill>
        <p:spPr>
          <a:xfrm>
            <a:off x="632304" y="1406614"/>
            <a:ext cx="4244708" cy="1958510"/>
          </a:xfrm>
          <a:prstGeom prst="rect">
            <a:avLst/>
          </a:prstGeom>
        </p:spPr>
      </p:pic>
      <p:pic>
        <p:nvPicPr>
          <p:cNvPr id="12" name="Picture 11">
            <a:extLst>
              <a:ext uri="{FF2B5EF4-FFF2-40B4-BE49-F238E27FC236}">
                <a16:creationId xmlns:a16="http://schemas.microsoft.com/office/drawing/2014/main" id="{CFBE8514-2603-7C31-3E9D-7F9C411A3E99}"/>
              </a:ext>
            </a:extLst>
          </p:cNvPr>
          <p:cNvPicPr>
            <a:picLocks noChangeAspect="1"/>
          </p:cNvPicPr>
          <p:nvPr/>
        </p:nvPicPr>
        <p:blipFill>
          <a:blip r:embed="rId4"/>
          <a:stretch>
            <a:fillRect/>
          </a:stretch>
        </p:blipFill>
        <p:spPr>
          <a:xfrm>
            <a:off x="5617648" y="1740044"/>
            <a:ext cx="6195597" cy="739204"/>
          </a:xfrm>
          <a:prstGeom prst="rect">
            <a:avLst/>
          </a:prstGeom>
        </p:spPr>
      </p:pic>
      <p:pic>
        <p:nvPicPr>
          <p:cNvPr id="14" name="Picture 13">
            <a:extLst>
              <a:ext uri="{FF2B5EF4-FFF2-40B4-BE49-F238E27FC236}">
                <a16:creationId xmlns:a16="http://schemas.microsoft.com/office/drawing/2014/main" id="{D706E343-8D6E-9C6F-3FDF-8AEB09C7F415}"/>
              </a:ext>
            </a:extLst>
          </p:cNvPr>
          <p:cNvPicPr>
            <a:picLocks noChangeAspect="1"/>
          </p:cNvPicPr>
          <p:nvPr/>
        </p:nvPicPr>
        <p:blipFill>
          <a:blip r:embed="rId5"/>
          <a:stretch>
            <a:fillRect/>
          </a:stretch>
        </p:blipFill>
        <p:spPr>
          <a:xfrm>
            <a:off x="5076380" y="4112050"/>
            <a:ext cx="6847701" cy="2167465"/>
          </a:xfrm>
          <a:prstGeom prst="rect">
            <a:avLst/>
          </a:prstGeom>
        </p:spPr>
      </p:pic>
      <p:pic>
        <p:nvPicPr>
          <p:cNvPr id="16" name="Picture 15">
            <a:extLst>
              <a:ext uri="{FF2B5EF4-FFF2-40B4-BE49-F238E27FC236}">
                <a16:creationId xmlns:a16="http://schemas.microsoft.com/office/drawing/2014/main" id="{48B0CCAF-AF04-C8C2-3F87-4238EB664E2B}"/>
              </a:ext>
            </a:extLst>
          </p:cNvPr>
          <p:cNvPicPr>
            <a:picLocks noChangeAspect="1"/>
          </p:cNvPicPr>
          <p:nvPr/>
        </p:nvPicPr>
        <p:blipFill>
          <a:blip r:embed="rId6"/>
          <a:stretch>
            <a:fillRect/>
          </a:stretch>
        </p:blipFill>
        <p:spPr>
          <a:xfrm>
            <a:off x="632304" y="3749456"/>
            <a:ext cx="3467400" cy="2530059"/>
          </a:xfrm>
          <a:prstGeom prst="rect">
            <a:avLst/>
          </a:prstGeom>
        </p:spPr>
      </p:pic>
      <p:cxnSp>
        <p:nvCxnSpPr>
          <p:cNvPr id="17" name="Connector: Elbow 16">
            <a:extLst>
              <a:ext uri="{FF2B5EF4-FFF2-40B4-BE49-F238E27FC236}">
                <a16:creationId xmlns:a16="http://schemas.microsoft.com/office/drawing/2014/main" id="{BA18F372-6E62-D703-C3C5-20EBAC2A64A9}"/>
              </a:ext>
            </a:extLst>
          </p:cNvPr>
          <p:cNvCxnSpPr/>
          <p:nvPr/>
        </p:nvCxnSpPr>
        <p:spPr>
          <a:xfrm flipV="1">
            <a:off x="4117646" y="2470501"/>
            <a:ext cx="3977167" cy="690448"/>
          </a:xfrm>
          <a:prstGeom prst="bentConnector2">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980AA89D-8246-BF94-C3CB-F62D40DDA4C0}"/>
              </a:ext>
            </a:extLst>
          </p:cNvPr>
          <p:cNvCxnSpPr/>
          <p:nvPr/>
        </p:nvCxnSpPr>
        <p:spPr>
          <a:xfrm rot="5400000">
            <a:off x="9309005" y="3224464"/>
            <a:ext cx="1876926" cy="460637"/>
          </a:xfrm>
          <a:prstGeom prst="bentConnector3">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F587364-ABF7-787B-B87B-80EB803DF0A6}"/>
              </a:ext>
            </a:extLst>
          </p:cNvPr>
          <p:cNvCxnSpPr/>
          <p:nvPr/>
        </p:nvCxnSpPr>
        <p:spPr>
          <a:xfrm flipH="1" flipV="1">
            <a:off x="4117646" y="5267326"/>
            <a:ext cx="1351819" cy="1"/>
          </a:xfrm>
          <a:prstGeom prst="straightConnector1">
            <a:avLst/>
          </a:prstGeom>
          <a:ln w="28575">
            <a:solidFill>
              <a:srgbClr val="00206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18506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F505ABA-3281-7738-D5B2-7DDEEBE666B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9B78770-ABE7-7FCE-C489-6871F45FFE7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9A44988-2205-5946-B316-803A379E2AC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grpSp>
        <p:nvGrpSpPr>
          <p:cNvPr id="2" name="Group 1">
            <a:extLst>
              <a:ext uri="{FF2B5EF4-FFF2-40B4-BE49-F238E27FC236}">
                <a16:creationId xmlns:a16="http://schemas.microsoft.com/office/drawing/2014/main" id="{E45D5235-5E39-0BC5-F814-224CB3A7E054}"/>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329E305A-D0D6-A642-C605-2CA958E85B0B}"/>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4.3.</a:t>
              </a:r>
              <a:r>
                <a:rPr lang="en-US" sz="2800">
                  <a:latin typeface="Times New Roman" panose="02020603050405020304" pitchFamily="18" charset="0"/>
                  <a:cs typeface="Times New Roman" panose="02020603050405020304" pitchFamily="18" charset="0"/>
                </a:rPr>
                <a:t>2</a:t>
              </a:r>
              <a:r>
                <a:rPr lang="vi-VN" sz="2800">
                  <a:latin typeface="Times New Roman" panose="02020603050405020304" pitchFamily="18" charset="0"/>
                  <a:cs typeface="Times New Roman" panose="02020603050405020304" pitchFamily="18" charset="0"/>
                </a:rPr>
                <a:t>. Redirect routes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ED34929-8031-3975-4BC2-4E01C89C0A6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DB896D5-7A9B-0435-B138-5C09E174BB8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10787CE-B23B-2A76-4F38-E996B7B2E7B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6C4CA6D-E41F-7F8A-0EB0-3A230B27583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EF834A11-491D-AD30-AAB6-53FAF2C8BAA5}"/>
              </a:ext>
            </a:extLst>
          </p:cNvPr>
          <p:cNvSpPr txBox="1"/>
          <p:nvPr/>
        </p:nvSpPr>
        <p:spPr>
          <a:xfrm>
            <a:off x="476030"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product-list-advanced-component.ts</a:t>
            </a:r>
            <a:endParaRPr lang="vi-VN" sz="240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0FA58839-BE5B-0061-48D7-4F449FBDAB87}"/>
              </a:ext>
            </a:extLst>
          </p:cNvPr>
          <p:cNvPicPr>
            <a:picLocks noChangeAspect="1"/>
          </p:cNvPicPr>
          <p:nvPr/>
        </p:nvPicPr>
        <p:blipFill>
          <a:blip r:embed="rId3"/>
          <a:stretch>
            <a:fillRect/>
          </a:stretch>
        </p:blipFill>
        <p:spPr>
          <a:xfrm>
            <a:off x="564686" y="1322930"/>
            <a:ext cx="10017149" cy="5054574"/>
          </a:xfrm>
          <a:prstGeom prst="rect">
            <a:avLst/>
          </a:prstGeom>
        </p:spPr>
      </p:pic>
    </p:spTree>
    <p:extLst>
      <p:ext uri="{BB962C8B-B14F-4D97-AF65-F5344CB8AC3E}">
        <p14:creationId xmlns:p14="http://schemas.microsoft.com/office/powerpoint/2010/main" val="28008074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B2824CB-223A-068D-8C1C-44F35D17FE8E}"/>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E5DF875-11AE-4A96-BB96-AFD64CA0766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5838132-5B1E-19C7-2525-0D9278DBFB7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a:p>
        </p:txBody>
      </p:sp>
      <p:grpSp>
        <p:nvGrpSpPr>
          <p:cNvPr id="2" name="Group 1">
            <a:extLst>
              <a:ext uri="{FF2B5EF4-FFF2-40B4-BE49-F238E27FC236}">
                <a16:creationId xmlns:a16="http://schemas.microsoft.com/office/drawing/2014/main" id="{26D52334-B3AA-E3F3-9414-165BD4449937}"/>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28CDAEF7-89DB-B1C2-2229-5443F6705B98}"/>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4.3.</a:t>
              </a:r>
              <a:r>
                <a:rPr lang="en-US" sz="2800">
                  <a:latin typeface="Times New Roman" panose="02020603050405020304" pitchFamily="18" charset="0"/>
                  <a:cs typeface="Times New Roman" panose="02020603050405020304" pitchFamily="18" charset="0"/>
                </a:rPr>
                <a:t>2</a:t>
              </a:r>
              <a:r>
                <a:rPr lang="vi-VN" sz="2800">
                  <a:latin typeface="Times New Roman" panose="02020603050405020304" pitchFamily="18" charset="0"/>
                  <a:cs typeface="Times New Roman" panose="02020603050405020304" pitchFamily="18" charset="0"/>
                </a:rPr>
                <a:t>. Redirect routes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5DE75A4-20C3-E4C0-3A81-B54ABD5F8989}"/>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89B4CF82-A216-46D5-CA7C-9F1FA6F12D2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B8DA81B-7525-1880-878C-D5884B46CF3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CB56860-4E33-A21B-B7E4-165EBC61B16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C30976F9-D480-DA99-5923-B58630B0BFAC}"/>
              </a:ext>
            </a:extLst>
          </p:cNvPr>
          <p:cNvSpPr txBox="1"/>
          <p:nvPr/>
        </p:nvSpPr>
        <p:spPr>
          <a:xfrm>
            <a:off x="476030"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product-list-advanced-component.ts</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D4FDF9A8-66F7-0D06-3810-8DD09536A9CF}"/>
              </a:ext>
            </a:extLst>
          </p:cNvPr>
          <p:cNvPicPr>
            <a:picLocks noChangeAspect="1"/>
          </p:cNvPicPr>
          <p:nvPr/>
        </p:nvPicPr>
        <p:blipFill>
          <a:blip r:embed="rId3"/>
          <a:stretch>
            <a:fillRect/>
          </a:stretch>
        </p:blipFill>
        <p:spPr>
          <a:xfrm>
            <a:off x="841537" y="1297420"/>
            <a:ext cx="6542416" cy="5033484"/>
          </a:xfrm>
          <a:prstGeom prst="rect">
            <a:avLst/>
          </a:prstGeom>
        </p:spPr>
      </p:pic>
    </p:spTree>
    <p:extLst>
      <p:ext uri="{BB962C8B-B14F-4D97-AF65-F5344CB8AC3E}">
        <p14:creationId xmlns:p14="http://schemas.microsoft.com/office/powerpoint/2010/main" val="15979756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D9F9F36-AADE-4149-5F24-873F305B5CFE}"/>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D3C3A77-8F76-D5DF-6144-3174844CE32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75604C3-F8BE-0446-33FC-9391B5C1C71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grpSp>
        <p:nvGrpSpPr>
          <p:cNvPr id="2" name="Group 1">
            <a:extLst>
              <a:ext uri="{FF2B5EF4-FFF2-40B4-BE49-F238E27FC236}">
                <a16:creationId xmlns:a16="http://schemas.microsoft.com/office/drawing/2014/main" id="{0868B1D3-10C7-F1FE-97DF-98CBD2F7AC33}"/>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A817EF16-8882-E34D-3611-33551BEACA93}"/>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4.3.</a:t>
              </a:r>
              <a:r>
                <a:rPr lang="en-US" sz="2800">
                  <a:latin typeface="Times New Roman" panose="02020603050405020304" pitchFamily="18" charset="0"/>
                  <a:cs typeface="Times New Roman" panose="02020603050405020304" pitchFamily="18" charset="0"/>
                </a:rPr>
                <a:t>2</a:t>
              </a:r>
              <a:r>
                <a:rPr lang="vi-VN" sz="2800">
                  <a:latin typeface="Times New Roman" panose="02020603050405020304" pitchFamily="18" charset="0"/>
                  <a:cs typeface="Times New Roman" panose="02020603050405020304" pitchFamily="18" charset="0"/>
                </a:rPr>
                <a:t>. Redirect routes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64F1383-E932-0C8D-8964-C7BE0A9DDFF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0B2E066-EDA7-94B7-3C2B-2B1D57B9EA4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F3B13DD-E29B-CE40-A052-42FED2543B2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BCBC398-CE0E-B8BC-A9C7-F77D1DA1640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617CD42-89ED-FC25-57D6-EA948998FEE8}"/>
              </a:ext>
            </a:extLst>
          </p:cNvPr>
          <p:cNvSpPr txBox="1"/>
          <p:nvPr/>
        </p:nvSpPr>
        <p:spPr>
          <a:xfrm>
            <a:off x="476030"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3: product-list-advanced-component.html</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C740105A-27BF-9530-BF83-B12B9DB13780}"/>
              </a:ext>
            </a:extLst>
          </p:cNvPr>
          <p:cNvPicPr>
            <a:picLocks noChangeAspect="1"/>
          </p:cNvPicPr>
          <p:nvPr/>
        </p:nvPicPr>
        <p:blipFill>
          <a:blip r:embed="rId3"/>
          <a:stretch>
            <a:fillRect/>
          </a:stretch>
        </p:blipFill>
        <p:spPr>
          <a:xfrm>
            <a:off x="777602" y="1354535"/>
            <a:ext cx="8161727" cy="4694327"/>
          </a:xfrm>
          <a:prstGeom prst="rect">
            <a:avLst/>
          </a:prstGeom>
        </p:spPr>
      </p:pic>
      <p:sp>
        <p:nvSpPr>
          <p:cNvPr id="12" name="TextBox 11">
            <a:extLst>
              <a:ext uri="{FF2B5EF4-FFF2-40B4-BE49-F238E27FC236}">
                <a16:creationId xmlns:a16="http://schemas.microsoft.com/office/drawing/2014/main" id="{AD276552-6FDC-F135-59AA-D1458641AA68}"/>
              </a:ext>
            </a:extLst>
          </p:cNvPr>
          <p:cNvSpPr txBox="1"/>
          <p:nvPr/>
        </p:nvSpPr>
        <p:spPr>
          <a:xfrm>
            <a:off x="6400800" y="2739623"/>
            <a:ext cx="4922635" cy="3309239"/>
          </a:xfrm>
          <a:prstGeom prst="rect">
            <a:avLst/>
          </a:prstGeom>
          <a:noFill/>
          <a:ln>
            <a:solidFill>
              <a:srgbClr val="002060"/>
            </a:solidFill>
          </a:ln>
        </p:spPr>
        <p:txBody>
          <a:bodyPr wrap="square">
            <a:spAutoFit/>
          </a:bodyPr>
          <a:lstStyle/>
          <a:p>
            <a:pPr>
              <a:lnSpc>
                <a:spcPts val="2250"/>
              </a:lnSpc>
              <a:buNone/>
            </a:pPr>
            <a:r>
              <a:rPr lang="en-US" b="0">
                <a:solidFill>
                  <a:srgbClr val="800000"/>
                </a:solidFill>
                <a:effectLst/>
                <a:latin typeface="Consolas" panose="020B0609020204030204" pitchFamily="49" charset="0"/>
              </a:rPr>
              <a:t>&lt;p&gt;</a:t>
            </a:r>
            <a:r>
              <a:rPr lang="en-US" b="0">
                <a:solidFill>
                  <a:srgbClr val="000000"/>
                </a:solidFill>
                <a:effectLst/>
                <a:latin typeface="Consolas" panose="020B0609020204030204" pitchFamily="49" charset="0"/>
              </a:rPr>
              <a:t>product-list-advanced-component works!</a:t>
            </a:r>
            <a:r>
              <a:rPr lang="en-US" b="0">
                <a:solidFill>
                  <a:srgbClr val="800000"/>
                </a:solidFill>
                <a:effectLst/>
                <a:latin typeface="Consolas" panose="020B0609020204030204" pitchFamily="49" charset="0"/>
              </a:rPr>
              <a:t>&lt;/p&gt;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{{errMessage()}}</a:t>
            </a:r>
          </a:p>
          <a:p>
            <a:pPr>
              <a:lnSpc>
                <a:spcPts val="2250"/>
              </a:lnSpc>
              <a:buNone/>
            </a:pPr>
            <a:r>
              <a:rPr lang="en-US" b="0">
                <a:solidFill>
                  <a:srgbClr val="800000"/>
                </a:solidFill>
                <a:effectLst/>
                <a:latin typeface="Consolas" panose="020B0609020204030204" pitchFamily="49" charset="0"/>
              </a:rPr>
              <a:t>&lt;table</a:t>
            </a:r>
            <a:r>
              <a:rPr lang="en-US" b="0">
                <a:solidFill>
                  <a:srgbClr val="000000"/>
                </a:solidFill>
                <a:effectLst/>
                <a:latin typeface="Consolas" panose="020B0609020204030204" pitchFamily="49" charset="0"/>
              </a:rPr>
              <a:t> </a:t>
            </a:r>
            <a:r>
              <a:rPr lang="en-US" b="0">
                <a:solidFill>
                  <a:srgbClr val="CD3131"/>
                </a:solidFill>
                <a:effectLst/>
                <a:latin typeface="Consolas" panose="020B0609020204030204" pitchFamily="49" charset="0"/>
              </a:rPr>
              <a:t>border</a:t>
            </a:r>
            <a:r>
              <a:rPr lang="en-US" b="0">
                <a:solidFill>
                  <a:srgbClr val="000000"/>
                </a:solidFill>
                <a:effectLst/>
                <a:latin typeface="Consolas" panose="020B0609020204030204" pitchFamily="49" charset="0"/>
              </a:rPr>
              <a:t>=</a:t>
            </a:r>
            <a:r>
              <a:rPr lang="en-US" b="0">
                <a:solidFill>
                  <a:srgbClr val="0000FF"/>
                </a:solidFill>
                <a:effectLst/>
                <a:latin typeface="Consolas" panose="020B0609020204030204" pitchFamily="49" charset="0"/>
              </a:rPr>
              <a:t>"1"</a:t>
            </a:r>
            <a:r>
              <a:rPr lang="en-US" b="0">
                <a:solidFill>
                  <a:srgbClr val="800000"/>
                </a:solidFill>
                <a:effectLst/>
                <a:latin typeface="Consolas" panose="020B0609020204030204" pitchFamily="49" charset="0"/>
              </a:rPr>
              <a:t>&gt;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&lt;thead&gt;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&lt;tr&gt;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&lt;th&gt;</a:t>
            </a:r>
            <a:r>
              <a:rPr lang="en-US" b="0">
                <a:solidFill>
                  <a:srgbClr val="000000"/>
                </a:solidFill>
                <a:effectLst/>
                <a:latin typeface="Consolas" panose="020B0609020204030204" pitchFamily="49" charset="0"/>
              </a:rPr>
              <a:t>ID</a:t>
            </a:r>
            <a:r>
              <a:rPr lang="en-US" b="0">
                <a:solidFill>
                  <a:srgbClr val="800000"/>
                </a:solidFill>
                <a:effectLst/>
                <a:latin typeface="Consolas" panose="020B0609020204030204" pitchFamily="49" charset="0"/>
              </a:rPr>
              <a:t>&lt;/th&gt;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&lt;th&gt;</a:t>
            </a:r>
            <a:r>
              <a:rPr lang="en-US" b="0">
                <a:solidFill>
                  <a:srgbClr val="000000"/>
                </a:solidFill>
                <a:effectLst/>
                <a:latin typeface="Consolas" panose="020B0609020204030204" pitchFamily="49" charset="0"/>
              </a:rPr>
              <a:t>Name</a:t>
            </a:r>
            <a:r>
              <a:rPr lang="en-US" b="0">
                <a:solidFill>
                  <a:srgbClr val="800000"/>
                </a:solidFill>
                <a:effectLst/>
                <a:latin typeface="Consolas" panose="020B0609020204030204" pitchFamily="49" charset="0"/>
              </a:rPr>
              <a:t>&lt;/th&gt;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&lt;th&gt;</a:t>
            </a:r>
            <a:r>
              <a:rPr lang="en-US" b="0">
                <a:solidFill>
                  <a:srgbClr val="000000"/>
                </a:solidFill>
                <a:effectLst/>
                <a:latin typeface="Consolas" panose="020B0609020204030204" pitchFamily="49" charset="0"/>
              </a:rPr>
              <a:t>Price</a:t>
            </a:r>
            <a:r>
              <a:rPr lang="en-US" b="0">
                <a:solidFill>
                  <a:srgbClr val="800000"/>
                </a:solidFill>
                <a:effectLst/>
                <a:latin typeface="Consolas" panose="020B0609020204030204" pitchFamily="49" charset="0"/>
              </a:rPr>
              <a:t>&lt;/th&gt;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&lt;th&gt;</a:t>
            </a:r>
            <a:r>
              <a:rPr lang="en-US" b="0">
                <a:solidFill>
                  <a:srgbClr val="000000"/>
                </a:solidFill>
                <a:effectLst/>
                <a:latin typeface="Consolas" panose="020B0609020204030204" pitchFamily="49" charset="0"/>
              </a:rPr>
              <a:t>Details</a:t>
            </a:r>
            <a:r>
              <a:rPr lang="en-US" b="0">
                <a:solidFill>
                  <a:srgbClr val="800000"/>
                </a:solidFill>
                <a:effectLst/>
                <a:latin typeface="Consolas" panose="020B0609020204030204" pitchFamily="49" charset="0"/>
              </a:rPr>
              <a:t>&lt;/th&gt;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&lt;/tr&gt;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&lt;/thead&gt;</a:t>
            </a:r>
            <a:endParaRPr lang="en-US" b="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1637544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02ED062-C4A4-FF87-B488-34FBD8D8172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5DF8882-224D-E2C3-8156-6555D3CC0F9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CC9FB26-A58D-6660-694B-90C696294B0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grpSp>
        <p:nvGrpSpPr>
          <p:cNvPr id="2" name="Group 1">
            <a:extLst>
              <a:ext uri="{FF2B5EF4-FFF2-40B4-BE49-F238E27FC236}">
                <a16:creationId xmlns:a16="http://schemas.microsoft.com/office/drawing/2014/main" id="{7551FA50-8098-F9AF-DA0A-3590808DABD6}"/>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904B6684-557B-D042-7D52-A096671EBAA2}"/>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4.3.</a:t>
              </a:r>
              <a:r>
                <a:rPr lang="en-US" sz="2800">
                  <a:latin typeface="Times New Roman" panose="02020603050405020304" pitchFamily="18" charset="0"/>
                  <a:cs typeface="Times New Roman" panose="02020603050405020304" pitchFamily="18" charset="0"/>
                </a:rPr>
                <a:t>2</a:t>
              </a:r>
              <a:r>
                <a:rPr lang="vi-VN" sz="2800">
                  <a:latin typeface="Times New Roman" panose="02020603050405020304" pitchFamily="18" charset="0"/>
                  <a:cs typeface="Times New Roman" panose="02020603050405020304" pitchFamily="18" charset="0"/>
                </a:rPr>
                <a:t>. Redirect routes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B6E277D-E863-C09E-B740-BE8CDF415A1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979A359-CC71-953D-2EFE-4205AA84FD0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3105D3C-B43D-51EB-B8AB-8FE63B44D10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C93BC36-4D6D-1B5A-2B53-216BFD3B7B3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03F177D-80AE-431A-A238-5E102F1567D0}"/>
              </a:ext>
            </a:extLst>
          </p:cNvPr>
          <p:cNvSpPr txBox="1"/>
          <p:nvPr/>
        </p:nvSpPr>
        <p:spPr>
          <a:xfrm>
            <a:off x="476030"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3: product-list-advanced-component.html</a:t>
            </a:r>
            <a:endParaRPr lang="vi-VN" sz="240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3E7AB809-6B8C-272F-F909-421A834D23C7}"/>
              </a:ext>
            </a:extLst>
          </p:cNvPr>
          <p:cNvPicPr>
            <a:picLocks noChangeAspect="1"/>
          </p:cNvPicPr>
          <p:nvPr/>
        </p:nvPicPr>
        <p:blipFill>
          <a:blip r:embed="rId3"/>
          <a:srcRect/>
          <a:stretch/>
        </p:blipFill>
        <p:spPr>
          <a:xfrm>
            <a:off x="542786" y="1325802"/>
            <a:ext cx="6062538" cy="5028577"/>
          </a:xfrm>
          <a:prstGeom prst="rect">
            <a:avLst/>
          </a:prstGeom>
        </p:spPr>
      </p:pic>
      <p:sp>
        <p:nvSpPr>
          <p:cNvPr id="15" name="TextBox 14">
            <a:extLst>
              <a:ext uri="{FF2B5EF4-FFF2-40B4-BE49-F238E27FC236}">
                <a16:creationId xmlns:a16="http://schemas.microsoft.com/office/drawing/2014/main" id="{2F4D8BD8-2259-7C70-8D09-BEBE9B1062E9}"/>
              </a:ext>
            </a:extLst>
          </p:cNvPr>
          <p:cNvSpPr txBox="1"/>
          <p:nvPr/>
        </p:nvSpPr>
        <p:spPr>
          <a:xfrm>
            <a:off x="6840811" y="799593"/>
            <a:ext cx="5111195" cy="5884303"/>
          </a:xfrm>
          <a:prstGeom prst="rect">
            <a:avLst/>
          </a:prstGeom>
          <a:noFill/>
          <a:ln>
            <a:solidFill>
              <a:srgbClr val="002060"/>
            </a:solidFill>
          </a:ln>
        </p:spPr>
        <p:txBody>
          <a:bodyPr wrap="square">
            <a:spAutoFit/>
          </a:bodyPr>
          <a:lstStyle/>
          <a:p>
            <a:pPr>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&lt;tbody&gt;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@for</a:t>
            </a:r>
            <a:r>
              <a:rPr lang="en-US" b="0">
                <a:solidFill>
                  <a:srgbClr val="000000"/>
                </a:solidFill>
                <a:effectLst/>
                <a:latin typeface="Consolas" panose="020B0609020204030204" pitchFamily="49" charset="0"/>
              </a:rPr>
              <a:t> (p </a:t>
            </a:r>
            <a:r>
              <a:rPr lang="en-US" b="0">
                <a:solidFill>
                  <a:srgbClr val="0000FF"/>
                </a:solidFill>
                <a:effectLst/>
                <a:latin typeface="Consolas" panose="020B0609020204030204" pitchFamily="49" charset="0"/>
              </a:rPr>
              <a:t>of</a:t>
            </a:r>
            <a:r>
              <a:rPr lang="en-US" b="0">
                <a:solidFill>
                  <a:srgbClr val="000000"/>
                </a:solidFill>
                <a:effectLst/>
                <a:latin typeface="Consolas" panose="020B0609020204030204" pitchFamily="49" charset="0"/>
              </a:rPr>
              <a:t> products(); </a:t>
            </a:r>
            <a:r>
              <a:rPr lang="en-US" b="0">
                <a:solidFill>
                  <a:srgbClr val="0000FF"/>
                </a:solidFill>
                <a:effectLst/>
                <a:latin typeface="Consolas" panose="020B0609020204030204" pitchFamily="49" charset="0"/>
              </a:rPr>
              <a:t>track</a:t>
            </a:r>
            <a:r>
              <a:rPr lang="en-US" b="0">
                <a:solidFill>
                  <a:srgbClr val="000000"/>
                </a:solidFill>
                <a:effectLst/>
                <a:latin typeface="Consolas" panose="020B0609020204030204" pitchFamily="49" charset="0"/>
              </a:rPr>
              <a:t> p.id) {</a:t>
            </a: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&lt;tr&gt;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r>
              <a:rPr lang="en-US" b="0">
                <a:solidFill>
                  <a:srgbClr val="000000"/>
                </a:solidFill>
                <a:effectLst/>
                <a:latin typeface="Consolas" panose="020B0609020204030204" pitchFamily="49" charset="0"/>
              </a:rPr>
              <a:t>{{ p.id }}</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r>
              <a:rPr lang="en-US" b="0">
                <a:solidFill>
                  <a:srgbClr val="000000"/>
                </a:solidFill>
                <a:effectLst/>
                <a:latin typeface="Consolas" panose="020B0609020204030204" pitchFamily="49" charset="0"/>
              </a:rPr>
              <a:t>{{ p.name }}</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r>
              <a:rPr lang="en-US" b="0">
                <a:solidFill>
                  <a:srgbClr val="000000"/>
                </a:solidFill>
                <a:effectLst/>
                <a:latin typeface="Consolas" panose="020B0609020204030204" pitchFamily="49" charset="0"/>
              </a:rPr>
              <a:t>{{ p.price }}</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&lt;a</a:t>
            </a:r>
            <a:r>
              <a:rPr lang="en-US" b="0">
                <a:solidFill>
                  <a:srgbClr val="000000"/>
                </a:solidFill>
                <a:effectLst/>
                <a:latin typeface="Consolas" panose="020B0609020204030204" pitchFamily="49" charset="0"/>
              </a:rPr>
              <a:t> </a:t>
            </a:r>
            <a:r>
              <a:rPr lang="en-US" b="0">
                <a:solidFill>
                  <a:srgbClr val="E50000"/>
                </a:solidFill>
                <a:effectLst/>
                <a:latin typeface="Consolas" panose="020B0609020204030204" pitchFamily="49" charset="0"/>
              </a:rPr>
              <a:t>(click)</a:t>
            </a:r>
            <a:r>
              <a:rPr lang="en-US" b="0">
                <a:solidFill>
                  <a:srgbClr val="000000"/>
                </a:solidFill>
                <a:effectLst/>
                <a:latin typeface="Consolas" panose="020B0609020204030204" pitchFamily="49" charset="0"/>
              </a:rPr>
              <a:t>=</a:t>
            </a:r>
            <a:r>
              <a:rPr lang="en-US" b="0">
                <a:solidFill>
                  <a:srgbClr val="A31515"/>
                </a:solidFill>
                <a:effectLst/>
                <a:latin typeface="Consolas" panose="020B0609020204030204" pitchFamily="49" charset="0"/>
              </a:rPr>
              <a:t>"</a:t>
            </a:r>
            <a:r>
              <a:rPr lang="en-US" b="0">
                <a:solidFill>
                  <a:srgbClr val="000000"/>
                </a:solidFill>
                <a:effectLst/>
                <a:latin typeface="Consolas" panose="020B0609020204030204" pitchFamily="49" charset="0"/>
              </a:rPr>
              <a:t>viewDetail(p.id)</a:t>
            </a:r>
            <a:r>
              <a:rPr lang="en-US" b="0">
                <a:solidFill>
                  <a:srgbClr val="A31515"/>
                </a:solidFill>
                <a:effectLst/>
                <a:latin typeface="Consolas" panose="020B0609020204030204" pitchFamily="49" charset="0"/>
              </a:rPr>
              <a: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E50000"/>
                </a:solidFill>
                <a:effectLst/>
                <a:latin typeface="Consolas" panose="020B0609020204030204" pitchFamily="49" charset="0"/>
              </a:rPr>
              <a:t>style</a:t>
            </a:r>
            <a:r>
              <a:rPr lang="en-US" b="0">
                <a:solidFill>
                  <a:srgbClr val="000000"/>
                </a:solidFill>
                <a:effectLst/>
                <a:latin typeface="Consolas" panose="020B0609020204030204" pitchFamily="49" charset="0"/>
              </a:rPr>
              <a:t>=</a:t>
            </a:r>
            <a:r>
              <a:rPr lang="en-US" b="0">
                <a:solidFill>
                  <a:srgbClr val="0000FF"/>
                </a:solidFill>
                <a:effectLst/>
                <a:latin typeface="Consolas" panose="020B0609020204030204" pitchFamily="49" charset="0"/>
              </a:rPr>
              <a:t>"cursor: pointer;"</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E50000"/>
                </a:solidFill>
                <a:effectLst/>
                <a:latin typeface="Consolas" panose="020B0609020204030204" pitchFamily="49" charset="0"/>
              </a:rPr>
              <a:t>title</a:t>
            </a:r>
            <a:r>
              <a:rPr lang="en-US" b="0">
                <a:solidFill>
                  <a:srgbClr val="000000"/>
                </a:solidFill>
                <a:effectLst/>
                <a:latin typeface="Consolas" panose="020B0609020204030204" pitchFamily="49" charset="0"/>
              </a:rPr>
              <a:t>=</a:t>
            </a:r>
            <a:r>
              <a:rPr lang="en-US" b="0">
                <a:solidFill>
                  <a:srgbClr val="0000FF"/>
                </a:solidFill>
                <a:effectLst/>
                <a:latin typeface="Consolas" panose="020B0609020204030204" pitchFamily="49" charset="0"/>
              </a:rPr>
              <a:t>"click here to view detail"</a:t>
            </a:r>
            <a:r>
              <a:rPr lang="en-US" b="0">
                <a:solidFill>
                  <a:srgbClr val="800000"/>
                </a:solidFill>
                <a:effectLst/>
                <a:latin typeface="Consolas" panose="020B0609020204030204" pitchFamily="49" charset="0"/>
              </a:rPr>
              <a:t>&gt;</a:t>
            </a:r>
          </a:p>
          <a:p>
            <a:pPr>
              <a:lnSpc>
                <a:spcPts val="2250"/>
              </a:lnSpc>
              <a:buNone/>
            </a:pPr>
            <a:r>
              <a:rPr lang="en-US">
                <a:solidFill>
                  <a:srgbClr val="800000"/>
                </a:solidFill>
                <a:latin typeface="Consolas" panose="020B0609020204030204" pitchFamily="49" charset="0"/>
              </a:rPr>
              <a:t>          </a:t>
            </a:r>
            <a:r>
              <a:rPr lang="en-US" b="0">
                <a:solidFill>
                  <a:srgbClr val="000000"/>
                </a:solidFill>
                <a:effectLst/>
                <a:latin typeface="Consolas" panose="020B0609020204030204" pitchFamily="49" charset="0"/>
              </a:rPr>
              <a:t>View detail</a:t>
            </a:r>
            <a:r>
              <a:rPr lang="en-US" b="0">
                <a:solidFill>
                  <a:srgbClr val="800000"/>
                </a:solidFill>
                <a:effectLst/>
                <a:latin typeface="Consolas" panose="020B0609020204030204" pitchFamily="49" charset="0"/>
              </a:rPr>
              <a:t>&lt;/a&gt;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&lt;/tr&gt;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 </a:t>
            </a:r>
            <a:r>
              <a:rPr lang="en-US" b="0">
                <a:solidFill>
                  <a:srgbClr val="0000FF"/>
                </a:solidFill>
                <a:effectLst/>
                <a:latin typeface="Consolas" panose="020B0609020204030204" pitchFamily="49" charset="0"/>
              </a:rPr>
              <a:t>@empty</a:t>
            </a:r>
            <a:r>
              <a:rPr lang="en-US" b="0">
                <a:solidFill>
                  <a:srgbClr val="000000"/>
                </a:solidFill>
                <a:effectLst/>
                <a:latin typeface="Consolas" panose="020B0609020204030204" pitchFamily="49" charset="0"/>
              </a:rPr>
              <a:t> {</a:t>
            </a: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&lt;tr&gt;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a:t>
            </a:r>
            <a:r>
              <a:rPr lang="en-US" b="0">
                <a:solidFill>
                  <a:srgbClr val="000000"/>
                </a:solidFill>
                <a:effectLst/>
                <a:latin typeface="Consolas" panose="020B0609020204030204" pitchFamily="49" charset="0"/>
              </a:rPr>
              <a:t> </a:t>
            </a:r>
            <a:r>
              <a:rPr lang="en-US" b="0">
                <a:solidFill>
                  <a:srgbClr val="E50000"/>
                </a:solidFill>
                <a:effectLst/>
                <a:latin typeface="Consolas" panose="020B0609020204030204" pitchFamily="49" charset="0"/>
              </a:rPr>
              <a:t>colspan</a:t>
            </a:r>
            <a:r>
              <a:rPr lang="en-US" b="0">
                <a:solidFill>
                  <a:srgbClr val="000000"/>
                </a:solidFill>
                <a:effectLst/>
                <a:latin typeface="Consolas" panose="020B0609020204030204" pitchFamily="49" charset="0"/>
              </a:rPr>
              <a:t>=</a:t>
            </a:r>
            <a:r>
              <a:rPr lang="en-US" b="0">
                <a:solidFill>
                  <a:srgbClr val="0000FF"/>
                </a:solidFill>
                <a:effectLst/>
                <a:latin typeface="Consolas" panose="020B0609020204030204" pitchFamily="49" charset="0"/>
              </a:rPr>
              <a:t>"3"</a:t>
            </a:r>
            <a:r>
              <a:rPr lang="en-US" b="0">
                <a:solidFill>
                  <a:srgbClr val="800000"/>
                </a:solidFill>
                <a:effectLst/>
                <a:latin typeface="Consolas" panose="020B0609020204030204" pitchFamily="49" charset="0"/>
              </a:rPr>
              <a:t>&gt;</a:t>
            </a:r>
            <a:r>
              <a:rPr lang="en-US" b="0">
                <a:solidFill>
                  <a:srgbClr val="000000"/>
                </a:solidFill>
                <a:effectLst/>
                <a:latin typeface="Consolas" panose="020B0609020204030204" pitchFamily="49" charset="0"/>
              </a:rPr>
              <a:t>No products available.</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&lt;/tr&gt;</a:t>
            </a:r>
            <a:endParaRPr lang="en-US" b="0">
              <a:solidFill>
                <a:srgbClr val="000000"/>
              </a:solidFill>
              <a:effectLst/>
              <a:latin typeface="Consolas" panose="020B0609020204030204" pitchFamily="49" charset="0"/>
            </a:endParaRPr>
          </a:p>
          <a:p>
            <a:pPr>
              <a:lnSpc>
                <a:spcPts val="2250"/>
              </a:lnSpc>
              <a:buNone/>
            </a:pPr>
            <a:r>
              <a:rPr lang="en-US" b="0">
                <a:solidFill>
                  <a:srgbClr val="000000"/>
                </a:solidFill>
                <a:effectLst/>
                <a:latin typeface="Consolas" panose="020B0609020204030204" pitchFamily="49" charset="0"/>
              </a:rPr>
              <a:t>  }</a:t>
            </a:r>
          </a:p>
          <a:p>
            <a:pPr>
              <a:lnSpc>
                <a:spcPts val="2250"/>
              </a:lnSpc>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&lt;/tbody&gt;</a:t>
            </a:r>
            <a:endParaRPr lang="en-US" b="0">
              <a:solidFill>
                <a:srgbClr val="000000"/>
              </a:solidFill>
              <a:effectLst/>
              <a:latin typeface="Consolas" panose="020B0609020204030204" pitchFamily="49" charset="0"/>
            </a:endParaRPr>
          </a:p>
          <a:p>
            <a:pPr>
              <a:lnSpc>
                <a:spcPts val="2250"/>
              </a:lnSpc>
              <a:buNone/>
            </a:pPr>
            <a:r>
              <a:rPr lang="en-US" b="0">
                <a:solidFill>
                  <a:srgbClr val="800000"/>
                </a:solidFill>
                <a:effectLst/>
                <a:latin typeface="Consolas" panose="020B0609020204030204" pitchFamily="49" charset="0"/>
              </a:rPr>
              <a:t>&lt;/table&gt;</a:t>
            </a:r>
            <a:endParaRPr lang="en-US" b="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5115811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2FE58C2-C298-044A-67BF-0858A61650B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BE2E10B-C088-8A9A-6AAB-B2324213F6E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B057510-D09A-0FB0-6349-C1484CF64D3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36</a:t>
            </a:fld>
            <a:endParaRPr/>
          </a:p>
        </p:txBody>
      </p:sp>
      <p:grpSp>
        <p:nvGrpSpPr>
          <p:cNvPr id="2" name="Group 1">
            <a:extLst>
              <a:ext uri="{FF2B5EF4-FFF2-40B4-BE49-F238E27FC236}">
                <a16:creationId xmlns:a16="http://schemas.microsoft.com/office/drawing/2014/main" id="{7B5D9CDE-8BAA-19F4-19BA-E982C2918BEC}"/>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97562397-7ADF-22D7-66CB-353F2AF364DC}"/>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4.3.</a:t>
              </a:r>
              <a:r>
                <a:rPr lang="en-US" sz="2800">
                  <a:latin typeface="Times New Roman" panose="02020603050405020304" pitchFamily="18" charset="0"/>
                  <a:cs typeface="Times New Roman" panose="02020603050405020304" pitchFamily="18" charset="0"/>
                </a:rPr>
                <a:t>2</a:t>
              </a:r>
              <a:r>
                <a:rPr lang="vi-VN" sz="2800">
                  <a:latin typeface="Times New Roman" panose="02020603050405020304" pitchFamily="18" charset="0"/>
                  <a:cs typeface="Times New Roman" panose="02020603050405020304" pitchFamily="18" charset="0"/>
                </a:rPr>
                <a:t>. Redirect routes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680C278-C3D6-574B-CD80-3B37CC28D5E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F0C0C60-B768-6B2A-5EF8-493687D4163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79BE39F-48F9-EEAE-0614-331662B7707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438DCB4-3990-29AF-3FDC-F2255E3A9ED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444845AD-E7B6-06D4-3F53-6FE5C8948ABA}"/>
              </a:ext>
            </a:extLst>
          </p:cNvPr>
          <p:cNvSpPr txBox="1"/>
          <p:nvPr/>
        </p:nvSpPr>
        <p:spPr>
          <a:xfrm>
            <a:off x="476030"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4: app-routing-module.ts</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95FE43F9-74DB-623F-F382-EEB675C57763}"/>
              </a:ext>
            </a:extLst>
          </p:cNvPr>
          <p:cNvPicPr>
            <a:picLocks noChangeAspect="1"/>
          </p:cNvPicPr>
          <p:nvPr/>
        </p:nvPicPr>
        <p:blipFill>
          <a:blip r:embed="rId3"/>
          <a:stretch>
            <a:fillRect/>
          </a:stretch>
        </p:blipFill>
        <p:spPr>
          <a:xfrm>
            <a:off x="728132" y="1474381"/>
            <a:ext cx="9220999" cy="2712955"/>
          </a:xfrm>
          <a:prstGeom prst="rect">
            <a:avLst/>
          </a:prstGeom>
        </p:spPr>
      </p:pic>
      <p:sp>
        <p:nvSpPr>
          <p:cNvPr id="11" name="TextBox 10">
            <a:extLst>
              <a:ext uri="{FF2B5EF4-FFF2-40B4-BE49-F238E27FC236}">
                <a16:creationId xmlns:a16="http://schemas.microsoft.com/office/drawing/2014/main" id="{6CEBADBE-FB1B-07AB-9003-3488058D50A1}"/>
              </a:ext>
            </a:extLst>
          </p:cNvPr>
          <p:cNvSpPr txBox="1"/>
          <p:nvPr/>
        </p:nvSpPr>
        <p:spPr>
          <a:xfrm>
            <a:off x="673768" y="4436031"/>
            <a:ext cx="7678705" cy="430887"/>
          </a:xfrm>
          <a:prstGeom prst="rect">
            <a:avLst/>
          </a:prstGeom>
          <a:noFill/>
        </p:spPr>
        <p:txBody>
          <a:bodyPr wrap="none" rtlCol="0">
            <a:spAutoFit/>
          </a:bodyPr>
          <a:lstStyle/>
          <a:p>
            <a:pPr marL="342900" indent="-342900">
              <a:buFont typeface="Wingdings" panose="05000000000000000000" pitchFamily="2" charset="2"/>
              <a:buChar char="Ø"/>
            </a:pPr>
            <a:r>
              <a:rPr lang="en-US" sz="2200">
                <a:latin typeface="Times New Roman" panose="02020603050405020304" pitchFamily="18" charset="0"/>
                <a:cs typeface="Times New Roman" panose="02020603050405020304" pitchFamily="18" charset="0"/>
              </a:rPr>
              <a:t>Comment lại routing products ban đầu, thêm routing ở dòng 12</a:t>
            </a:r>
          </a:p>
        </p:txBody>
      </p:sp>
    </p:spTree>
    <p:extLst>
      <p:ext uri="{BB962C8B-B14F-4D97-AF65-F5344CB8AC3E}">
        <p14:creationId xmlns:p14="http://schemas.microsoft.com/office/powerpoint/2010/main" val="5947606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CA0EF6A-9313-C8A4-B513-0D5F0D89B33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E9D1DA2-BA27-C89C-AD58-D307F8039AF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BFC2856-72D2-BCB6-D881-DCB8172E4293}"/>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37</a:t>
            </a:fld>
            <a:endParaRPr/>
          </a:p>
        </p:txBody>
      </p:sp>
      <p:grpSp>
        <p:nvGrpSpPr>
          <p:cNvPr id="2" name="Group 1">
            <a:extLst>
              <a:ext uri="{FF2B5EF4-FFF2-40B4-BE49-F238E27FC236}">
                <a16:creationId xmlns:a16="http://schemas.microsoft.com/office/drawing/2014/main" id="{013681CA-CE3A-B21F-4D46-FD800A6DC9D2}"/>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E876871C-9F87-C98F-C71C-53A4BD5F67A7}"/>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4.3.</a:t>
              </a:r>
              <a:r>
                <a:rPr lang="en-US" sz="2800">
                  <a:latin typeface="Times New Roman" panose="02020603050405020304" pitchFamily="18" charset="0"/>
                  <a:cs typeface="Times New Roman" panose="02020603050405020304" pitchFamily="18" charset="0"/>
                </a:rPr>
                <a:t>2</a:t>
              </a:r>
              <a:r>
                <a:rPr lang="vi-VN" sz="2800">
                  <a:latin typeface="Times New Roman" panose="02020603050405020304" pitchFamily="18" charset="0"/>
                  <a:cs typeface="Times New Roman" panose="02020603050405020304" pitchFamily="18" charset="0"/>
                </a:rPr>
                <a:t>. Redirect routes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C374EABF-45F3-5B77-0546-58BA7FE45BA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76EB5BE-039D-05FB-6FF6-FDE78D1A628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581A15F-5269-4699-3915-E5E4D1E5AC0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3399BF7-8F93-2937-47E2-026036D64A2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57294E71-7E25-803D-EE5A-F3788A446CA9}"/>
              </a:ext>
            </a:extLst>
          </p:cNvPr>
          <p:cNvSpPr txBox="1"/>
          <p:nvPr/>
        </p:nvSpPr>
        <p:spPr>
          <a:xfrm>
            <a:off x="476030"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5: Chạy thử nghiệm ta có kết quả</a:t>
            </a:r>
            <a:endParaRPr lang="vi-VN" sz="240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D6F7F3D9-F973-760F-519F-A70910247B1D}"/>
              </a:ext>
            </a:extLst>
          </p:cNvPr>
          <p:cNvPicPr>
            <a:picLocks noChangeAspect="1"/>
          </p:cNvPicPr>
          <p:nvPr/>
        </p:nvPicPr>
        <p:blipFill>
          <a:blip r:embed="rId3"/>
          <a:stretch>
            <a:fillRect/>
          </a:stretch>
        </p:blipFill>
        <p:spPr>
          <a:xfrm>
            <a:off x="415252" y="1438619"/>
            <a:ext cx="6878632" cy="3980761"/>
          </a:xfrm>
          <a:prstGeom prst="rect">
            <a:avLst/>
          </a:prstGeom>
        </p:spPr>
      </p:pic>
      <p:pic>
        <p:nvPicPr>
          <p:cNvPr id="14" name="Picture 13">
            <a:extLst>
              <a:ext uri="{FF2B5EF4-FFF2-40B4-BE49-F238E27FC236}">
                <a16:creationId xmlns:a16="http://schemas.microsoft.com/office/drawing/2014/main" id="{991DC93B-11BF-0BE4-9E80-41AAA9CF3E9B}"/>
              </a:ext>
            </a:extLst>
          </p:cNvPr>
          <p:cNvPicPr>
            <a:picLocks noChangeAspect="1"/>
          </p:cNvPicPr>
          <p:nvPr/>
        </p:nvPicPr>
        <p:blipFill>
          <a:blip r:embed="rId4"/>
          <a:srcRect/>
          <a:stretch/>
        </p:blipFill>
        <p:spPr>
          <a:xfrm>
            <a:off x="5867399" y="2978067"/>
            <a:ext cx="6087369" cy="3581999"/>
          </a:xfrm>
          <a:prstGeom prst="rect">
            <a:avLst/>
          </a:prstGeom>
        </p:spPr>
      </p:pic>
    </p:spTree>
    <p:extLst>
      <p:ext uri="{BB962C8B-B14F-4D97-AF65-F5344CB8AC3E}">
        <p14:creationId xmlns:p14="http://schemas.microsoft.com/office/powerpoint/2010/main" val="41922117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FEE8F99-E370-20BF-FA11-B87EA2BDE72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FA027AD-0455-046B-B67E-917B994CA5F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5F21B0D-F3E0-7B69-4C89-6796D83D915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38</a:t>
            </a:fld>
            <a:endParaRPr/>
          </a:p>
        </p:txBody>
      </p:sp>
      <p:grpSp>
        <p:nvGrpSpPr>
          <p:cNvPr id="2" name="Group 1">
            <a:extLst>
              <a:ext uri="{FF2B5EF4-FFF2-40B4-BE49-F238E27FC236}">
                <a16:creationId xmlns:a16="http://schemas.microsoft.com/office/drawing/2014/main" id="{BA124984-1D2F-5A18-0461-3B3BA089795A}"/>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7685B080-4457-B832-87A2-664FE518FF2B}"/>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4.3.</a:t>
              </a:r>
              <a:r>
                <a:rPr lang="en-US" sz="2800">
                  <a:latin typeface="Times New Roman" panose="02020603050405020304" pitchFamily="18" charset="0"/>
                  <a:cs typeface="Times New Roman" panose="02020603050405020304" pitchFamily="18" charset="0"/>
                </a:rPr>
                <a:t>2</a:t>
              </a:r>
              <a:r>
                <a:rPr lang="vi-VN" sz="2800">
                  <a:latin typeface="Times New Roman" panose="02020603050405020304" pitchFamily="18" charset="0"/>
                  <a:cs typeface="Times New Roman" panose="02020603050405020304" pitchFamily="18" charset="0"/>
                </a:rPr>
                <a:t>. Redirect routes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AF7D9E78-BB42-F608-F351-837139B289F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8FD73C8A-85B7-2B2A-6647-9AD6644DAE2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C1E997EB-F2CB-D417-3B94-600C0608F9C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EB75E43-D538-0DC2-9B34-2367605067D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253F413A-D6ED-9D1F-92D6-E3E129E7F25F}"/>
              </a:ext>
            </a:extLst>
          </p:cNvPr>
          <p:cNvSpPr txBox="1"/>
          <p:nvPr/>
        </p:nvSpPr>
        <p:spPr>
          <a:xfrm>
            <a:off x="476030" y="841012"/>
            <a:ext cx="11564547" cy="461665"/>
          </a:xfrm>
          <a:prstGeom prst="rect">
            <a:avLst/>
          </a:prstGeom>
          <a:noFill/>
        </p:spPr>
        <p:txBody>
          <a:bodyPr wrap="square">
            <a:spAutoFit/>
          </a:bodyPr>
          <a:lstStyle/>
          <a:p>
            <a:pPr marL="457200" indent="-4572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6: Bổ sung thêm nút Back cho màn hình ProductDetail Component</a:t>
            </a:r>
            <a:endParaRPr lang="vi-VN" sz="240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80FC7680-6EF9-C4A0-C6B9-B17EAC241E4B}"/>
              </a:ext>
            </a:extLst>
          </p:cNvPr>
          <p:cNvSpPr txBox="1"/>
          <p:nvPr/>
        </p:nvSpPr>
        <p:spPr>
          <a:xfrm>
            <a:off x="653143" y="1406614"/>
            <a:ext cx="6297672" cy="461665"/>
          </a:xfrm>
          <a:prstGeom prst="rect">
            <a:avLst/>
          </a:prstGeom>
          <a:noFill/>
        </p:spPr>
        <p:txBody>
          <a:bodyPr wrap="square">
            <a:spAutoFit/>
          </a:bodyPr>
          <a:lstStyle/>
          <a:p>
            <a:pPr marL="285750" indent="-28575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product-detail-component.ts</a:t>
            </a:r>
          </a:p>
        </p:txBody>
      </p:sp>
      <p:sp>
        <p:nvSpPr>
          <p:cNvPr id="13" name="TextBox 12">
            <a:extLst>
              <a:ext uri="{FF2B5EF4-FFF2-40B4-BE49-F238E27FC236}">
                <a16:creationId xmlns:a16="http://schemas.microsoft.com/office/drawing/2014/main" id="{B0726F3C-B00C-32A9-8FF7-D9D862324AC2}"/>
              </a:ext>
            </a:extLst>
          </p:cNvPr>
          <p:cNvSpPr txBox="1"/>
          <p:nvPr/>
        </p:nvSpPr>
        <p:spPr>
          <a:xfrm>
            <a:off x="1189408" y="1952361"/>
            <a:ext cx="5012012" cy="1257780"/>
          </a:xfrm>
          <a:prstGeom prst="rect">
            <a:avLst/>
          </a:prstGeom>
          <a:noFill/>
          <a:ln>
            <a:solidFill>
              <a:srgbClr val="002060"/>
            </a:solidFill>
          </a:ln>
        </p:spPr>
        <p:txBody>
          <a:bodyPr wrap="square">
            <a:spAutoFit/>
          </a:bodyPr>
          <a:lstStyle/>
          <a:p>
            <a:pPr>
              <a:lnSpc>
                <a:spcPts val="2250"/>
              </a:lnSpc>
              <a:buNone/>
            </a:pPr>
            <a:r>
              <a:rPr lang="en-US" sz="1800" b="0">
                <a:solidFill>
                  <a:srgbClr val="000000"/>
                </a:solidFill>
                <a:effectLst/>
                <a:latin typeface="Consolas" panose="020B0609020204030204" pitchFamily="49" charset="0"/>
              </a:rPr>
              <a:t>  goBack()</a:t>
            </a:r>
          </a:p>
          <a:p>
            <a:pPr>
              <a:lnSpc>
                <a:spcPts val="2250"/>
              </a:lnSpc>
              <a:buNone/>
            </a:pPr>
            <a:r>
              <a:rPr lang="en-US" sz="1800" b="0">
                <a:solidFill>
                  <a:srgbClr val="000000"/>
                </a:solidFill>
                <a:effectLst/>
                <a:latin typeface="Consolas" panose="020B0609020204030204" pitchFamily="49" charset="0"/>
              </a:rPr>
              <a:t>  {</a:t>
            </a:r>
          </a:p>
          <a:p>
            <a:pPr>
              <a:lnSpc>
                <a:spcPts val="2250"/>
              </a:lnSpc>
              <a:buNone/>
            </a:pPr>
            <a:r>
              <a:rPr lang="en-US" sz="1800" b="0">
                <a:solidFill>
                  <a:srgbClr val="000000"/>
                </a:solidFill>
                <a:effectLst/>
                <a:latin typeface="Consolas" panose="020B0609020204030204" pitchFamily="49" charset="0"/>
              </a:rPr>
              <a:t>    </a:t>
            </a:r>
            <a:r>
              <a:rPr lang="en-US" sz="1800" b="0">
                <a:solidFill>
                  <a:srgbClr val="0000FF"/>
                </a:solidFill>
                <a:effectLst/>
                <a:latin typeface="Consolas" panose="020B0609020204030204" pitchFamily="49" charset="0"/>
              </a:rPr>
              <a:t>this</a:t>
            </a:r>
            <a:r>
              <a:rPr lang="en-US" sz="1800" b="0">
                <a:solidFill>
                  <a:srgbClr val="000000"/>
                </a:solidFill>
                <a:effectLst/>
                <a:latin typeface="Consolas" panose="020B0609020204030204" pitchFamily="49" charset="0"/>
              </a:rPr>
              <a:t>.router.navigate([</a:t>
            </a:r>
            <a:r>
              <a:rPr lang="en-US" sz="1800" b="0">
                <a:solidFill>
                  <a:srgbClr val="A31515"/>
                </a:solidFill>
                <a:effectLst/>
                <a:latin typeface="Consolas" panose="020B0609020204030204" pitchFamily="49" charset="0"/>
              </a:rPr>
              <a:t>"products"</a:t>
            </a:r>
            <a:r>
              <a:rPr lang="en-US" sz="1800" b="0">
                <a:solidFill>
                  <a:srgbClr val="000000"/>
                </a:solidFill>
                <a:effectLst/>
                <a:latin typeface="Consolas" panose="020B0609020204030204" pitchFamily="49" charset="0"/>
              </a:rPr>
              <a:t>])</a:t>
            </a:r>
          </a:p>
          <a:p>
            <a:pPr>
              <a:lnSpc>
                <a:spcPts val="2250"/>
              </a:lnSpc>
              <a:buNone/>
            </a:pPr>
            <a:r>
              <a:rPr lang="en-US" sz="1800" b="0">
                <a:solidFill>
                  <a:srgbClr val="000000"/>
                </a:solidFill>
                <a:effectLst/>
                <a:latin typeface="Consolas" panose="020B0609020204030204" pitchFamily="49" charset="0"/>
              </a:rPr>
              <a:t>  }</a:t>
            </a:r>
          </a:p>
        </p:txBody>
      </p:sp>
      <p:sp>
        <p:nvSpPr>
          <p:cNvPr id="15" name="TextBox 14">
            <a:extLst>
              <a:ext uri="{FF2B5EF4-FFF2-40B4-BE49-F238E27FC236}">
                <a16:creationId xmlns:a16="http://schemas.microsoft.com/office/drawing/2014/main" id="{FD490B1D-0105-7A84-D868-41736F1D98F5}"/>
              </a:ext>
            </a:extLst>
          </p:cNvPr>
          <p:cNvSpPr txBox="1"/>
          <p:nvPr/>
        </p:nvSpPr>
        <p:spPr>
          <a:xfrm>
            <a:off x="653143" y="3456323"/>
            <a:ext cx="6297672" cy="461665"/>
          </a:xfrm>
          <a:prstGeom prst="rect">
            <a:avLst/>
          </a:prstGeom>
          <a:noFill/>
        </p:spPr>
        <p:txBody>
          <a:bodyPr wrap="square">
            <a:spAutoFit/>
          </a:bodyPr>
          <a:lstStyle/>
          <a:p>
            <a:pPr marL="285750" indent="-28575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product-detail-component.html</a:t>
            </a:r>
          </a:p>
        </p:txBody>
      </p:sp>
      <p:sp>
        <p:nvSpPr>
          <p:cNvPr id="17" name="TextBox 16">
            <a:extLst>
              <a:ext uri="{FF2B5EF4-FFF2-40B4-BE49-F238E27FC236}">
                <a16:creationId xmlns:a16="http://schemas.microsoft.com/office/drawing/2014/main" id="{93559232-2DB1-003B-EA95-DAD835585652}"/>
              </a:ext>
            </a:extLst>
          </p:cNvPr>
          <p:cNvSpPr txBox="1"/>
          <p:nvPr/>
        </p:nvSpPr>
        <p:spPr>
          <a:xfrm>
            <a:off x="1113780" y="4198127"/>
            <a:ext cx="5087640" cy="962828"/>
          </a:xfrm>
          <a:prstGeom prst="rect">
            <a:avLst/>
          </a:prstGeom>
          <a:noFill/>
          <a:ln>
            <a:solidFill>
              <a:srgbClr val="002060"/>
            </a:solidFill>
          </a:ln>
        </p:spPr>
        <p:txBody>
          <a:bodyPr wrap="square">
            <a:spAutoFit/>
          </a:bodyPr>
          <a:lstStyle/>
          <a:p>
            <a:pPr>
              <a:lnSpc>
                <a:spcPts val="2250"/>
              </a:lnSpc>
              <a:buNone/>
            </a:pPr>
            <a:r>
              <a:rPr lang="en-US" sz="1800" b="0">
                <a:solidFill>
                  <a:srgbClr val="800000"/>
                </a:solidFill>
                <a:effectLst/>
                <a:latin typeface="Consolas" panose="020B0609020204030204" pitchFamily="49" charset="0"/>
              </a:rPr>
              <a:t>&lt;button</a:t>
            </a:r>
            <a:r>
              <a:rPr lang="en-US" sz="1800" b="0">
                <a:solidFill>
                  <a:srgbClr val="000000"/>
                </a:solidFill>
                <a:effectLst/>
                <a:latin typeface="Consolas" panose="020B0609020204030204" pitchFamily="49" charset="0"/>
              </a:rPr>
              <a:t> </a:t>
            </a:r>
            <a:r>
              <a:rPr lang="en-US" sz="1800" b="0">
                <a:solidFill>
                  <a:srgbClr val="E50000"/>
                </a:solidFill>
                <a:effectLst/>
                <a:latin typeface="Consolas" panose="020B0609020204030204" pitchFamily="49" charset="0"/>
              </a:rPr>
              <a:t>(click)</a:t>
            </a:r>
            <a:r>
              <a:rPr lang="en-US" sz="1800" b="0">
                <a:solidFill>
                  <a:srgbClr val="000000"/>
                </a:solidFill>
                <a:effectLst/>
                <a:latin typeface="Consolas" panose="020B0609020204030204" pitchFamily="49" charset="0"/>
              </a:rPr>
              <a:t>=</a:t>
            </a:r>
            <a:r>
              <a:rPr lang="en-US" sz="1800" b="0">
                <a:solidFill>
                  <a:srgbClr val="A31515"/>
                </a:solidFill>
                <a:effectLst/>
                <a:latin typeface="Consolas" panose="020B0609020204030204" pitchFamily="49" charset="0"/>
              </a:rPr>
              <a:t>"</a:t>
            </a:r>
            <a:r>
              <a:rPr lang="en-US" sz="1800" b="0">
                <a:solidFill>
                  <a:srgbClr val="000000"/>
                </a:solidFill>
                <a:effectLst/>
                <a:latin typeface="Consolas" panose="020B0609020204030204" pitchFamily="49" charset="0"/>
              </a:rPr>
              <a:t>goBack()</a:t>
            </a:r>
            <a:r>
              <a:rPr lang="en-US" sz="1800" b="0">
                <a:solidFill>
                  <a:srgbClr val="A31515"/>
                </a:solidFill>
                <a:effectLst/>
                <a:latin typeface="Consolas" panose="020B0609020204030204" pitchFamily="49" charset="0"/>
              </a:rPr>
              <a:t>"</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000000"/>
                </a:solidFill>
                <a:effectLst/>
                <a:latin typeface="Consolas" panose="020B0609020204030204" pitchFamily="49" charset="0"/>
              </a:rPr>
              <a:t>  Go Back</a:t>
            </a:r>
          </a:p>
          <a:p>
            <a:pPr>
              <a:lnSpc>
                <a:spcPts val="2250"/>
              </a:lnSpc>
              <a:buNone/>
            </a:pPr>
            <a:r>
              <a:rPr lang="en-US" sz="1800" b="0">
                <a:solidFill>
                  <a:srgbClr val="800000"/>
                </a:solidFill>
                <a:effectLst/>
                <a:latin typeface="Consolas" panose="020B0609020204030204" pitchFamily="49" charset="0"/>
              </a:rPr>
              <a:t>&lt;/button&gt;</a:t>
            </a:r>
            <a:endParaRPr lang="en-US" sz="1800" b="0">
              <a:solidFill>
                <a:srgbClr val="000000"/>
              </a:solidFill>
              <a:effectLst/>
              <a:latin typeface="Consolas" panose="020B0609020204030204" pitchFamily="49" charset="0"/>
            </a:endParaRPr>
          </a:p>
        </p:txBody>
      </p:sp>
      <p:pic>
        <p:nvPicPr>
          <p:cNvPr id="19" name="Picture 18">
            <a:extLst>
              <a:ext uri="{FF2B5EF4-FFF2-40B4-BE49-F238E27FC236}">
                <a16:creationId xmlns:a16="http://schemas.microsoft.com/office/drawing/2014/main" id="{0CD66F94-8708-4B64-A2D2-0D2D1583661B}"/>
              </a:ext>
            </a:extLst>
          </p:cNvPr>
          <p:cNvPicPr>
            <a:picLocks noChangeAspect="1"/>
          </p:cNvPicPr>
          <p:nvPr/>
        </p:nvPicPr>
        <p:blipFill>
          <a:blip r:embed="rId3"/>
          <a:stretch>
            <a:fillRect/>
          </a:stretch>
        </p:blipFill>
        <p:spPr>
          <a:xfrm>
            <a:off x="6609417" y="1300958"/>
            <a:ext cx="4686516" cy="2610540"/>
          </a:xfrm>
          <a:prstGeom prst="rect">
            <a:avLst/>
          </a:prstGeom>
        </p:spPr>
      </p:pic>
      <p:pic>
        <p:nvPicPr>
          <p:cNvPr id="21" name="Picture 20">
            <a:extLst>
              <a:ext uri="{FF2B5EF4-FFF2-40B4-BE49-F238E27FC236}">
                <a16:creationId xmlns:a16="http://schemas.microsoft.com/office/drawing/2014/main" id="{105213CA-F7AF-59B7-923E-E86C0E9B8997}"/>
              </a:ext>
            </a:extLst>
          </p:cNvPr>
          <p:cNvPicPr>
            <a:picLocks noChangeAspect="1"/>
          </p:cNvPicPr>
          <p:nvPr/>
        </p:nvPicPr>
        <p:blipFill>
          <a:blip r:embed="rId4"/>
          <a:stretch>
            <a:fillRect/>
          </a:stretch>
        </p:blipFill>
        <p:spPr>
          <a:xfrm>
            <a:off x="6523891" y="4296807"/>
            <a:ext cx="4342757" cy="2408910"/>
          </a:xfrm>
          <a:prstGeom prst="rect">
            <a:avLst/>
          </a:prstGeom>
        </p:spPr>
      </p:pic>
      <p:sp>
        <p:nvSpPr>
          <p:cNvPr id="22" name="Arrow: Down 21">
            <a:extLst>
              <a:ext uri="{FF2B5EF4-FFF2-40B4-BE49-F238E27FC236}">
                <a16:creationId xmlns:a16="http://schemas.microsoft.com/office/drawing/2014/main" id="{4CA67A98-87DA-C87A-9972-9A5DC5691895}"/>
              </a:ext>
            </a:extLst>
          </p:cNvPr>
          <p:cNvSpPr/>
          <p:nvPr/>
        </p:nvSpPr>
        <p:spPr>
          <a:xfrm>
            <a:off x="6880960" y="3823690"/>
            <a:ext cx="139710" cy="532262"/>
          </a:xfrm>
          <a:prstGeom prst="down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64345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29AE0B8-FFF6-A120-F1A2-2FE02152F02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259C583-A059-7087-C022-8FCED7E3A3B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0A47EE4-FA9B-D0DA-EEAE-E26D98793F6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39</a:t>
            </a:fld>
            <a:endParaRPr/>
          </a:p>
        </p:txBody>
      </p:sp>
      <p:grpSp>
        <p:nvGrpSpPr>
          <p:cNvPr id="2" name="Group 1">
            <a:extLst>
              <a:ext uri="{FF2B5EF4-FFF2-40B4-BE49-F238E27FC236}">
                <a16:creationId xmlns:a16="http://schemas.microsoft.com/office/drawing/2014/main" id="{1A1166EB-ED2D-4FF1-2BD2-21F53E167CF8}"/>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37DFF6FA-8D4A-2213-5261-B67483E49CE9}"/>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4.3.</a:t>
              </a:r>
              <a:r>
                <a:rPr lang="en-US" sz="2800">
                  <a:latin typeface="Times New Roman" panose="02020603050405020304" pitchFamily="18" charset="0"/>
                  <a:cs typeface="Times New Roman" panose="02020603050405020304" pitchFamily="18" charset="0"/>
                </a:rPr>
                <a:t>2</a:t>
              </a:r>
              <a:r>
                <a:rPr lang="vi-VN" sz="2800">
                  <a:latin typeface="Times New Roman" panose="02020603050405020304" pitchFamily="18" charset="0"/>
                  <a:cs typeface="Times New Roman" panose="02020603050405020304" pitchFamily="18" charset="0"/>
                </a:rPr>
                <a:t>. Redirect routes</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6314C91-7B4C-1D53-CFBB-4D40579A647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BC20FD2-95F2-E8DC-E44B-20160644752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EA17AA5-6AB6-57D0-8917-1A43738A53C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825B5D4-BECC-A709-50F9-31DE23CE25E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graphicFrame>
        <p:nvGraphicFramePr>
          <p:cNvPr id="8" name="Table 7">
            <a:extLst>
              <a:ext uri="{FF2B5EF4-FFF2-40B4-BE49-F238E27FC236}">
                <a16:creationId xmlns:a16="http://schemas.microsoft.com/office/drawing/2014/main" id="{12DC84CF-A3E6-B626-0F2F-648210234231}"/>
              </a:ext>
            </a:extLst>
          </p:cNvPr>
          <p:cNvGraphicFramePr>
            <a:graphicFrameLocks noGrp="1"/>
          </p:cNvGraphicFramePr>
          <p:nvPr>
            <p:extLst>
              <p:ext uri="{D42A27DB-BD31-4B8C-83A1-F6EECF244321}">
                <p14:modId xmlns:p14="http://schemas.microsoft.com/office/powerpoint/2010/main" val="1941713367"/>
              </p:ext>
            </p:extLst>
          </p:nvPr>
        </p:nvGraphicFramePr>
        <p:xfrm>
          <a:off x="487564" y="987784"/>
          <a:ext cx="11413386" cy="4572000"/>
        </p:xfrm>
        <a:graphic>
          <a:graphicData uri="http://schemas.openxmlformats.org/drawingml/2006/table">
            <a:tbl>
              <a:tblPr>
                <a:tableStyleId>{5940675A-B579-460E-94D1-54222C63F5DA}</a:tableStyleId>
              </a:tblPr>
              <a:tblGrid>
                <a:gridCol w="2255636">
                  <a:extLst>
                    <a:ext uri="{9D8B030D-6E8A-4147-A177-3AD203B41FA5}">
                      <a16:colId xmlns:a16="http://schemas.microsoft.com/office/drawing/2014/main" val="1228627193"/>
                    </a:ext>
                  </a:extLst>
                </a:gridCol>
                <a:gridCol w="5353288">
                  <a:extLst>
                    <a:ext uri="{9D8B030D-6E8A-4147-A177-3AD203B41FA5}">
                      <a16:colId xmlns:a16="http://schemas.microsoft.com/office/drawing/2014/main" val="1662640976"/>
                    </a:ext>
                  </a:extLst>
                </a:gridCol>
                <a:gridCol w="3804462">
                  <a:extLst>
                    <a:ext uri="{9D8B030D-6E8A-4147-A177-3AD203B41FA5}">
                      <a16:colId xmlns:a16="http://schemas.microsoft.com/office/drawing/2014/main" val="77346012"/>
                    </a:ext>
                  </a:extLst>
                </a:gridCol>
              </a:tblGrid>
              <a:tr h="0">
                <a:tc>
                  <a:txBody>
                    <a:bodyPr/>
                    <a:lstStyle/>
                    <a:p>
                      <a:pPr algn="ctr" rtl="0">
                        <a:buNone/>
                      </a:pPr>
                      <a:r>
                        <a:rPr lang="en-US" sz="2200" b="1">
                          <a:solidFill>
                            <a:srgbClr val="1F1F1F"/>
                          </a:solidFill>
                          <a:effectLst/>
                          <a:latin typeface="Times New Roman" panose="02020603050405020304" pitchFamily="18" charset="0"/>
                          <a:cs typeface="Times New Roman" panose="02020603050405020304" pitchFamily="18" charset="0"/>
                        </a:rPr>
                        <a:t>Đặc điểm</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tc>
                  <a:txBody>
                    <a:bodyPr/>
                    <a:lstStyle/>
                    <a:p>
                      <a:pPr algn="ctr" rtl="0">
                        <a:buNone/>
                      </a:pPr>
                      <a:r>
                        <a:rPr lang="vi-VN" sz="2200" b="1">
                          <a:solidFill>
                            <a:srgbClr val="1F1F1F"/>
                          </a:solidFill>
                          <a:effectLst/>
                          <a:latin typeface="Times New Roman" panose="02020603050405020304" pitchFamily="18" charset="0"/>
                          <a:cs typeface="Times New Roman" panose="02020603050405020304" pitchFamily="18" charset="0"/>
                        </a:rPr>
                        <a:t>Router (Người điều phối)</a:t>
                      </a:r>
                      <a:endParaRPr lang="vi-VN"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tc>
                  <a:txBody>
                    <a:bodyPr/>
                    <a:lstStyle/>
                    <a:p>
                      <a:pPr algn="ctr" rtl="0">
                        <a:buNone/>
                      </a:pPr>
                      <a:r>
                        <a:rPr lang="en-US" sz="2200" b="1">
                          <a:solidFill>
                            <a:srgbClr val="1F1F1F"/>
                          </a:solidFill>
                          <a:effectLst/>
                          <a:latin typeface="Times New Roman" panose="02020603050405020304" pitchFamily="18" charset="0"/>
                          <a:cs typeface="Times New Roman" panose="02020603050405020304" pitchFamily="18" charset="0"/>
                        </a:rPr>
                        <a:t>ActivatedRoute </a:t>
                      </a:r>
                    </a:p>
                    <a:p>
                      <a:pPr algn="ctr" rtl="0">
                        <a:buNone/>
                      </a:pPr>
                      <a:r>
                        <a:rPr lang="en-US" sz="2200" b="1">
                          <a:solidFill>
                            <a:srgbClr val="1F1F1F"/>
                          </a:solidFill>
                          <a:effectLst/>
                          <a:latin typeface="Times New Roman" panose="02020603050405020304" pitchFamily="18" charset="0"/>
                          <a:cs typeface="Times New Roman" panose="02020603050405020304" pitchFamily="18" charset="0"/>
                        </a:rPr>
                        <a:t>(Thông tin hiện tại)</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solidFill>
                      <a:srgbClr val="FFFF00"/>
                    </a:solidFill>
                  </a:tcPr>
                </a:tc>
                <a:extLst>
                  <a:ext uri="{0D108BD9-81ED-4DB2-BD59-A6C34878D82A}">
                    <a16:rowId xmlns:a16="http://schemas.microsoft.com/office/drawing/2014/main" val="2087141622"/>
                  </a:ext>
                </a:extLst>
              </a:tr>
              <a:tr h="0">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Bản chất</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fr-FR" sz="2200">
                          <a:solidFill>
                            <a:srgbClr val="1F1F1F"/>
                          </a:solidFill>
                          <a:effectLst/>
                          <a:latin typeface="Times New Roman" panose="02020603050405020304" pitchFamily="18" charset="0"/>
                          <a:cs typeface="Times New Roman" panose="02020603050405020304" pitchFamily="18" charset="0"/>
                        </a:rPr>
                        <a:t>Là một </a:t>
                      </a:r>
                      <a:r>
                        <a:rPr lang="fr-FR" sz="2200" b="1">
                          <a:solidFill>
                            <a:srgbClr val="1F1F1F"/>
                          </a:solidFill>
                          <a:effectLst/>
                          <a:latin typeface="Times New Roman" panose="02020603050405020304" pitchFamily="18" charset="0"/>
                          <a:cs typeface="Times New Roman" panose="02020603050405020304" pitchFamily="18" charset="0"/>
                        </a:rPr>
                        <a:t>Service toàn cục</a:t>
                      </a:r>
                      <a:r>
                        <a:rPr lang="fr-FR" sz="2200">
                          <a:solidFill>
                            <a:srgbClr val="1F1F1F"/>
                          </a:solidFill>
                          <a:effectLst/>
                          <a:latin typeface="Times New Roman" panose="02020603050405020304" pitchFamily="18" charset="0"/>
                          <a:cs typeface="Times New Roman" panose="02020603050405020304" pitchFamily="18" charset="0"/>
                        </a:rPr>
                        <a:t> (Singleton).</a:t>
                      </a: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Là một </a:t>
                      </a:r>
                      <a:r>
                        <a:rPr lang="en-US" sz="2200" b="1">
                          <a:solidFill>
                            <a:srgbClr val="1F1F1F"/>
                          </a:solidFill>
                          <a:effectLst/>
                          <a:latin typeface="Times New Roman" panose="02020603050405020304" pitchFamily="18" charset="0"/>
                          <a:cs typeface="Times New Roman" panose="02020603050405020304" pitchFamily="18" charset="0"/>
                        </a:rPr>
                        <a:t>Service cục bộ</a:t>
                      </a:r>
                      <a:r>
                        <a:rPr lang="en-US" sz="2200">
                          <a:solidFill>
                            <a:srgbClr val="1F1F1F"/>
                          </a:solidFill>
                          <a:effectLst/>
                          <a:latin typeface="Times New Roman" panose="02020603050405020304" pitchFamily="18" charset="0"/>
                          <a:cs typeface="Times New Roman" panose="02020603050405020304" pitchFamily="18" charset="0"/>
                        </a:rPr>
                        <a:t>, gắn liền với Component đang hiển thị.</a:t>
                      </a:r>
                    </a:p>
                  </a:txBody>
                  <a:tcPr marT="121920" marB="121920" anchor="ctr"/>
                </a:tc>
                <a:extLst>
                  <a:ext uri="{0D108BD9-81ED-4DB2-BD59-A6C34878D82A}">
                    <a16:rowId xmlns:a16="http://schemas.microsoft.com/office/drawing/2014/main" val="2036794179"/>
                  </a:ext>
                </a:extLst>
              </a:tr>
              <a:tr h="0">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Ý nghĩa</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Dùng để </a:t>
                      </a:r>
                      <a:r>
                        <a:rPr lang="en-US" sz="2200" b="1">
                          <a:solidFill>
                            <a:srgbClr val="1F1F1F"/>
                          </a:solidFill>
                          <a:effectLst/>
                          <a:latin typeface="Times New Roman" panose="02020603050405020304" pitchFamily="18" charset="0"/>
                          <a:cs typeface="Times New Roman" panose="02020603050405020304" pitchFamily="18" charset="0"/>
                        </a:rPr>
                        <a:t>thực hiện hành động</a:t>
                      </a:r>
                      <a:r>
                        <a:rPr lang="en-US" sz="2200">
                          <a:solidFill>
                            <a:srgbClr val="1F1F1F"/>
                          </a:solidFill>
                          <a:effectLst/>
                          <a:latin typeface="Times New Roman" panose="02020603050405020304" pitchFamily="18" charset="0"/>
                          <a:cs typeface="Times New Roman" panose="02020603050405020304" pitchFamily="18" charset="0"/>
                        </a:rPr>
                        <a:t> di chuyển giữa các trang.</a:t>
                      </a: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Dùng để </a:t>
                      </a:r>
                      <a:r>
                        <a:rPr lang="en-US" sz="2200" b="1">
                          <a:solidFill>
                            <a:srgbClr val="1F1F1F"/>
                          </a:solidFill>
                          <a:effectLst/>
                          <a:latin typeface="Times New Roman" panose="02020603050405020304" pitchFamily="18" charset="0"/>
                          <a:cs typeface="Times New Roman" panose="02020603050405020304" pitchFamily="18" charset="0"/>
                        </a:rPr>
                        <a:t>trích xuất dữ liệu</a:t>
                      </a:r>
                      <a:r>
                        <a:rPr lang="en-US" sz="2200">
                          <a:solidFill>
                            <a:srgbClr val="1F1F1F"/>
                          </a:solidFill>
                          <a:effectLst/>
                          <a:latin typeface="Times New Roman" panose="02020603050405020304" pitchFamily="18" charset="0"/>
                          <a:cs typeface="Times New Roman" panose="02020603050405020304" pitchFamily="18" charset="0"/>
                        </a:rPr>
                        <a:t> từ URL của trang hiện tại.</a:t>
                      </a:r>
                    </a:p>
                  </a:txBody>
                  <a:tcPr marT="121920" marB="121920" anchor="ctr"/>
                </a:tc>
                <a:extLst>
                  <a:ext uri="{0D108BD9-81ED-4DB2-BD59-A6C34878D82A}">
                    <a16:rowId xmlns:a16="http://schemas.microsoft.com/office/drawing/2014/main" val="952030016"/>
                  </a:ext>
                </a:extLst>
              </a:tr>
              <a:tr h="0">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Phạm vi</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vi-VN" sz="2200">
                          <a:solidFill>
                            <a:srgbClr val="1F1F1F"/>
                          </a:solidFill>
                          <a:effectLst/>
                          <a:latin typeface="Times New Roman" panose="02020603050405020304" pitchFamily="18" charset="0"/>
                          <a:cs typeface="Times New Roman" panose="02020603050405020304" pitchFamily="18" charset="0"/>
                        </a:rPr>
                        <a:t>Có thể điều hướng đến bất kỳ đâu trong toàn bộ ứng dụng.</a:t>
                      </a: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Chỉ chứa thông tin của Route đang kích hoạt Component đó.</a:t>
                      </a:r>
                    </a:p>
                  </a:txBody>
                  <a:tcPr marT="121920" marB="121920" anchor="ctr"/>
                </a:tc>
                <a:extLst>
                  <a:ext uri="{0D108BD9-81ED-4DB2-BD59-A6C34878D82A}">
                    <a16:rowId xmlns:a16="http://schemas.microsoft.com/office/drawing/2014/main" val="3449529398"/>
                  </a:ext>
                </a:extLst>
              </a:tr>
              <a:tr h="0">
                <a:tc>
                  <a:txBody>
                    <a:bodyPr/>
                    <a:lstStyle/>
                    <a:p>
                      <a:pPr rtl="0">
                        <a:buNone/>
                      </a:pPr>
                      <a:r>
                        <a:rPr lang="en-US" sz="2200" b="1">
                          <a:solidFill>
                            <a:srgbClr val="1F1F1F"/>
                          </a:solidFill>
                          <a:effectLst/>
                          <a:latin typeface="Times New Roman" panose="02020603050405020304" pitchFamily="18" charset="0"/>
                          <a:cs typeface="Times New Roman" panose="02020603050405020304" pitchFamily="18" charset="0"/>
                        </a:rPr>
                        <a:t>Dữ liệu cung cấp</a:t>
                      </a:r>
                      <a:endParaRPr lang="en-US" sz="2200">
                        <a:solidFill>
                          <a:srgbClr val="1F1F1F"/>
                        </a:solidFill>
                        <a:effectLst/>
                        <a:latin typeface="Times New Roman" panose="02020603050405020304" pitchFamily="18" charset="0"/>
                        <a:cs typeface="Times New Roman" panose="02020603050405020304" pitchFamily="18" charset="0"/>
                      </a:endParaRPr>
                    </a:p>
                  </a:txBody>
                  <a:tcPr marT="121920" marB="121920" anchor="ctr"/>
                </a:tc>
                <a:tc>
                  <a:txBody>
                    <a:bodyPr/>
                    <a:lstStyle/>
                    <a:p>
                      <a:pPr rtl="0">
                        <a:buNone/>
                      </a:pPr>
                      <a:r>
                        <a:rPr lang="vi-VN" sz="2200">
                          <a:solidFill>
                            <a:srgbClr val="1F1F1F"/>
                          </a:solidFill>
                          <a:effectLst/>
                          <a:latin typeface="Times New Roman" panose="02020603050405020304" pitchFamily="18" charset="0"/>
                          <a:cs typeface="Times New Roman" panose="02020603050405020304" pitchFamily="18" charset="0"/>
                        </a:rPr>
                        <a:t>Cung cấp các phương thức điều hướng, trạng thái router toàn cục.</a:t>
                      </a:r>
                    </a:p>
                  </a:txBody>
                  <a:tcPr marT="121920" marB="121920" anchor="ctr"/>
                </a:tc>
                <a:tc>
                  <a:txBody>
                    <a:bodyPr/>
                    <a:lstStyle/>
                    <a:p>
                      <a:pPr rtl="0">
                        <a:buNone/>
                      </a:pPr>
                      <a:r>
                        <a:rPr lang="en-US" sz="2200">
                          <a:solidFill>
                            <a:srgbClr val="1F1F1F"/>
                          </a:solidFill>
                          <a:effectLst/>
                          <a:latin typeface="Times New Roman" panose="02020603050405020304" pitchFamily="18" charset="0"/>
                          <a:cs typeface="Times New Roman" panose="02020603050405020304" pitchFamily="18" charset="0"/>
                        </a:rPr>
                        <a:t>Cung cấp </a:t>
                      </a:r>
                      <a:r>
                        <a:rPr lang="en-US" sz="2200">
                          <a:solidFill>
                            <a:srgbClr val="444746"/>
                          </a:solidFill>
                          <a:effectLst/>
                          <a:latin typeface="Times New Roman" panose="02020603050405020304" pitchFamily="18" charset="0"/>
                          <a:cs typeface="Times New Roman" panose="02020603050405020304" pitchFamily="18" charset="0"/>
                        </a:rPr>
                        <a:t>params</a:t>
                      </a:r>
                      <a:r>
                        <a:rPr lang="en-US" sz="2200">
                          <a:solidFill>
                            <a:srgbClr val="1F1F1F"/>
                          </a:solidFill>
                          <a:effectLst/>
                          <a:latin typeface="Times New Roman" panose="02020603050405020304" pitchFamily="18" charset="0"/>
                          <a:cs typeface="Times New Roman" panose="02020603050405020304" pitchFamily="18" charset="0"/>
                        </a:rPr>
                        <a:t>, </a:t>
                      </a:r>
                      <a:r>
                        <a:rPr lang="en-US" sz="2200">
                          <a:solidFill>
                            <a:srgbClr val="444746"/>
                          </a:solidFill>
                          <a:effectLst/>
                          <a:latin typeface="Times New Roman" panose="02020603050405020304" pitchFamily="18" charset="0"/>
                          <a:cs typeface="Times New Roman" panose="02020603050405020304" pitchFamily="18" charset="0"/>
                        </a:rPr>
                        <a:t>queryParams</a:t>
                      </a:r>
                      <a:r>
                        <a:rPr lang="en-US" sz="2200">
                          <a:solidFill>
                            <a:srgbClr val="1F1F1F"/>
                          </a:solidFill>
                          <a:effectLst/>
                          <a:latin typeface="Times New Roman" panose="02020603050405020304" pitchFamily="18" charset="0"/>
                          <a:cs typeface="Times New Roman" panose="02020603050405020304" pitchFamily="18" charset="0"/>
                        </a:rPr>
                        <a:t>, </a:t>
                      </a:r>
                      <a:r>
                        <a:rPr lang="en-US" sz="2200">
                          <a:solidFill>
                            <a:srgbClr val="444746"/>
                          </a:solidFill>
                          <a:effectLst/>
                          <a:latin typeface="Times New Roman" panose="02020603050405020304" pitchFamily="18" charset="0"/>
                          <a:cs typeface="Times New Roman" panose="02020603050405020304" pitchFamily="18" charset="0"/>
                        </a:rPr>
                        <a:t>data</a:t>
                      </a:r>
                      <a:r>
                        <a:rPr lang="en-US" sz="2200">
                          <a:solidFill>
                            <a:srgbClr val="1F1F1F"/>
                          </a:solidFill>
                          <a:effectLst/>
                          <a:latin typeface="Times New Roman" panose="02020603050405020304" pitchFamily="18" charset="0"/>
                          <a:cs typeface="Times New Roman" panose="02020603050405020304" pitchFamily="18" charset="0"/>
                        </a:rPr>
                        <a:t>, </a:t>
                      </a:r>
                      <a:r>
                        <a:rPr lang="en-US" sz="2200">
                          <a:solidFill>
                            <a:srgbClr val="444746"/>
                          </a:solidFill>
                          <a:effectLst/>
                          <a:latin typeface="Times New Roman" panose="02020603050405020304" pitchFamily="18" charset="0"/>
                          <a:cs typeface="Times New Roman" panose="02020603050405020304" pitchFamily="18" charset="0"/>
                        </a:rPr>
                        <a:t>slug</a:t>
                      </a:r>
                      <a:r>
                        <a:rPr lang="en-US" sz="2200">
                          <a:solidFill>
                            <a:srgbClr val="1F1F1F"/>
                          </a:solidFill>
                          <a:effectLst/>
                          <a:latin typeface="Times New Roman" panose="02020603050405020304" pitchFamily="18" charset="0"/>
                          <a:cs typeface="Times New Roman" panose="02020603050405020304" pitchFamily="18" charset="0"/>
                        </a:rPr>
                        <a:t>, </a:t>
                      </a:r>
                      <a:r>
                        <a:rPr lang="en-US" sz="2200">
                          <a:solidFill>
                            <a:srgbClr val="444746"/>
                          </a:solidFill>
                          <a:effectLst/>
                          <a:latin typeface="Times New Roman" panose="02020603050405020304" pitchFamily="18" charset="0"/>
                          <a:cs typeface="Times New Roman" panose="02020603050405020304" pitchFamily="18" charset="0"/>
                        </a:rPr>
                        <a:t>fragment</a:t>
                      </a:r>
                      <a:r>
                        <a:rPr lang="en-US" sz="2200">
                          <a:solidFill>
                            <a:srgbClr val="1F1F1F"/>
                          </a:solidFill>
                          <a:effectLst/>
                          <a:latin typeface="Times New Roman" panose="02020603050405020304" pitchFamily="18" charset="0"/>
                          <a:cs typeface="Times New Roman" panose="02020603050405020304" pitchFamily="18" charset="0"/>
                        </a:rPr>
                        <a:t>.</a:t>
                      </a:r>
                    </a:p>
                  </a:txBody>
                  <a:tcPr marT="121920" marB="121920" anchor="ctr"/>
                </a:tc>
                <a:extLst>
                  <a:ext uri="{0D108BD9-81ED-4DB2-BD59-A6C34878D82A}">
                    <a16:rowId xmlns:a16="http://schemas.microsoft.com/office/drawing/2014/main" val="3107898617"/>
                  </a:ext>
                </a:extLst>
              </a:tr>
            </a:tbl>
          </a:graphicData>
        </a:graphic>
      </p:graphicFrame>
    </p:spTree>
    <p:extLst>
      <p:ext uri="{BB962C8B-B14F-4D97-AF65-F5344CB8AC3E}">
        <p14:creationId xmlns:p14="http://schemas.microsoft.com/office/powerpoint/2010/main" val="13987646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AAA447F-BA52-8060-E4CD-BB30745C47C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A14D239-4214-C538-C090-49A1273F34F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4FC354C-75E9-ED6C-9910-E95C1411D34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a:p>
        </p:txBody>
      </p:sp>
      <p:grpSp>
        <p:nvGrpSpPr>
          <p:cNvPr id="2" name="Group 1">
            <a:extLst>
              <a:ext uri="{FF2B5EF4-FFF2-40B4-BE49-F238E27FC236}">
                <a16:creationId xmlns:a16="http://schemas.microsoft.com/office/drawing/2014/main" id="{5095DEAB-0CAE-4DA4-C674-92E7276C49A1}"/>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DDBB0427-3A41-CF75-BEB7-AD388C35EE1A}"/>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4.3.</a:t>
              </a:r>
              <a:r>
                <a:rPr lang="en-US" sz="2800">
                  <a:latin typeface="Times New Roman" panose="02020603050405020304" pitchFamily="18" charset="0"/>
                  <a:cs typeface="Times New Roman" panose="02020603050405020304" pitchFamily="18" charset="0"/>
                </a:rPr>
                <a:t>3</a:t>
              </a:r>
              <a:r>
                <a:rPr lang="vi-VN" sz="2800">
                  <a:latin typeface="Times New Roman" panose="02020603050405020304" pitchFamily="18" charset="0"/>
                  <a:cs typeface="Times New Roman" panose="02020603050405020304" pitchFamily="18" charset="0"/>
                </a:rPr>
                <a:t>. Route với slug</a:t>
              </a:r>
              <a:r>
                <a:rPr lang="en-US" sz="2800">
                  <a:latin typeface="Times New Roman" panose="02020603050405020304" pitchFamily="18" charset="0"/>
                  <a:cs typeface="Times New Roman" panose="02020603050405020304" pitchFamily="18" charset="0"/>
                </a:rPr>
                <a:t> hỗ trợ kỹ thuật SEO</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C3DBDEC-B407-D74D-D31E-42037193D67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8A92314D-447E-644D-95BD-7D50BFE27B1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508411B-566B-FBAC-936F-E0597661613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E10AD58-51C3-DDF3-5FC4-05BA125CF35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38FE97C6-7D10-A763-DCA9-6986D0AAC1A4}"/>
              </a:ext>
            </a:extLst>
          </p:cNvPr>
          <p:cNvSpPr txBox="1"/>
          <p:nvPr/>
        </p:nvSpPr>
        <p:spPr>
          <a:xfrm>
            <a:off x="476030" y="841012"/>
            <a:ext cx="11564547" cy="1133965"/>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:slug</a:t>
            </a:r>
            <a:r>
              <a:rPr lang="vi-VN" sz="2400">
                <a:latin typeface="Times New Roman" panose="02020603050405020304" pitchFamily="18" charset="0"/>
                <a:cs typeface="Times New Roman" panose="02020603050405020304" pitchFamily="18" charset="0"/>
              </a:rPr>
              <a:t>: Đường dẫn thân thiện với SEO, thường là tên sản phẩm không dấu (ví dụ: product/iphone-</a:t>
            </a:r>
            <a:r>
              <a:rPr lang="en-US" sz="2400">
                <a:latin typeface="Times New Roman" panose="02020603050405020304" pitchFamily="18" charset="0"/>
                <a:cs typeface="Times New Roman" panose="02020603050405020304" pitchFamily="18" charset="0"/>
              </a:rPr>
              <a:t>69</a:t>
            </a:r>
            <a:r>
              <a:rPr lang="vi-VN" sz="2400">
                <a:latin typeface="Times New Roman" panose="02020603050405020304" pitchFamily="18" charset="0"/>
                <a:cs typeface="Times New Roman" panose="02020603050405020304" pitchFamily="18" charset="0"/>
              </a:rPr>
              <a:t>-pro-max).</a:t>
            </a:r>
          </a:p>
        </p:txBody>
      </p:sp>
      <p:sp>
        <p:nvSpPr>
          <p:cNvPr id="8" name="TextBox 7">
            <a:extLst>
              <a:ext uri="{FF2B5EF4-FFF2-40B4-BE49-F238E27FC236}">
                <a16:creationId xmlns:a16="http://schemas.microsoft.com/office/drawing/2014/main" id="{53AC7EEC-F223-2497-7689-901A9E76EE58}"/>
              </a:ext>
            </a:extLst>
          </p:cNvPr>
          <p:cNvSpPr txBox="1"/>
          <p:nvPr/>
        </p:nvSpPr>
        <p:spPr>
          <a:xfrm>
            <a:off x="542786" y="2154173"/>
            <a:ext cx="11564547" cy="2795958"/>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Và thường ta nên nối với id để slug nó luôn là unique, ví dụ:</a:t>
            </a:r>
          </a:p>
          <a:p>
            <a:pPr>
              <a:lnSpc>
                <a:spcPct val="150000"/>
              </a:lnSpc>
            </a:pPr>
            <a:r>
              <a:rPr lang="vi-VN" sz="2400">
                <a:latin typeface="Times New Roman" panose="02020603050405020304" pitchFamily="18" charset="0"/>
                <a:cs typeface="Times New Roman" panose="02020603050405020304" pitchFamily="18" charset="0"/>
              </a:rPr>
              <a:t>product/iphone-</a:t>
            </a:r>
            <a:r>
              <a:rPr lang="en-US" sz="2400">
                <a:latin typeface="Times New Roman" panose="02020603050405020304" pitchFamily="18" charset="0"/>
                <a:cs typeface="Times New Roman" panose="02020603050405020304" pitchFamily="18" charset="0"/>
              </a:rPr>
              <a:t>69</a:t>
            </a:r>
            <a:r>
              <a:rPr lang="vi-VN" sz="2400">
                <a:latin typeface="Times New Roman" panose="02020603050405020304" pitchFamily="18" charset="0"/>
                <a:cs typeface="Times New Roman" panose="02020603050405020304" pitchFamily="18" charset="0"/>
              </a:rPr>
              <a:t>-pro-max</a:t>
            </a:r>
            <a:r>
              <a:rPr lang="en-US" sz="2400">
                <a:latin typeface="Times New Roman" panose="02020603050405020304" pitchFamily="18" charset="0"/>
                <a:cs typeface="Times New Roman" panose="02020603050405020304" pitchFamily="18" charset="0"/>
              </a:rPr>
              <a:t>-</a:t>
            </a:r>
            <a:r>
              <a:rPr lang="en-US" sz="2400">
                <a:solidFill>
                  <a:srgbClr val="00B050"/>
                </a:solidFill>
                <a:latin typeface="Times New Roman" panose="02020603050405020304" pitchFamily="18" charset="0"/>
                <a:cs typeface="Times New Roman" panose="02020603050405020304" pitchFamily="18" charset="0"/>
              </a:rPr>
              <a:t>p</a:t>
            </a:r>
            <a:r>
              <a:rPr lang="en-US" sz="2400">
                <a:solidFill>
                  <a:srgbClr val="FF0000"/>
                </a:solidFill>
                <a:latin typeface="Times New Roman" panose="02020603050405020304" pitchFamily="18" charset="0"/>
                <a:cs typeface="Times New Roman" panose="02020603050405020304" pitchFamily="18" charset="0"/>
              </a:rPr>
              <a:t>1</a:t>
            </a:r>
          </a:p>
          <a:p>
            <a:pPr>
              <a:lnSpc>
                <a:spcPct val="150000"/>
              </a:lnSpc>
            </a:pPr>
            <a:r>
              <a:rPr lang="en-US" sz="2400">
                <a:latin typeface="Times New Roman" panose="02020603050405020304" pitchFamily="18" charset="0"/>
                <a:cs typeface="Times New Roman" panose="02020603050405020304" pitchFamily="18" charset="0"/>
              </a:rPr>
              <a:t>Với – cuối cùng là nối mới mã sản phẩm, vì mã sản phẩm là chắc chắn không trùng nhau, và khi lấy được mã sản phẩm thì ta có thể xử lý được chính xác thông tin sản phẩm, và nó cũng hỗ trợ SEO rất tốt cho website thương mại điện tử.</a:t>
            </a:r>
            <a:endParaRPr lang="vi-V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70233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F575958-9061-3A69-BC8A-0B3026E5563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E5947B6-6243-8F39-0BCE-717370AE3007}"/>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98EAA63-C520-89FF-0311-CFF217DADBE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41</a:t>
            </a:fld>
            <a:endParaRPr/>
          </a:p>
        </p:txBody>
      </p:sp>
      <p:grpSp>
        <p:nvGrpSpPr>
          <p:cNvPr id="2" name="Group 1">
            <a:extLst>
              <a:ext uri="{FF2B5EF4-FFF2-40B4-BE49-F238E27FC236}">
                <a16:creationId xmlns:a16="http://schemas.microsoft.com/office/drawing/2014/main" id="{47BD17A1-485D-ADB9-DB64-145B3648FE19}"/>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6E17F41F-66CC-1052-7D75-9B9C1EEEE073}"/>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4.3.</a:t>
              </a:r>
              <a:r>
                <a:rPr lang="en-US" sz="2800">
                  <a:latin typeface="Times New Roman" panose="02020603050405020304" pitchFamily="18" charset="0"/>
                  <a:cs typeface="Times New Roman" panose="02020603050405020304" pitchFamily="18" charset="0"/>
                </a:rPr>
                <a:t>3</a:t>
              </a:r>
              <a:r>
                <a:rPr lang="vi-VN" sz="2800">
                  <a:latin typeface="Times New Roman" panose="02020603050405020304" pitchFamily="18" charset="0"/>
                  <a:cs typeface="Times New Roman" panose="02020603050405020304" pitchFamily="18" charset="0"/>
                </a:rPr>
                <a:t>. Route với slug</a:t>
              </a:r>
              <a:r>
                <a:rPr lang="en-US" sz="2800">
                  <a:latin typeface="Times New Roman" panose="02020603050405020304" pitchFamily="18" charset="0"/>
                  <a:cs typeface="Times New Roman" panose="02020603050405020304" pitchFamily="18" charset="0"/>
                </a:rPr>
                <a:t> hỗ trợ kỹ thuật SEO</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8D41B3A-D66E-2C01-59CE-C65256EEA9F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DD99A00-1D4E-F26C-EE58-6845832F614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1851143-6D6F-E591-9414-93FD0B4BFB0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7C42377-1453-92F1-A094-DEEC0C69CA0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F82EECB5-A265-FC5D-A6A6-57453A96F2AC}"/>
              </a:ext>
            </a:extLst>
          </p:cNvPr>
          <p:cNvSpPr txBox="1"/>
          <p:nvPr/>
        </p:nvSpPr>
        <p:spPr>
          <a:xfrm>
            <a:off x="476030" y="841012"/>
            <a:ext cx="11564547" cy="579967"/>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 Viết SlugHelper để tạo Slug tự động. Trong classes, tạo SlugHelper</a:t>
            </a:r>
            <a:endParaRPr lang="vi-VN" sz="240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C106EAE3-1BE3-59A6-0018-28B5F39DA030}"/>
              </a:ext>
            </a:extLst>
          </p:cNvPr>
          <p:cNvPicPr>
            <a:picLocks noChangeAspect="1"/>
          </p:cNvPicPr>
          <p:nvPr/>
        </p:nvPicPr>
        <p:blipFill>
          <a:blip r:embed="rId3"/>
          <a:srcRect/>
          <a:stretch/>
        </p:blipFill>
        <p:spPr>
          <a:xfrm>
            <a:off x="669472" y="1446909"/>
            <a:ext cx="9123408" cy="4904667"/>
          </a:xfrm>
          <a:prstGeom prst="rect">
            <a:avLst/>
          </a:prstGeom>
        </p:spPr>
      </p:pic>
    </p:spTree>
    <p:extLst>
      <p:ext uri="{BB962C8B-B14F-4D97-AF65-F5344CB8AC3E}">
        <p14:creationId xmlns:p14="http://schemas.microsoft.com/office/powerpoint/2010/main" val="1518117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E1735D4-4C12-F8E7-C6F8-A12935D7EE0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4683E5A-ED2B-CFFC-CE06-2DC7C7A3DAE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3757F1B-2BE4-FB92-32AE-23C2CA5200D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42</a:t>
            </a:fld>
            <a:endParaRPr/>
          </a:p>
        </p:txBody>
      </p:sp>
      <p:grpSp>
        <p:nvGrpSpPr>
          <p:cNvPr id="2" name="Group 1">
            <a:extLst>
              <a:ext uri="{FF2B5EF4-FFF2-40B4-BE49-F238E27FC236}">
                <a16:creationId xmlns:a16="http://schemas.microsoft.com/office/drawing/2014/main" id="{50301417-D29B-6473-A7E7-C63660FF7933}"/>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48D60DD8-A2BA-F24B-D63B-7ECE840FF6EE}"/>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4.3.</a:t>
              </a:r>
              <a:r>
                <a:rPr lang="en-US" sz="2800">
                  <a:latin typeface="Times New Roman" panose="02020603050405020304" pitchFamily="18" charset="0"/>
                  <a:cs typeface="Times New Roman" panose="02020603050405020304" pitchFamily="18" charset="0"/>
                </a:rPr>
                <a:t>3</a:t>
              </a:r>
              <a:r>
                <a:rPr lang="vi-VN" sz="2800">
                  <a:latin typeface="Times New Roman" panose="02020603050405020304" pitchFamily="18" charset="0"/>
                  <a:cs typeface="Times New Roman" panose="02020603050405020304" pitchFamily="18" charset="0"/>
                </a:rPr>
                <a:t>. Route với slug</a:t>
              </a:r>
              <a:r>
                <a:rPr lang="en-US" sz="2800">
                  <a:latin typeface="Times New Roman" panose="02020603050405020304" pitchFamily="18" charset="0"/>
                  <a:cs typeface="Times New Roman" panose="02020603050405020304" pitchFamily="18" charset="0"/>
                </a:rPr>
                <a:t> hỗ trợ kỹ thuật SEO</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649DEDA8-FA1F-C908-2732-32C847D5CF7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177DF83-D13E-04DD-B671-422772B677E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6B3456F-781F-58D2-520A-A9B8EF78A5D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209FD62-FD3A-A028-7DD4-8F12099A332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C2E69C05-8B91-530F-90D3-9774384002D4}"/>
              </a:ext>
            </a:extLst>
          </p:cNvPr>
          <p:cNvSpPr txBox="1"/>
          <p:nvPr/>
        </p:nvSpPr>
        <p:spPr>
          <a:xfrm>
            <a:off x="542786" y="768729"/>
            <a:ext cx="11564547" cy="579967"/>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 Viết SlugHelper để tạo Slug tự động. Trong classes, tạo SlugHelper</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3DD041BD-766F-D296-3B50-05997C5EE58F}"/>
              </a:ext>
            </a:extLst>
          </p:cNvPr>
          <p:cNvPicPr>
            <a:picLocks noChangeAspect="1"/>
          </p:cNvPicPr>
          <p:nvPr/>
        </p:nvPicPr>
        <p:blipFill>
          <a:blip r:embed="rId3"/>
          <a:stretch>
            <a:fillRect/>
          </a:stretch>
        </p:blipFill>
        <p:spPr>
          <a:xfrm>
            <a:off x="234808" y="1400555"/>
            <a:ext cx="11126346" cy="4925091"/>
          </a:xfrm>
          <a:prstGeom prst="rect">
            <a:avLst/>
          </a:prstGeom>
        </p:spPr>
      </p:pic>
    </p:spTree>
    <p:extLst>
      <p:ext uri="{BB962C8B-B14F-4D97-AF65-F5344CB8AC3E}">
        <p14:creationId xmlns:p14="http://schemas.microsoft.com/office/powerpoint/2010/main" val="884246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F8EF063-CCCB-B30B-4CE9-BBB3A865B26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DD15285-5B62-A006-8492-13DE0792A8A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2B93D05-C459-8D57-48F3-C473D6D805E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43</a:t>
            </a:fld>
            <a:endParaRPr/>
          </a:p>
        </p:txBody>
      </p:sp>
      <p:grpSp>
        <p:nvGrpSpPr>
          <p:cNvPr id="2" name="Group 1">
            <a:extLst>
              <a:ext uri="{FF2B5EF4-FFF2-40B4-BE49-F238E27FC236}">
                <a16:creationId xmlns:a16="http://schemas.microsoft.com/office/drawing/2014/main" id="{1F84726D-33EF-F863-C27A-2B4DAD048FDE}"/>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406A194C-FF77-E95D-BDCF-90F0164A25CB}"/>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4.3.</a:t>
              </a:r>
              <a:r>
                <a:rPr lang="en-US" sz="2800">
                  <a:latin typeface="Times New Roman" panose="02020603050405020304" pitchFamily="18" charset="0"/>
                  <a:cs typeface="Times New Roman" panose="02020603050405020304" pitchFamily="18" charset="0"/>
                </a:rPr>
                <a:t>3</a:t>
              </a:r>
              <a:r>
                <a:rPr lang="vi-VN" sz="2800">
                  <a:latin typeface="Times New Roman" panose="02020603050405020304" pitchFamily="18" charset="0"/>
                  <a:cs typeface="Times New Roman" panose="02020603050405020304" pitchFamily="18" charset="0"/>
                </a:rPr>
                <a:t>. Route với slug</a:t>
              </a:r>
              <a:r>
                <a:rPr lang="en-US" sz="2800">
                  <a:latin typeface="Times New Roman" panose="02020603050405020304" pitchFamily="18" charset="0"/>
                  <a:cs typeface="Times New Roman" panose="02020603050405020304" pitchFamily="18" charset="0"/>
                </a:rPr>
                <a:t> hỗ trợ kỹ thuật SEO</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C06EAFAD-13D9-7272-5CAD-56E2ABB5CEE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7270B23-F355-5B79-4509-C02FC7B8726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C6BBFE8-F88E-0703-5EBF-258AC062C00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D8DCF9F-1B97-A096-72F4-BBB72093AF4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TextBox 12">
            <a:extLst>
              <a:ext uri="{FF2B5EF4-FFF2-40B4-BE49-F238E27FC236}">
                <a16:creationId xmlns:a16="http://schemas.microsoft.com/office/drawing/2014/main" id="{1EE64508-F282-E4A9-98E8-2F77A6EB01AF}"/>
              </a:ext>
            </a:extLst>
          </p:cNvPr>
          <p:cNvSpPr txBox="1"/>
          <p:nvPr/>
        </p:nvSpPr>
        <p:spPr>
          <a:xfrm>
            <a:off x="415252" y="977522"/>
            <a:ext cx="9526270" cy="4784002"/>
          </a:xfrm>
          <a:prstGeom prst="rect">
            <a:avLst/>
          </a:prstGeom>
          <a:noFill/>
          <a:ln>
            <a:solidFill>
              <a:srgbClr val="002060"/>
            </a:solidFill>
          </a:ln>
        </p:spPr>
        <p:txBody>
          <a:bodyPr wrap="square">
            <a:spAutoFit/>
          </a:bodyPr>
          <a:lstStyle/>
          <a:p>
            <a:pPr>
              <a:lnSpc>
                <a:spcPts val="2250"/>
              </a:lnSpc>
              <a:buNone/>
            </a:pPr>
            <a:r>
              <a:rPr lang="vi-VN" sz="1600" b="0">
                <a:solidFill>
                  <a:srgbClr val="008000"/>
                </a:solidFill>
                <a:effectLst/>
                <a:latin typeface="Consolas" panose="020B0609020204030204" pitchFamily="49" charset="0"/>
              </a:rPr>
              <a:t>// classes/slug-helper.ts</a:t>
            </a:r>
            <a:endParaRPr lang="vi-VN" sz="1600" b="0">
              <a:solidFill>
                <a:srgbClr val="000000"/>
              </a:solidFill>
              <a:effectLst/>
              <a:latin typeface="Consolas" panose="020B0609020204030204" pitchFamily="49" charset="0"/>
            </a:endParaRPr>
          </a:p>
          <a:p>
            <a:pPr>
              <a:lnSpc>
                <a:spcPts val="2250"/>
              </a:lnSpc>
              <a:buNone/>
            </a:pPr>
            <a:r>
              <a:rPr lang="vi-VN" sz="1600" b="0">
                <a:solidFill>
                  <a:srgbClr val="008000"/>
                </a:solidFill>
                <a:effectLst/>
                <a:latin typeface="Consolas" panose="020B0609020204030204" pitchFamily="49" charset="0"/>
              </a:rPr>
              <a:t>//Hàm tạo Slug (Dùng ở cả nơi tạo Link và nơi hiển thị)</a:t>
            </a:r>
            <a:endParaRPr lang="vi-VN" sz="1600" b="0">
              <a:solidFill>
                <a:srgbClr val="000000"/>
              </a:solidFill>
              <a:effectLst/>
              <a:latin typeface="Consolas" panose="020B0609020204030204" pitchFamily="49" charset="0"/>
            </a:endParaRPr>
          </a:p>
          <a:p>
            <a:pPr>
              <a:lnSpc>
                <a:spcPts val="2250"/>
              </a:lnSpc>
              <a:buNone/>
            </a:pPr>
            <a:r>
              <a:rPr lang="vi-VN" sz="1600" b="0">
                <a:solidFill>
                  <a:srgbClr val="0000FF"/>
                </a:solidFill>
                <a:effectLst/>
                <a:latin typeface="Consolas" panose="020B0609020204030204" pitchFamily="49" charset="0"/>
              </a:rPr>
              <a:t>export</a:t>
            </a:r>
            <a:r>
              <a:rPr lang="vi-VN" sz="1600" b="0">
                <a:solidFill>
                  <a:srgbClr val="000000"/>
                </a:solidFill>
                <a:effectLst/>
                <a:latin typeface="Consolas" panose="020B0609020204030204" pitchFamily="49" charset="0"/>
              </a:rPr>
              <a:t> </a:t>
            </a:r>
            <a:r>
              <a:rPr lang="vi-VN" sz="1600" b="0">
                <a:solidFill>
                  <a:srgbClr val="0000FF"/>
                </a:solidFill>
                <a:effectLst/>
                <a:latin typeface="Consolas" panose="020B0609020204030204" pitchFamily="49" charset="0"/>
              </a:rPr>
              <a:t>function</a:t>
            </a:r>
            <a:r>
              <a:rPr lang="vi-VN" sz="1600" b="0">
                <a:solidFill>
                  <a:srgbClr val="000000"/>
                </a:solidFill>
                <a:effectLst/>
                <a:latin typeface="Consolas" panose="020B0609020204030204" pitchFamily="49" charset="0"/>
              </a:rPr>
              <a:t> createSlug(name: string, id: number): string {</a:t>
            </a:r>
          </a:p>
          <a:p>
            <a:pPr>
              <a:lnSpc>
                <a:spcPts val="2250"/>
              </a:lnSpc>
              <a:buNone/>
            </a:pPr>
            <a:r>
              <a:rPr lang="vi-VN" sz="1600" b="0">
                <a:solidFill>
                  <a:srgbClr val="000000"/>
                </a:solidFill>
                <a:effectLst/>
                <a:latin typeface="Consolas" panose="020B0609020204030204" pitchFamily="49" charset="0"/>
              </a:rPr>
              <a:t>  </a:t>
            </a:r>
            <a:r>
              <a:rPr lang="vi-VN" sz="1600" b="0">
                <a:solidFill>
                  <a:srgbClr val="0000FF"/>
                </a:solidFill>
                <a:effectLst/>
                <a:latin typeface="Consolas" panose="020B0609020204030204" pitchFamily="49" charset="0"/>
              </a:rPr>
              <a:t>const</a:t>
            </a:r>
            <a:r>
              <a:rPr lang="vi-VN" sz="1600" b="0">
                <a:solidFill>
                  <a:srgbClr val="000000"/>
                </a:solidFill>
                <a:effectLst/>
                <a:latin typeface="Consolas" panose="020B0609020204030204" pitchFamily="49" charset="0"/>
              </a:rPr>
              <a:t> sanitizedName = name</a:t>
            </a:r>
          </a:p>
          <a:p>
            <a:pPr>
              <a:lnSpc>
                <a:spcPts val="2250"/>
              </a:lnSpc>
              <a:buNone/>
            </a:pPr>
            <a:r>
              <a:rPr lang="vi-VN" sz="1600" b="0">
                <a:solidFill>
                  <a:srgbClr val="000000"/>
                </a:solidFill>
                <a:effectLst/>
                <a:latin typeface="Consolas" panose="020B0609020204030204" pitchFamily="49" charset="0"/>
              </a:rPr>
              <a:t>    .toLowerCase()</a:t>
            </a:r>
          </a:p>
          <a:p>
            <a:pPr>
              <a:lnSpc>
                <a:spcPts val="2250"/>
              </a:lnSpc>
              <a:buNone/>
            </a:pPr>
            <a:r>
              <a:rPr lang="vi-VN" sz="1600" b="0">
                <a:solidFill>
                  <a:srgbClr val="000000"/>
                </a:solidFill>
                <a:effectLst/>
                <a:latin typeface="Consolas" panose="020B0609020204030204" pitchFamily="49" charset="0"/>
              </a:rPr>
              <a:t>    .normalize(</a:t>
            </a:r>
            <a:r>
              <a:rPr lang="vi-VN" sz="1600" b="0">
                <a:solidFill>
                  <a:srgbClr val="A31515"/>
                </a:solidFill>
                <a:effectLst/>
                <a:latin typeface="Consolas" panose="020B0609020204030204" pitchFamily="49" charset="0"/>
              </a:rPr>
              <a:t>'NFD'</a:t>
            </a:r>
            <a:r>
              <a:rPr lang="vi-VN" sz="1600" b="0">
                <a:solidFill>
                  <a:srgbClr val="000000"/>
                </a:solidFill>
                <a:effectLst/>
                <a:latin typeface="Consolas" panose="020B0609020204030204" pitchFamily="49" charset="0"/>
              </a:rPr>
              <a:t>).replace(</a:t>
            </a:r>
            <a:r>
              <a:rPr lang="vi-VN" sz="1600" b="0">
                <a:solidFill>
                  <a:srgbClr val="811F3F"/>
                </a:solidFill>
                <a:effectLst/>
                <a:latin typeface="Consolas" panose="020B0609020204030204" pitchFamily="49" charset="0"/>
              </a:rPr>
              <a:t>/[\u0300-\u036f]/</a:t>
            </a:r>
            <a:r>
              <a:rPr lang="vi-VN" sz="1600" b="0">
                <a:solidFill>
                  <a:srgbClr val="0000FF"/>
                </a:solidFill>
                <a:effectLst/>
                <a:latin typeface="Consolas" panose="020B0609020204030204" pitchFamily="49" charset="0"/>
              </a:rPr>
              <a:t>g</a:t>
            </a:r>
            <a:r>
              <a:rPr lang="vi-VN" sz="1600" b="0">
                <a:solidFill>
                  <a:srgbClr val="000000"/>
                </a:solidFill>
                <a:effectLst/>
                <a:latin typeface="Consolas" panose="020B0609020204030204" pitchFamily="49" charset="0"/>
              </a:rPr>
              <a:t>, </a:t>
            </a:r>
            <a:r>
              <a:rPr lang="vi-VN" sz="1600" b="0">
                <a:solidFill>
                  <a:srgbClr val="A31515"/>
                </a:solidFill>
                <a:effectLst/>
                <a:latin typeface="Consolas" panose="020B0609020204030204" pitchFamily="49" charset="0"/>
              </a:rPr>
              <a:t>''</a:t>
            </a:r>
            <a:r>
              <a:rPr lang="vi-VN" sz="1600" b="0">
                <a:solidFill>
                  <a:srgbClr val="000000"/>
                </a:solidFill>
                <a:effectLst/>
                <a:latin typeface="Consolas" panose="020B0609020204030204" pitchFamily="49" charset="0"/>
              </a:rPr>
              <a:t>) </a:t>
            </a:r>
            <a:r>
              <a:rPr lang="vi-VN" sz="1600" b="0">
                <a:solidFill>
                  <a:srgbClr val="008000"/>
                </a:solidFill>
                <a:effectLst/>
                <a:latin typeface="Consolas" panose="020B0609020204030204" pitchFamily="49" charset="0"/>
              </a:rPr>
              <a:t>// Bỏ dấu tiếng Việt</a:t>
            </a:r>
            <a:endParaRPr lang="vi-VN" sz="1600" b="0">
              <a:solidFill>
                <a:srgbClr val="000000"/>
              </a:solidFill>
              <a:effectLst/>
              <a:latin typeface="Consolas" panose="020B0609020204030204" pitchFamily="49" charset="0"/>
            </a:endParaRPr>
          </a:p>
          <a:p>
            <a:pPr>
              <a:lnSpc>
                <a:spcPts val="2250"/>
              </a:lnSpc>
              <a:buNone/>
            </a:pPr>
            <a:r>
              <a:rPr lang="vi-VN" sz="1600" b="0">
                <a:solidFill>
                  <a:srgbClr val="000000"/>
                </a:solidFill>
                <a:effectLst/>
                <a:latin typeface="Consolas" panose="020B0609020204030204" pitchFamily="49" charset="0"/>
              </a:rPr>
              <a:t>    .replace(</a:t>
            </a:r>
            <a:r>
              <a:rPr lang="vi-VN" sz="1600" b="0">
                <a:solidFill>
                  <a:srgbClr val="811F3F"/>
                </a:solidFill>
                <a:effectLst/>
                <a:latin typeface="Consolas" panose="020B0609020204030204" pitchFamily="49" charset="0"/>
              </a:rPr>
              <a:t>/[</a:t>
            </a:r>
            <a:r>
              <a:rPr lang="vi-VN" sz="1600" b="0">
                <a:solidFill>
                  <a:srgbClr val="000000"/>
                </a:solidFill>
                <a:effectLst/>
                <a:latin typeface="Consolas" panose="020B0609020204030204" pitchFamily="49" charset="0"/>
              </a:rPr>
              <a:t>^</a:t>
            </a:r>
            <a:r>
              <a:rPr lang="vi-VN" sz="1600" b="0">
                <a:solidFill>
                  <a:srgbClr val="811F3F"/>
                </a:solidFill>
                <a:effectLst/>
                <a:latin typeface="Consolas" panose="020B0609020204030204" pitchFamily="49" charset="0"/>
              </a:rPr>
              <a:t>a-z0-9]</a:t>
            </a:r>
            <a:r>
              <a:rPr lang="vi-VN" sz="1600" b="0">
                <a:solidFill>
                  <a:srgbClr val="000000"/>
                </a:solidFill>
                <a:effectLst/>
                <a:latin typeface="Consolas" panose="020B0609020204030204" pitchFamily="49" charset="0"/>
              </a:rPr>
              <a:t>+</a:t>
            </a:r>
            <a:r>
              <a:rPr lang="vi-VN" sz="1600" b="0">
                <a:solidFill>
                  <a:srgbClr val="811F3F"/>
                </a:solidFill>
                <a:effectLst/>
                <a:latin typeface="Consolas" panose="020B0609020204030204" pitchFamily="49" charset="0"/>
              </a:rPr>
              <a:t>/</a:t>
            </a:r>
            <a:r>
              <a:rPr lang="vi-VN" sz="1600" b="0">
                <a:solidFill>
                  <a:srgbClr val="0000FF"/>
                </a:solidFill>
                <a:effectLst/>
                <a:latin typeface="Consolas" panose="020B0609020204030204" pitchFamily="49" charset="0"/>
              </a:rPr>
              <a:t>g</a:t>
            </a:r>
            <a:r>
              <a:rPr lang="vi-VN" sz="1600" b="0">
                <a:solidFill>
                  <a:srgbClr val="000000"/>
                </a:solidFill>
                <a:effectLst/>
                <a:latin typeface="Consolas" panose="020B0609020204030204" pitchFamily="49" charset="0"/>
              </a:rPr>
              <a:t>, </a:t>
            </a:r>
            <a:r>
              <a:rPr lang="vi-VN" sz="1600" b="0">
                <a:solidFill>
                  <a:srgbClr val="A31515"/>
                </a:solidFill>
                <a:effectLst/>
                <a:latin typeface="Consolas" panose="020B0609020204030204" pitchFamily="49" charset="0"/>
              </a:rPr>
              <a:t>'-'</a:t>
            </a:r>
            <a:r>
              <a:rPr lang="vi-VN" sz="1600" b="0">
                <a:solidFill>
                  <a:srgbClr val="000000"/>
                </a:solidFill>
                <a:effectLst/>
                <a:latin typeface="Consolas" panose="020B0609020204030204" pitchFamily="49" charset="0"/>
              </a:rPr>
              <a:t>) </a:t>
            </a:r>
            <a:r>
              <a:rPr lang="vi-VN" sz="1600" b="0">
                <a:solidFill>
                  <a:srgbClr val="008000"/>
                </a:solidFill>
                <a:effectLst/>
                <a:latin typeface="Consolas" panose="020B0609020204030204" pitchFamily="49" charset="0"/>
              </a:rPr>
              <a:t>// Thay ký tự lạ bằng -</a:t>
            </a:r>
            <a:endParaRPr lang="vi-VN" sz="1600" b="0">
              <a:solidFill>
                <a:srgbClr val="000000"/>
              </a:solidFill>
              <a:effectLst/>
              <a:latin typeface="Consolas" panose="020B0609020204030204" pitchFamily="49" charset="0"/>
            </a:endParaRPr>
          </a:p>
          <a:p>
            <a:pPr>
              <a:lnSpc>
                <a:spcPts val="2250"/>
              </a:lnSpc>
              <a:buNone/>
            </a:pPr>
            <a:r>
              <a:rPr lang="vi-VN" sz="1600" b="0">
                <a:solidFill>
                  <a:srgbClr val="000000"/>
                </a:solidFill>
                <a:effectLst/>
                <a:latin typeface="Consolas" panose="020B0609020204030204" pitchFamily="49" charset="0"/>
              </a:rPr>
              <a:t>    .replace(</a:t>
            </a:r>
            <a:r>
              <a:rPr lang="vi-VN" sz="1600" b="0">
                <a:solidFill>
                  <a:srgbClr val="811F3F"/>
                </a:solidFill>
                <a:effectLst/>
                <a:latin typeface="Consolas" panose="020B0609020204030204" pitchFamily="49" charset="0"/>
              </a:rPr>
              <a:t>/(</a:t>
            </a:r>
            <a:r>
              <a:rPr lang="vi-VN" sz="1600" b="0">
                <a:solidFill>
                  <a:srgbClr val="0000FF"/>
                </a:solidFill>
                <a:effectLst/>
                <a:latin typeface="Consolas" panose="020B0609020204030204" pitchFamily="49" charset="0"/>
              </a:rPr>
              <a:t>^</a:t>
            </a:r>
            <a:r>
              <a:rPr lang="vi-VN" sz="1600" b="0">
                <a:solidFill>
                  <a:srgbClr val="811F3F"/>
                </a:solidFill>
                <a:effectLst/>
                <a:latin typeface="Consolas" panose="020B0609020204030204" pitchFamily="49" charset="0"/>
              </a:rPr>
              <a:t>-</a:t>
            </a:r>
            <a:r>
              <a:rPr lang="vi-VN" sz="1600" b="0">
                <a:solidFill>
                  <a:srgbClr val="000000"/>
                </a:solidFill>
                <a:effectLst/>
                <a:latin typeface="Consolas" panose="020B0609020204030204" pitchFamily="49" charset="0"/>
              </a:rPr>
              <a:t>|</a:t>
            </a:r>
            <a:r>
              <a:rPr lang="vi-VN" sz="1600" b="0">
                <a:solidFill>
                  <a:srgbClr val="811F3F"/>
                </a:solidFill>
                <a:effectLst/>
                <a:latin typeface="Consolas" panose="020B0609020204030204" pitchFamily="49" charset="0"/>
              </a:rPr>
              <a:t>-</a:t>
            </a:r>
            <a:r>
              <a:rPr lang="vi-VN" sz="1600" b="0">
                <a:solidFill>
                  <a:srgbClr val="0000FF"/>
                </a:solidFill>
                <a:effectLst/>
                <a:latin typeface="Consolas" panose="020B0609020204030204" pitchFamily="49" charset="0"/>
              </a:rPr>
              <a:t>$</a:t>
            </a:r>
            <a:r>
              <a:rPr lang="vi-VN" sz="1600" b="0">
                <a:solidFill>
                  <a:srgbClr val="811F3F"/>
                </a:solidFill>
                <a:effectLst/>
                <a:latin typeface="Consolas" panose="020B0609020204030204" pitchFamily="49" charset="0"/>
              </a:rPr>
              <a:t>)</a:t>
            </a:r>
            <a:r>
              <a:rPr lang="vi-VN" sz="1600" b="0">
                <a:solidFill>
                  <a:srgbClr val="000000"/>
                </a:solidFill>
                <a:effectLst/>
                <a:latin typeface="Consolas" panose="020B0609020204030204" pitchFamily="49" charset="0"/>
              </a:rPr>
              <a:t>+</a:t>
            </a:r>
            <a:r>
              <a:rPr lang="vi-VN" sz="1600" b="0">
                <a:solidFill>
                  <a:srgbClr val="811F3F"/>
                </a:solidFill>
                <a:effectLst/>
                <a:latin typeface="Consolas" panose="020B0609020204030204" pitchFamily="49" charset="0"/>
              </a:rPr>
              <a:t>/</a:t>
            </a:r>
            <a:r>
              <a:rPr lang="vi-VN" sz="1600" b="0">
                <a:solidFill>
                  <a:srgbClr val="0000FF"/>
                </a:solidFill>
                <a:effectLst/>
                <a:latin typeface="Consolas" panose="020B0609020204030204" pitchFamily="49" charset="0"/>
              </a:rPr>
              <a:t>g</a:t>
            </a:r>
            <a:r>
              <a:rPr lang="vi-VN" sz="1600" b="0">
                <a:solidFill>
                  <a:srgbClr val="000000"/>
                </a:solidFill>
                <a:effectLst/>
                <a:latin typeface="Consolas" panose="020B0609020204030204" pitchFamily="49" charset="0"/>
              </a:rPr>
              <a:t>, </a:t>
            </a:r>
            <a:r>
              <a:rPr lang="vi-VN" sz="1600" b="0">
                <a:solidFill>
                  <a:srgbClr val="A31515"/>
                </a:solidFill>
                <a:effectLst/>
                <a:latin typeface="Consolas" panose="020B0609020204030204" pitchFamily="49" charset="0"/>
              </a:rPr>
              <a:t>''</a:t>
            </a:r>
            <a:r>
              <a:rPr lang="vi-VN" sz="1600" b="0">
                <a:solidFill>
                  <a:srgbClr val="000000"/>
                </a:solidFill>
                <a:effectLst/>
                <a:latin typeface="Consolas" panose="020B0609020204030204" pitchFamily="49" charset="0"/>
              </a:rPr>
              <a:t>);   </a:t>
            </a:r>
            <a:r>
              <a:rPr lang="vi-VN" sz="1600" b="0">
                <a:solidFill>
                  <a:srgbClr val="008000"/>
                </a:solidFill>
                <a:effectLst/>
                <a:latin typeface="Consolas" panose="020B0609020204030204" pitchFamily="49" charset="0"/>
              </a:rPr>
              <a:t>// Xóa dấu - ở đầu và cuối</a:t>
            </a:r>
            <a:endParaRPr lang="vi-VN" sz="1600" b="0">
              <a:solidFill>
                <a:srgbClr val="000000"/>
              </a:solidFill>
              <a:effectLst/>
              <a:latin typeface="Consolas" panose="020B0609020204030204" pitchFamily="49" charset="0"/>
            </a:endParaRPr>
          </a:p>
          <a:p>
            <a:pPr>
              <a:lnSpc>
                <a:spcPts val="2250"/>
              </a:lnSpc>
              <a:buNone/>
            </a:pPr>
            <a:r>
              <a:rPr lang="vi-VN" sz="1600" b="0">
                <a:solidFill>
                  <a:srgbClr val="000000"/>
                </a:solidFill>
                <a:effectLst/>
                <a:latin typeface="Consolas" panose="020B0609020204030204" pitchFamily="49" charset="0"/>
              </a:rPr>
              <a:t>  </a:t>
            </a:r>
            <a:r>
              <a:rPr lang="vi-VN" sz="1600" b="0">
                <a:solidFill>
                  <a:srgbClr val="0000FF"/>
                </a:solidFill>
                <a:effectLst/>
                <a:latin typeface="Consolas" panose="020B0609020204030204" pitchFamily="49" charset="0"/>
              </a:rPr>
              <a:t>return</a:t>
            </a:r>
            <a:r>
              <a:rPr lang="vi-VN" sz="1600" b="0">
                <a:solidFill>
                  <a:srgbClr val="000000"/>
                </a:solidFill>
                <a:effectLst/>
                <a:latin typeface="Consolas" panose="020B0609020204030204" pitchFamily="49" charset="0"/>
              </a:rPr>
              <a:t> </a:t>
            </a:r>
            <a:r>
              <a:rPr lang="vi-VN" sz="1600" b="0">
                <a:solidFill>
                  <a:srgbClr val="A31515"/>
                </a:solidFill>
                <a:effectLst/>
                <a:latin typeface="Consolas" panose="020B0609020204030204" pitchFamily="49" charset="0"/>
              </a:rPr>
              <a:t>`</a:t>
            </a:r>
            <a:r>
              <a:rPr lang="vi-VN" sz="1600" b="0">
                <a:solidFill>
                  <a:srgbClr val="0000FF"/>
                </a:solidFill>
                <a:effectLst/>
                <a:latin typeface="Consolas" panose="020B0609020204030204" pitchFamily="49" charset="0"/>
              </a:rPr>
              <a:t>${</a:t>
            </a:r>
            <a:r>
              <a:rPr lang="vi-VN" sz="1600" b="0">
                <a:solidFill>
                  <a:srgbClr val="000000"/>
                </a:solidFill>
                <a:effectLst/>
                <a:latin typeface="Consolas" panose="020B0609020204030204" pitchFamily="49" charset="0"/>
              </a:rPr>
              <a:t>sanitizedName</a:t>
            </a:r>
            <a:r>
              <a:rPr lang="vi-VN" sz="1600" b="0">
                <a:solidFill>
                  <a:srgbClr val="0000FF"/>
                </a:solidFill>
                <a:effectLst/>
                <a:latin typeface="Consolas" panose="020B0609020204030204" pitchFamily="49" charset="0"/>
              </a:rPr>
              <a:t>}</a:t>
            </a:r>
            <a:r>
              <a:rPr lang="vi-VN" sz="1600" b="0">
                <a:solidFill>
                  <a:srgbClr val="A31515"/>
                </a:solidFill>
                <a:effectLst/>
                <a:latin typeface="Consolas" panose="020B0609020204030204" pitchFamily="49" charset="0"/>
              </a:rPr>
              <a:t>-p</a:t>
            </a:r>
            <a:r>
              <a:rPr lang="vi-VN" sz="1600" b="0">
                <a:solidFill>
                  <a:srgbClr val="0000FF"/>
                </a:solidFill>
                <a:effectLst/>
                <a:latin typeface="Consolas" panose="020B0609020204030204" pitchFamily="49" charset="0"/>
              </a:rPr>
              <a:t>${</a:t>
            </a:r>
            <a:r>
              <a:rPr lang="vi-VN" sz="1600" b="0">
                <a:solidFill>
                  <a:srgbClr val="000000"/>
                </a:solidFill>
                <a:effectLst/>
                <a:latin typeface="Consolas" panose="020B0609020204030204" pitchFamily="49" charset="0"/>
              </a:rPr>
              <a:t>id</a:t>
            </a:r>
            <a:r>
              <a:rPr lang="vi-VN" sz="1600" b="0">
                <a:solidFill>
                  <a:srgbClr val="0000FF"/>
                </a:solidFill>
                <a:effectLst/>
                <a:latin typeface="Consolas" panose="020B0609020204030204" pitchFamily="49" charset="0"/>
              </a:rPr>
              <a:t>}</a:t>
            </a:r>
            <a:r>
              <a:rPr lang="vi-VN" sz="1600" b="0">
                <a:solidFill>
                  <a:srgbClr val="A31515"/>
                </a:solidFill>
                <a:effectLst/>
                <a:latin typeface="Consolas" panose="020B0609020204030204" pitchFamily="49" charset="0"/>
              </a:rPr>
              <a:t>`</a:t>
            </a:r>
            <a:r>
              <a:rPr lang="vi-VN" sz="1600" b="0">
                <a:solidFill>
                  <a:srgbClr val="000000"/>
                </a:solidFill>
                <a:effectLst/>
                <a:latin typeface="Consolas" panose="020B0609020204030204" pitchFamily="49" charset="0"/>
              </a:rPr>
              <a:t>; </a:t>
            </a:r>
            <a:r>
              <a:rPr lang="vi-VN" sz="1600" b="0">
                <a:solidFill>
                  <a:srgbClr val="008000"/>
                </a:solidFill>
                <a:effectLst/>
                <a:latin typeface="Consolas" panose="020B0609020204030204" pitchFamily="49" charset="0"/>
              </a:rPr>
              <a:t>// Format: ten-san-pham-p1</a:t>
            </a:r>
            <a:endParaRPr lang="vi-VN" sz="1600" b="0">
              <a:solidFill>
                <a:srgbClr val="000000"/>
              </a:solidFill>
              <a:effectLst/>
              <a:latin typeface="Consolas" panose="020B0609020204030204" pitchFamily="49" charset="0"/>
            </a:endParaRPr>
          </a:p>
          <a:p>
            <a:pPr>
              <a:lnSpc>
                <a:spcPts val="2250"/>
              </a:lnSpc>
              <a:buNone/>
            </a:pPr>
            <a:r>
              <a:rPr lang="vi-VN" sz="1600" b="0">
                <a:solidFill>
                  <a:srgbClr val="000000"/>
                </a:solidFill>
                <a:effectLst/>
                <a:latin typeface="Consolas" panose="020B0609020204030204" pitchFamily="49" charset="0"/>
              </a:rPr>
              <a:t>}</a:t>
            </a:r>
          </a:p>
          <a:p>
            <a:pPr>
              <a:lnSpc>
                <a:spcPts val="2250"/>
              </a:lnSpc>
              <a:buNone/>
            </a:pPr>
            <a:r>
              <a:rPr lang="vi-VN" sz="1600" b="0">
                <a:solidFill>
                  <a:srgbClr val="008000"/>
                </a:solidFill>
                <a:effectLst/>
                <a:latin typeface="Consolas" panose="020B0609020204030204" pitchFamily="49" charset="0"/>
              </a:rPr>
              <a:t>//Hàm tách ID từ Slug (Dùng khi đọc URL)</a:t>
            </a:r>
            <a:endParaRPr lang="vi-VN" sz="1600" b="0">
              <a:solidFill>
                <a:srgbClr val="000000"/>
              </a:solidFill>
              <a:effectLst/>
              <a:latin typeface="Consolas" panose="020B0609020204030204" pitchFamily="49" charset="0"/>
            </a:endParaRPr>
          </a:p>
          <a:p>
            <a:pPr>
              <a:lnSpc>
                <a:spcPts val="2250"/>
              </a:lnSpc>
              <a:buNone/>
            </a:pPr>
            <a:r>
              <a:rPr lang="vi-VN" sz="1600" b="0">
                <a:solidFill>
                  <a:srgbClr val="0000FF"/>
                </a:solidFill>
                <a:effectLst/>
                <a:latin typeface="Consolas" panose="020B0609020204030204" pitchFamily="49" charset="0"/>
              </a:rPr>
              <a:t>export</a:t>
            </a:r>
            <a:r>
              <a:rPr lang="vi-VN" sz="1600" b="0">
                <a:solidFill>
                  <a:srgbClr val="000000"/>
                </a:solidFill>
                <a:effectLst/>
                <a:latin typeface="Consolas" panose="020B0609020204030204" pitchFamily="49" charset="0"/>
              </a:rPr>
              <a:t> </a:t>
            </a:r>
            <a:r>
              <a:rPr lang="vi-VN" sz="1600" b="0">
                <a:solidFill>
                  <a:srgbClr val="0000FF"/>
                </a:solidFill>
                <a:effectLst/>
                <a:latin typeface="Consolas" panose="020B0609020204030204" pitchFamily="49" charset="0"/>
              </a:rPr>
              <a:t>function</a:t>
            </a:r>
            <a:r>
              <a:rPr lang="vi-VN" sz="1600" b="0">
                <a:solidFill>
                  <a:srgbClr val="000000"/>
                </a:solidFill>
                <a:effectLst/>
                <a:latin typeface="Consolas" panose="020B0609020204030204" pitchFamily="49" charset="0"/>
              </a:rPr>
              <a:t> extractIdFromSlug(slug: string): number | null {</a:t>
            </a:r>
          </a:p>
          <a:p>
            <a:pPr>
              <a:lnSpc>
                <a:spcPts val="2250"/>
              </a:lnSpc>
              <a:buNone/>
            </a:pPr>
            <a:r>
              <a:rPr lang="vi-VN" sz="1600" b="0">
                <a:solidFill>
                  <a:srgbClr val="000000"/>
                </a:solidFill>
                <a:effectLst/>
                <a:latin typeface="Consolas" panose="020B0609020204030204" pitchFamily="49" charset="0"/>
              </a:rPr>
              <a:t>  </a:t>
            </a:r>
            <a:r>
              <a:rPr lang="vi-VN" sz="1600" b="0">
                <a:solidFill>
                  <a:srgbClr val="008000"/>
                </a:solidFill>
                <a:effectLst/>
                <a:latin typeface="Consolas" panose="020B0609020204030204" pitchFamily="49" charset="0"/>
              </a:rPr>
              <a:t>// Tìm các chữ số nằm ở cuối chuỗi sau chữ p</a:t>
            </a:r>
            <a:endParaRPr lang="vi-VN" sz="1600" b="0">
              <a:solidFill>
                <a:srgbClr val="000000"/>
              </a:solidFill>
              <a:effectLst/>
              <a:latin typeface="Consolas" panose="020B0609020204030204" pitchFamily="49" charset="0"/>
            </a:endParaRPr>
          </a:p>
          <a:p>
            <a:pPr>
              <a:lnSpc>
                <a:spcPts val="2250"/>
              </a:lnSpc>
              <a:buNone/>
            </a:pPr>
            <a:r>
              <a:rPr lang="vi-VN" sz="1600" b="0">
                <a:solidFill>
                  <a:srgbClr val="000000"/>
                </a:solidFill>
                <a:effectLst/>
                <a:latin typeface="Consolas" panose="020B0609020204030204" pitchFamily="49" charset="0"/>
              </a:rPr>
              <a:t>  </a:t>
            </a:r>
            <a:r>
              <a:rPr lang="vi-VN" sz="1600" b="0">
                <a:solidFill>
                  <a:srgbClr val="0000FF"/>
                </a:solidFill>
                <a:effectLst/>
                <a:latin typeface="Consolas" panose="020B0609020204030204" pitchFamily="49" charset="0"/>
              </a:rPr>
              <a:t>const</a:t>
            </a:r>
            <a:r>
              <a:rPr lang="vi-VN" sz="1600" b="0">
                <a:solidFill>
                  <a:srgbClr val="000000"/>
                </a:solidFill>
                <a:effectLst/>
                <a:latin typeface="Consolas" panose="020B0609020204030204" pitchFamily="49" charset="0"/>
              </a:rPr>
              <a:t> match = slug.match(</a:t>
            </a:r>
            <a:r>
              <a:rPr lang="vi-VN" sz="1600" b="0">
                <a:solidFill>
                  <a:srgbClr val="811F3F"/>
                </a:solidFill>
                <a:effectLst/>
                <a:latin typeface="Consolas" panose="020B0609020204030204" pitchFamily="49" charset="0"/>
              </a:rPr>
              <a:t>/-p(\d</a:t>
            </a:r>
            <a:r>
              <a:rPr lang="vi-VN" sz="1600" b="0">
                <a:solidFill>
                  <a:srgbClr val="000000"/>
                </a:solidFill>
                <a:effectLst/>
                <a:latin typeface="Consolas" panose="020B0609020204030204" pitchFamily="49" charset="0"/>
              </a:rPr>
              <a:t>+</a:t>
            </a:r>
            <a:r>
              <a:rPr lang="vi-VN" sz="1600" b="0">
                <a:solidFill>
                  <a:srgbClr val="811F3F"/>
                </a:solidFill>
                <a:effectLst/>
                <a:latin typeface="Consolas" panose="020B0609020204030204" pitchFamily="49" charset="0"/>
              </a:rPr>
              <a:t>)</a:t>
            </a:r>
            <a:r>
              <a:rPr lang="vi-VN" sz="1600" b="0">
                <a:solidFill>
                  <a:srgbClr val="0000FF"/>
                </a:solidFill>
                <a:effectLst/>
                <a:latin typeface="Consolas" panose="020B0609020204030204" pitchFamily="49" charset="0"/>
              </a:rPr>
              <a:t>$</a:t>
            </a:r>
            <a:r>
              <a:rPr lang="vi-VN" sz="1600" b="0">
                <a:solidFill>
                  <a:srgbClr val="811F3F"/>
                </a:solidFill>
                <a:effectLst/>
                <a:latin typeface="Consolas" panose="020B0609020204030204" pitchFamily="49" charset="0"/>
              </a:rPr>
              <a:t>/</a:t>
            </a:r>
            <a:r>
              <a:rPr lang="vi-VN" sz="1600" b="0">
                <a:solidFill>
                  <a:srgbClr val="000000"/>
                </a:solidFill>
                <a:effectLst/>
                <a:latin typeface="Consolas" panose="020B0609020204030204" pitchFamily="49" charset="0"/>
              </a:rPr>
              <a:t>);</a:t>
            </a:r>
          </a:p>
          <a:p>
            <a:pPr>
              <a:lnSpc>
                <a:spcPts val="2250"/>
              </a:lnSpc>
              <a:buNone/>
            </a:pPr>
            <a:r>
              <a:rPr lang="vi-VN" sz="1600" b="0">
                <a:solidFill>
                  <a:srgbClr val="000000"/>
                </a:solidFill>
                <a:effectLst/>
                <a:latin typeface="Consolas" panose="020B0609020204030204" pitchFamily="49" charset="0"/>
              </a:rPr>
              <a:t>  </a:t>
            </a:r>
            <a:r>
              <a:rPr lang="vi-VN" sz="1600" b="0">
                <a:solidFill>
                  <a:srgbClr val="0000FF"/>
                </a:solidFill>
                <a:effectLst/>
                <a:latin typeface="Consolas" panose="020B0609020204030204" pitchFamily="49" charset="0"/>
              </a:rPr>
              <a:t>return</a:t>
            </a:r>
            <a:r>
              <a:rPr lang="vi-VN" sz="1600" b="0">
                <a:solidFill>
                  <a:srgbClr val="000000"/>
                </a:solidFill>
                <a:effectLst/>
                <a:latin typeface="Consolas" panose="020B0609020204030204" pitchFamily="49" charset="0"/>
              </a:rPr>
              <a:t> match ? parseInt(match[</a:t>
            </a:r>
            <a:r>
              <a:rPr lang="vi-VN" sz="1600" b="0">
                <a:solidFill>
                  <a:srgbClr val="098658"/>
                </a:solidFill>
                <a:effectLst/>
                <a:latin typeface="Consolas" panose="020B0609020204030204" pitchFamily="49" charset="0"/>
              </a:rPr>
              <a:t>1</a:t>
            </a:r>
            <a:r>
              <a:rPr lang="vi-VN" sz="1600" b="0">
                <a:solidFill>
                  <a:srgbClr val="000000"/>
                </a:solidFill>
                <a:effectLst/>
                <a:latin typeface="Consolas" panose="020B0609020204030204" pitchFamily="49" charset="0"/>
              </a:rPr>
              <a:t>], </a:t>
            </a:r>
            <a:r>
              <a:rPr lang="vi-VN" sz="1600" b="0">
                <a:solidFill>
                  <a:srgbClr val="098658"/>
                </a:solidFill>
                <a:effectLst/>
                <a:latin typeface="Consolas" panose="020B0609020204030204" pitchFamily="49" charset="0"/>
              </a:rPr>
              <a:t>10</a:t>
            </a:r>
            <a:r>
              <a:rPr lang="vi-VN" sz="1600" b="0">
                <a:solidFill>
                  <a:srgbClr val="000000"/>
                </a:solidFill>
                <a:effectLst/>
                <a:latin typeface="Consolas" panose="020B0609020204030204" pitchFamily="49" charset="0"/>
              </a:rPr>
              <a:t>) : </a:t>
            </a:r>
            <a:r>
              <a:rPr lang="vi-VN" sz="1600" b="0">
                <a:solidFill>
                  <a:srgbClr val="0000FF"/>
                </a:solidFill>
                <a:effectLst/>
                <a:latin typeface="Consolas" panose="020B0609020204030204" pitchFamily="49" charset="0"/>
              </a:rPr>
              <a:t>null</a:t>
            </a:r>
            <a:r>
              <a:rPr lang="vi-VN" sz="1600" b="0">
                <a:solidFill>
                  <a:srgbClr val="000000"/>
                </a:solidFill>
                <a:effectLst/>
                <a:latin typeface="Consolas" panose="020B0609020204030204" pitchFamily="49" charset="0"/>
              </a:rPr>
              <a:t>;</a:t>
            </a:r>
          </a:p>
          <a:p>
            <a:pPr>
              <a:lnSpc>
                <a:spcPts val="2250"/>
              </a:lnSpc>
              <a:buNone/>
            </a:pPr>
            <a:r>
              <a:rPr lang="vi-VN" sz="1600" b="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14892249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425AEDB-B04B-818D-8CEA-5360EE7142C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4109239-3B11-59DF-C74A-D762AB5CA64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58613E4-66D0-1BD7-CFD3-7AB271F7D46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44</a:t>
            </a:fld>
            <a:endParaRPr/>
          </a:p>
        </p:txBody>
      </p:sp>
      <p:grpSp>
        <p:nvGrpSpPr>
          <p:cNvPr id="2" name="Group 1">
            <a:extLst>
              <a:ext uri="{FF2B5EF4-FFF2-40B4-BE49-F238E27FC236}">
                <a16:creationId xmlns:a16="http://schemas.microsoft.com/office/drawing/2014/main" id="{C045361F-7B37-B104-43BC-4DCDC981B9DB}"/>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04D926E7-F22B-4E91-6B6F-74323903F0DF}"/>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4.3.</a:t>
              </a:r>
              <a:r>
                <a:rPr lang="en-US" sz="2800">
                  <a:latin typeface="Times New Roman" panose="02020603050405020304" pitchFamily="18" charset="0"/>
                  <a:cs typeface="Times New Roman" panose="02020603050405020304" pitchFamily="18" charset="0"/>
                </a:rPr>
                <a:t>3</a:t>
              </a:r>
              <a:r>
                <a:rPr lang="vi-VN" sz="2800">
                  <a:latin typeface="Times New Roman" panose="02020603050405020304" pitchFamily="18" charset="0"/>
                  <a:cs typeface="Times New Roman" panose="02020603050405020304" pitchFamily="18" charset="0"/>
                </a:rPr>
                <a:t>. Route với slug</a:t>
              </a:r>
              <a:r>
                <a:rPr lang="en-US" sz="2800">
                  <a:latin typeface="Times New Roman" panose="02020603050405020304" pitchFamily="18" charset="0"/>
                  <a:cs typeface="Times New Roman" panose="02020603050405020304" pitchFamily="18" charset="0"/>
                </a:rPr>
                <a:t> hỗ trợ kỹ thuật SEO</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C541561-942B-61E3-3E54-3985C71011A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8E71DAE-1860-176E-A1B6-8DEA5988C23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2B56A66-8493-18F8-3C25-23391654A91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F75DAB4-3F59-F84C-B9A8-399E30E78CA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1" name="TextBox 10">
            <a:extLst>
              <a:ext uri="{FF2B5EF4-FFF2-40B4-BE49-F238E27FC236}">
                <a16:creationId xmlns:a16="http://schemas.microsoft.com/office/drawing/2014/main" id="{632D1D3B-AB05-6861-F7AA-D48753505F69}"/>
              </a:ext>
            </a:extLst>
          </p:cNvPr>
          <p:cNvSpPr txBox="1"/>
          <p:nvPr/>
        </p:nvSpPr>
        <p:spPr>
          <a:xfrm>
            <a:off x="534422" y="841012"/>
            <a:ext cx="11469656" cy="5373907"/>
          </a:xfrm>
          <a:prstGeom prst="rect">
            <a:avLst/>
          </a:prstGeom>
          <a:noFill/>
          <a:ln>
            <a:solidFill>
              <a:srgbClr val="002060"/>
            </a:solidFill>
          </a:ln>
        </p:spPr>
        <p:txBody>
          <a:bodyPr wrap="square">
            <a:spAutoFit/>
          </a:bodyPr>
          <a:lstStyle/>
          <a:p>
            <a:pPr>
              <a:lnSpc>
                <a:spcPts val="2250"/>
              </a:lnSpc>
              <a:buNone/>
            </a:pPr>
            <a:r>
              <a:rPr lang="vi-VN" b="0">
                <a:solidFill>
                  <a:srgbClr val="008000"/>
                </a:solidFill>
                <a:effectLst/>
                <a:latin typeface="Consolas" panose="020B0609020204030204" pitchFamily="49" charset="0"/>
              </a:rPr>
              <a:t>// Hàm này giúp xác định loại định danh người dùng truyền vào</a:t>
            </a:r>
            <a:endParaRPr lang="vi-VN" b="0">
              <a:solidFill>
                <a:srgbClr val="000000"/>
              </a:solidFill>
              <a:effectLst/>
              <a:latin typeface="Consolas" panose="020B0609020204030204" pitchFamily="49" charset="0"/>
            </a:endParaRPr>
          </a:p>
          <a:p>
            <a:pPr>
              <a:lnSpc>
                <a:spcPts val="2250"/>
              </a:lnSpc>
              <a:buNone/>
            </a:pPr>
            <a:r>
              <a:rPr lang="vi-VN" b="0">
                <a:solidFill>
                  <a:srgbClr val="0000FF"/>
                </a:solidFill>
                <a:effectLst/>
                <a:latin typeface="Consolas" panose="020B0609020204030204" pitchFamily="49" charset="0"/>
              </a:rPr>
              <a:t>export</a:t>
            </a:r>
            <a:r>
              <a:rPr lang="vi-VN" b="0">
                <a:solidFill>
                  <a:srgbClr val="000000"/>
                </a:solidFill>
                <a:effectLst/>
                <a:latin typeface="Consolas" panose="020B0609020204030204" pitchFamily="49" charset="0"/>
              </a:rPr>
              <a:t> </a:t>
            </a:r>
            <a:r>
              <a:rPr lang="vi-VN" b="0">
                <a:solidFill>
                  <a:srgbClr val="0000FF"/>
                </a:solidFill>
                <a:effectLst/>
                <a:latin typeface="Consolas" panose="020B0609020204030204" pitchFamily="49" charset="0"/>
              </a:rPr>
              <a:t>function</a:t>
            </a:r>
            <a:r>
              <a:rPr lang="vi-VN" b="0">
                <a:solidFill>
                  <a:srgbClr val="000000"/>
                </a:solidFill>
                <a:effectLst/>
                <a:latin typeface="Consolas" panose="020B0609020204030204" pitchFamily="49" charset="0"/>
              </a:rPr>
              <a:t> getIdentityType(identity: string): </a:t>
            </a:r>
            <a:r>
              <a:rPr lang="vi-VN" b="0">
                <a:solidFill>
                  <a:srgbClr val="A31515"/>
                </a:solidFill>
                <a:effectLst/>
                <a:latin typeface="Consolas" panose="020B0609020204030204" pitchFamily="49" charset="0"/>
              </a:rPr>
              <a:t>'ID'</a:t>
            </a:r>
            <a:r>
              <a:rPr lang="vi-VN" b="0">
                <a:solidFill>
                  <a:srgbClr val="000000"/>
                </a:solidFill>
                <a:effectLst/>
                <a:latin typeface="Consolas" panose="020B0609020204030204" pitchFamily="49" charset="0"/>
              </a:rPr>
              <a:t> | </a:t>
            </a:r>
            <a:r>
              <a:rPr lang="vi-VN" b="0">
                <a:solidFill>
                  <a:srgbClr val="A31515"/>
                </a:solidFill>
                <a:effectLst/>
                <a:latin typeface="Consolas" panose="020B0609020204030204" pitchFamily="49" charset="0"/>
              </a:rPr>
              <a:t>'SLUG_WITH_ID'</a:t>
            </a:r>
            <a:r>
              <a:rPr lang="vi-VN" b="0">
                <a:solidFill>
                  <a:srgbClr val="000000"/>
                </a:solidFill>
                <a:effectLst/>
                <a:latin typeface="Consolas" panose="020B0609020204030204" pitchFamily="49" charset="0"/>
              </a:rPr>
              <a:t> | </a:t>
            </a:r>
            <a:r>
              <a:rPr lang="vi-VN" b="0">
                <a:solidFill>
                  <a:srgbClr val="A31515"/>
                </a:solidFill>
                <a:effectLst/>
                <a:latin typeface="Consolas" panose="020B0609020204030204" pitchFamily="49" charset="0"/>
              </a:rPr>
              <a:t>'PURE_SLUG'</a:t>
            </a:r>
            <a:r>
              <a:rPr lang="vi-VN" b="0">
                <a:solidFill>
                  <a:srgbClr val="000000"/>
                </a:solidFill>
                <a:effectLst/>
                <a:latin typeface="Consolas" panose="020B0609020204030204" pitchFamily="49" charset="0"/>
              </a:rPr>
              <a:t> {</a:t>
            </a:r>
          </a:p>
          <a:p>
            <a:pPr>
              <a:lnSpc>
                <a:spcPts val="2250"/>
              </a:lnSpc>
              <a:buNone/>
            </a:pPr>
            <a:r>
              <a:rPr lang="vi-VN" b="0">
                <a:solidFill>
                  <a:srgbClr val="000000"/>
                </a:solidFill>
                <a:effectLst/>
                <a:latin typeface="Consolas" panose="020B0609020204030204" pitchFamily="49" charset="0"/>
              </a:rPr>
              <a:t>  </a:t>
            </a:r>
            <a:r>
              <a:rPr lang="vi-VN" b="0">
                <a:solidFill>
                  <a:srgbClr val="008000"/>
                </a:solidFill>
                <a:effectLst/>
                <a:latin typeface="Consolas" panose="020B0609020204030204" pitchFamily="49" charset="0"/>
              </a:rPr>
              <a:t>// 1. Kiểm tra nếu là số thuần túy (ví dụ: "1")</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0000FF"/>
                </a:solidFill>
                <a:effectLst/>
                <a:latin typeface="Consolas" panose="020B0609020204030204" pitchFamily="49" charset="0"/>
              </a:rPr>
              <a:t>if</a:t>
            </a:r>
            <a:r>
              <a:rPr lang="vi-VN" b="0">
                <a:solidFill>
                  <a:srgbClr val="000000"/>
                </a:solidFill>
                <a:effectLst/>
                <a:latin typeface="Consolas" panose="020B0609020204030204" pitchFamily="49" charset="0"/>
              </a:rPr>
              <a:t> (!isNaN(Number(identity))) {</a:t>
            </a:r>
          </a:p>
          <a:p>
            <a:pPr>
              <a:lnSpc>
                <a:spcPts val="2250"/>
              </a:lnSpc>
              <a:buNone/>
            </a:pPr>
            <a:r>
              <a:rPr lang="vi-VN" b="0">
                <a:solidFill>
                  <a:srgbClr val="000000"/>
                </a:solidFill>
                <a:effectLst/>
                <a:latin typeface="Consolas" panose="020B0609020204030204" pitchFamily="49" charset="0"/>
              </a:rPr>
              <a:t>    </a:t>
            </a:r>
            <a:r>
              <a:rPr lang="vi-VN" b="0">
                <a:solidFill>
                  <a:srgbClr val="0000FF"/>
                </a:solidFill>
                <a:effectLst/>
                <a:latin typeface="Consolas" panose="020B0609020204030204" pitchFamily="49" charset="0"/>
              </a:rPr>
              <a:t>return</a:t>
            </a:r>
            <a:r>
              <a:rPr lang="vi-VN" b="0">
                <a:solidFill>
                  <a:srgbClr val="000000"/>
                </a:solidFill>
                <a:effectLst/>
                <a:latin typeface="Consolas" panose="020B0609020204030204" pitchFamily="49" charset="0"/>
              </a:rPr>
              <a:t> </a:t>
            </a:r>
            <a:r>
              <a:rPr lang="vi-VN" b="0">
                <a:solidFill>
                  <a:srgbClr val="A31515"/>
                </a:solidFill>
                <a:effectLst/>
                <a:latin typeface="Consolas" panose="020B0609020204030204" pitchFamily="49" charset="0"/>
              </a:rPr>
              <a:t>'ID'</a:t>
            </a:r>
            <a:r>
              <a:rPr lang="vi-VN" b="0">
                <a:solidFill>
                  <a:srgbClr val="000000"/>
                </a:solidFill>
                <a:effectLst/>
                <a:latin typeface="Consolas" panose="020B0609020204030204" pitchFamily="49" charset="0"/>
              </a:rPr>
              <a:t>;</a:t>
            </a:r>
          </a:p>
          <a:p>
            <a:pPr>
              <a:lnSpc>
                <a:spcPts val="2250"/>
              </a:lnSpc>
              <a:buNone/>
            </a:pPr>
            <a:r>
              <a:rPr lang="vi-VN" b="0">
                <a:solidFill>
                  <a:srgbClr val="000000"/>
                </a:solidFill>
                <a:effectLst/>
                <a:latin typeface="Consolas" panose="020B0609020204030204" pitchFamily="49" charset="0"/>
              </a:rPr>
              <a:t>  }</a:t>
            </a:r>
          </a:p>
          <a:p>
            <a:pPr>
              <a:lnSpc>
                <a:spcPts val="2250"/>
              </a:lnSpc>
              <a:buNone/>
            </a:pPr>
            <a:r>
              <a:rPr lang="vi-VN" b="0">
                <a:solidFill>
                  <a:srgbClr val="000000"/>
                </a:solidFill>
                <a:effectLst/>
                <a:latin typeface="Consolas" panose="020B0609020204030204" pitchFamily="49" charset="0"/>
              </a:rPr>
              <a:t>  </a:t>
            </a:r>
            <a:r>
              <a:rPr lang="vi-VN" b="0">
                <a:solidFill>
                  <a:srgbClr val="008000"/>
                </a:solidFill>
                <a:effectLst/>
                <a:latin typeface="Consolas" panose="020B0609020204030204" pitchFamily="49" charset="0"/>
              </a:rPr>
              <a:t>// 2. Kiểm tra nếu chứa định dạng pID (ví dụ: "iphone-69-pro-max-p1")</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0000FF"/>
                </a:solidFill>
                <a:effectLst/>
                <a:latin typeface="Consolas" panose="020B0609020204030204" pitchFamily="49" charset="0"/>
              </a:rPr>
              <a:t>if</a:t>
            </a:r>
            <a:r>
              <a:rPr lang="vi-VN" b="0">
                <a:solidFill>
                  <a:srgbClr val="000000"/>
                </a:solidFill>
                <a:effectLst/>
                <a:latin typeface="Consolas" panose="020B0609020204030204" pitchFamily="49" charset="0"/>
              </a:rPr>
              <a:t> (identity.includes(</a:t>
            </a:r>
            <a:r>
              <a:rPr lang="vi-VN" b="0">
                <a:solidFill>
                  <a:srgbClr val="A31515"/>
                </a:solidFill>
                <a:effectLst/>
                <a:latin typeface="Consolas" panose="020B0609020204030204" pitchFamily="49" charset="0"/>
              </a:rPr>
              <a:t>'-p'</a:t>
            </a:r>
            <a:r>
              <a:rPr lang="vi-VN" b="0">
                <a:solidFill>
                  <a:srgbClr val="000000"/>
                </a:solidFill>
                <a:effectLst/>
                <a:latin typeface="Consolas" panose="020B0609020204030204" pitchFamily="49" charset="0"/>
              </a:rPr>
              <a:t>)) {</a:t>
            </a:r>
          </a:p>
          <a:p>
            <a:pPr>
              <a:lnSpc>
                <a:spcPts val="2250"/>
              </a:lnSpc>
              <a:buNone/>
            </a:pPr>
            <a:r>
              <a:rPr lang="vi-VN" b="0">
                <a:solidFill>
                  <a:srgbClr val="000000"/>
                </a:solidFill>
                <a:effectLst/>
                <a:latin typeface="Consolas" panose="020B0609020204030204" pitchFamily="49" charset="0"/>
              </a:rPr>
              <a:t>    </a:t>
            </a:r>
            <a:r>
              <a:rPr lang="vi-VN" b="0">
                <a:solidFill>
                  <a:srgbClr val="0000FF"/>
                </a:solidFill>
                <a:effectLst/>
                <a:latin typeface="Consolas" panose="020B0609020204030204" pitchFamily="49" charset="0"/>
              </a:rPr>
              <a:t>const</a:t>
            </a:r>
            <a:r>
              <a:rPr lang="vi-VN" b="0">
                <a:solidFill>
                  <a:srgbClr val="000000"/>
                </a:solidFill>
                <a:effectLst/>
                <a:latin typeface="Consolas" panose="020B0609020204030204" pitchFamily="49" charset="0"/>
              </a:rPr>
              <a:t> parts = identity.split(</a:t>
            </a:r>
            <a:r>
              <a:rPr lang="vi-VN" b="0">
                <a:solidFill>
                  <a:srgbClr val="A31515"/>
                </a:solidFill>
                <a:effectLst/>
                <a:latin typeface="Consolas" panose="020B0609020204030204" pitchFamily="49" charset="0"/>
              </a:rPr>
              <a:t>'-p'</a:t>
            </a:r>
            <a:r>
              <a:rPr lang="vi-VN" b="0">
                <a:solidFill>
                  <a:srgbClr val="000000"/>
                </a:solidFill>
                <a:effectLst/>
                <a:latin typeface="Consolas" panose="020B0609020204030204" pitchFamily="49" charset="0"/>
              </a:rPr>
              <a:t>);</a:t>
            </a:r>
          </a:p>
          <a:p>
            <a:pPr>
              <a:lnSpc>
                <a:spcPts val="2250"/>
              </a:lnSpc>
              <a:buNone/>
            </a:pPr>
            <a:r>
              <a:rPr lang="vi-VN" b="0">
                <a:solidFill>
                  <a:srgbClr val="000000"/>
                </a:solidFill>
                <a:effectLst/>
                <a:latin typeface="Consolas" panose="020B0609020204030204" pitchFamily="49" charset="0"/>
              </a:rPr>
              <a:t>    </a:t>
            </a:r>
            <a:r>
              <a:rPr lang="vi-VN" b="0">
                <a:solidFill>
                  <a:srgbClr val="0000FF"/>
                </a:solidFill>
                <a:effectLst/>
                <a:latin typeface="Consolas" panose="020B0609020204030204" pitchFamily="49" charset="0"/>
              </a:rPr>
              <a:t>const</a:t>
            </a:r>
            <a:r>
              <a:rPr lang="vi-VN" b="0">
                <a:solidFill>
                  <a:srgbClr val="000000"/>
                </a:solidFill>
                <a:effectLst/>
                <a:latin typeface="Consolas" panose="020B0609020204030204" pitchFamily="49" charset="0"/>
              </a:rPr>
              <a:t> lastPart = parts[parts.length - </a:t>
            </a:r>
            <a:r>
              <a:rPr lang="vi-VN" b="0">
                <a:solidFill>
                  <a:srgbClr val="098658"/>
                </a:solidFill>
                <a:effectLst/>
                <a:latin typeface="Consolas" panose="020B0609020204030204" pitchFamily="49" charset="0"/>
              </a:rPr>
              <a:t>1</a:t>
            </a:r>
            <a:r>
              <a:rPr lang="vi-VN" b="0">
                <a:solidFill>
                  <a:srgbClr val="000000"/>
                </a:solidFill>
                <a:effectLst/>
                <a:latin typeface="Consolas" panose="020B0609020204030204" pitchFamily="49" charset="0"/>
              </a:rPr>
              <a:t>];</a:t>
            </a:r>
          </a:p>
          <a:p>
            <a:pPr>
              <a:lnSpc>
                <a:spcPts val="2250"/>
              </a:lnSpc>
              <a:buNone/>
            </a:pPr>
            <a:r>
              <a:rPr lang="vi-VN" b="0">
                <a:solidFill>
                  <a:srgbClr val="000000"/>
                </a:solidFill>
                <a:effectLst/>
                <a:latin typeface="Consolas" panose="020B0609020204030204" pitchFamily="49" charset="0"/>
              </a:rPr>
              <a:t>    </a:t>
            </a:r>
            <a:r>
              <a:rPr lang="vi-VN" b="0">
                <a:solidFill>
                  <a:srgbClr val="0000FF"/>
                </a:solidFill>
                <a:effectLst/>
                <a:latin typeface="Consolas" panose="020B0609020204030204" pitchFamily="49" charset="0"/>
              </a:rPr>
              <a:t>if</a:t>
            </a:r>
            <a:r>
              <a:rPr lang="vi-VN" b="0">
                <a:solidFill>
                  <a:srgbClr val="000000"/>
                </a:solidFill>
                <a:effectLst/>
                <a:latin typeface="Consolas" panose="020B0609020204030204" pitchFamily="49" charset="0"/>
              </a:rPr>
              <a:t> (!isNaN(Number(lastPart))) {</a:t>
            </a:r>
          </a:p>
          <a:p>
            <a:pPr>
              <a:lnSpc>
                <a:spcPts val="2250"/>
              </a:lnSpc>
              <a:buNone/>
            </a:pPr>
            <a:r>
              <a:rPr lang="vi-VN" b="0">
                <a:solidFill>
                  <a:srgbClr val="000000"/>
                </a:solidFill>
                <a:effectLst/>
                <a:latin typeface="Consolas" panose="020B0609020204030204" pitchFamily="49" charset="0"/>
              </a:rPr>
              <a:t>      </a:t>
            </a:r>
            <a:r>
              <a:rPr lang="vi-VN" b="0">
                <a:solidFill>
                  <a:srgbClr val="0000FF"/>
                </a:solidFill>
                <a:effectLst/>
                <a:latin typeface="Consolas" panose="020B0609020204030204" pitchFamily="49" charset="0"/>
              </a:rPr>
              <a:t>return</a:t>
            </a:r>
            <a:r>
              <a:rPr lang="vi-VN" b="0">
                <a:solidFill>
                  <a:srgbClr val="000000"/>
                </a:solidFill>
                <a:effectLst/>
                <a:latin typeface="Consolas" panose="020B0609020204030204" pitchFamily="49" charset="0"/>
              </a:rPr>
              <a:t> </a:t>
            </a:r>
            <a:r>
              <a:rPr lang="vi-VN" b="0">
                <a:solidFill>
                  <a:srgbClr val="A31515"/>
                </a:solidFill>
                <a:effectLst/>
                <a:latin typeface="Consolas" panose="020B0609020204030204" pitchFamily="49" charset="0"/>
              </a:rPr>
              <a:t>'SLUG_WITH_ID'</a:t>
            </a:r>
            <a:r>
              <a:rPr lang="vi-VN" b="0">
                <a:solidFill>
                  <a:srgbClr val="000000"/>
                </a:solidFill>
                <a:effectLst/>
                <a:latin typeface="Consolas" panose="020B0609020204030204" pitchFamily="49" charset="0"/>
              </a:rPr>
              <a:t>;</a:t>
            </a:r>
          </a:p>
          <a:p>
            <a:pPr>
              <a:lnSpc>
                <a:spcPts val="2250"/>
              </a:lnSpc>
              <a:buNone/>
            </a:pPr>
            <a:r>
              <a:rPr lang="vi-VN" b="0">
                <a:solidFill>
                  <a:srgbClr val="000000"/>
                </a:solidFill>
                <a:effectLst/>
                <a:latin typeface="Consolas" panose="020B0609020204030204" pitchFamily="49" charset="0"/>
              </a:rPr>
              <a:t>    }</a:t>
            </a:r>
          </a:p>
          <a:p>
            <a:pPr>
              <a:lnSpc>
                <a:spcPts val="2250"/>
              </a:lnSpc>
              <a:buNone/>
            </a:pPr>
            <a:r>
              <a:rPr lang="vi-VN" b="0">
                <a:solidFill>
                  <a:srgbClr val="000000"/>
                </a:solidFill>
                <a:effectLst/>
                <a:latin typeface="Consolas" panose="020B0609020204030204" pitchFamily="49" charset="0"/>
              </a:rPr>
              <a:t>  }</a:t>
            </a:r>
          </a:p>
          <a:p>
            <a:pPr>
              <a:lnSpc>
                <a:spcPts val="2250"/>
              </a:lnSpc>
              <a:buNone/>
            </a:pPr>
            <a:r>
              <a:rPr lang="vi-VN" b="0">
                <a:solidFill>
                  <a:srgbClr val="000000"/>
                </a:solidFill>
                <a:effectLst/>
                <a:latin typeface="Consolas" panose="020B0609020204030204" pitchFamily="49" charset="0"/>
              </a:rPr>
              <a:t>  </a:t>
            </a:r>
            <a:r>
              <a:rPr lang="vi-VN" b="0">
                <a:solidFill>
                  <a:srgbClr val="008000"/>
                </a:solidFill>
                <a:effectLst/>
                <a:latin typeface="Consolas" panose="020B0609020204030204" pitchFamily="49" charset="0"/>
              </a:rPr>
              <a:t>// 3. Còn lại coi là slug chữ thuần túy (ví dụ: "iphone-69-pro-max")</a:t>
            </a:r>
            <a:endParaRPr lang="vi-VN" b="0">
              <a:solidFill>
                <a:srgbClr val="000000"/>
              </a:solidFill>
              <a:effectLst/>
              <a:latin typeface="Consolas" panose="020B0609020204030204" pitchFamily="49" charset="0"/>
            </a:endParaRPr>
          </a:p>
          <a:p>
            <a:pPr>
              <a:lnSpc>
                <a:spcPts val="2250"/>
              </a:lnSpc>
              <a:buNone/>
            </a:pPr>
            <a:r>
              <a:rPr lang="vi-VN" b="0">
                <a:solidFill>
                  <a:srgbClr val="000000"/>
                </a:solidFill>
                <a:effectLst/>
                <a:latin typeface="Consolas" panose="020B0609020204030204" pitchFamily="49" charset="0"/>
              </a:rPr>
              <a:t>  </a:t>
            </a:r>
            <a:r>
              <a:rPr lang="vi-VN" b="0">
                <a:solidFill>
                  <a:srgbClr val="0000FF"/>
                </a:solidFill>
                <a:effectLst/>
                <a:latin typeface="Consolas" panose="020B0609020204030204" pitchFamily="49" charset="0"/>
              </a:rPr>
              <a:t>return</a:t>
            </a:r>
            <a:r>
              <a:rPr lang="vi-VN" b="0">
                <a:solidFill>
                  <a:srgbClr val="000000"/>
                </a:solidFill>
                <a:effectLst/>
                <a:latin typeface="Consolas" panose="020B0609020204030204" pitchFamily="49" charset="0"/>
              </a:rPr>
              <a:t> </a:t>
            </a:r>
            <a:r>
              <a:rPr lang="vi-VN" b="0">
                <a:solidFill>
                  <a:srgbClr val="A31515"/>
                </a:solidFill>
                <a:effectLst/>
                <a:latin typeface="Consolas" panose="020B0609020204030204" pitchFamily="49" charset="0"/>
              </a:rPr>
              <a:t>'PURE_SLUG'</a:t>
            </a:r>
            <a:r>
              <a:rPr lang="vi-VN" b="0">
                <a:solidFill>
                  <a:srgbClr val="000000"/>
                </a:solidFill>
                <a:effectLst/>
                <a:latin typeface="Consolas" panose="020B0609020204030204" pitchFamily="49" charset="0"/>
              </a:rPr>
              <a:t>;</a:t>
            </a:r>
          </a:p>
          <a:p>
            <a:pPr>
              <a:lnSpc>
                <a:spcPts val="2250"/>
              </a:lnSpc>
              <a:buNone/>
            </a:pPr>
            <a:r>
              <a:rPr lang="vi-VN" b="0">
                <a:solidFill>
                  <a:srgbClr val="000000"/>
                </a:solidFill>
                <a:effectLst/>
                <a:latin typeface="Consolas" panose="020B0609020204030204" pitchFamily="49" charset="0"/>
              </a:rPr>
              <a:t>}</a:t>
            </a:r>
            <a:br>
              <a:rPr lang="vi-VN" b="0">
                <a:solidFill>
                  <a:srgbClr val="000000"/>
                </a:solidFill>
                <a:effectLst/>
                <a:latin typeface="Consolas" panose="020B0609020204030204" pitchFamily="49" charset="0"/>
              </a:rPr>
            </a:br>
            <a:endParaRPr lang="vi-VN" b="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7335958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772E7ED-87B0-EFEF-6D3D-7010019F538E}"/>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58E6635-4E83-A9AE-85AB-43033BDECE5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A22062F-3FD2-BD4F-9C47-71091D4E5FB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45</a:t>
            </a:fld>
            <a:endParaRPr/>
          </a:p>
        </p:txBody>
      </p:sp>
      <p:grpSp>
        <p:nvGrpSpPr>
          <p:cNvPr id="2" name="Group 1">
            <a:extLst>
              <a:ext uri="{FF2B5EF4-FFF2-40B4-BE49-F238E27FC236}">
                <a16:creationId xmlns:a16="http://schemas.microsoft.com/office/drawing/2014/main" id="{22749B98-CA31-3A4B-51B7-8D5DF4A1E2C2}"/>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343C3242-A3DB-D4EC-1F0A-11708F393BF3}"/>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4.3.</a:t>
              </a:r>
              <a:r>
                <a:rPr lang="en-US" sz="2800">
                  <a:latin typeface="Times New Roman" panose="02020603050405020304" pitchFamily="18" charset="0"/>
                  <a:cs typeface="Times New Roman" panose="02020603050405020304" pitchFamily="18" charset="0"/>
                </a:rPr>
                <a:t>3</a:t>
              </a:r>
              <a:r>
                <a:rPr lang="vi-VN" sz="2800">
                  <a:latin typeface="Times New Roman" panose="02020603050405020304" pitchFamily="18" charset="0"/>
                  <a:cs typeface="Times New Roman" panose="02020603050405020304" pitchFamily="18" charset="0"/>
                </a:rPr>
                <a:t>. Route với slug</a:t>
              </a:r>
              <a:r>
                <a:rPr lang="en-US" sz="2800">
                  <a:latin typeface="Times New Roman" panose="02020603050405020304" pitchFamily="18" charset="0"/>
                  <a:cs typeface="Times New Roman" panose="02020603050405020304" pitchFamily="18" charset="0"/>
                </a:rPr>
                <a:t> hỗ trợ kỹ thuật SEO</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CCC4626-1E0C-0F6E-7DF4-26F0C647568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1F5B405-2A5A-9878-7AF7-7B01BF71E52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B03170F-9B4D-291F-2852-8635CA5B70C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732ACFB-04AC-B91F-02F5-472DD60263C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6A441137-112D-34CA-194E-02DA010F2369}"/>
              </a:ext>
            </a:extLst>
          </p:cNvPr>
          <p:cNvSpPr txBox="1"/>
          <p:nvPr/>
        </p:nvSpPr>
        <p:spPr>
          <a:xfrm>
            <a:off x="482905" y="788933"/>
            <a:ext cx="11564547" cy="1133965"/>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Mở lại </a:t>
            </a:r>
            <a:r>
              <a:rPr lang="en-US" sz="2400" b="1">
                <a:latin typeface="Times New Roman" panose="02020603050405020304" pitchFamily="18" charset="0"/>
                <a:cs typeface="Times New Roman" panose="02020603050405020304" pitchFamily="18" charset="0"/>
              </a:rPr>
              <a:t>ProductListAdvancedComponent.ts </a:t>
            </a:r>
            <a:r>
              <a:rPr lang="en-US" sz="2400">
                <a:latin typeface="Times New Roman" panose="02020603050405020304" pitchFamily="18" charset="0"/>
                <a:cs typeface="Times New Roman" panose="02020603050405020304" pitchFamily="18" charset="0"/>
              </a:rPr>
              <a:t>và bổ sung Slug</a:t>
            </a:r>
          </a:p>
          <a:p>
            <a:pPr>
              <a:lnSpc>
                <a:spcPct val="150000"/>
              </a:lnSpc>
            </a:pPr>
            <a:r>
              <a:rPr lang="en-US" sz="2400">
                <a:latin typeface="Times New Roman" panose="02020603050405020304" pitchFamily="18" charset="0"/>
                <a:cs typeface="Times New Roman" panose="02020603050405020304" pitchFamily="18" charset="0"/>
              </a:rPr>
              <a:t>Khai báo biến để sử dụng Slug trong helper</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7A08BF45-2D9C-2858-269F-E2069786AEB4}"/>
              </a:ext>
            </a:extLst>
          </p:cNvPr>
          <p:cNvPicPr>
            <a:picLocks noChangeAspect="1"/>
          </p:cNvPicPr>
          <p:nvPr/>
        </p:nvPicPr>
        <p:blipFill>
          <a:blip r:embed="rId3"/>
          <a:srcRect b="21392"/>
          <a:stretch>
            <a:fillRect/>
          </a:stretch>
        </p:blipFill>
        <p:spPr>
          <a:xfrm>
            <a:off x="542786" y="1974756"/>
            <a:ext cx="9474009" cy="4158066"/>
          </a:xfrm>
          <a:prstGeom prst="rect">
            <a:avLst/>
          </a:prstGeom>
        </p:spPr>
      </p:pic>
      <p:sp>
        <p:nvSpPr>
          <p:cNvPr id="11" name="Rectangle 10">
            <a:extLst>
              <a:ext uri="{FF2B5EF4-FFF2-40B4-BE49-F238E27FC236}">
                <a16:creationId xmlns:a16="http://schemas.microsoft.com/office/drawing/2014/main" id="{2E7D682F-AFFC-29F3-1AD5-1A35BFC5F0BB}"/>
              </a:ext>
            </a:extLst>
          </p:cNvPr>
          <p:cNvSpPr/>
          <p:nvPr/>
        </p:nvSpPr>
        <p:spPr>
          <a:xfrm>
            <a:off x="625642" y="5878286"/>
            <a:ext cx="5211393" cy="306394"/>
          </a:xfrm>
          <a:prstGeom prst="rect">
            <a:avLst/>
          </a:prstGeom>
          <a:no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70C6E64-5D9B-AE4C-BB35-3AE9D7E4A6AA}"/>
              </a:ext>
            </a:extLst>
          </p:cNvPr>
          <p:cNvSpPr txBox="1"/>
          <p:nvPr/>
        </p:nvSpPr>
        <p:spPr>
          <a:xfrm>
            <a:off x="5837035" y="5578185"/>
            <a:ext cx="3448937" cy="707886"/>
          </a:xfrm>
          <a:prstGeom prst="rect">
            <a:avLst/>
          </a:prstGeom>
          <a:noFill/>
        </p:spPr>
        <p:txBody>
          <a:bodyPr wrap="square" rtlCol="0">
            <a:spAutoFit/>
          </a:bodyPr>
          <a:lstStyle/>
          <a:p>
            <a:pPr algn="just"/>
            <a:r>
              <a:rPr lang="en-US" sz="2000">
                <a:solidFill>
                  <a:srgbClr val="FF0000"/>
                </a:solidFill>
                <a:latin typeface="Times New Roman" panose="02020603050405020304" pitchFamily="18" charset="0"/>
                <a:cs typeface="Times New Roman" panose="02020603050405020304" pitchFamily="18" charset="0"/>
              </a:rPr>
              <a:t>Khai báo biến lưu trữ hàm createSlug thì mới hiểu</a:t>
            </a:r>
          </a:p>
        </p:txBody>
      </p:sp>
      <p:sp>
        <p:nvSpPr>
          <p:cNvPr id="13" name="Rectangle 12">
            <a:extLst>
              <a:ext uri="{FF2B5EF4-FFF2-40B4-BE49-F238E27FC236}">
                <a16:creationId xmlns:a16="http://schemas.microsoft.com/office/drawing/2014/main" id="{9DE78DD1-D3A5-61B3-E7A1-8A45CFE10FFA}"/>
              </a:ext>
            </a:extLst>
          </p:cNvPr>
          <p:cNvSpPr/>
          <p:nvPr/>
        </p:nvSpPr>
        <p:spPr>
          <a:xfrm>
            <a:off x="728132" y="3316880"/>
            <a:ext cx="6387688" cy="306394"/>
          </a:xfrm>
          <a:prstGeom prst="rect">
            <a:avLst/>
          </a:prstGeom>
          <a:no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44791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6102EEA-250F-6904-5E32-08D1D3364E8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03A6952-61D0-9EAB-6FDE-8F2742D3664C}"/>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8C73F04-A62D-5E27-AE98-20C7AFF885A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46</a:t>
            </a:fld>
            <a:endParaRPr/>
          </a:p>
        </p:txBody>
      </p:sp>
      <p:grpSp>
        <p:nvGrpSpPr>
          <p:cNvPr id="2" name="Group 1">
            <a:extLst>
              <a:ext uri="{FF2B5EF4-FFF2-40B4-BE49-F238E27FC236}">
                <a16:creationId xmlns:a16="http://schemas.microsoft.com/office/drawing/2014/main" id="{8AFDEEC6-8D3C-C5E3-244D-19EB74C8F0A9}"/>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976E62A3-9BE6-116F-F086-5DAA80C1F8A1}"/>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4.3.</a:t>
              </a:r>
              <a:r>
                <a:rPr lang="en-US" sz="2800">
                  <a:latin typeface="Times New Roman" panose="02020603050405020304" pitchFamily="18" charset="0"/>
                  <a:cs typeface="Times New Roman" panose="02020603050405020304" pitchFamily="18" charset="0"/>
                </a:rPr>
                <a:t>3</a:t>
              </a:r>
              <a:r>
                <a:rPr lang="vi-VN" sz="2800">
                  <a:latin typeface="Times New Roman" panose="02020603050405020304" pitchFamily="18" charset="0"/>
                  <a:cs typeface="Times New Roman" panose="02020603050405020304" pitchFamily="18" charset="0"/>
                </a:rPr>
                <a:t>. Route với slug</a:t>
              </a:r>
              <a:r>
                <a:rPr lang="en-US" sz="2800">
                  <a:latin typeface="Times New Roman" panose="02020603050405020304" pitchFamily="18" charset="0"/>
                  <a:cs typeface="Times New Roman" panose="02020603050405020304" pitchFamily="18" charset="0"/>
                </a:rPr>
                <a:t> hỗ trợ kỹ thuật SEO</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18B8A59-64D9-AE0E-BCFA-23F9D222C61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1165079-9966-92B3-EAF0-BBDFA966062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46AF3C9-D2A2-0776-0E2D-6DD45BE399D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515DC05-13E1-EACA-A604-5209904A7EB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589020B-95A4-6D6F-DC08-2068CBD08578}"/>
              </a:ext>
            </a:extLst>
          </p:cNvPr>
          <p:cNvSpPr txBox="1"/>
          <p:nvPr/>
        </p:nvSpPr>
        <p:spPr>
          <a:xfrm>
            <a:off x="482905" y="788933"/>
            <a:ext cx="11564547" cy="579967"/>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ProductListAdvancedComponent.ts</a:t>
            </a:r>
          </a:p>
        </p:txBody>
      </p:sp>
      <p:pic>
        <p:nvPicPr>
          <p:cNvPr id="13" name="Picture 12">
            <a:extLst>
              <a:ext uri="{FF2B5EF4-FFF2-40B4-BE49-F238E27FC236}">
                <a16:creationId xmlns:a16="http://schemas.microsoft.com/office/drawing/2014/main" id="{B8D0637E-B564-316F-E313-8DF8AEC0E553}"/>
              </a:ext>
            </a:extLst>
          </p:cNvPr>
          <p:cNvPicPr>
            <a:picLocks noChangeAspect="1"/>
          </p:cNvPicPr>
          <p:nvPr/>
        </p:nvPicPr>
        <p:blipFill>
          <a:blip r:embed="rId3"/>
          <a:stretch>
            <a:fillRect/>
          </a:stretch>
        </p:blipFill>
        <p:spPr>
          <a:xfrm>
            <a:off x="728131" y="1363586"/>
            <a:ext cx="4805487" cy="5013918"/>
          </a:xfrm>
          <a:prstGeom prst="rect">
            <a:avLst/>
          </a:prstGeom>
        </p:spPr>
      </p:pic>
      <p:sp>
        <p:nvSpPr>
          <p:cNvPr id="15" name="TextBox 14">
            <a:extLst>
              <a:ext uri="{FF2B5EF4-FFF2-40B4-BE49-F238E27FC236}">
                <a16:creationId xmlns:a16="http://schemas.microsoft.com/office/drawing/2014/main" id="{B8B1E73D-8ABC-8542-91D4-90692DC1F30F}"/>
              </a:ext>
            </a:extLst>
          </p:cNvPr>
          <p:cNvSpPr txBox="1"/>
          <p:nvPr/>
        </p:nvSpPr>
        <p:spPr>
          <a:xfrm>
            <a:off x="5641699" y="2659238"/>
            <a:ext cx="6297672" cy="1539524"/>
          </a:xfrm>
          <a:prstGeom prst="rect">
            <a:avLst/>
          </a:prstGeom>
          <a:noFill/>
          <a:ln>
            <a:solidFill>
              <a:srgbClr val="002060"/>
            </a:solidFill>
          </a:ln>
        </p:spPr>
        <p:txBody>
          <a:bodyPr wrap="square">
            <a:spAutoFit/>
          </a:bodyPr>
          <a:lstStyle/>
          <a:p>
            <a:pPr>
              <a:lnSpc>
                <a:spcPts val="2250"/>
              </a:lnSpc>
              <a:buNone/>
            </a:pPr>
            <a:r>
              <a:rPr lang="en-US" sz="1800" b="0">
                <a:solidFill>
                  <a:srgbClr val="000000"/>
                </a:solidFill>
                <a:effectLst/>
                <a:latin typeface="Consolas" panose="020B0609020204030204" pitchFamily="49" charset="0"/>
              </a:rPr>
              <a:t>  viewDetailSlug(p:Product)</a:t>
            </a:r>
          </a:p>
          <a:p>
            <a:pPr>
              <a:lnSpc>
                <a:spcPts val="2250"/>
              </a:lnSpc>
              <a:buNone/>
            </a:pPr>
            <a:r>
              <a:rPr lang="en-US" sz="1800" b="0">
                <a:solidFill>
                  <a:srgbClr val="000000"/>
                </a:solidFill>
                <a:effectLst/>
                <a:latin typeface="Consolas" panose="020B0609020204030204" pitchFamily="49" charset="0"/>
              </a:rPr>
              <a:t>  {</a:t>
            </a:r>
          </a:p>
          <a:p>
            <a:pPr>
              <a:lnSpc>
                <a:spcPts val="2250"/>
              </a:lnSpc>
              <a:buNone/>
            </a:pPr>
            <a:r>
              <a:rPr lang="en-US" sz="1800" b="0">
                <a:solidFill>
                  <a:srgbClr val="000000"/>
                </a:solidFill>
                <a:effectLst/>
                <a:latin typeface="Consolas" panose="020B0609020204030204" pitchFamily="49" charset="0"/>
              </a:rPr>
              <a:t>    </a:t>
            </a:r>
            <a:r>
              <a:rPr lang="en-US" sz="1800" b="0">
                <a:solidFill>
                  <a:srgbClr val="0000FF"/>
                </a:solidFill>
                <a:effectLst/>
                <a:latin typeface="Consolas" panose="020B0609020204030204" pitchFamily="49" charset="0"/>
              </a:rPr>
              <a:t>let</a:t>
            </a:r>
            <a:r>
              <a:rPr lang="en-US" sz="1800" b="0">
                <a:solidFill>
                  <a:srgbClr val="000000"/>
                </a:solidFill>
                <a:effectLst/>
                <a:latin typeface="Consolas" panose="020B0609020204030204" pitchFamily="49" charset="0"/>
              </a:rPr>
              <a:t> slug=</a:t>
            </a:r>
            <a:r>
              <a:rPr lang="en-US" sz="1800" b="0">
                <a:solidFill>
                  <a:srgbClr val="0000FF"/>
                </a:solidFill>
                <a:effectLst/>
                <a:latin typeface="Consolas" panose="020B0609020204030204" pitchFamily="49" charset="0"/>
              </a:rPr>
              <a:t>this</a:t>
            </a:r>
            <a:r>
              <a:rPr lang="en-US" sz="1800" b="0">
                <a:solidFill>
                  <a:srgbClr val="000000"/>
                </a:solidFill>
                <a:effectLst/>
                <a:latin typeface="Consolas" panose="020B0609020204030204" pitchFamily="49" charset="0"/>
              </a:rPr>
              <a:t>.generateSlug(p.name,p.id)</a:t>
            </a:r>
          </a:p>
          <a:p>
            <a:pPr>
              <a:lnSpc>
                <a:spcPts val="2250"/>
              </a:lnSpc>
              <a:buNone/>
            </a:pPr>
            <a:r>
              <a:rPr lang="en-US" sz="1800" b="0">
                <a:solidFill>
                  <a:srgbClr val="000000"/>
                </a:solidFill>
                <a:effectLst/>
                <a:latin typeface="Consolas" panose="020B0609020204030204" pitchFamily="49" charset="0"/>
              </a:rPr>
              <a:t>    </a:t>
            </a:r>
            <a:r>
              <a:rPr lang="en-US" sz="1800" b="0">
                <a:solidFill>
                  <a:srgbClr val="0000FF"/>
                </a:solidFill>
                <a:effectLst/>
                <a:latin typeface="Consolas" panose="020B0609020204030204" pitchFamily="49" charset="0"/>
              </a:rPr>
              <a:t>this</a:t>
            </a:r>
            <a:r>
              <a:rPr lang="en-US" sz="1800" b="0">
                <a:solidFill>
                  <a:srgbClr val="000000"/>
                </a:solidFill>
                <a:effectLst/>
                <a:latin typeface="Consolas" panose="020B0609020204030204" pitchFamily="49" charset="0"/>
              </a:rPr>
              <a:t>.router.navigate([</a:t>
            </a:r>
            <a:r>
              <a:rPr lang="en-US" sz="1800" b="0">
                <a:solidFill>
                  <a:srgbClr val="A31515"/>
                </a:solidFill>
                <a:effectLst/>
                <a:latin typeface="Consolas" panose="020B0609020204030204" pitchFamily="49" charset="0"/>
              </a:rPr>
              <a:t>"/products"</a:t>
            </a:r>
            <a:r>
              <a:rPr lang="en-US" sz="1800" b="0">
                <a:solidFill>
                  <a:srgbClr val="000000"/>
                </a:solidFill>
                <a:effectLst/>
                <a:latin typeface="Consolas" panose="020B0609020204030204" pitchFamily="49" charset="0"/>
              </a:rPr>
              <a:t>,slug])</a:t>
            </a:r>
          </a:p>
          <a:p>
            <a:pPr>
              <a:lnSpc>
                <a:spcPts val="2250"/>
              </a:lnSpc>
              <a:buNone/>
            </a:pPr>
            <a:r>
              <a:rPr lang="en-US" sz="1800" b="0">
                <a:solidFill>
                  <a:srgbClr val="000000"/>
                </a:solidFill>
                <a:effectLst/>
                <a:latin typeface="Consolas" panose="020B0609020204030204" pitchFamily="49" charset="0"/>
              </a:rPr>
              <a:t>  }</a:t>
            </a:r>
          </a:p>
        </p:txBody>
      </p:sp>
      <p:sp>
        <p:nvSpPr>
          <p:cNvPr id="16" name="Rectangle 15">
            <a:extLst>
              <a:ext uri="{FF2B5EF4-FFF2-40B4-BE49-F238E27FC236}">
                <a16:creationId xmlns:a16="http://schemas.microsoft.com/office/drawing/2014/main" id="{EE40380A-D2BB-7131-17C9-088BCCA75CA4}"/>
              </a:ext>
            </a:extLst>
          </p:cNvPr>
          <p:cNvSpPr/>
          <p:nvPr/>
        </p:nvSpPr>
        <p:spPr>
          <a:xfrm>
            <a:off x="728131" y="5321395"/>
            <a:ext cx="5122654" cy="893775"/>
          </a:xfrm>
          <a:prstGeom prst="rect">
            <a:avLst/>
          </a:prstGeom>
          <a:no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77123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17EBBC0-C653-D4CD-3C77-06FC65D7303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1AF7E60-EEAE-4065-DAF7-09531E61616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0F9D895-52BC-93AD-A209-06950FBBA2D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47</a:t>
            </a:fld>
            <a:endParaRPr/>
          </a:p>
        </p:txBody>
      </p:sp>
      <p:grpSp>
        <p:nvGrpSpPr>
          <p:cNvPr id="2" name="Group 1">
            <a:extLst>
              <a:ext uri="{FF2B5EF4-FFF2-40B4-BE49-F238E27FC236}">
                <a16:creationId xmlns:a16="http://schemas.microsoft.com/office/drawing/2014/main" id="{551CED49-62B2-54F0-1B2C-E704C58D192C}"/>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1DCC88A6-02C0-2DD2-4EDC-249954E3F2B7}"/>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4.3.</a:t>
              </a:r>
              <a:r>
                <a:rPr lang="en-US" sz="2800">
                  <a:latin typeface="Times New Roman" panose="02020603050405020304" pitchFamily="18" charset="0"/>
                  <a:cs typeface="Times New Roman" panose="02020603050405020304" pitchFamily="18" charset="0"/>
                </a:rPr>
                <a:t>3</a:t>
              </a:r>
              <a:r>
                <a:rPr lang="vi-VN" sz="2800">
                  <a:latin typeface="Times New Roman" panose="02020603050405020304" pitchFamily="18" charset="0"/>
                  <a:cs typeface="Times New Roman" panose="02020603050405020304" pitchFamily="18" charset="0"/>
                </a:rPr>
                <a:t>. Route với slug</a:t>
              </a:r>
              <a:r>
                <a:rPr lang="en-US" sz="2800">
                  <a:latin typeface="Times New Roman" panose="02020603050405020304" pitchFamily="18" charset="0"/>
                  <a:cs typeface="Times New Roman" panose="02020603050405020304" pitchFamily="18" charset="0"/>
                </a:rPr>
                <a:t> hỗ trợ kỹ thuật SEO</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8859B363-3423-6C92-9152-4643A3E0CA8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174FA0C-822F-4920-5775-B2DAEC58429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B14FB42-F6B8-C5EA-F9B8-1D5E0AD4E4F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E72E3DD-DEE0-8A8B-DD5A-0A85FA04CA6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29F72A60-9C75-055B-4252-C5AD30D28673}"/>
              </a:ext>
            </a:extLst>
          </p:cNvPr>
          <p:cNvSpPr txBox="1"/>
          <p:nvPr/>
        </p:nvSpPr>
        <p:spPr>
          <a:xfrm>
            <a:off x="476030" y="763004"/>
            <a:ext cx="11564547" cy="1015663"/>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3: ProductListAdvancedComponent.html</a:t>
            </a:r>
          </a:p>
          <a:p>
            <a:r>
              <a:rPr lang="en-US" sz="2400">
                <a:latin typeface="Times New Roman" panose="02020603050405020304" pitchFamily="18" charset="0"/>
                <a:cs typeface="Times New Roman" panose="02020603050405020304" pitchFamily="18" charset="0"/>
              </a:rPr>
              <a:t>Bổ sung cột Slug cho danh sách Products, các Slug sẽ được tự động tạo ra từ Step 1</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2277FE42-4181-E3B7-B1CE-7DDC98E33A61}"/>
              </a:ext>
            </a:extLst>
          </p:cNvPr>
          <p:cNvPicPr>
            <a:picLocks noChangeAspect="1"/>
          </p:cNvPicPr>
          <p:nvPr/>
        </p:nvPicPr>
        <p:blipFill>
          <a:blip r:embed="rId3"/>
          <a:stretch>
            <a:fillRect/>
          </a:stretch>
        </p:blipFill>
        <p:spPr>
          <a:xfrm>
            <a:off x="419835" y="1888917"/>
            <a:ext cx="7239124" cy="4462659"/>
          </a:xfrm>
          <a:prstGeom prst="rect">
            <a:avLst/>
          </a:prstGeom>
        </p:spPr>
      </p:pic>
      <p:sp>
        <p:nvSpPr>
          <p:cNvPr id="12" name="TextBox 11">
            <a:extLst>
              <a:ext uri="{FF2B5EF4-FFF2-40B4-BE49-F238E27FC236}">
                <a16:creationId xmlns:a16="http://schemas.microsoft.com/office/drawing/2014/main" id="{28586DF8-08D7-6D2D-EB04-35C3891C7880}"/>
              </a:ext>
            </a:extLst>
          </p:cNvPr>
          <p:cNvSpPr txBox="1"/>
          <p:nvPr/>
        </p:nvSpPr>
        <p:spPr>
          <a:xfrm>
            <a:off x="6096000" y="3022882"/>
            <a:ext cx="5367868" cy="3604192"/>
          </a:xfrm>
          <a:prstGeom prst="rect">
            <a:avLst/>
          </a:prstGeom>
          <a:noFill/>
          <a:ln>
            <a:solidFill>
              <a:srgbClr val="002060"/>
            </a:solidFill>
          </a:ln>
        </p:spPr>
        <p:txBody>
          <a:bodyPr wrap="square">
            <a:spAutoFit/>
          </a:bodyPr>
          <a:lstStyle/>
          <a:p>
            <a:pPr>
              <a:lnSpc>
                <a:spcPts val="2250"/>
              </a:lnSpc>
              <a:buNone/>
            </a:pPr>
            <a:r>
              <a:rPr lang="en-US" sz="1600" b="0">
                <a:solidFill>
                  <a:srgbClr val="800000"/>
                </a:solidFill>
                <a:effectLst/>
                <a:latin typeface="Consolas" panose="020B0609020204030204" pitchFamily="49" charset="0"/>
              </a:rPr>
              <a:t>&lt;p&gt;</a:t>
            </a:r>
            <a:r>
              <a:rPr lang="en-US" sz="1600" b="0">
                <a:solidFill>
                  <a:srgbClr val="000000"/>
                </a:solidFill>
                <a:effectLst/>
                <a:latin typeface="Consolas" panose="020B0609020204030204" pitchFamily="49" charset="0"/>
              </a:rPr>
              <a:t>product-list-advanced-component works!</a:t>
            </a:r>
            <a:r>
              <a:rPr lang="en-US" sz="1600" b="0">
                <a:solidFill>
                  <a:srgbClr val="800000"/>
                </a:solidFill>
                <a:effectLst/>
                <a:latin typeface="Consolas" panose="020B0609020204030204" pitchFamily="49" charset="0"/>
              </a:rPr>
              <a:t>&lt;/p&gt;</a:t>
            </a:r>
            <a:endParaRPr lang="en-US" sz="1600" b="0">
              <a:solidFill>
                <a:srgbClr val="000000"/>
              </a:solidFill>
              <a:effectLst/>
              <a:latin typeface="Consolas" panose="020B0609020204030204" pitchFamily="49" charset="0"/>
            </a:endParaRPr>
          </a:p>
          <a:p>
            <a:pPr>
              <a:lnSpc>
                <a:spcPts val="2250"/>
              </a:lnSpc>
              <a:buNone/>
            </a:pPr>
            <a:r>
              <a:rPr lang="en-US" sz="1600" b="0">
                <a:solidFill>
                  <a:srgbClr val="000000"/>
                </a:solidFill>
                <a:effectLst/>
                <a:latin typeface="Consolas" panose="020B0609020204030204" pitchFamily="49" charset="0"/>
              </a:rPr>
              <a:t>{{errMessage()}}</a:t>
            </a:r>
          </a:p>
          <a:p>
            <a:pPr>
              <a:lnSpc>
                <a:spcPts val="2250"/>
              </a:lnSpc>
              <a:buNone/>
            </a:pPr>
            <a:r>
              <a:rPr lang="en-US" sz="1600" b="0">
                <a:solidFill>
                  <a:srgbClr val="800000"/>
                </a:solidFill>
                <a:effectLst/>
                <a:latin typeface="Consolas" panose="020B0609020204030204" pitchFamily="49" charset="0"/>
              </a:rPr>
              <a:t>&lt;table</a:t>
            </a:r>
            <a:r>
              <a:rPr lang="en-US" sz="1600" b="0">
                <a:solidFill>
                  <a:srgbClr val="000000"/>
                </a:solidFill>
                <a:effectLst/>
                <a:latin typeface="Consolas" panose="020B0609020204030204" pitchFamily="49" charset="0"/>
              </a:rPr>
              <a:t> </a:t>
            </a:r>
            <a:r>
              <a:rPr lang="en-US" sz="1600" b="0">
                <a:solidFill>
                  <a:srgbClr val="CD3131"/>
                </a:solidFill>
                <a:effectLst/>
                <a:latin typeface="Consolas" panose="020B0609020204030204" pitchFamily="49" charset="0"/>
              </a:rPr>
              <a:t>border</a:t>
            </a:r>
            <a:r>
              <a:rPr lang="en-US" sz="1600" b="0">
                <a:solidFill>
                  <a:srgbClr val="000000"/>
                </a:solidFill>
                <a:effectLst/>
                <a:latin typeface="Consolas" panose="020B0609020204030204" pitchFamily="49" charset="0"/>
              </a:rPr>
              <a:t>=</a:t>
            </a:r>
            <a:r>
              <a:rPr lang="en-US" sz="1600" b="0">
                <a:solidFill>
                  <a:srgbClr val="0000FF"/>
                </a:solidFill>
                <a:effectLst/>
                <a:latin typeface="Consolas" panose="020B0609020204030204" pitchFamily="49" charset="0"/>
              </a:rPr>
              <a:t>"1"</a:t>
            </a:r>
            <a:r>
              <a:rPr lang="en-US" sz="1600" b="0">
                <a:solidFill>
                  <a:srgbClr val="800000"/>
                </a:solidFill>
                <a:effectLst/>
                <a:latin typeface="Consolas" panose="020B0609020204030204" pitchFamily="49" charset="0"/>
              </a:rPr>
              <a:t>&gt;</a:t>
            </a:r>
            <a:endParaRPr lang="en-US" sz="1600" b="0">
              <a:solidFill>
                <a:srgbClr val="000000"/>
              </a:solidFill>
              <a:effectLst/>
              <a:latin typeface="Consolas" panose="020B0609020204030204" pitchFamily="49" charset="0"/>
            </a:endParaRPr>
          </a:p>
          <a:p>
            <a:pPr>
              <a:lnSpc>
                <a:spcPts val="2250"/>
              </a:lnSpc>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&lt;thead&gt;</a:t>
            </a:r>
            <a:endParaRPr lang="en-US" sz="1600" b="0">
              <a:solidFill>
                <a:srgbClr val="000000"/>
              </a:solidFill>
              <a:effectLst/>
              <a:latin typeface="Consolas" panose="020B0609020204030204" pitchFamily="49" charset="0"/>
            </a:endParaRPr>
          </a:p>
          <a:p>
            <a:pPr>
              <a:lnSpc>
                <a:spcPts val="2250"/>
              </a:lnSpc>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&lt;tr&gt;</a:t>
            </a:r>
            <a:endParaRPr lang="en-US" sz="1600" b="0">
              <a:solidFill>
                <a:srgbClr val="000000"/>
              </a:solidFill>
              <a:effectLst/>
              <a:latin typeface="Consolas" panose="020B0609020204030204" pitchFamily="49" charset="0"/>
            </a:endParaRPr>
          </a:p>
          <a:p>
            <a:pPr>
              <a:lnSpc>
                <a:spcPts val="2250"/>
              </a:lnSpc>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&lt;th&gt;</a:t>
            </a:r>
            <a:r>
              <a:rPr lang="en-US" sz="1600" b="0">
                <a:solidFill>
                  <a:srgbClr val="000000"/>
                </a:solidFill>
                <a:effectLst/>
                <a:latin typeface="Consolas" panose="020B0609020204030204" pitchFamily="49" charset="0"/>
              </a:rPr>
              <a:t>ID</a:t>
            </a:r>
            <a:r>
              <a:rPr lang="en-US" sz="1600" b="0">
                <a:solidFill>
                  <a:srgbClr val="800000"/>
                </a:solidFill>
                <a:effectLst/>
                <a:latin typeface="Consolas" panose="020B0609020204030204" pitchFamily="49" charset="0"/>
              </a:rPr>
              <a:t>&lt;/th&gt;</a:t>
            </a:r>
            <a:endParaRPr lang="en-US" sz="1600" b="0">
              <a:solidFill>
                <a:srgbClr val="000000"/>
              </a:solidFill>
              <a:effectLst/>
              <a:latin typeface="Consolas" panose="020B0609020204030204" pitchFamily="49" charset="0"/>
            </a:endParaRPr>
          </a:p>
          <a:p>
            <a:pPr>
              <a:lnSpc>
                <a:spcPts val="2250"/>
              </a:lnSpc>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&lt;th&gt;</a:t>
            </a:r>
            <a:r>
              <a:rPr lang="en-US" sz="1600" b="0">
                <a:solidFill>
                  <a:srgbClr val="000000"/>
                </a:solidFill>
                <a:effectLst/>
                <a:latin typeface="Consolas" panose="020B0609020204030204" pitchFamily="49" charset="0"/>
              </a:rPr>
              <a:t>Name</a:t>
            </a:r>
            <a:r>
              <a:rPr lang="en-US" sz="1600" b="0">
                <a:solidFill>
                  <a:srgbClr val="800000"/>
                </a:solidFill>
                <a:effectLst/>
                <a:latin typeface="Consolas" panose="020B0609020204030204" pitchFamily="49" charset="0"/>
              </a:rPr>
              <a:t>&lt;/th&gt;</a:t>
            </a:r>
            <a:endParaRPr lang="en-US" sz="1600" b="0">
              <a:solidFill>
                <a:srgbClr val="000000"/>
              </a:solidFill>
              <a:effectLst/>
              <a:latin typeface="Consolas" panose="020B0609020204030204" pitchFamily="49" charset="0"/>
            </a:endParaRPr>
          </a:p>
          <a:p>
            <a:pPr>
              <a:lnSpc>
                <a:spcPts val="2250"/>
              </a:lnSpc>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&lt;th&gt;</a:t>
            </a:r>
            <a:r>
              <a:rPr lang="en-US" sz="1600" b="0">
                <a:solidFill>
                  <a:srgbClr val="000000"/>
                </a:solidFill>
                <a:effectLst/>
                <a:latin typeface="Consolas" panose="020B0609020204030204" pitchFamily="49" charset="0"/>
              </a:rPr>
              <a:t>Price</a:t>
            </a:r>
            <a:r>
              <a:rPr lang="en-US" sz="1600" b="0">
                <a:solidFill>
                  <a:srgbClr val="800000"/>
                </a:solidFill>
                <a:effectLst/>
                <a:latin typeface="Consolas" panose="020B0609020204030204" pitchFamily="49" charset="0"/>
              </a:rPr>
              <a:t>&lt;/th&gt;</a:t>
            </a:r>
            <a:endParaRPr lang="en-US" sz="1600" b="0">
              <a:solidFill>
                <a:srgbClr val="000000"/>
              </a:solidFill>
              <a:effectLst/>
              <a:latin typeface="Consolas" panose="020B0609020204030204" pitchFamily="49" charset="0"/>
            </a:endParaRPr>
          </a:p>
          <a:p>
            <a:pPr>
              <a:lnSpc>
                <a:spcPts val="2250"/>
              </a:lnSpc>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&lt;th&gt;</a:t>
            </a:r>
            <a:r>
              <a:rPr lang="en-US" sz="1600" b="0">
                <a:solidFill>
                  <a:srgbClr val="000000"/>
                </a:solidFill>
                <a:effectLst/>
                <a:latin typeface="Consolas" panose="020B0609020204030204" pitchFamily="49" charset="0"/>
              </a:rPr>
              <a:t>Details</a:t>
            </a:r>
            <a:r>
              <a:rPr lang="en-US" sz="1600" b="0">
                <a:solidFill>
                  <a:srgbClr val="800000"/>
                </a:solidFill>
                <a:effectLst/>
                <a:latin typeface="Consolas" panose="020B0609020204030204" pitchFamily="49" charset="0"/>
              </a:rPr>
              <a:t>&lt;/th&gt;</a:t>
            </a:r>
            <a:endParaRPr lang="en-US" sz="1600" b="0">
              <a:solidFill>
                <a:srgbClr val="000000"/>
              </a:solidFill>
              <a:effectLst/>
              <a:latin typeface="Consolas" panose="020B0609020204030204" pitchFamily="49" charset="0"/>
            </a:endParaRPr>
          </a:p>
          <a:p>
            <a:pPr>
              <a:lnSpc>
                <a:spcPts val="2250"/>
              </a:lnSpc>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&lt;th&gt;</a:t>
            </a:r>
            <a:r>
              <a:rPr lang="en-US" sz="1600" b="0">
                <a:solidFill>
                  <a:srgbClr val="000000"/>
                </a:solidFill>
                <a:effectLst/>
                <a:latin typeface="Consolas" panose="020B0609020204030204" pitchFamily="49" charset="0"/>
              </a:rPr>
              <a:t>Slug</a:t>
            </a:r>
            <a:r>
              <a:rPr lang="en-US" sz="1600" b="0">
                <a:solidFill>
                  <a:srgbClr val="800000"/>
                </a:solidFill>
                <a:effectLst/>
                <a:latin typeface="Consolas" panose="020B0609020204030204" pitchFamily="49" charset="0"/>
              </a:rPr>
              <a:t>&lt;/th&gt;</a:t>
            </a:r>
            <a:endParaRPr lang="en-US" sz="1600" b="0">
              <a:solidFill>
                <a:srgbClr val="000000"/>
              </a:solidFill>
              <a:effectLst/>
              <a:latin typeface="Consolas" panose="020B0609020204030204" pitchFamily="49" charset="0"/>
            </a:endParaRPr>
          </a:p>
          <a:p>
            <a:pPr>
              <a:lnSpc>
                <a:spcPts val="2250"/>
              </a:lnSpc>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&lt;/tr&gt;</a:t>
            </a:r>
            <a:endParaRPr lang="en-US" sz="1600" b="0">
              <a:solidFill>
                <a:srgbClr val="000000"/>
              </a:solidFill>
              <a:effectLst/>
              <a:latin typeface="Consolas" panose="020B0609020204030204" pitchFamily="49" charset="0"/>
            </a:endParaRPr>
          </a:p>
          <a:p>
            <a:pPr>
              <a:lnSpc>
                <a:spcPts val="2250"/>
              </a:lnSpc>
              <a:buNone/>
            </a:pP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&lt;/thead&gt;</a:t>
            </a:r>
            <a:endParaRPr lang="en-US" sz="1600" b="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6968926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9960B53-652E-5228-3643-2B2687B1C78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5E8D810-50E4-1250-696A-10C39DAE148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D0988A2-E7C1-08CE-55E9-539B615D246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48</a:t>
            </a:fld>
            <a:endParaRPr/>
          </a:p>
        </p:txBody>
      </p:sp>
      <p:grpSp>
        <p:nvGrpSpPr>
          <p:cNvPr id="2" name="Group 1">
            <a:extLst>
              <a:ext uri="{FF2B5EF4-FFF2-40B4-BE49-F238E27FC236}">
                <a16:creationId xmlns:a16="http://schemas.microsoft.com/office/drawing/2014/main" id="{3F38050A-DD5C-7063-7470-95D1A6DE697C}"/>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7B9B390C-2F2F-FF28-6E18-1DFE46E68449}"/>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4.3.</a:t>
              </a:r>
              <a:r>
                <a:rPr lang="en-US" sz="2800">
                  <a:latin typeface="Times New Roman" panose="02020603050405020304" pitchFamily="18" charset="0"/>
                  <a:cs typeface="Times New Roman" panose="02020603050405020304" pitchFamily="18" charset="0"/>
                </a:rPr>
                <a:t>3</a:t>
              </a:r>
              <a:r>
                <a:rPr lang="vi-VN" sz="2800">
                  <a:latin typeface="Times New Roman" panose="02020603050405020304" pitchFamily="18" charset="0"/>
                  <a:cs typeface="Times New Roman" panose="02020603050405020304" pitchFamily="18" charset="0"/>
                </a:rPr>
                <a:t>. Route với slug</a:t>
              </a:r>
              <a:r>
                <a:rPr lang="en-US" sz="2800">
                  <a:latin typeface="Times New Roman" panose="02020603050405020304" pitchFamily="18" charset="0"/>
                  <a:cs typeface="Times New Roman" panose="02020603050405020304" pitchFamily="18" charset="0"/>
                </a:rPr>
                <a:t> hỗ trợ kỹ thuật SEO</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5E8200C-3884-CFC6-2F29-D61C80C44F3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805D57D1-A1FD-9305-750E-4CACF5672C7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896C6B7-5131-844D-0780-89735D42CC8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1DE83A5-CCC4-5AE0-32E5-F473453BC5B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3D9D6B45-67D9-C589-9878-82C911C4A3BF}"/>
              </a:ext>
            </a:extLst>
          </p:cNvPr>
          <p:cNvSpPr txBox="1"/>
          <p:nvPr/>
        </p:nvSpPr>
        <p:spPr>
          <a:xfrm>
            <a:off x="476030" y="841012"/>
            <a:ext cx="11564547" cy="579967"/>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3: ProductListAdvancedComponent.html</a:t>
            </a:r>
            <a:endParaRPr lang="vi-VN" sz="240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ACBC0DE0-770C-7685-8929-2696BA0A7599}"/>
              </a:ext>
            </a:extLst>
          </p:cNvPr>
          <p:cNvPicPr>
            <a:picLocks noChangeAspect="1"/>
          </p:cNvPicPr>
          <p:nvPr/>
        </p:nvPicPr>
        <p:blipFill>
          <a:blip r:embed="rId3"/>
          <a:stretch>
            <a:fillRect/>
          </a:stretch>
        </p:blipFill>
        <p:spPr>
          <a:xfrm>
            <a:off x="782642" y="1472836"/>
            <a:ext cx="4502272" cy="4904667"/>
          </a:xfrm>
          <a:prstGeom prst="rect">
            <a:avLst/>
          </a:prstGeom>
        </p:spPr>
      </p:pic>
      <p:sp>
        <p:nvSpPr>
          <p:cNvPr id="13" name="TextBox 12">
            <a:extLst>
              <a:ext uri="{FF2B5EF4-FFF2-40B4-BE49-F238E27FC236}">
                <a16:creationId xmlns:a16="http://schemas.microsoft.com/office/drawing/2014/main" id="{1799B43D-7C70-2560-CD7E-9DAC6574206E}"/>
              </a:ext>
            </a:extLst>
          </p:cNvPr>
          <p:cNvSpPr txBox="1"/>
          <p:nvPr/>
        </p:nvSpPr>
        <p:spPr>
          <a:xfrm>
            <a:off x="6177274" y="735497"/>
            <a:ext cx="6014726" cy="5693866"/>
          </a:xfrm>
          <a:prstGeom prst="rect">
            <a:avLst/>
          </a:prstGeom>
          <a:noFill/>
        </p:spPr>
        <p:txBody>
          <a:bodyPr wrap="square">
            <a:spAutoFit/>
          </a:bodyPr>
          <a:lstStyle/>
          <a:p>
            <a:pPr>
              <a:buNone/>
            </a:pPr>
            <a:r>
              <a:rPr lang="en-US" b="0">
                <a:solidFill>
                  <a:srgbClr val="800000"/>
                </a:solidFill>
                <a:effectLst/>
                <a:latin typeface="Consolas" panose="020B0609020204030204" pitchFamily="49" charset="0"/>
              </a:rPr>
              <a:t>&lt;tbody&gt;</a:t>
            </a:r>
            <a:endParaRPr lang="en-US" b="0">
              <a:solidFill>
                <a:srgbClr val="000000"/>
              </a:solidFill>
              <a:effectLst/>
              <a:latin typeface="Consolas" panose="020B0609020204030204" pitchFamily="49" charset="0"/>
            </a:endParaRPr>
          </a:p>
          <a:p>
            <a:pPr>
              <a:buNone/>
            </a:pPr>
            <a:r>
              <a:rPr lang="en-US" b="0">
                <a:solidFill>
                  <a:srgbClr val="000000"/>
                </a:solidFill>
                <a:effectLst/>
                <a:latin typeface="Consolas" panose="020B0609020204030204" pitchFamily="49" charset="0"/>
              </a:rPr>
              <a:t>    </a:t>
            </a:r>
            <a:r>
              <a:rPr lang="en-US" b="0">
                <a:solidFill>
                  <a:srgbClr val="0000FF"/>
                </a:solidFill>
                <a:effectLst/>
                <a:latin typeface="Consolas" panose="020B0609020204030204" pitchFamily="49" charset="0"/>
              </a:rPr>
              <a:t>@for</a:t>
            </a:r>
            <a:r>
              <a:rPr lang="en-US" b="0">
                <a:solidFill>
                  <a:srgbClr val="000000"/>
                </a:solidFill>
                <a:effectLst/>
                <a:latin typeface="Consolas" panose="020B0609020204030204" pitchFamily="49" charset="0"/>
              </a:rPr>
              <a:t> (p </a:t>
            </a:r>
            <a:r>
              <a:rPr lang="en-US" b="0">
                <a:solidFill>
                  <a:srgbClr val="0000FF"/>
                </a:solidFill>
                <a:effectLst/>
                <a:latin typeface="Consolas" panose="020B0609020204030204" pitchFamily="49" charset="0"/>
              </a:rPr>
              <a:t>of</a:t>
            </a:r>
            <a:r>
              <a:rPr lang="en-US" b="0">
                <a:solidFill>
                  <a:srgbClr val="000000"/>
                </a:solidFill>
                <a:effectLst/>
                <a:latin typeface="Consolas" panose="020B0609020204030204" pitchFamily="49" charset="0"/>
              </a:rPr>
              <a:t> products(); </a:t>
            </a:r>
            <a:r>
              <a:rPr lang="en-US" b="0">
                <a:solidFill>
                  <a:srgbClr val="0000FF"/>
                </a:solidFill>
                <a:effectLst/>
                <a:latin typeface="Consolas" panose="020B0609020204030204" pitchFamily="49" charset="0"/>
              </a:rPr>
              <a:t>track</a:t>
            </a:r>
            <a:r>
              <a:rPr lang="en-US" b="0">
                <a:solidFill>
                  <a:srgbClr val="000000"/>
                </a:solidFill>
                <a:effectLst/>
                <a:latin typeface="Consolas" panose="020B0609020204030204" pitchFamily="49" charset="0"/>
              </a:rPr>
              <a:t> p.id) {</a:t>
            </a:r>
          </a:p>
          <a:p>
            <a:pPr>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&lt;tr&gt;</a:t>
            </a:r>
            <a:endParaRPr lang="en-US" b="0">
              <a:solidFill>
                <a:srgbClr val="000000"/>
              </a:solidFill>
              <a:effectLst/>
              <a:latin typeface="Consolas" panose="020B0609020204030204" pitchFamily="49" charset="0"/>
            </a:endParaRPr>
          </a:p>
          <a:p>
            <a:pPr>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r>
              <a:rPr lang="en-US" b="0">
                <a:solidFill>
                  <a:srgbClr val="000000"/>
                </a:solidFill>
                <a:effectLst/>
                <a:latin typeface="Consolas" panose="020B0609020204030204" pitchFamily="49" charset="0"/>
              </a:rPr>
              <a:t>{{ p.id }}</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pPr>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r>
              <a:rPr lang="en-US" b="0">
                <a:solidFill>
                  <a:srgbClr val="000000"/>
                </a:solidFill>
                <a:effectLst/>
                <a:latin typeface="Consolas" panose="020B0609020204030204" pitchFamily="49" charset="0"/>
              </a:rPr>
              <a:t>{{ p.name }}</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pPr>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r>
              <a:rPr lang="en-US" b="0">
                <a:solidFill>
                  <a:srgbClr val="000000"/>
                </a:solidFill>
                <a:effectLst/>
                <a:latin typeface="Consolas" panose="020B0609020204030204" pitchFamily="49" charset="0"/>
              </a:rPr>
              <a:t>{{ p.price }}</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pPr>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pPr>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&lt;a</a:t>
            </a:r>
            <a:r>
              <a:rPr lang="en-US" b="0">
                <a:solidFill>
                  <a:srgbClr val="000000"/>
                </a:solidFill>
                <a:effectLst/>
                <a:latin typeface="Consolas" panose="020B0609020204030204" pitchFamily="49" charset="0"/>
              </a:rPr>
              <a:t> </a:t>
            </a:r>
            <a:r>
              <a:rPr lang="en-US" b="0">
                <a:solidFill>
                  <a:srgbClr val="E50000"/>
                </a:solidFill>
                <a:effectLst/>
                <a:latin typeface="Consolas" panose="020B0609020204030204" pitchFamily="49" charset="0"/>
              </a:rPr>
              <a:t>(click)</a:t>
            </a:r>
            <a:r>
              <a:rPr lang="en-US" b="0">
                <a:solidFill>
                  <a:srgbClr val="000000"/>
                </a:solidFill>
                <a:effectLst/>
                <a:latin typeface="Consolas" panose="020B0609020204030204" pitchFamily="49" charset="0"/>
              </a:rPr>
              <a:t>=</a:t>
            </a:r>
            <a:r>
              <a:rPr lang="en-US" b="0">
                <a:solidFill>
                  <a:srgbClr val="A31515"/>
                </a:solidFill>
                <a:effectLst/>
                <a:latin typeface="Consolas" panose="020B0609020204030204" pitchFamily="49" charset="0"/>
              </a:rPr>
              <a:t>"</a:t>
            </a:r>
            <a:r>
              <a:rPr lang="en-US" b="0">
                <a:solidFill>
                  <a:srgbClr val="000000"/>
                </a:solidFill>
                <a:effectLst/>
                <a:latin typeface="Consolas" panose="020B0609020204030204" pitchFamily="49" charset="0"/>
              </a:rPr>
              <a:t>viewDetail(p.id)</a:t>
            </a:r>
            <a:r>
              <a:rPr lang="en-US" b="0">
                <a:solidFill>
                  <a:srgbClr val="A31515"/>
                </a:solidFill>
                <a:effectLst/>
                <a:latin typeface="Consolas" panose="020B0609020204030204" pitchFamily="49" charset="0"/>
              </a:rPr>
              <a:t>"</a:t>
            </a:r>
            <a:endParaRPr lang="en-US" b="0">
              <a:solidFill>
                <a:srgbClr val="000000"/>
              </a:solidFill>
              <a:effectLst/>
              <a:latin typeface="Consolas" panose="020B0609020204030204" pitchFamily="49" charset="0"/>
            </a:endParaRPr>
          </a:p>
          <a:p>
            <a:pPr>
              <a:buNone/>
            </a:pPr>
            <a:r>
              <a:rPr lang="en-US" b="0">
                <a:solidFill>
                  <a:srgbClr val="000000"/>
                </a:solidFill>
                <a:effectLst/>
                <a:latin typeface="Consolas" panose="020B0609020204030204" pitchFamily="49" charset="0"/>
              </a:rPr>
              <a:t>        </a:t>
            </a:r>
            <a:r>
              <a:rPr lang="en-US" b="0">
                <a:solidFill>
                  <a:srgbClr val="E50000"/>
                </a:solidFill>
                <a:effectLst/>
                <a:latin typeface="Consolas" panose="020B0609020204030204" pitchFamily="49" charset="0"/>
              </a:rPr>
              <a:t>style</a:t>
            </a:r>
            <a:r>
              <a:rPr lang="en-US" b="0">
                <a:solidFill>
                  <a:srgbClr val="000000"/>
                </a:solidFill>
                <a:effectLst/>
                <a:latin typeface="Consolas" panose="020B0609020204030204" pitchFamily="49" charset="0"/>
              </a:rPr>
              <a:t>=</a:t>
            </a:r>
            <a:r>
              <a:rPr lang="en-US" b="0">
                <a:solidFill>
                  <a:srgbClr val="0000FF"/>
                </a:solidFill>
                <a:effectLst/>
                <a:latin typeface="Consolas" panose="020B0609020204030204" pitchFamily="49" charset="0"/>
              </a:rPr>
              <a:t>"cursor: pointer;"</a:t>
            </a:r>
            <a:endParaRPr lang="en-US" b="0">
              <a:solidFill>
                <a:srgbClr val="000000"/>
              </a:solidFill>
              <a:effectLst/>
              <a:latin typeface="Consolas" panose="020B0609020204030204" pitchFamily="49" charset="0"/>
            </a:endParaRPr>
          </a:p>
          <a:p>
            <a:pPr>
              <a:buNone/>
            </a:pPr>
            <a:r>
              <a:rPr lang="en-US" b="0">
                <a:solidFill>
                  <a:srgbClr val="000000"/>
                </a:solidFill>
                <a:effectLst/>
                <a:latin typeface="Consolas" panose="020B0609020204030204" pitchFamily="49" charset="0"/>
              </a:rPr>
              <a:t>        </a:t>
            </a:r>
            <a:r>
              <a:rPr lang="en-US" b="0">
                <a:solidFill>
                  <a:srgbClr val="E50000"/>
                </a:solidFill>
                <a:effectLst/>
                <a:latin typeface="Consolas" panose="020B0609020204030204" pitchFamily="49" charset="0"/>
              </a:rPr>
              <a:t>title</a:t>
            </a:r>
            <a:r>
              <a:rPr lang="en-US" b="0">
                <a:solidFill>
                  <a:srgbClr val="000000"/>
                </a:solidFill>
                <a:effectLst/>
                <a:latin typeface="Consolas" panose="020B0609020204030204" pitchFamily="49" charset="0"/>
              </a:rPr>
              <a:t>=</a:t>
            </a:r>
            <a:r>
              <a:rPr lang="en-US" b="0">
                <a:solidFill>
                  <a:srgbClr val="0000FF"/>
                </a:solidFill>
                <a:effectLst/>
                <a:latin typeface="Consolas" panose="020B0609020204030204" pitchFamily="49" charset="0"/>
              </a:rPr>
              <a:t>"click here to view detail"</a:t>
            </a: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&gt;</a:t>
            </a:r>
            <a:r>
              <a:rPr lang="en-US" b="0">
                <a:solidFill>
                  <a:srgbClr val="000000"/>
                </a:solidFill>
                <a:effectLst/>
                <a:latin typeface="Consolas" panose="020B0609020204030204" pitchFamily="49" charset="0"/>
              </a:rPr>
              <a:t>View detail</a:t>
            </a:r>
            <a:r>
              <a:rPr lang="en-US" b="0">
                <a:solidFill>
                  <a:srgbClr val="800000"/>
                </a:solidFill>
                <a:effectLst/>
                <a:latin typeface="Consolas" panose="020B0609020204030204" pitchFamily="49" charset="0"/>
              </a:rPr>
              <a:t>&lt;/a&gt;</a:t>
            </a:r>
            <a:endParaRPr lang="en-US" b="0">
              <a:solidFill>
                <a:srgbClr val="000000"/>
              </a:solidFill>
              <a:effectLst/>
              <a:latin typeface="Consolas" panose="020B0609020204030204" pitchFamily="49" charset="0"/>
            </a:endParaRPr>
          </a:p>
          <a:p>
            <a:pPr>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pPr>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pPr>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&lt;a</a:t>
            </a:r>
            <a:r>
              <a:rPr lang="en-US" b="0">
                <a:solidFill>
                  <a:srgbClr val="000000"/>
                </a:solidFill>
                <a:effectLst/>
                <a:latin typeface="Consolas" panose="020B0609020204030204" pitchFamily="49" charset="0"/>
              </a:rPr>
              <a:t> </a:t>
            </a:r>
            <a:r>
              <a:rPr lang="en-US" b="0">
                <a:solidFill>
                  <a:srgbClr val="E50000"/>
                </a:solidFill>
                <a:effectLst/>
                <a:latin typeface="Consolas" panose="020B0609020204030204" pitchFamily="49" charset="0"/>
              </a:rPr>
              <a:t>(click)</a:t>
            </a:r>
            <a:r>
              <a:rPr lang="en-US" b="0">
                <a:solidFill>
                  <a:srgbClr val="000000"/>
                </a:solidFill>
                <a:effectLst/>
                <a:latin typeface="Consolas" panose="020B0609020204030204" pitchFamily="49" charset="0"/>
              </a:rPr>
              <a:t>=</a:t>
            </a:r>
            <a:r>
              <a:rPr lang="en-US" b="0">
                <a:solidFill>
                  <a:srgbClr val="A31515"/>
                </a:solidFill>
                <a:effectLst/>
                <a:latin typeface="Consolas" panose="020B0609020204030204" pitchFamily="49" charset="0"/>
              </a:rPr>
              <a:t>"</a:t>
            </a:r>
            <a:r>
              <a:rPr lang="en-US" b="0">
                <a:solidFill>
                  <a:srgbClr val="000000"/>
                </a:solidFill>
                <a:effectLst/>
                <a:latin typeface="Consolas" panose="020B0609020204030204" pitchFamily="49" charset="0"/>
              </a:rPr>
              <a:t>viewDetailSlug(p)</a:t>
            </a:r>
            <a:r>
              <a:rPr lang="en-US" b="0">
                <a:solidFill>
                  <a:srgbClr val="A31515"/>
                </a:solidFill>
                <a:effectLst/>
                <a:latin typeface="Consolas" panose="020B0609020204030204" pitchFamily="49" charset="0"/>
              </a:rPr>
              <a:t>"</a:t>
            </a:r>
            <a:endParaRPr lang="en-US" b="0">
              <a:solidFill>
                <a:srgbClr val="000000"/>
              </a:solidFill>
              <a:effectLst/>
              <a:latin typeface="Consolas" panose="020B0609020204030204" pitchFamily="49" charset="0"/>
            </a:endParaRPr>
          </a:p>
          <a:p>
            <a:pPr>
              <a:buNone/>
            </a:pPr>
            <a:r>
              <a:rPr lang="en-US" b="0">
                <a:solidFill>
                  <a:srgbClr val="000000"/>
                </a:solidFill>
                <a:effectLst/>
                <a:latin typeface="Consolas" panose="020B0609020204030204" pitchFamily="49" charset="0"/>
              </a:rPr>
              <a:t>        </a:t>
            </a:r>
            <a:r>
              <a:rPr lang="en-US" b="0">
                <a:solidFill>
                  <a:srgbClr val="E50000"/>
                </a:solidFill>
                <a:effectLst/>
                <a:latin typeface="Consolas" panose="020B0609020204030204" pitchFamily="49" charset="0"/>
              </a:rPr>
              <a:t>style</a:t>
            </a:r>
            <a:r>
              <a:rPr lang="en-US" b="0">
                <a:solidFill>
                  <a:srgbClr val="000000"/>
                </a:solidFill>
                <a:effectLst/>
                <a:latin typeface="Consolas" panose="020B0609020204030204" pitchFamily="49" charset="0"/>
              </a:rPr>
              <a:t>=</a:t>
            </a:r>
            <a:r>
              <a:rPr lang="en-US" b="0">
                <a:solidFill>
                  <a:srgbClr val="0000FF"/>
                </a:solidFill>
                <a:effectLst/>
                <a:latin typeface="Consolas" panose="020B0609020204030204" pitchFamily="49" charset="0"/>
              </a:rPr>
              <a:t>"cursor: pointer;"</a:t>
            </a:r>
            <a:endParaRPr lang="en-US" b="0">
              <a:solidFill>
                <a:srgbClr val="000000"/>
              </a:solidFill>
              <a:effectLst/>
              <a:latin typeface="Consolas" panose="020B0609020204030204" pitchFamily="49" charset="0"/>
            </a:endParaRPr>
          </a:p>
          <a:p>
            <a:pPr>
              <a:buNone/>
            </a:pPr>
            <a:r>
              <a:rPr lang="en-US" b="0">
                <a:solidFill>
                  <a:srgbClr val="000000"/>
                </a:solidFill>
                <a:effectLst/>
                <a:latin typeface="Consolas" panose="020B0609020204030204" pitchFamily="49" charset="0"/>
              </a:rPr>
              <a:t>        </a:t>
            </a:r>
            <a:r>
              <a:rPr lang="en-US" b="0">
                <a:solidFill>
                  <a:srgbClr val="E50000"/>
                </a:solidFill>
                <a:effectLst/>
                <a:latin typeface="Consolas" panose="020B0609020204030204" pitchFamily="49" charset="0"/>
              </a:rPr>
              <a:t>title</a:t>
            </a:r>
            <a:r>
              <a:rPr lang="en-US" b="0">
                <a:solidFill>
                  <a:srgbClr val="000000"/>
                </a:solidFill>
                <a:effectLst/>
                <a:latin typeface="Consolas" panose="020B0609020204030204" pitchFamily="49" charset="0"/>
              </a:rPr>
              <a:t>=</a:t>
            </a:r>
            <a:r>
              <a:rPr lang="en-US" b="0">
                <a:solidFill>
                  <a:srgbClr val="0000FF"/>
                </a:solidFill>
                <a:effectLst/>
                <a:latin typeface="Consolas" panose="020B0609020204030204" pitchFamily="49" charset="0"/>
              </a:rPr>
              <a:t>"click here to view detail"</a:t>
            </a: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&gt;</a:t>
            </a:r>
            <a:endParaRPr lang="en-US" b="0">
              <a:solidFill>
                <a:srgbClr val="000000"/>
              </a:solidFill>
              <a:effectLst/>
              <a:latin typeface="Consolas" panose="020B0609020204030204" pitchFamily="49" charset="0"/>
            </a:endParaRPr>
          </a:p>
          <a:p>
            <a:pPr>
              <a:buNone/>
            </a:pPr>
            <a:r>
              <a:rPr lang="en-US" b="0">
                <a:solidFill>
                  <a:srgbClr val="000000"/>
                </a:solidFill>
                <a:effectLst/>
                <a:latin typeface="Consolas" panose="020B0609020204030204" pitchFamily="49" charset="0"/>
              </a:rPr>
              <a:t>        {{generateSlug(p.name,p.id)}}</a:t>
            </a:r>
          </a:p>
          <a:p>
            <a:pPr>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&lt;/a&gt;</a:t>
            </a:r>
            <a:endParaRPr lang="en-US" b="0">
              <a:solidFill>
                <a:srgbClr val="000000"/>
              </a:solidFill>
              <a:effectLst/>
              <a:latin typeface="Consolas" panose="020B0609020204030204" pitchFamily="49" charset="0"/>
            </a:endParaRPr>
          </a:p>
          <a:p>
            <a:pPr>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pPr>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&lt;/tr&gt;</a:t>
            </a:r>
            <a:endParaRPr lang="en-US" b="0">
              <a:solidFill>
                <a:srgbClr val="000000"/>
              </a:solidFill>
              <a:effectLst/>
              <a:latin typeface="Consolas" panose="020B0609020204030204" pitchFamily="49" charset="0"/>
            </a:endParaRPr>
          </a:p>
          <a:p>
            <a:pPr>
              <a:buNone/>
            </a:pPr>
            <a:r>
              <a:rPr lang="en-US" b="0">
                <a:solidFill>
                  <a:srgbClr val="000000"/>
                </a:solidFill>
                <a:effectLst/>
                <a:latin typeface="Consolas" panose="020B0609020204030204" pitchFamily="49" charset="0"/>
              </a:rPr>
              <a:t>  } </a:t>
            </a:r>
            <a:r>
              <a:rPr lang="en-US" b="0">
                <a:solidFill>
                  <a:srgbClr val="0000FF"/>
                </a:solidFill>
                <a:effectLst/>
                <a:latin typeface="Consolas" panose="020B0609020204030204" pitchFamily="49" charset="0"/>
              </a:rPr>
              <a:t>@empty</a:t>
            </a:r>
            <a:r>
              <a:rPr lang="en-US" b="0">
                <a:solidFill>
                  <a:srgbClr val="000000"/>
                </a:solidFill>
                <a:effectLst/>
                <a:latin typeface="Consolas" panose="020B0609020204030204" pitchFamily="49" charset="0"/>
              </a:rPr>
              <a:t> {</a:t>
            </a:r>
          </a:p>
          <a:p>
            <a:pPr>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&lt;tr&gt;</a:t>
            </a:r>
            <a:endParaRPr lang="en-US" b="0">
              <a:solidFill>
                <a:srgbClr val="000000"/>
              </a:solidFill>
              <a:effectLst/>
              <a:latin typeface="Consolas" panose="020B0609020204030204" pitchFamily="49" charset="0"/>
            </a:endParaRPr>
          </a:p>
          <a:p>
            <a:pPr>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&lt;td</a:t>
            </a:r>
            <a:r>
              <a:rPr lang="en-US" b="0">
                <a:solidFill>
                  <a:srgbClr val="000000"/>
                </a:solidFill>
                <a:effectLst/>
                <a:latin typeface="Consolas" panose="020B0609020204030204" pitchFamily="49" charset="0"/>
              </a:rPr>
              <a:t> </a:t>
            </a:r>
            <a:r>
              <a:rPr lang="en-US" b="0">
                <a:solidFill>
                  <a:srgbClr val="E50000"/>
                </a:solidFill>
                <a:effectLst/>
                <a:latin typeface="Consolas" panose="020B0609020204030204" pitchFamily="49" charset="0"/>
              </a:rPr>
              <a:t>colspan</a:t>
            </a:r>
            <a:r>
              <a:rPr lang="en-US" b="0">
                <a:solidFill>
                  <a:srgbClr val="000000"/>
                </a:solidFill>
                <a:effectLst/>
                <a:latin typeface="Consolas" panose="020B0609020204030204" pitchFamily="49" charset="0"/>
              </a:rPr>
              <a:t>=</a:t>
            </a:r>
            <a:r>
              <a:rPr lang="en-US" b="0">
                <a:solidFill>
                  <a:srgbClr val="0000FF"/>
                </a:solidFill>
                <a:effectLst/>
                <a:latin typeface="Consolas" panose="020B0609020204030204" pitchFamily="49" charset="0"/>
              </a:rPr>
              <a:t>"3"</a:t>
            </a:r>
            <a:r>
              <a:rPr lang="en-US" b="0">
                <a:solidFill>
                  <a:srgbClr val="800000"/>
                </a:solidFill>
                <a:effectLst/>
                <a:latin typeface="Consolas" panose="020B0609020204030204" pitchFamily="49" charset="0"/>
              </a:rPr>
              <a:t>&gt;</a:t>
            </a:r>
            <a:r>
              <a:rPr lang="en-US" b="0">
                <a:solidFill>
                  <a:srgbClr val="000000"/>
                </a:solidFill>
                <a:effectLst/>
                <a:latin typeface="Consolas" panose="020B0609020204030204" pitchFamily="49" charset="0"/>
              </a:rPr>
              <a:t>No products available.</a:t>
            </a:r>
            <a:r>
              <a:rPr lang="en-US" b="0">
                <a:solidFill>
                  <a:srgbClr val="800000"/>
                </a:solidFill>
                <a:effectLst/>
                <a:latin typeface="Consolas" panose="020B0609020204030204" pitchFamily="49" charset="0"/>
              </a:rPr>
              <a:t>&lt;/td&gt;</a:t>
            </a:r>
            <a:endParaRPr lang="en-US" b="0">
              <a:solidFill>
                <a:srgbClr val="000000"/>
              </a:solidFill>
              <a:effectLst/>
              <a:latin typeface="Consolas" panose="020B0609020204030204" pitchFamily="49" charset="0"/>
            </a:endParaRPr>
          </a:p>
          <a:p>
            <a:pPr>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&lt;/tr&gt;</a:t>
            </a:r>
            <a:endParaRPr lang="en-US" b="0">
              <a:solidFill>
                <a:srgbClr val="000000"/>
              </a:solidFill>
              <a:effectLst/>
              <a:latin typeface="Consolas" panose="020B0609020204030204" pitchFamily="49" charset="0"/>
            </a:endParaRPr>
          </a:p>
          <a:p>
            <a:pPr>
              <a:buNone/>
            </a:pPr>
            <a:r>
              <a:rPr lang="en-US" b="0">
                <a:solidFill>
                  <a:srgbClr val="000000"/>
                </a:solidFill>
                <a:effectLst/>
                <a:latin typeface="Consolas" panose="020B0609020204030204" pitchFamily="49" charset="0"/>
              </a:rPr>
              <a:t>  }</a:t>
            </a:r>
          </a:p>
          <a:p>
            <a:pPr>
              <a:buNone/>
            </a:pP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&lt;/tbody&gt;</a:t>
            </a:r>
            <a:endParaRPr lang="en-US" b="0">
              <a:solidFill>
                <a:srgbClr val="000000"/>
              </a:solidFill>
              <a:effectLst/>
              <a:latin typeface="Consolas" panose="020B0609020204030204" pitchFamily="49" charset="0"/>
            </a:endParaRPr>
          </a:p>
          <a:p>
            <a:pPr>
              <a:buNone/>
            </a:pPr>
            <a:r>
              <a:rPr lang="en-US" b="0">
                <a:solidFill>
                  <a:srgbClr val="800000"/>
                </a:solidFill>
                <a:effectLst/>
                <a:latin typeface="Consolas" panose="020B0609020204030204" pitchFamily="49" charset="0"/>
              </a:rPr>
              <a:t>&lt;/table&gt;</a:t>
            </a:r>
            <a:endParaRPr lang="en-US" b="0">
              <a:solidFill>
                <a:srgbClr val="000000"/>
              </a:solidFill>
              <a:effectLst/>
              <a:latin typeface="Consolas" panose="020B0609020204030204" pitchFamily="49" charset="0"/>
            </a:endParaRPr>
          </a:p>
        </p:txBody>
      </p:sp>
      <p:sp>
        <p:nvSpPr>
          <p:cNvPr id="14" name="Rectangle 13">
            <a:extLst>
              <a:ext uri="{FF2B5EF4-FFF2-40B4-BE49-F238E27FC236}">
                <a16:creationId xmlns:a16="http://schemas.microsoft.com/office/drawing/2014/main" id="{53D5C8B7-D689-A9C7-3C8F-4F2915641657}"/>
              </a:ext>
            </a:extLst>
          </p:cNvPr>
          <p:cNvSpPr/>
          <p:nvPr/>
        </p:nvSpPr>
        <p:spPr>
          <a:xfrm>
            <a:off x="852523" y="4530749"/>
            <a:ext cx="3939483" cy="24063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08702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5E301E7-72D1-897D-5E8F-B1A83804DD4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5F9DD4B-A598-4D39-3F46-52AB7CAF97D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D4D1E23-0575-8468-1ADF-932E6972588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49</a:t>
            </a:fld>
            <a:endParaRPr/>
          </a:p>
        </p:txBody>
      </p:sp>
      <p:grpSp>
        <p:nvGrpSpPr>
          <p:cNvPr id="2" name="Group 1">
            <a:extLst>
              <a:ext uri="{FF2B5EF4-FFF2-40B4-BE49-F238E27FC236}">
                <a16:creationId xmlns:a16="http://schemas.microsoft.com/office/drawing/2014/main" id="{A754801A-BA92-E53A-5B7E-E28A1A10719D}"/>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6E720F93-9F32-F41D-6A0B-E7756D60A6E8}"/>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4.3.</a:t>
              </a:r>
              <a:r>
                <a:rPr lang="en-US" sz="2800">
                  <a:latin typeface="Times New Roman" panose="02020603050405020304" pitchFamily="18" charset="0"/>
                  <a:cs typeface="Times New Roman" panose="02020603050405020304" pitchFamily="18" charset="0"/>
                </a:rPr>
                <a:t>3</a:t>
              </a:r>
              <a:r>
                <a:rPr lang="vi-VN" sz="2800">
                  <a:latin typeface="Times New Roman" panose="02020603050405020304" pitchFamily="18" charset="0"/>
                  <a:cs typeface="Times New Roman" panose="02020603050405020304" pitchFamily="18" charset="0"/>
                </a:rPr>
                <a:t>. Route với slug</a:t>
              </a:r>
              <a:r>
                <a:rPr lang="en-US" sz="2800">
                  <a:latin typeface="Times New Roman" panose="02020603050405020304" pitchFamily="18" charset="0"/>
                  <a:cs typeface="Times New Roman" panose="02020603050405020304" pitchFamily="18" charset="0"/>
                </a:rPr>
                <a:t> hỗ trợ kỹ thuật SEO</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B39F0B7B-FB24-124F-BAA8-F77BFB02A96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9A02EFE-75B1-D9DC-2141-49A3C3E434C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6E9F0FD-A8E1-8009-50D0-722073A8AAF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06EE76B-6892-D137-8CE2-29339D80015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7EED5B0D-BFD4-66C6-1C36-074EAC3C2561}"/>
              </a:ext>
            </a:extLst>
          </p:cNvPr>
          <p:cNvSpPr txBox="1"/>
          <p:nvPr/>
        </p:nvSpPr>
        <p:spPr>
          <a:xfrm>
            <a:off x="476030" y="748571"/>
            <a:ext cx="11564547" cy="579967"/>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4: chạy thử nghiệm chương trình ta có kết quả</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8E31E2E6-6DFF-4349-6F24-458DBA5BE415}"/>
              </a:ext>
            </a:extLst>
          </p:cNvPr>
          <p:cNvPicPr>
            <a:picLocks noChangeAspect="1"/>
          </p:cNvPicPr>
          <p:nvPr/>
        </p:nvPicPr>
        <p:blipFill>
          <a:blip r:embed="rId3"/>
          <a:stretch>
            <a:fillRect/>
          </a:stretch>
        </p:blipFill>
        <p:spPr>
          <a:xfrm>
            <a:off x="945411" y="1472837"/>
            <a:ext cx="8136714" cy="4582166"/>
          </a:xfrm>
          <a:prstGeom prst="rect">
            <a:avLst/>
          </a:prstGeom>
        </p:spPr>
      </p:pic>
      <p:sp>
        <p:nvSpPr>
          <p:cNvPr id="12" name="TextBox 11">
            <a:extLst>
              <a:ext uri="{FF2B5EF4-FFF2-40B4-BE49-F238E27FC236}">
                <a16:creationId xmlns:a16="http://schemas.microsoft.com/office/drawing/2014/main" id="{2D552387-9A5F-0727-9977-5CA1104F12F9}"/>
              </a:ext>
            </a:extLst>
          </p:cNvPr>
          <p:cNvSpPr txBox="1"/>
          <p:nvPr/>
        </p:nvSpPr>
        <p:spPr>
          <a:xfrm>
            <a:off x="9150876" y="4581346"/>
            <a:ext cx="2674448" cy="769441"/>
          </a:xfrm>
          <a:prstGeom prst="rect">
            <a:avLst/>
          </a:prstGeom>
          <a:noFill/>
        </p:spPr>
        <p:txBody>
          <a:bodyPr wrap="square" rtlCol="0">
            <a:spAutoFit/>
          </a:bodyPr>
          <a:lstStyle/>
          <a:p>
            <a:r>
              <a:rPr lang="en-US" sz="2200">
                <a:latin typeface="Times New Roman" panose="02020603050405020304" pitchFamily="18" charset="0"/>
                <a:cs typeface="Times New Roman" panose="02020603050405020304" pitchFamily="18" charset="0"/>
              </a:rPr>
              <a:t>Như vậy các Slug đã được tạo đúng</a:t>
            </a:r>
          </a:p>
        </p:txBody>
      </p:sp>
    </p:spTree>
    <p:extLst>
      <p:ext uri="{BB962C8B-B14F-4D97-AF65-F5344CB8AC3E}">
        <p14:creationId xmlns:p14="http://schemas.microsoft.com/office/powerpoint/2010/main" val="6492800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4BC7DAD-941B-FE9B-1471-08F2D42DA4E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8A4442E-4A62-CC07-A08F-4E9945F5D14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DAC5027-3695-547B-82A0-F4C8C0E76A7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50</a:t>
            </a:fld>
            <a:endParaRPr/>
          </a:p>
        </p:txBody>
      </p:sp>
      <p:grpSp>
        <p:nvGrpSpPr>
          <p:cNvPr id="2" name="Group 1">
            <a:extLst>
              <a:ext uri="{FF2B5EF4-FFF2-40B4-BE49-F238E27FC236}">
                <a16:creationId xmlns:a16="http://schemas.microsoft.com/office/drawing/2014/main" id="{C4C08D6D-30B8-2A4A-5B8E-2CEE72625CFE}"/>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605D2A13-8B8E-38AD-3198-EF30C6AF7115}"/>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4.3.</a:t>
              </a:r>
              <a:r>
                <a:rPr lang="en-US" sz="2800">
                  <a:latin typeface="Times New Roman" panose="02020603050405020304" pitchFamily="18" charset="0"/>
                  <a:cs typeface="Times New Roman" panose="02020603050405020304" pitchFamily="18" charset="0"/>
                </a:rPr>
                <a:t>3</a:t>
              </a:r>
              <a:r>
                <a:rPr lang="vi-VN" sz="2800">
                  <a:latin typeface="Times New Roman" panose="02020603050405020304" pitchFamily="18" charset="0"/>
                  <a:cs typeface="Times New Roman" panose="02020603050405020304" pitchFamily="18" charset="0"/>
                </a:rPr>
                <a:t>. Route với slug</a:t>
              </a:r>
              <a:r>
                <a:rPr lang="en-US" sz="2800">
                  <a:latin typeface="Times New Roman" panose="02020603050405020304" pitchFamily="18" charset="0"/>
                  <a:cs typeface="Times New Roman" panose="02020603050405020304" pitchFamily="18" charset="0"/>
                </a:rPr>
                <a:t> hỗ trợ kỹ thuật SEO</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BE1F7F3-B624-5EAF-5220-43A09C089D2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D0FEC82-CD28-E71F-B984-FC184353BD1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365EE5B-D699-F865-BC37-76DC669FBFA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E209EF9-C250-1A54-E72B-1F372CE4F6A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6C9A57D8-5809-AC98-EA0F-30DBCF25EE07}"/>
              </a:ext>
            </a:extLst>
          </p:cNvPr>
          <p:cNvSpPr txBox="1"/>
          <p:nvPr/>
        </p:nvSpPr>
        <p:spPr>
          <a:xfrm>
            <a:off x="476030" y="778241"/>
            <a:ext cx="11564547" cy="579967"/>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4: chạy thử nghiệm chương trình ta có kết quả</a:t>
            </a:r>
            <a:endParaRPr lang="vi-VN" sz="240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75C96719-76C5-A125-191D-4E4EEBC8E8EE}"/>
              </a:ext>
            </a:extLst>
          </p:cNvPr>
          <p:cNvSpPr txBox="1"/>
          <p:nvPr/>
        </p:nvSpPr>
        <p:spPr>
          <a:xfrm>
            <a:off x="728131" y="1384138"/>
            <a:ext cx="11076567" cy="769441"/>
          </a:xfrm>
          <a:prstGeom prst="rect">
            <a:avLst/>
          </a:prstGeom>
          <a:noFill/>
        </p:spPr>
        <p:txBody>
          <a:bodyPr wrap="square" rtlCol="0">
            <a:spAutoFit/>
          </a:bodyPr>
          <a:lstStyle/>
          <a:p>
            <a:pPr algn="just"/>
            <a:r>
              <a:rPr lang="en-US" sz="2200">
                <a:latin typeface="Times New Roman" panose="02020603050405020304" pitchFamily="18" charset="0"/>
                <a:cs typeface="Times New Roman" panose="02020603050405020304" pitchFamily="18" charset="0"/>
              </a:rPr>
              <a:t>Khi bấm vào slug bất kỳ thì ta có kết quả như hình bên dưới, lý do: Ta chưa gọi hàm </a:t>
            </a:r>
            <a:r>
              <a:rPr lang="en-US" sz="2200" b="1">
                <a:latin typeface="Times New Roman" panose="02020603050405020304" pitchFamily="18" charset="0"/>
                <a:cs typeface="Times New Roman" panose="02020603050405020304" pitchFamily="18" charset="0"/>
              </a:rPr>
              <a:t>getIdentityType</a:t>
            </a:r>
            <a:r>
              <a:rPr lang="en-US" sz="2200">
                <a:latin typeface="Times New Roman" panose="02020603050405020304" pitchFamily="18" charset="0"/>
                <a:cs typeface="Times New Roman" panose="02020603050405020304" pitchFamily="18" charset="0"/>
              </a:rPr>
              <a:t> để xử lý hiển thị </a:t>
            </a:r>
            <a:r>
              <a:rPr lang="en-US" sz="2200" b="1">
                <a:latin typeface="Times New Roman" panose="02020603050405020304" pitchFamily="18" charset="0"/>
                <a:cs typeface="Times New Roman" panose="02020603050405020304" pitchFamily="18" charset="0"/>
              </a:rPr>
              <a:t>ProductDetailComponent</a:t>
            </a:r>
          </a:p>
        </p:txBody>
      </p:sp>
      <p:pic>
        <p:nvPicPr>
          <p:cNvPr id="11" name="Picture 10">
            <a:extLst>
              <a:ext uri="{FF2B5EF4-FFF2-40B4-BE49-F238E27FC236}">
                <a16:creationId xmlns:a16="http://schemas.microsoft.com/office/drawing/2014/main" id="{439C5841-090B-8F65-F543-E17443DA9CE9}"/>
              </a:ext>
            </a:extLst>
          </p:cNvPr>
          <p:cNvPicPr>
            <a:picLocks noChangeAspect="1"/>
          </p:cNvPicPr>
          <p:nvPr/>
        </p:nvPicPr>
        <p:blipFill>
          <a:blip r:embed="rId3"/>
          <a:srcRect b="24890"/>
          <a:stretch>
            <a:fillRect/>
          </a:stretch>
        </p:blipFill>
        <p:spPr>
          <a:xfrm>
            <a:off x="514728" y="2293649"/>
            <a:ext cx="11487150" cy="3891929"/>
          </a:xfrm>
          <a:prstGeom prst="rect">
            <a:avLst/>
          </a:prstGeom>
        </p:spPr>
      </p:pic>
      <p:sp>
        <p:nvSpPr>
          <p:cNvPr id="13" name="Rectangle 12">
            <a:extLst>
              <a:ext uri="{FF2B5EF4-FFF2-40B4-BE49-F238E27FC236}">
                <a16:creationId xmlns:a16="http://schemas.microsoft.com/office/drawing/2014/main" id="{EC4273D2-9945-3373-7C58-0D0250F40B58}"/>
              </a:ext>
            </a:extLst>
          </p:cNvPr>
          <p:cNvSpPr/>
          <p:nvPr/>
        </p:nvSpPr>
        <p:spPr>
          <a:xfrm>
            <a:off x="1913465" y="2784451"/>
            <a:ext cx="5161103" cy="52251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4E193BF8-0D5A-220D-82E6-B3A2A7177432}"/>
              </a:ext>
            </a:extLst>
          </p:cNvPr>
          <p:cNvCxnSpPr/>
          <p:nvPr/>
        </p:nvCxnSpPr>
        <p:spPr>
          <a:xfrm flipV="1">
            <a:off x="6242671" y="3306965"/>
            <a:ext cx="0" cy="116190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BE1F240C-7B5B-D69E-BA5D-F5238E9283F6}"/>
              </a:ext>
            </a:extLst>
          </p:cNvPr>
          <p:cNvSpPr txBox="1"/>
          <p:nvPr/>
        </p:nvSpPr>
        <p:spPr>
          <a:xfrm>
            <a:off x="5781647" y="4468872"/>
            <a:ext cx="922047" cy="430887"/>
          </a:xfrm>
          <a:prstGeom prst="rect">
            <a:avLst/>
          </a:prstGeom>
          <a:noFill/>
        </p:spPr>
        <p:txBody>
          <a:bodyPr wrap="none" rtlCol="0">
            <a:spAutoFit/>
          </a:bodyPr>
          <a:lstStyle/>
          <a:p>
            <a:r>
              <a:rPr lang="en-US" sz="2200">
                <a:latin typeface="Times New Roman" panose="02020603050405020304" pitchFamily="18" charset="0"/>
                <a:cs typeface="Times New Roman" panose="02020603050405020304" pitchFamily="18" charset="0"/>
              </a:rPr>
              <a:t>SLUG</a:t>
            </a:r>
          </a:p>
        </p:txBody>
      </p:sp>
    </p:spTree>
    <p:extLst>
      <p:ext uri="{BB962C8B-B14F-4D97-AF65-F5344CB8AC3E}">
        <p14:creationId xmlns:p14="http://schemas.microsoft.com/office/powerpoint/2010/main" val="460940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8817CCB-C142-3716-7861-379A95C8C65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24CCE48-7747-B61F-C2A2-14A355B062C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F5E5F28-6450-432C-14C3-B6DE7DAD4E2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51</a:t>
            </a:fld>
            <a:endParaRPr/>
          </a:p>
        </p:txBody>
      </p:sp>
      <p:grpSp>
        <p:nvGrpSpPr>
          <p:cNvPr id="2" name="Group 1">
            <a:extLst>
              <a:ext uri="{FF2B5EF4-FFF2-40B4-BE49-F238E27FC236}">
                <a16:creationId xmlns:a16="http://schemas.microsoft.com/office/drawing/2014/main" id="{5497A376-9D21-BC5F-7810-C42972C0333C}"/>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39222C3C-086A-4520-1832-8D6EF86C8BCA}"/>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4.3.</a:t>
              </a:r>
              <a:r>
                <a:rPr lang="en-US" sz="2800">
                  <a:latin typeface="Times New Roman" panose="02020603050405020304" pitchFamily="18" charset="0"/>
                  <a:cs typeface="Times New Roman" panose="02020603050405020304" pitchFamily="18" charset="0"/>
                </a:rPr>
                <a:t>3</a:t>
              </a:r>
              <a:r>
                <a:rPr lang="vi-VN" sz="2800">
                  <a:latin typeface="Times New Roman" panose="02020603050405020304" pitchFamily="18" charset="0"/>
                  <a:cs typeface="Times New Roman" panose="02020603050405020304" pitchFamily="18" charset="0"/>
                </a:rPr>
                <a:t>. Route với slug</a:t>
              </a:r>
              <a:r>
                <a:rPr lang="en-US" sz="2800">
                  <a:latin typeface="Times New Roman" panose="02020603050405020304" pitchFamily="18" charset="0"/>
                  <a:cs typeface="Times New Roman" panose="02020603050405020304" pitchFamily="18" charset="0"/>
                </a:rPr>
                <a:t> hỗ trợ kỹ thuật SEO</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A80F5422-605E-4516-44C4-F5D74226762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D0E692C-610C-837D-6F2A-554DBFDE0A1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2BEE4E5-29CE-F401-0F30-F906C4EEE76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419FD5B-2A05-0681-6017-A2A4942DB8D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F5C38FB7-1348-0D60-AACB-E0C5ABD709D3}"/>
              </a:ext>
            </a:extLst>
          </p:cNvPr>
          <p:cNvSpPr txBox="1"/>
          <p:nvPr/>
        </p:nvSpPr>
        <p:spPr>
          <a:xfrm>
            <a:off x="476030" y="778241"/>
            <a:ext cx="11564547" cy="830997"/>
          </a:xfrm>
          <a:prstGeom prst="rect">
            <a:avLst/>
          </a:prstGeom>
          <a:noFill/>
        </p:spPr>
        <p:txBody>
          <a:bodyPr wrap="square">
            <a:spAutoFit/>
          </a:bodyPr>
          <a:lstStyle/>
          <a:p>
            <a:pPr marL="342900"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5: Hiệu chỉnh </a:t>
            </a:r>
            <a:r>
              <a:rPr lang="en-US" sz="2400" b="1">
                <a:latin typeface="Times New Roman" panose="02020603050405020304" pitchFamily="18" charset="0"/>
                <a:cs typeface="Times New Roman" panose="02020603050405020304" pitchFamily="18" charset="0"/>
              </a:rPr>
              <a:t>ProductDetailComponent.ts</a:t>
            </a:r>
            <a:r>
              <a:rPr lang="en-US" sz="2400">
                <a:latin typeface="Times New Roman" panose="02020603050405020304" pitchFamily="18" charset="0"/>
                <a:cs typeface="Times New Roman" panose="02020603050405020304" pitchFamily="18" charset="0"/>
              </a:rPr>
              <a:t> để hiển thị chính xác chi tiết sản phẩm theo </a:t>
            </a:r>
            <a:r>
              <a:rPr lang="en-US" sz="2400" b="1">
                <a:latin typeface="Times New Roman" panose="02020603050405020304" pitchFamily="18" charset="0"/>
                <a:cs typeface="Times New Roman" panose="02020603050405020304" pitchFamily="18" charset="0"/>
              </a:rPr>
              <a:t>ID</a:t>
            </a:r>
            <a:r>
              <a:rPr lang="en-US" sz="2400">
                <a:latin typeface="Times New Roman" panose="02020603050405020304" pitchFamily="18" charset="0"/>
                <a:cs typeface="Times New Roman" panose="02020603050405020304" pitchFamily="18" charset="0"/>
              </a:rPr>
              <a:t> hay theo </a:t>
            </a:r>
            <a:r>
              <a:rPr lang="en-US" sz="2400" b="1">
                <a:latin typeface="Times New Roman" panose="02020603050405020304" pitchFamily="18" charset="0"/>
                <a:cs typeface="Times New Roman" panose="02020603050405020304" pitchFamily="18" charset="0"/>
              </a:rPr>
              <a:t>Slug</a:t>
            </a:r>
            <a:endParaRPr lang="vi-VN" sz="24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62B08B8C-0D04-22C1-D083-17D615F3107F}"/>
              </a:ext>
            </a:extLst>
          </p:cNvPr>
          <p:cNvPicPr>
            <a:picLocks noChangeAspect="1"/>
          </p:cNvPicPr>
          <p:nvPr/>
        </p:nvPicPr>
        <p:blipFill>
          <a:blip r:embed="rId3"/>
          <a:stretch>
            <a:fillRect/>
          </a:stretch>
        </p:blipFill>
        <p:spPr>
          <a:xfrm>
            <a:off x="542786" y="1609238"/>
            <a:ext cx="8151232" cy="4691545"/>
          </a:xfrm>
          <a:prstGeom prst="rect">
            <a:avLst/>
          </a:prstGeom>
        </p:spPr>
      </p:pic>
      <p:sp>
        <p:nvSpPr>
          <p:cNvPr id="13" name="Rectangle 12">
            <a:extLst>
              <a:ext uri="{FF2B5EF4-FFF2-40B4-BE49-F238E27FC236}">
                <a16:creationId xmlns:a16="http://schemas.microsoft.com/office/drawing/2014/main" id="{3F18D45A-CBE4-4255-7343-AC86E110AAB9}"/>
              </a:ext>
            </a:extLst>
          </p:cNvPr>
          <p:cNvSpPr/>
          <p:nvPr/>
        </p:nvSpPr>
        <p:spPr>
          <a:xfrm>
            <a:off x="564686" y="4957011"/>
            <a:ext cx="5531314" cy="3651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16096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12D6F78-7B48-4E7B-1941-E3915E4FE11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9ED64C9-7598-33A1-6938-6AB9EDAED90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D00861E-B0D3-A17B-E52C-5075F80AD2E7}"/>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52</a:t>
            </a:fld>
            <a:endParaRPr/>
          </a:p>
        </p:txBody>
      </p:sp>
      <p:grpSp>
        <p:nvGrpSpPr>
          <p:cNvPr id="2" name="Group 1">
            <a:extLst>
              <a:ext uri="{FF2B5EF4-FFF2-40B4-BE49-F238E27FC236}">
                <a16:creationId xmlns:a16="http://schemas.microsoft.com/office/drawing/2014/main" id="{8960F990-119B-D90A-4147-E4C01CD9E691}"/>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3B312D2C-1364-5B20-C3F0-6185220EAB75}"/>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4.3.</a:t>
              </a:r>
              <a:r>
                <a:rPr lang="en-US" sz="2800">
                  <a:latin typeface="Times New Roman" panose="02020603050405020304" pitchFamily="18" charset="0"/>
                  <a:cs typeface="Times New Roman" panose="02020603050405020304" pitchFamily="18" charset="0"/>
                </a:rPr>
                <a:t>3</a:t>
              </a:r>
              <a:r>
                <a:rPr lang="vi-VN" sz="2800">
                  <a:latin typeface="Times New Roman" panose="02020603050405020304" pitchFamily="18" charset="0"/>
                  <a:cs typeface="Times New Roman" panose="02020603050405020304" pitchFamily="18" charset="0"/>
                </a:rPr>
                <a:t>. Route với slug</a:t>
              </a:r>
              <a:r>
                <a:rPr lang="en-US" sz="2800">
                  <a:latin typeface="Times New Roman" panose="02020603050405020304" pitchFamily="18" charset="0"/>
                  <a:cs typeface="Times New Roman" panose="02020603050405020304" pitchFamily="18" charset="0"/>
                </a:rPr>
                <a:t> hỗ trợ kỹ thuật SEO</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E6C9179-47FF-41B7-EF3C-BFCA517B146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651A0E0-E2E2-1D82-60CD-9BA3EB024FB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591A1DA-AC7A-DFEC-3D93-62BEC2D303F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00A758E-FEC5-2776-F386-3168E421E98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1" name="Picture 10">
            <a:extLst>
              <a:ext uri="{FF2B5EF4-FFF2-40B4-BE49-F238E27FC236}">
                <a16:creationId xmlns:a16="http://schemas.microsoft.com/office/drawing/2014/main" id="{3215E614-55E5-43A9-A514-6AA896C054CB}"/>
              </a:ext>
            </a:extLst>
          </p:cNvPr>
          <p:cNvPicPr>
            <a:picLocks noChangeAspect="1"/>
          </p:cNvPicPr>
          <p:nvPr/>
        </p:nvPicPr>
        <p:blipFill>
          <a:blip r:embed="rId3"/>
          <a:stretch>
            <a:fillRect/>
          </a:stretch>
        </p:blipFill>
        <p:spPr>
          <a:xfrm>
            <a:off x="564686" y="841012"/>
            <a:ext cx="8526466" cy="5400263"/>
          </a:xfrm>
          <a:prstGeom prst="rect">
            <a:avLst/>
          </a:prstGeom>
        </p:spPr>
      </p:pic>
    </p:spTree>
    <p:extLst>
      <p:ext uri="{BB962C8B-B14F-4D97-AF65-F5344CB8AC3E}">
        <p14:creationId xmlns:p14="http://schemas.microsoft.com/office/powerpoint/2010/main" val="1498766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E02CB61-C0D4-3990-844A-6CD42CB272A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CF81E58-6EC2-129D-D16F-7FCAFFF5D51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69CDE47-36BB-6F01-CB32-62B783B00F9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53</a:t>
            </a:fld>
            <a:endParaRPr/>
          </a:p>
        </p:txBody>
      </p:sp>
      <p:grpSp>
        <p:nvGrpSpPr>
          <p:cNvPr id="2" name="Group 1">
            <a:extLst>
              <a:ext uri="{FF2B5EF4-FFF2-40B4-BE49-F238E27FC236}">
                <a16:creationId xmlns:a16="http://schemas.microsoft.com/office/drawing/2014/main" id="{D09D906E-CD16-0550-AE3E-4F8B96B995B3}"/>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6565B2DE-CBFD-2AB7-76C9-5B57EDCED1B9}"/>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4.3.</a:t>
              </a:r>
              <a:r>
                <a:rPr lang="en-US" sz="2800">
                  <a:latin typeface="Times New Roman" panose="02020603050405020304" pitchFamily="18" charset="0"/>
                  <a:cs typeface="Times New Roman" panose="02020603050405020304" pitchFamily="18" charset="0"/>
                </a:rPr>
                <a:t>3</a:t>
              </a:r>
              <a:r>
                <a:rPr lang="vi-VN" sz="2800">
                  <a:latin typeface="Times New Roman" panose="02020603050405020304" pitchFamily="18" charset="0"/>
                  <a:cs typeface="Times New Roman" panose="02020603050405020304" pitchFamily="18" charset="0"/>
                </a:rPr>
                <a:t>. Route với slug</a:t>
              </a:r>
              <a:r>
                <a:rPr lang="en-US" sz="2800">
                  <a:latin typeface="Times New Roman" panose="02020603050405020304" pitchFamily="18" charset="0"/>
                  <a:cs typeface="Times New Roman" panose="02020603050405020304" pitchFamily="18" charset="0"/>
                </a:rPr>
                <a:t> hỗ trợ kỹ thuật SEO</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AD3925B-5689-35ED-B22A-742B747C08C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93C4555-71A2-A3E4-E56A-E3BEDAD665E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4E3C29E-3786-09CE-3005-C2406E785A8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E1E6642D-9923-78C6-C17D-6BFBD32C4B0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9" name="Picture 8">
            <a:extLst>
              <a:ext uri="{FF2B5EF4-FFF2-40B4-BE49-F238E27FC236}">
                <a16:creationId xmlns:a16="http://schemas.microsoft.com/office/drawing/2014/main" id="{D39110BC-3B88-63B5-01A7-3251ABBE26EE}"/>
              </a:ext>
            </a:extLst>
          </p:cNvPr>
          <p:cNvPicPr>
            <a:picLocks noChangeAspect="1"/>
          </p:cNvPicPr>
          <p:nvPr/>
        </p:nvPicPr>
        <p:blipFill>
          <a:blip r:embed="rId3"/>
          <a:stretch>
            <a:fillRect/>
          </a:stretch>
        </p:blipFill>
        <p:spPr>
          <a:xfrm>
            <a:off x="542786" y="841978"/>
            <a:ext cx="7485849" cy="5174043"/>
          </a:xfrm>
          <a:prstGeom prst="rect">
            <a:avLst/>
          </a:prstGeom>
        </p:spPr>
      </p:pic>
    </p:spTree>
    <p:extLst>
      <p:ext uri="{BB962C8B-B14F-4D97-AF65-F5344CB8AC3E}">
        <p14:creationId xmlns:p14="http://schemas.microsoft.com/office/powerpoint/2010/main" val="8193871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98585EF-2991-4934-67E1-0E09F9EFE04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A17957E-6596-256A-F158-45A4554627E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B8788D3-2F9C-7DDF-51F2-D1C0C37453A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54</a:t>
            </a:fld>
            <a:endParaRPr/>
          </a:p>
        </p:txBody>
      </p:sp>
      <p:grpSp>
        <p:nvGrpSpPr>
          <p:cNvPr id="2" name="Group 1">
            <a:extLst>
              <a:ext uri="{FF2B5EF4-FFF2-40B4-BE49-F238E27FC236}">
                <a16:creationId xmlns:a16="http://schemas.microsoft.com/office/drawing/2014/main" id="{B1C82973-FF03-4240-3ECA-CC502B6D8661}"/>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3328BC12-B4C2-6C13-5FCD-252DAC27E43F}"/>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4.3.</a:t>
              </a:r>
              <a:r>
                <a:rPr lang="en-US" sz="2800">
                  <a:latin typeface="Times New Roman" panose="02020603050405020304" pitchFamily="18" charset="0"/>
                  <a:cs typeface="Times New Roman" panose="02020603050405020304" pitchFamily="18" charset="0"/>
                </a:rPr>
                <a:t>3</a:t>
              </a:r>
              <a:r>
                <a:rPr lang="vi-VN" sz="2800">
                  <a:latin typeface="Times New Roman" panose="02020603050405020304" pitchFamily="18" charset="0"/>
                  <a:cs typeface="Times New Roman" panose="02020603050405020304" pitchFamily="18" charset="0"/>
                </a:rPr>
                <a:t>. Route với slug</a:t>
              </a:r>
              <a:r>
                <a:rPr lang="en-US" sz="2800">
                  <a:latin typeface="Times New Roman" panose="02020603050405020304" pitchFamily="18" charset="0"/>
                  <a:cs typeface="Times New Roman" panose="02020603050405020304" pitchFamily="18" charset="0"/>
                </a:rPr>
                <a:t> hỗ trợ kỹ thuật SEO</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159BC02-8604-3296-0C0F-F09922C8608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AD5B5A3-FD25-C09F-A7D2-5F542455035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C18FC26A-C237-DF2A-D5D1-7BF848C6636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CE9C6FE-10CD-5F91-7EE3-B405727F4A4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1093B670-B1E0-788E-F1A7-B9E823C443DA}"/>
              </a:ext>
            </a:extLst>
          </p:cNvPr>
          <p:cNvSpPr txBox="1"/>
          <p:nvPr/>
        </p:nvSpPr>
        <p:spPr>
          <a:xfrm>
            <a:off x="564686" y="818078"/>
            <a:ext cx="10313136" cy="5478423"/>
          </a:xfrm>
          <a:prstGeom prst="rect">
            <a:avLst/>
          </a:prstGeom>
          <a:noFill/>
          <a:ln>
            <a:solidFill>
              <a:srgbClr val="002060"/>
            </a:solidFill>
          </a:ln>
        </p:spPr>
        <p:txBody>
          <a:bodyPr wrap="square">
            <a:spAutoFit/>
          </a:bodyPr>
          <a:lstStyle/>
          <a:p>
            <a:pPr>
              <a:buNone/>
            </a:pPr>
            <a:r>
              <a:rPr lang="vi-VN" sz="1000" b="0">
                <a:solidFill>
                  <a:srgbClr val="000000"/>
                </a:solidFill>
                <a:effectLst/>
                <a:latin typeface="Consolas" panose="020B0609020204030204" pitchFamily="49" charset="0"/>
              </a:rPr>
              <a:t>ngOnInit():void{</a:t>
            </a:r>
          </a:p>
          <a:p>
            <a:pPr>
              <a:buNone/>
            </a:pPr>
            <a:r>
              <a:rPr lang="vi-VN" sz="1000" b="0">
                <a:solidFill>
                  <a:srgbClr val="000000"/>
                </a:solidFill>
                <a:effectLst/>
                <a:latin typeface="Consolas" panose="020B0609020204030204" pitchFamily="49" charset="0"/>
              </a:rPr>
              <a:t>    </a:t>
            </a:r>
            <a:r>
              <a:rPr lang="vi-VN" sz="1000" b="0">
                <a:solidFill>
                  <a:srgbClr val="0000FF"/>
                </a:solidFill>
                <a:effectLst/>
                <a:latin typeface="Consolas" panose="020B0609020204030204" pitchFamily="49" charset="0"/>
              </a:rPr>
              <a:t>this</a:t>
            </a:r>
            <a:r>
              <a:rPr lang="vi-VN" sz="1000" b="0">
                <a:solidFill>
                  <a:srgbClr val="000000"/>
                </a:solidFill>
                <a:effectLst/>
                <a:latin typeface="Consolas" panose="020B0609020204030204" pitchFamily="49" charset="0"/>
              </a:rPr>
              <a:t>.activateRoute.paramMap.subscribe(</a:t>
            </a:r>
          </a:p>
          <a:p>
            <a:pPr>
              <a:buNone/>
            </a:pPr>
            <a:r>
              <a:rPr lang="vi-VN" sz="1000" b="0">
                <a:solidFill>
                  <a:srgbClr val="000000"/>
                </a:solidFill>
                <a:effectLst/>
                <a:latin typeface="Consolas" panose="020B0609020204030204" pitchFamily="49" charset="0"/>
              </a:rPr>
              <a:t>      (param)</a:t>
            </a:r>
            <a:r>
              <a:rPr lang="vi-VN" sz="1000" b="0">
                <a:solidFill>
                  <a:srgbClr val="0000FF"/>
                </a:solidFill>
                <a:effectLst/>
                <a:latin typeface="Consolas" panose="020B0609020204030204" pitchFamily="49" charset="0"/>
              </a:rPr>
              <a:t>=&gt;</a:t>
            </a:r>
            <a:r>
              <a:rPr lang="vi-VN" sz="1000" b="0">
                <a:solidFill>
                  <a:srgbClr val="000000"/>
                </a:solidFill>
                <a:effectLst/>
                <a:latin typeface="Consolas" panose="020B0609020204030204" pitchFamily="49" charset="0"/>
              </a:rPr>
              <a:t>{</a:t>
            </a:r>
          </a:p>
          <a:p>
            <a:pPr>
              <a:buNone/>
            </a:pPr>
            <a:r>
              <a:rPr lang="vi-VN" sz="1000" b="0">
                <a:solidFill>
                  <a:srgbClr val="000000"/>
                </a:solidFill>
                <a:effectLst/>
                <a:latin typeface="Consolas" panose="020B0609020204030204" pitchFamily="49" charset="0"/>
              </a:rPr>
              <a:t>        </a:t>
            </a:r>
            <a:r>
              <a:rPr lang="vi-VN" sz="1000" b="0">
                <a:solidFill>
                  <a:srgbClr val="0000FF"/>
                </a:solidFill>
                <a:effectLst/>
                <a:latin typeface="Consolas" panose="020B0609020204030204" pitchFamily="49" charset="0"/>
              </a:rPr>
              <a:t>let</a:t>
            </a:r>
            <a:r>
              <a:rPr lang="vi-VN" sz="1000" b="0">
                <a:solidFill>
                  <a:srgbClr val="000000"/>
                </a:solidFill>
                <a:effectLst/>
                <a:latin typeface="Consolas" panose="020B0609020204030204" pitchFamily="49" charset="0"/>
              </a:rPr>
              <a:t> idParam=param.get(</a:t>
            </a:r>
            <a:r>
              <a:rPr lang="vi-VN" sz="1000" b="0">
                <a:solidFill>
                  <a:srgbClr val="A31515"/>
                </a:solidFill>
                <a:effectLst/>
                <a:latin typeface="Consolas" panose="020B0609020204030204" pitchFamily="49" charset="0"/>
              </a:rPr>
              <a:t>'id'</a:t>
            </a:r>
            <a:r>
              <a:rPr lang="vi-VN" sz="1000" b="0">
                <a:solidFill>
                  <a:srgbClr val="000000"/>
                </a:solidFill>
                <a:effectLst/>
                <a:latin typeface="Consolas" panose="020B0609020204030204" pitchFamily="49" charset="0"/>
              </a:rPr>
              <a:t>)</a:t>
            </a:r>
          </a:p>
          <a:p>
            <a:pPr>
              <a:buNone/>
            </a:pPr>
            <a:r>
              <a:rPr lang="vi-VN" sz="1000" b="0">
                <a:solidFill>
                  <a:srgbClr val="000000"/>
                </a:solidFill>
                <a:effectLst/>
                <a:latin typeface="Consolas" panose="020B0609020204030204" pitchFamily="49" charset="0"/>
              </a:rPr>
              <a:t>        </a:t>
            </a:r>
            <a:r>
              <a:rPr lang="vi-VN" sz="1000" b="0">
                <a:solidFill>
                  <a:srgbClr val="0000FF"/>
                </a:solidFill>
                <a:effectLst/>
                <a:latin typeface="Consolas" panose="020B0609020204030204" pitchFamily="49" charset="0"/>
              </a:rPr>
              <a:t>if</a:t>
            </a:r>
            <a:r>
              <a:rPr lang="vi-VN" sz="1000" b="0">
                <a:solidFill>
                  <a:srgbClr val="000000"/>
                </a:solidFill>
                <a:effectLst/>
                <a:latin typeface="Consolas" panose="020B0609020204030204" pitchFamily="49" charset="0"/>
              </a:rPr>
              <a:t>(idParam!=</a:t>
            </a:r>
            <a:r>
              <a:rPr lang="vi-VN" sz="1000" b="0">
                <a:solidFill>
                  <a:srgbClr val="0000FF"/>
                </a:solidFill>
                <a:effectLst/>
                <a:latin typeface="Consolas" panose="020B0609020204030204" pitchFamily="49" charset="0"/>
              </a:rPr>
              <a:t>null</a:t>
            </a:r>
            <a:r>
              <a:rPr lang="vi-VN" sz="1000" b="0">
                <a:solidFill>
                  <a:srgbClr val="000000"/>
                </a:solidFill>
                <a:effectLst/>
                <a:latin typeface="Consolas" panose="020B0609020204030204" pitchFamily="49" charset="0"/>
              </a:rPr>
              <a:t>)</a:t>
            </a:r>
          </a:p>
          <a:p>
            <a:pPr>
              <a:buNone/>
            </a:pPr>
            <a:r>
              <a:rPr lang="vi-VN" sz="1000" b="0">
                <a:solidFill>
                  <a:srgbClr val="000000"/>
                </a:solidFill>
                <a:effectLst/>
                <a:latin typeface="Consolas" panose="020B0609020204030204" pitchFamily="49" charset="0"/>
              </a:rPr>
              <a:t>        {</a:t>
            </a:r>
          </a:p>
          <a:p>
            <a:pPr>
              <a:buNone/>
            </a:pPr>
            <a:r>
              <a:rPr lang="vi-VN" sz="1000" b="0">
                <a:solidFill>
                  <a:srgbClr val="000000"/>
                </a:solidFill>
                <a:effectLst/>
                <a:latin typeface="Consolas" panose="020B0609020204030204" pitchFamily="49" charset="0"/>
              </a:rPr>
              <a:t>          </a:t>
            </a:r>
            <a:r>
              <a:rPr lang="vi-VN" sz="1000" b="0">
                <a:solidFill>
                  <a:srgbClr val="0000FF"/>
                </a:solidFill>
                <a:effectLst/>
                <a:latin typeface="Consolas" panose="020B0609020204030204" pitchFamily="49" charset="0"/>
              </a:rPr>
              <a:t>const</a:t>
            </a:r>
            <a:r>
              <a:rPr lang="vi-VN" sz="1000" b="0">
                <a:solidFill>
                  <a:srgbClr val="000000"/>
                </a:solidFill>
                <a:effectLst/>
                <a:latin typeface="Consolas" panose="020B0609020204030204" pitchFamily="49" charset="0"/>
              </a:rPr>
              <a:t> type = </a:t>
            </a:r>
            <a:r>
              <a:rPr lang="vi-VN" sz="1000" b="0">
                <a:solidFill>
                  <a:srgbClr val="0000FF"/>
                </a:solidFill>
                <a:effectLst/>
                <a:latin typeface="Consolas" panose="020B0609020204030204" pitchFamily="49" charset="0"/>
              </a:rPr>
              <a:t>this</a:t>
            </a:r>
            <a:r>
              <a:rPr lang="vi-VN" sz="1000" b="0">
                <a:solidFill>
                  <a:srgbClr val="000000"/>
                </a:solidFill>
                <a:effectLst/>
                <a:latin typeface="Consolas" panose="020B0609020204030204" pitchFamily="49" charset="0"/>
              </a:rPr>
              <a:t>.checkIdentityType(idParam);</a:t>
            </a:r>
          </a:p>
          <a:p>
            <a:pPr>
              <a:buNone/>
            </a:pPr>
            <a:r>
              <a:rPr lang="vi-VN" sz="1000" b="0">
                <a:solidFill>
                  <a:srgbClr val="000000"/>
                </a:solidFill>
                <a:effectLst/>
                <a:latin typeface="Consolas" panose="020B0609020204030204" pitchFamily="49" charset="0"/>
              </a:rPr>
              <a:t>          </a:t>
            </a:r>
            <a:r>
              <a:rPr lang="vi-VN" sz="1000" b="0">
                <a:solidFill>
                  <a:srgbClr val="0000FF"/>
                </a:solidFill>
                <a:effectLst/>
                <a:latin typeface="Consolas" panose="020B0609020204030204" pitchFamily="49" charset="0"/>
              </a:rPr>
              <a:t>let</a:t>
            </a:r>
            <a:r>
              <a:rPr lang="vi-VN" sz="1000" b="0">
                <a:solidFill>
                  <a:srgbClr val="000000"/>
                </a:solidFill>
                <a:effectLst/>
                <a:latin typeface="Consolas" panose="020B0609020204030204" pitchFamily="49" charset="0"/>
              </a:rPr>
              <a:t> id:any=-</a:t>
            </a:r>
            <a:r>
              <a:rPr lang="vi-VN" sz="1000" b="0">
                <a:solidFill>
                  <a:srgbClr val="098658"/>
                </a:solidFill>
                <a:effectLst/>
                <a:latin typeface="Consolas" panose="020B0609020204030204" pitchFamily="49" charset="0"/>
              </a:rPr>
              <a:t>1</a:t>
            </a:r>
            <a:endParaRPr lang="vi-VN" sz="1000" b="0">
              <a:solidFill>
                <a:srgbClr val="000000"/>
              </a:solidFill>
              <a:effectLst/>
              <a:latin typeface="Consolas" panose="020B0609020204030204" pitchFamily="49" charset="0"/>
            </a:endParaRPr>
          </a:p>
          <a:p>
            <a:pPr>
              <a:buNone/>
            </a:pPr>
            <a:r>
              <a:rPr lang="vi-VN" sz="1000" b="0">
                <a:solidFill>
                  <a:srgbClr val="000000"/>
                </a:solidFill>
                <a:effectLst/>
                <a:latin typeface="Consolas" panose="020B0609020204030204" pitchFamily="49" charset="0"/>
              </a:rPr>
              <a:t>          </a:t>
            </a:r>
            <a:r>
              <a:rPr lang="vi-VN" sz="1000" b="0">
                <a:solidFill>
                  <a:srgbClr val="0000FF"/>
                </a:solidFill>
                <a:effectLst/>
                <a:latin typeface="Consolas" panose="020B0609020204030204" pitchFamily="49" charset="0"/>
              </a:rPr>
              <a:t>switch</a:t>
            </a:r>
            <a:r>
              <a:rPr lang="vi-VN" sz="1000" b="0">
                <a:solidFill>
                  <a:srgbClr val="000000"/>
                </a:solidFill>
                <a:effectLst/>
                <a:latin typeface="Consolas" panose="020B0609020204030204" pitchFamily="49" charset="0"/>
              </a:rPr>
              <a:t> (type) {</a:t>
            </a:r>
          </a:p>
          <a:p>
            <a:pPr>
              <a:buNone/>
            </a:pPr>
            <a:r>
              <a:rPr lang="vi-VN" sz="1000" b="0">
                <a:solidFill>
                  <a:srgbClr val="000000"/>
                </a:solidFill>
                <a:effectLst/>
                <a:latin typeface="Consolas" panose="020B0609020204030204" pitchFamily="49" charset="0"/>
              </a:rPr>
              <a:t>          </a:t>
            </a:r>
            <a:r>
              <a:rPr lang="vi-VN" sz="1000" b="0">
                <a:solidFill>
                  <a:srgbClr val="0000FF"/>
                </a:solidFill>
                <a:effectLst/>
                <a:latin typeface="Consolas" panose="020B0609020204030204" pitchFamily="49" charset="0"/>
              </a:rPr>
              <a:t>case</a:t>
            </a:r>
            <a:r>
              <a:rPr lang="vi-VN" sz="1000" b="0">
                <a:solidFill>
                  <a:srgbClr val="000000"/>
                </a:solidFill>
                <a:effectLst/>
                <a:latin typeface="Consolas" panose="020B0609020204030204" pitchFamily="49" charset="0"/>
              </a:rPr>
              <a:t> </a:t>
            </a:r>
            <a:r>
              <a:rPr lang="vi-VN" sz="1000" b="0">
                <a:solidFill>
                  <a:srgbClr val="A31515"/>
                </a:solidFill>
                <a:effectLst/>
                <a:latin typeface="Consolas" panose="020B0609020204030204" pitchFamily="49" charset="0"/>
              </a:rPr>
              <a:t>'ID'</a:t>
            </a:r>
            <a:r>
              <a:rPr lang="vi-VN" sz="1000" b="0">
                <a:solidFill>
                  <a:srgbClr val="000000"/>
                </a:solidFill>
                <a:effectLst/>
                <a:latin typeface="Consolas" panose="020B0609020204030204" pitchFamily="49" charset="0"/>
              </a:rPr>
              <a:t>:</a:t>
            </a:r>
          </a:p>
          <a:p>
            <a:pPr>
              <a:buNone/>
            </a:pPr>
            <a:r>
              <a:rPr lang="vi-VN" sz="1000" b="0">
                <a:solidFill>
                  <a:srgbClr val="000000"/>
                </a:solidFill>
                <a:effectLst/>
                <a:latin typeface="Consolas" panose="020B0609020204030204" pitchFamily="49" charset="0"/>
              </a:rPr>
              <a:t>            </a:t>
            </a:r>
            <a:r>
              <a:rPr lang="vi-VN" sz="1000" b="0">
                <a:solidFill>
                  <a:srgbClr val="008000"/>
                </a:solidFill>
                <a:effectLst/>
                <a:latin typeface="Consolas" panose="020B0609020204030204" pitchFamily="49" charset="0"/>
              </a:rPr>
              <a:t>// Trường hợp là số thuần túy (Ví dụ: product/1)</a:t>
            </a:r>
            <a:endParaRPr lang="vi-VN" sz="1000" b="0">
              <a:solidFill>
                <a:srgbClr val="000000"/>
              </a:solidFill>
              <a:effectLst/>
              <a:latin typeface="Consolas" panose="020B0609020204030204" pitchFamily="49" charset="0"/>
            </a:endParaRPr>
          </a:p>
          <a:p>
            <a:pPr>
              <a:buNone/>
            </a:pPr>
            <a:r>
              <a:rPr lang="vi-VN" sz="1000" b="0">
                <a:solidFill>
                  <a:srgbClr val="000000"/>
                </a:solidFill>
                <a:effectLst/>
                <a:latin typeface="Consolas" panose="020B0609020204030204" pitchFamily="49" charset="0"/>
              </a:rPr>
              <a:t>            id=parseInt(idParam);</a:t>
            </a:r>
          </a:p>
          <a:p>
            <a:pPr>
              <a:buNone/>
            </a:pPr>
            <a:r>
              <a:rPr lang="vi-VN" sz="1000" b="0">
                <a:solidFill>
                  <a:srgbClr val="000000"/>
                </a:solidFill>
                <a:effectLst/>
                <a:latin typeface="Consolas" panose="020B0609020204030204" pitchFamily="49" charset="0"/>
              </a:rPr>
              <a:t>            </a:t>
            </a:r>
            <a:r>
              <a:rPr lang="vi-VN" sz="1000" b="0">
                <a:solidFill>
                  <a:srgbClr val="0000FF"/>
                </a:solidFill>
                <a:effectLst/>
                <a:latin typeface="Consolas" panose="020B0609020204030204" pitchFamily="49" charset="0"/>
              </a:rPr>
              <a:t>break</a:t>
            </a:r>
            <a:r>
              <a:rPr lang="vi-VN" sz="1000" b="0">
                <a:solidFill>
                  <a:srgbClr val="000000"/>
                </a:solidFill>
                <a:effectLst/>
                <a:latin typeface="Consolas" panose="020B0609020204030204" pitchFamily="49" charset="0"/>
              </a:rPr>
              <a:t>;</a:t>
            </a:r>
          </a:p>
          <a:p>
            <a:pPr>
              <a:buNone/>
            </a:pPr>
            <a:r>
              <a:rPr lang="vi-VN" sz="1000" b="0">
                <a:solidFill>
                  <a:srgbClr val="000000"/>
                </a:solidFill>
                <a:effectLst/>
                <a:latin typeface="Consolas" panose="020B0609020204030204" pitchFamily="49" charset="0"/>
              </a:rPr>
              <a:t>          </a:t>
            </a:r>
            <a:r>
              <a:rPr lang="vi-VN" sz="1000" b="0">
                <a:solidFill>
                  <a:srgbClr val="0000FF"/>
                </a:solidFill>
                <a:effectLst/>
                <a:latin typeface="Consolas" panose="020B0609020204030204" pitchFamily="49" charset="0"/>
              </a:rPr>
              <a:t>case</a:t>
            </a:r>
            <a:r>
              <a:rPr lang="vi-VN" sz="1000" b="0">
                <a:solidFill>
                  <a:srgbClr val="000000"/>
                </a:solidFill>
                <a:effectLst/>
                <a:latin typeface="Consolas" panose="020B0609020204030204" pitchFamily="49" charset="0"/>
              </a:rPr>
              <a:t> </a:t>
            </a:r>
            <a:r>
              <a:rPr lang="vi-VN" sz="1000" b="0">
                <a:solidFill>
                  <a:srgbClr val="A31515"/>
                </a:solidFill>
                <a:effectLst/>
                <a:latin typeface="Consolas" panose="020B0609020204030204" pitchFamily="49" charset="0"/>
              </a:rPr>
              <a:t>'SLUG_WITH_ID'</a:t>
            </a:r>
            <a:r>
              <a:rPr lang="vi-VN" sz="1000" b="0">
                <a:solidFill>
                  <a:srgbClr val="000000"/>
                </a:solidFill>
                <a:effectLst/>
                <a:latin typeface="Consolas" panose="020B0609020204030204" pitchFamily="49" charset="0"/>
              </a:rPr>
              <a:t>:</a:t>
            </a:r>
          </a:p>
          <a:p>
            <a:pPr>
              <a:buNone/>
            </a:pPr>
            <a:r>
              <a:rPr lang="vi-VN" sz="1000" b="0">
                <a:solidFill>
                  <a:srgbClr val="000000"/>
                </a:solidFill>
                <a:effectLst/>
                <a:latin typeface="Consolas" panose="020B0609020204030204" pitchFamily="49" charset="0"/>
              </a:rPr>
              <a:t>            </a:t>
            </a:r>
            <a:r>
              <a:rPr lang="vi-VN" sz="1000" b="0">
                <a:solidFill>
                  <a:srgbClr val="008000"/>
                </a:solidFill>
                <a:effectLst/>
                <a:latin typeface="Consolas" panose="020B0609020204030204" pitchFamily="49" charset="0"/>
              </a:rPr>
              <a:t>// Trường hợp là Slug chuẩn SEO (Ví dụ: product/iphone-69-pro-max-p1)</a:t>
            </a:r>
            <a:endParaRPr lang="vi-VN" sz="1000" b="0">
              <a:solidFill>
                <a:srgbClr val="000000"/>
              </a:solidFill>
              <a:effectLst/>
              <a:latin typeface="Consolas" panose="020B0609020204030204" pitchFamily="49" charset="0"/>
            </a:endParaRPr>
          </a:p>
          <a:p>
            <a:pPr>
              <a:buNone/>
            </a:pPr>
            <a:r>
              <a:rPr lang="vi-VN" sz="1000" b="0">
                <a:solidFill>
                  <a:srgbClr val="000000"/>
                </a:solidFill>
                <a:effectLst/>
                <a:latin typeface="Consolas" panose="020B0609020204030204" pitchFamily="49" charset="0"/>
              </a:rPr>
              <a:t>            id =</a:t>
            </a:r>
            <a:r>
              <a:rPr lang="vi-VN" sz="1000" b="0">
                <a:solidFill>
                  <a:srgbClr val="0000FF"/>
                </a:solidFill>
                <a:effectLst/>
                <a:latin typeface="Consolas" panose="020B0609020204030204" pitchFamily="49" charset="0"/>
              </a:rPr>
              <a:t>this</a:t>
            </a:r>
            <a:r>
              <a:rPr lang="vi-VN" sz="1000" b="0">
                <a:solidFill>
                  <a:srgbClr val="000000"/>
                </a:solidFill>
                <a:effectLst/>
                <a:latin typeface="Consolas" panose="020B0609020204030204" pitchFamily="49" charset="0"/>
              </a:rPr>
              <a:t>.getIdFromSlug(idParam)</a:t>
            </a:r>
          </a:p>
          <a:p>
            <a:pPr>
              <a:buNone/>
            </a:pPr>
            <a:r>
              <a:rPr lang="vi-VN" sz="1000" b="0">
                <a:solidFill>
                  <a:srgbClr val="000000"/>
                </a:solidFill>
                <a:effectLst/>
                <a:latin typeface="Consolas" panose="020B0609020204030204" pitchFamily="49" charset="0"/>
              </a:rPr>
              <a:t>            </a:t>
            </a:r>
            <a:r>
              <a:rPr lang="vi-VN" sz="1000" b="0">
                <a:solidFill>
                  <a:srgbClr val="0000FF"/>
                </a:solidFill>
                <a:effectLst/>
                <a:latin typeface="Consolas" panose="020B0609020204030204" pitchFamily="49" charset="0"/>
              </a:rPr>
              <a:t>break</a:t>
            </a:r>
            <a:r>
              <a:rPr lang="vi-VN" sz="1000" b="0">
                <a:solidFill>
                  <a:srgbClr val="000000"/>
                </a:solidFill>
                <a:effectLst/>
                <a:latin typeface="Consolas" panose="020B0609020204030204" pitchFamily="49" charset="0"/>
              </a:rPr>
              <a:t>;</a:t>
            </a:r>
          </a:p>
          <a:p>
            <a:pPr>
              <a:buNone/>
            </a:pPr>
            <a:r>
              <a:rPr lang="vi-VN" sz="1000" b="0">
                <a:solidFill>
                  <a:srgbClr val="000000"/>
                </a:solidFill>
                <a:effectLst/>
                <a:latin typeface="Consolas" panose="020B0609020204030204" pitchFamily="49" charset="0"/>
              </a:rPr>
              <a:t>          </a:t>
            </a:r>
            <a:r>
              <a:rPr lang="vi-VN" sz="1000" b="0">
                <a:solidFill>
                  <a:srgbClr val="0000FF"/>
                </a:solidFill>
                <a:effectLst/>
                <a:latin typeface="Consolas" panose="020B0609020204030204" pitchFamily="49" charset="0"/>
              </a:rPr>
              <a:t>case</a:t>
            </a:r>
            <a:r>
              <a:rPr lang="vi-VN" sz="1000" b="0">
                <a:solidFill>
                  <a:srgbClr val="000000"/>
                </a:solidFill>
                <a:effectLst/>
                <a:latin typeface="Consolas" panose="020B0609020204030204" pitchFamily="49" charset="0"/>
              </a:rPr>
              <a:t> </a:t>
            </a:r>
            <a:r>
              <a:rPr lang="vi-VN" sz="1000" b="0">
                <a:solidFill>
                  <a:srgbClr val="A31515"/>
                </a:solidFill>
                <a:effectLst/>
                <a:latin typeface="Consolas" panose="020B0609020204030204" pitchFamily="49" charset="0"/>
              </a:rPr>
              <a:t>'PURE_SLUG'</a:t>
            </a:r>
            <a:r>
              <a:rPr lang="vi-VN" sz="1000" b="0">
                <a:solidFill>
                  <a:srgbClr val="000000"/>
                </a:solidFill>
                <a:effectLst/>
                <a:latin typeface="Consolas" panose="020B0609020204030204" pitchFamily="49" charset="0"/>
              </a:rPr>
              <a:t>:</a:t>
            </a:r>
          </a:p>
          <a:p>
            <a:pPr>
              <a:buNone/>
            </a:pPr>
            <a:r>
              <a:rPr lang="vi-VN" sz="1000" b="0">
                <a:solidFill>
                  <a:srgbClr val="000000"/>
                </a:solidFill>
                <a:effectLst/>
                <a:latin typeface="Consolas" panose="020B0609020204030204" pitchFamily="49" charset="0"/>
              </a:rPr>
              <a:t>            id=-</a:t>
            </a:r>
            <a:r>
              <a:rPr lang="vi-VN" sz="1000" b="0">
                <a:solidFill>
                  <a:srgbClr val="098658"/>
                </a:solidFill>
                <a:effectLst/>
                <a:latin typeface="Consolas" panose="020B0609020204030204" pitchFamily="49" charset="0"/>
              </a:rPr>
              <a:t>1</a:t>
            </a:r>
            <a:endParaRPr lang="vi-VN" sz="1000" b="0">
              <a:solidFill>
                <a:srgbClr val="000000"/>
              </a:solidFill>
              <a:effectLst/>
              <a:latin typeface="Consolas" panose="020B0609020204030204" pitchFamily="49" charset="0"/>
            </a:endParaRPr>
          </a:p>
          <a:p>
            <a:pPr>
              <a:buNone/>
            </a:pPr>
            <a:r>
              <a:rPr lang="vi-VN" sz="1000" b="0">
                <a:solidFill>
                  <a:srgbClr val="000000"/>
                </a:solidFill>
                <a:effectLst/>
                <a:latin typeface="Consolas" panose="020B0609020204030204" pitchFamily="49" charset="0"/>
              </a:rPr>
              <a:t>            </a:t>
            </a:r>
            <a:r>
              <a:rPr lang="vi-VN" sz="1000" b="0">
                <a:solidFill>
                  <a:srgbClr val="0000FF"/>
                </a:solidFill>
                <a:effectLst/>
                <a:latin typeface="Consolas" panose="020B0609020204030204" pitchFamily="49" charset="0"/>
              </a:rPr>
              <a:t>break</a:t>
            </a:r>
            <a:r>
              <a:rPr lang="vi-VN" sz="1000" b="0">
                <a:solidFill>
                  <a:srgbClr val="000000"/>
                </a:solidFill>
                <a:effectLst/>
                <a:latin typeface="Consolas" panose="020B0609020204030204" pitchFamily="49" charset="0"/>
              </a:rPr>
              <a:t>;</a:t>
            </a:r>
          </a:p>
          <a:p>
            <a:pPr>
              <a:buNone/>
            </a:pPr>
            <a:r>
              <a:rPr lang="vi-VN" sz="1000" b="0">
                <a:solidFill>
                  <a:srgbClr val="000000"/>
                </a:solidFill>
                <a:effectLst/>
                <a:latin typeface="Consolas" panose="020B0609020204030204" pitchFamily="49" charset="0"/>
              </a:rPr>
              <a:t>        }</a:t>
            </a:r>
          </a:p>
          <a:p>
            <a:pPr>
              <a:buNone/>
            </a:pPr>
            <a:r>
              <a:rPr lang="vi-VN" sz="1000" b="0">
                <a:solidFill>
                  <a:srgbClr val="000000"/>
                </a:solidFill>
                <a:effectLst/>
                <a:latin typeface="Consolas" panose="020B0609020204030204" pitchFamily="49" charset="0"/>
              </a:rPr>
              <a:t>        </a:t>
            </a:r>
            <a:r>
              <a:rPr lang="vi-VN" sz="1000" b="0">
                <a:solidFill>
                  <a:srgbClr val="0000FF"/>
                </a:solidFill>
                <a:effectLst/>
                <a:latin typeface="Consolas" panose="020B0609020204030204" pitchFamily="49" charset="0"/>
              </a:rPr>
              <a:t>this</a:t>
            </a:r>
            <a:r>
              <a:rPr lang="vi-VN" sz="1000" b="0">
                <a:solidFill>
                  <a:srgbClr val="000000"/>
                </a:solidFill>
                <a:effectLst/>
                <a:latin typeface="Consolas" panose="020B0609020204030204" pitchFamily="49" charset="0"/>
              </a:rPr>
              <a:t>._service.getProductById(id).subscribe(</a:t>
            </a:r>
          </a:p>
          <a:p>
            <a:pPr>
              <a:buNone/>
            </a:pPr>
            <a:r>
              <a:rPr lang="vi-VN" sz="1000" b="0">
                <a:solidFill>
                  <a:srgbClr val="000000"/>
                </a:solidFill>
                <a:effectLst/>
                <a:latin typeface="Consolas" panose="020B0609020204030204" pitchFamily="49" charset="0"/>
              </a:rPr>
              <a:t>          {</a:t>
            </a:r>
          </a:p>
          <a:p>
            <a:pPr>
              <a:buNone/>
            </a:pPr>
            <a:r>
              <a:rPr lang="vi-VN" sz="1000" b="0">
                <a:solidFill>
                  <a:srgbClr val="000000"/>
                </a:solidFill>
                <a:effectLst/>
                <a:latin typeface="Consolas" panose="020B0609020204030204" pitchFamily="49" charset="0"/>
              </a:rPr>
              <a:t>            next:(data)</a:t>
            </a:r>
            <a:r>
              <a:rPr lang="vi-VN" sz="1000" b="0">
                <a:solidFill>
                  <a:srgbClr val="0000FF"/>
                </a:solidFill>
                <a:effectLst/>
                <a:latin typeface="Consolas" panose="020B0609020204030204" pitchFamily="49" charset="0"/>
              </a:rPr>
              <a:t>=&gt;</a:t>
            </a:r>
            <a:r>
              <a:rPr lang="vi-VN" sz="1000" b="0">
                <a:solidFill>
                  <a:srgbClr val="000000"/>
                </a:solidFill>
                <a:effectLst/>
                <a:latin typeface="Consolas" panose="020B0609020204030204" pitchFamily="49" charset="0"/>
              </a:rPr>
              <a:t>{</a:t>
            </a:r>
          </a:p>
          <a:p>
            <a:pPr>
              <a:buNone/>
            </a:pPr>
            <a:r>
              <a:rPr lang="vi-VN" sz="1000" b="0">
                <a:solidFill>
                  <a:srgbClr val="000000"/>
                </a:solidFill>
                <a:effectLst/>
                <a:latin typeface="Consolas" panose="020B0609020204030204" pitchFamily="49" charset="0"/>
              </a:rPr>
              <a:t>              </a:t>
            </a:r>
            <a:r>
              <a:rPr lang="vi-VN" sz="1000" b="0">
                <a:solidFill>
                  <a:srgbClr val="0000FF"/>
                </a:solidFill>
                <a:effectLst/>
                <a:latin typeface="Consolas" panose="020B0609020204030204" pitchFamily="49" charset="0"/>
              </a:rPr>
              <a:t>this</a:t>
            </a:r>
            <a:r>
              <a:rPr lang="vi-VN" sz="1000" b="0">
                <a:solidFill>
                  <a:srgbClr val="000000"/>
                </a:solidFill>
                <a:effectLst/>
                <a:latin typeface="Consolas" panose="020B0609020204030204" pitchFamily="49" charset="0"/>
              </a:rPr>
              <a:t>.product.set(data??</a:t>
            </a:r>
            <a:r>
              <a:rPr lang="vi-VN" sz="1000" b="0">
                <a:solidFill>
                  <a:srgbClr val="0000FF"/>
                </a:solidFill>
                <a:effectLst/>
                <a:latin typeface="Consolas" panose="020B0609020204030204" pitchFamily="49" charset="0"/>
              </a:rPr>
              <a:t>null</a:t>
            </a:r>
            <a:r>
              <a:rPr lang="vi-VN" sz="1000" b="0">
                <a:solidFill>
                  <a:srgbClr val="000000"/>
                </a:solidFill>
                <a:effectLst/>
                <a:latin typeface="Consolas" panose="020B0609020204030204" pitchFamily="49" charset="0"/>
              </a:rPr>
              <a:t>);</a:t>
            </a:r>
          </a:p>
          <a:p>
            <a:pPr>
              <a:buNone/>
            </a:pPr>
            <a:r>
              <a:rPr lang="vi-VN" sz="1000" b="0">
                <a:solidFill>
                  <a:srgbClr val="000000"/>
                </a:solidFill>
                <a:effectLst/>
                <a:latin typeface="Consolas" panose="020B0609020204030204" pitchFamily="49" charset="0"/>
              </a:rPr>
              <a:t>            },</a:t>
            </a:r>
          </a:p>
          <a:p>
            <a:pPr>
              <a:buNone/>
            </a:pPr>
            <a:r>
              <a:rPr lang="vi-VN" sz="1000" b="0">
                <a:solidFill>
                  <a:srgbClr val="000000"/>
                </a:solidFill>
                <a:effectLst/>
                <a:latin typeface="Consolas" panose="020B0609020204030204" pitchFamily="49" charset="0"/>
              </a:rPr>
              <a:t>            error: (err) </a:t>
            </a:r>
            <a:r>
              <a:rPr lang="vi-VN" sz="1000" b="0">
                <a:solidFill>
                  <a:srgbClr val="0000FF"/>
                </a:solidFill>
                <a:effectLst/>
                <a:latin typeface="Consolas" panose="020B0609020204030204" pitchFamily="49" charset="0"/>
              </a:rPr>
              <a:t>=&gt;</a:t>
            </a:r>
            <a:r>
              <a:rPr lang="vi-VN" sz="1000" b="0">
                <a:solidFill>
                  <a:srgbClr val="000000"/>
                </a:solidFill>
                <a:effectLst/>
                <a:latin typeface="Consolas" panose="020B0609020204030204" pitchFamily="49" charset="0"/>
              </a:rPr>
              <a:t>{</a:t>
            </a:r>
          </a:p>
          <a:p>
            <a:pPr>
              <a:buNone/>
            </a:pPr>
            <a:r>
              <a:rPr lang="vi-VN" sz="1000" b="0">
                <a:solidFill>
                  <a:srgbClr val="000000"/>
                </a:solidFill>
                <a:effectLst/>
                <a:latin typeface="Consolas" panose="020B0609020204030204" pitchFamily="49" charset="0"/>
              </a:rPr>
              <a:t>              </a:t>
            </a:r>
            <a:r>
              <a:rPr lang="vi-VN" sz="1000" b="0">
                <a:solidFill>
                  <a:srgbClr val="0000FF"/>
                </a:solidFill>
                <a:effectLst/>
                <a:latin typeface="Consolas" panose="020B0609020204030204" pitchFamily="49" charset="0"/>
              </a:rPr>
              <a:t>this</a:t>
            </a:r>
            <a:r>
              <a:rPr lang="vi-VN" sz="1000" b="0">
                <a:solidFill>
                  <a:srgbClr val="000000"/>
                </a:solidFill>
                <a:effectLst/>
                <a:latin typeface="Consolas" panose="020B0609020204030204" pitchFamily="49" charset="0"/>
              </a:rPr>
              <a:t>.errMessage.set(err)</a:t>
            </a:r>
          </a:p>
          <a:p>
            <a:pPr>
              <a:buNone/>
            </a:pPr>
            <a:r>
              <a:rPr lang="vi-VN" sz="1000" b="0">
                <a:solidFill>
                  <a:srgbClr val="000000"/>
                </a:solidFill>
                <a:effectLst/>
                <a:latin typeface="Consolas" panose="020B0609020204030204" pitchFamily="49" charset="0"/>
              </a:rPr>
              <a:t>            }</a:t>
            </a:r>
          </a:p>
          <a:p>
            <a:pPr>
              <a:buNone/>
            </a:pPr>
            <a:r>
              <a:rPr lang="vi-VN" sz="1000" b="0">
                <a:solidFill>
                  <a:srgbClr val="000000"/>
                </a:solidFill>
                <a:effectLst/>
                <a:latin typeface="Consolas" panose="020B0609020204030204" pitchFamily="49" charset="0"/>
              </a:rPr>
              <a:t>          }</a:t>
            </a:r>
          </a:p>
          <a:p>
            <a:pPr>
              <a:buNone/>
            </a:pPr>
            <a:r>
              <a:rPr lang="vi-VN" sz="1000" b="0">
                <a:solidFill>
                  <a:srgbClr val="000000"/>
                </a:solidFill>
                <a:effectLst/>
                <a:latin typeface="Consolas" panose="020B0609020204030204" pitchFamily="49" charset="0"/>
              </a:rPr>
              <a:t>        )</a:t>
            </a:r>
          </a:p>
          <a:p>
            <a:pPr>
              <a:buNone/>
            </a:pPr>
            <a:r>
              <a:rPr lang="vi-VN" sz="1000" b="0">
                <a:solidFill>
                  <a:srgbClr val="000000"/>
                </a:solidFill>
                <a:effectLst/>
                <a:latin typeface="Consolas" panose="020B0609020204030204" pitchFamily="49" charset="0"/>
              </a:rPr>
              <a:t>      }</a:t>
            </a:r>
          </a:p>
          <a:p>
            <a:pPr>
              <a:buNone/>
            </a:pPr>
            <a:r>
              <a:rPr lang="vi-VN" sz="1000" b="0">
                <a:solidFill>
                  <a:srgbClr val="000000"/>
                </a:solidFill>
                <a:effectLst/>
                <a:latin typeface="Consolas" panose="020B0609020204030204" pitchFamily="49" charset="0"/>
              </a:rPr>
              <a:t>      }</a:t>
            </a:r>
          </a:p>
          <a:p>
            <a:pPr>
              <a:buNone/>
            </a:pPr>
            <a:r>
              <a:rPr lang="vi-VN" sz="1000" b="0">
                <a:solidFill>
                  <a:srgbClr val="000000"/>
                </a:solidFill>
                <a:effectLst/>
                <a:latin typeface="Consolas" panose="020B0609020204030204" pitchFamily="49" charset="0"/>
              </a:rPr>
              <a:t>    );</a:t>
            </a:r>
          </a:p>
          <a:p>
            <a:pPr>
              <a:buNone/>
            </a:pPr>
            <a:r>
              <a:rPr lang="vi-VN" sz="1000" b="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3146538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D72DD84-E166-2FCA-E4BA-C1870687145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D1D1079E-517F-FC81-A33F-90A9CAD1DDA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B7D0940-6658-9F9D-A416-AB1A73CFEB2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55</a:t>
            </a:fld>
            <a:endParaRPr/>
          </a:p>
        </p:txBody>
      </p:sp>
      <p:grpSp>
        <p:nvGrpSpPr>
          <p:cNvPr id="2" name="Group 1">
            <a:extLst>
              <a:ext uri="{FF2B5EF4-FFF2-40B4-BE49-F238E27FC236}">
                <a16:creationId xmlns:a16="http://schemas.microsoft.com/office/drawing/2014/main" id="{E846C3B6-F03A-07E9-8B07-2DEBEB0CE316}"/>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474BDA0E-1092-8FAF-E673-42C65C1B25A9}"/>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4.3.</a:t>
              </a:r>
              <a:r>
                <a:rPr lang="en-US" sz="2800">
                  <a:latin typeface="Times New Roman" panose="02020603050405020304" pitchFamily="18" charset="0"/>
                  <a:cs typeface="Times New Roman" panose="02020603050405020304" pitchFamily="18" charset="0"/>
                </a:rPr>
                <a:t>3</a:t>
              </a:r>
              <a:r>
                <a:rPr lang="vi-VN" sz="2800">
                  <a:latin typeface="Times New Roman" panose="02020603050405020304" pitchFamily="18" charset="0"/>
                  <a:cs typeface="Times New Roman" panose="02020603050405020304" pitchFamily="18" charset="0"/>
                </a:rPr>
                <a:t>. Route với slug</a:t>
              </a:r>
              <a:r>
                <a:rPr lang="en-US" sz="2800">
                  <a:latin typeface="Times New Roman" panose="02020603050405020304" pitchFamily="18" charset="0"/>
                  <a:cs typeface="Times New Roman" panose="02020603050405020304" pitchFamily="18" charset="0"/>
                </a:rPr>
                <a:t> hỗ trợ kỹ thuật SEO</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B7B8E99-6FDC-8C2D-4BEF-5EAF7B038FD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6073C40-53B1-9D95-9DCE-C41DCB709F3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2C15A31-D412-1CEC-A00E-AA3A8A6B739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B76FEA8-643B-286D-04A7-7115AE8B342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D2DB2504-E41D-390A-08F2-50996E25F07B}"/>
              </a:ext>
            </a:extLst>
          </p:cNvPr>
          <p:cNvSpPr txBox="1"/>
          <p:nvPr/>
        </p:nvSpPr>
        <p:spPr>
          <a:xfrm>
            <a:off x="476030" y="778241"/>
            <a:ext cx="11564547" cy="461665"/>
          </a:xfrm>
          <a:prstGeom prst="rect">
            <a:avLst/>
          </a:prstGeom>
          <a:noFill/>
        </p:spPr>
        <p:txBody>
          <a:bodyPr wrap="square">
            <a:spAutoFit/>
          </a:bodyPr>
          <a:lstStyle/>
          <a:p>
            <a:pPr marL="342900" indent="-342900">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6: chạy lại chức năng Slug cho Products, ta có kết quả như mong muốn:</a:t>
            </a:r>
            <a:endParaRPr lang="vi-VN" sz="2400" b="1">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B882CEBC-4566-67E9-0C10-62654DA9EEE8}"/>
              </a:ext>
            </a:extLst>
          </p:cNvPr>
          <p:cNvPicPr>
            <a:picLocks noChangeAspect="1"/>
          </p:cNvPicPr>
          <p:nvPr/>
        </p:nvPicPr>
        <p:blipFill>
          <a:blip r:embed="rId3"/>
          <a:stretch>
            <a:fillRect/>
          </a:stretch>
        </p:blipFill>
        <p:spPr>
          <a:xfrm>
            <a:off x="3098799" y="1212800"/>
            <a:ext cx="5853342" cy="2640314"/>
          </a:xfrm>
          <a:prstGeom prst="rect">
            <a:avLst/>
          </a:prstGeom>
        </p:spPr>
      </p:pic>
      <p:pic>
        <p:nvPicPr>
          <p:cNvPr id="13" name="Picture 12">
            <a:extLst>
              <a:ext uri="{FF2B5EF4-FFF2-40B4-BE49-F238E27FC236}">
                <a16:creationId xmlns:a16="http://schemas.microsoft.com/office/drawing/2014/main" id="{DB2A4C1E-3FB0-90E3-9CC6-3E7B56586635}"/>
              </a:ext>
            </a:extLst>
          </p:cNvPr>
          <p:cNvPicPr>
            <a:picLocks noChangeAspect="1"/>
          </p:cNvPicPr>
          <p:nvPr/>
        </p:nvPicPr>
        <p:blipFill>
          <a:blip r:embed="rId4"/>
          <a:srcRect b="8092"/>
          <a:stretch>
            <a:fillRect/>
          </a:stretch>
        </p:blipFill>
        <p:spPr>
          <a:xfrm>
            <a:off x="6243124" y="4156557"/>
            <a:ext cx="5797453" cy="2403510"/>
          </a:xfrm>
          <a:prstGeom prst="rect">
            <a:avLst/>
          </a:prstGeom>
        </p:spPr>
      </p:pic>
      <p:pic>
        <p:nvPicPr>
          <p:cNvPr id="15" name="Picture 14">
            <a:extLst>
              <a:ext uri="{FF2B5EF4-FFF2-40B4-BE49-F238E27FC236}">
                <a16:creationId xmlns:a16="http://schemas.microsoft.com/office/drawing/2014/main" id="{76F57DE4-9D5B-83AE-CD0D-A1A562A6FAB4}"/>
              </a:ext>
            </a:extLst>
          </p:cNvPr>
          <p:cNvPicPr>
            <a:picLocks noChangeAspect="1"/>
          </p:cNvPicPr>
          <p:nvPr/>
        </p:nvPicPr>
        <p:blipFill>
          <a:blip r:embed="rId5"/>
          <a:srcRect b="10452"/>
          <a:stretch>
            <a:fillRect/>
          </a:stretch>
        </p:blipFill>
        <p:spPr>
          <a:xfrm>
            <a:off x="184037" y="4109366"/>
            <a:ext cx="5743575" cy="2319997"/>
          </a:xfrm>
          <a:prstGeom prst="rect">
            <a:avLst/>
          </a:prstGeom>
        </p:spPr>
      </p:pic>
      <p:cxnSp>
        <p:nvCxnSpPr>
          <p:cNvPr id="19" name="Connector: Elbow 18">
            <a:extLst>
              <a:ext uri="{FF2B5EF4-FFF2-40B4-BE49-F238E27FC236}">
                <a16:creationId xmlns:a16="http://schemas.microsoft.com/office/drawing/2014/main" id="{D3345E0B-5D8B-C219-8434-2B97F66ACA1A}"/>
              </a:ext>
            </a:extLst>
          </p:cNvPr>
          <p:cNvCxnSpPr>
            <a:cxnSpLocks/>
          </p:cNvCxnSpPr>
          <p:nvPr/>
        </p:nvCxnSpPr>
        <p:spPr>
          <a:xfrm rot="10800000" flipV="1">
            <a:off x="2619448" y="3713445"/>
            <a:ext cx="2880702" cy="2199218"/>
          </a:xfrm>
          <a:prstGeom prst="bentConnector3">
            <a:avLst>
              <a:gd name="adj1" fmla="val -119"/>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47D3DC8E-9E7D-5DB4-2BD7-CA38BEA8FD4A}"/>
              </a:ext>
            </a:extLst>
          </p:cNvPr>
          <p:cNvSpPr txBox="1"/>
          <p:nvPr/>
        </p:nvSpPr>
        <p:spPr>
          <a:xfrm>
            <a:off x="3438474" y="5581702"/>
            <a:ext cx="1242648" cy="307777"/>
          </a:xfrm>
          <a:prstGeom prst="rect">
            <a:avLst/>
          </a:prstGeom>
          <a:noFill/>
        </p:spPr>
        <p:txBody>
          <a:bodyPr wrap="none" rtlCol="0">
            <a:spAutoFit/>
          </a:bodyPr>
          <a:lstStyle/>
          <a:p>
            <a:r>
              <a:rPr lang="en-US"/>
              <a:t>VIEW with ID</a:t>
            </a:r>
          </a:p>
        </p:txBody>
      </p:sp>
      <p:cxnSp>
        <p:nvCxnSpPr>
          <p:cNvPr id="23" name="Connector: Elbow 22">
            <a:extLst>
              <a:ext uri="{FF2B5EF4-FFF2-40B4-BE49-F238E27FC236}">
                <a16:creationId xmlns:a16="http://schemas.microsoft.com/office/drawing/2014/main" id="{095627F1-01C8-BC9B-9C64-02DFDB4555BB}"/>
              </a:ext>
            </a:extLst>
          </p:cNvPr>
          <p:cNvCxnSpPr>
            <a:cxnSpLocks/>
          </p:cNvCxnSpPr>
          <p:nvPr/>
        </p:nvCxnSpPr>
        <p:spPr>
          <a:xfrm rot="16200000" flipH="1">
            <a:off x="6482123" y="3971171"/>
            <a:ext cx="1882476" cy="1646362"/>
          </a:xfrm>
          <a:prstGeom prst="bentConnector3">
            <a:avLst>
              <a:gd name="adj1" fmla="val 5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D10164C5-D185-21D2-24F8-B5008A798238}"/>
              </a:ext>
            </a:extLst>
          </p:cNvPr>
          <p:cNvSpPr txBox="1"/>
          <p:nvPr/>
        </p:nvSpPr>
        <p:spPr>
          <a:xfrm>
            <a:off x="8305021" y="5268413"/>
            <a:ext cx="1552028" cy="307777"/>
          </a:xfrm>
          <a:prstGeom prst="rect">
            <a:avLst/>
          </a:prstGeom>
          <a:noFill/>
        </p:spPr>
        <p:txBody>
          <a:bodyPr wrap="none" rtlCol="0">
            <a:spAutoFit/>
          </a:bodyPr>
          <a:lstStyle/>
          <a:p>
            <a:r>
              <a:rPr lang="en-US"/>
              <a:t>VIEW with SLUG</a:t>
            </a:r>
          </a:p>
        </p:txBody>
      </p:sp>
    </p:spTree>
    <p:extLst>
      <p:ext uri="{BB962C8B-B14F-4D97-AF65-F5344CB8AC3E}">
        <p14:creationId xmlns:p14="http://schemas.microsoft.com/office/powerpoint/2010/main" val="16305496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92876B5-BE2F-77E6-6987-CEDD872BFCE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2CD47EC-C114-42FD-38E0-B4997864CBB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069C91E-23EC-96F4-8CA9-D0930BFEBA0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56</a:t>
            </a:fld>
            <a:endParaRPr/>
          </a:p>
        </p:txBody>
      </p:sp>
      <p:grpSp>
        <p:nvGrpSpPr>
          <p:cNvPr id="2" name="Group 1">
            <a:extLst>
              <a:ext uri="{FF2B5EF4-FFF2-40B4-BE49-F238E27FC236}">
                <a16:creationId xmlns:a16="http://schemas.microsoft.com/office/drawing/2014/main" id="{61CD1D4A-879B-2D6E-2FFD-72BB4D624650}"/>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2E6D1E5E-3460-2AA8-5BCB-32CFD342959F}"/>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a:t>
              </a:r>
              <a:r>
                <a:rPr lang="en-US" sz="2800">
                  <a:latin typeface="Times New Roman" panose="02020603050405020304" pitchFamily="18" charset="0"/>
                  <a:cs typeface="Times New Roman" panose="02020603050405020304" pitchFamily="18" charset="0"/>
                </a:rPr>
                <a:t>3</a:t>
              </a:r>
              <a:r>
                <a:rPr lang="vi-VN" sz="2800">
                  <a:latin typeface="Times New Roman" panose="02020603050405020304" pitchFamily="18" charset="0"/>
                  <a:cs typeface="Times New Roman" panose="02020603050405020304" pitchFamily="18" charset="0"/>
                </a:rPr>
                <a:t>.</a:t>
              </a:r>
              <a:r>
                <a:rPr lang="en-US" sz="2800">
                  <a:latin typeface="Times New Roman" panose="02020603050405020304" pitchFamily="18" charset="0"/>
                  <a:cs typeface="Times New Roman" panose="02020603050405020304" pitchFamily="18" charset="0"/>
                </a:rPr>
                <a:t>4</a:t>
              </a:r>
              <a:r>
                <a:rPr lang="vi-VN" sz="2800">
                  <a:latin typeface="Times New Roman" panose="02020603050405020304" pitchFamily="18" charset="0"/>
                  <a:cs typeface="Times New Roman" panose="02020603050405020304" pitchFamily="18" charset="0"/>
                </a:rPr>
                <a:t>. Route với </a:t>
              </a:r>
              <a:r>
                <a:rPr lang="en-US" sz="2800">
                  <a:latin typeface="Times New Roman" panose="02020603050405020304" pitchFamily="18" charset="0"/>
                  <a:cs typeface="Times New Roman" panose="02020603050405020304" pitchFamily="18" charset="0"/>
                </a:rPr>
                <a:t>Query Parameters và Filtering</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A93B7007-ACF1-D36A-059E-2A9866D8F07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9B69C00-252D-2D58-90BA-86CE4A39874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4976DCC-4F5A-E423-1F25-601C24DAD03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177D7AA-9C14-FDC9-722F-DFAA0CC4DC4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7F91355A-AF89-FA07-64D9-8C7089A6D90B}"/>
              </a:ext>
            </a:extLst>
          </p:cNvPr>
          <p:cNvSpPr txBox="1"/>
          <p:nvPr/>
        </p:nvSpPr>
        <p:spPr>
          <a:xfrm>
            <a:off x="415252" y="774373"/>
            <a:ext cx="11385665" cy="5617692"/>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vi-VN" sz="2200" b="1">
                <a:latin typeface="Times New Roman" panose="02020603050405020304" pitchFamily="18" charset="0"/>
                <a:cs typeface="Times New Roman" panose="02020603050405020304" pitchFamily="18" charset="0"/>
              </a:rPr>
              <a:t>Query Parameters</a:t>
            </a:r>
            <a:r>
              <a:rPr lang="vi-VN" sz="2200">
                <a:latin typeface="Times New Roman" panose="02020603050405020304" pitchFamily="18" charset="0"/>
                <a:cs typeface="Times New Roman" panose="02020603050405020304" pitchFamily="18" charset="0"/>
              </a:rPr>
              <a:t> là các cặp key-value xuất hiện ở cuối URL sau dấu chấm hỏi (?).</a:t>
            </a:r>
          </a:p>
          <a:p>
            <a:pPr algn="just">
              <a:lnSpc>
                <a:spcPct val="150000"/>
              </a:lnSpc>
              <a:buFont typeface="Arial" panose="020B0604020202020204" pitchFamily="34" charset="0"/>
              <a:buChar char="•"/>
            </a:pPr>
            <a:r>
              <a:rPr lang="vi-VN" sz="2200" b="1">
                <a:latin typeface="Times New Roman" panose="02020603050405020304" pitchFamily="18" charset="0"/>
                <a:cs typeface="Times New Roman" panose="02020603050405020304" pitchFamily="18" charset="0"/>
              </a:rPr>
              <a:t>Ví dụ:</a:t>
            </a:r>
            <a:r>
              <a:rPr lang="vi-VN" sz="2200">
                <a:latin typeface="Times New Roman" panose="02020603050405020304" pitchFamily="18" charset="0"/>
                <a:cs typeface="Times New Roman" panose="02020603050405020304" pitchFamily="18" charset="0"/>
              </a:rPr>
              <a:t> </a:t>
            </a:r>
            <a:r>
              <a:rPr lang="vi-VN" sz="2200">
                <a:solidFill>
                  <a:srgbClr val="FF0000"/>
                </a:solidFill>
                <a:latin typeface="Times New Roman" panose="02020603050405020304" pitchFamily="18" charset="0"/>
                <a:cs typeface="Times New Roman" panose="02020603050405020304" pitchFamily="18" charset="0"/>
              </a:rPr>
              <a:t>localhost:4200/search</a:t>
            </a:r>
            <a:r>
              <a:rPr lang="en-US" sz="2200">
                <a:solidFill>
                  <a:srgbClr val="FF0000"/>
                </a:solidFill>
                <a:latin typeface="Times New Roman" panose="02020603050405020304" pitchFamily="18" charset="0"/>
                <a:cs typeface="Times New Roman" panose="02020603050405020304" pitchFamily="18" charset="0"/>
              </a:rPr>
              <a:t>product</a:t>
            </a:r>
            <a:r>
              <a:rPr lang="vi-VN" sz="2200">
                <a:solidFill>
                  <a:srgbClr val="FF0000"/>
                </a:solidFill>
                <a:latin typeface="Times New Roman" panose="02020603050405020304" pitchFamily="18" charset="0"/>
                <a:cs typeface="Times New Roman" panose="02020603050405020304" pitchFamily="18" charset="0"/>
              </a:rPr>
              <a:t>?minPrice=100&amp;maxPrice=500</a:t>
            </a:r>
            <a:r>
              <a:rPr lang="en-US" sz="2200">
                <a:latin typeface="Times New Roman" panose="02020603050405020304" pitchFamily="18" charset="0"/>
                <a:cs typeface="Times New Roman" panose="02020603050405020304" pitchFamily="18" charset="0"/>
              </a:rPr>
              <a:t> </a:t>
            </a:r>
            <a:endParaRPr lang="vi-VN" sz="220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vi-VN" sz="2200" b="1">
                <a:latin typeface="Times New Roman" panose="02020603050405020304" pitchFamily="18" charset="0"/>
                <a:cs typeface="Times New Roman" panose="02020603050405020304" pitchFamily="18" charset="0"/>
              </a:rPr>
              <a:t>Đặc điểm:</a:t>
            </a:r>
            <a:endParaRPr lang="vi-VN" sz="2200">
              <a:latin typeface="Times New Roman" panose="02020603050405020304" pitchFamily="18" charset="0"/>
              <a:cs typeface="Times New Roman" panose="02020603050405020304" pitchFamily="18" charset="0"/>
            </a:endParaRPr>
          </a:p>
          <a:p>
            <a:pPr marL="742950" lvl="1" indent="-285750" algn="just">
              <a:lnSpc>
                <a:spcPct val="150000"/>
              </a:lnSpc>
              <a:buFont typeface="Arial" panose="020B0604020202020204" pitchFamily="34" charset="0"/>
              <a:buChar char="•"/>
            </a:pPr>
            <a:r>
              <a:rPr lang="vi-VN" sz="2200" b="1">
                <a:latin typeface="Times New Roman" panose="02020603050405020304" pitchFamily="18" charset="0"/>
                <a:cs typeface="Times New Roman" panose="02020603050405020304" pitchFamily="18" charset="0"/>
              </a:rPr>
              <a:t>Không bắt buộc:</a:t>
            </a:r>
            <a:r>
              <a:rPr lang="vi-VN" sz="2200">
                <a:latin typeface="Times New Roman" panose="02020603050405020304" pitchFamily="18" charset="0"/>
                <a:cs typeface="Times New Roman" panose="02020603050405020304" pitchFamily="18" charset="0"/>
              </a:rPr>
              <a:t> Route vẫn hoạt động bình thường nếu thiếu Query Params.</a:t>
            </a:r>
          </a:p>
          <a:p>
            <a:pPr marL="742950" lvl="1" indent="-285750" algn="just">
              <a:lnSpc>
                <a:spcPct val="150000"/>
              </a:lnSpc>
              <a:buFont typeface="Arial" panose="020B0604020202020204" pitchFamily="34" charset="0"/>
              <a:buChar char="•"/>
            </a:pPr>
            <a:r>
              <a:rPr lang="vi-VN" sz="2200" b="1">
                <a:latin typeface="Times New Roman" panose="02020603050405020304" pitchFamily="18" charset="0"/>
                <a:cs typeface="Times New Roman" panose="02020603050405020304" pitchFamily="18" charset="0"/>
              </a:rPr>
              <a:t>Đa năng:</a:t>
            </a:r>
            <a:r>
              <a:rPr lang="vi-VN" sz="2200">
                <a:latin typeface="Times New Roman" panose="02020603050405020304" pitchFamily="18" charset="0"/>
                <a:cs typeface="Times New Roman" panose="02020603050405020304" pitchFamily="18" charset="0"/>
              </a:rPr>
              <a:t> Có thể truyền cùng lúc nhiều tham số (nối với nhau bằng dấu &amp;).</a:t>
            </a:r>
          </a:p>
          <a:p>
            <a:pPr marL="742950" lvl="1" indent="-285750" algn="just">
              <a:lnSpc>
                <a:spcPct val="150000"/>
              </a:lnSpc>
              <a:buFont typeface="Arial" panose="020B0604020202020204" pitchFamily="34" charset="0"/>
              <a:buChar char="•"/>
            </a:pPr>
            <a:r>
              <a:rPr lang="vi-VN" sz="2200" b="1">
                <a:latin typeface="Times New Roman" panose="02020603050405020304" pitchFamily="18" charset="0"/>
                <a:cs typeface="Times New Roman" panose="02020603050405020304" pitchFamily="18" charset="0"/>
              </a:rPr>
              <a:t>Giữ trạng thái:</a:t>
            </a:r>
            <a:r>
              <a:rPr lang="vi-VN" sz="2200">
                <a:latin typeface="Times New Roman" panose="02020603050405020304" pitchFamily="18" charset="0"/>
                <a:cs typeface="Times New Roman" panose="02020603050405020304" pitchFamily="18" charset="0"/>
              </a:rPr>
              <a:t> Giúp người dùng có thể copy URL đã lọc để gửi cho người khác hoặc lưu vào bookmark.</a:t>
            </a:r>
          </a:p>
          <a:p>
            <a:pPr marL="342900" indent="-342900" algn="just">
              <a:lnSpc>
                <a:spcPct val="150000"/>
              </a:lnSpc>
              <a:buFont typeface="Wingdings" panose="05000000000000000000" pitchFamily="2" charset="2"/>
              <a:buChar char="v"/>
            </a:pPr>
            <a:r>
              <a:rPr lang="vi-VN" sz="2200" b="1">
                <a:latin typeface="Times New Roman" panose="02020603050405020304" pitchFamily="18" charset="0"/>
                <a:cs typeface="Times New Roman" panose="02020603050405020304" pitchFamily="18" charset="0"/>
              </a:rPr>
              <a:t>Các bước xử lý Filtering trong Angular</a:t>
            </a:r>
          </a:p>
          <a:p>
            <a:pPr algn="just">
              <a:lnSpc>
                <a:spcPct val="150000"/>
              </a:lnSpc>
              <a:buFont typeface="+mj-lt"/>
              <a:buAutoNum type="arabicPeriod"/>
            </a:pPr>
            <a:r>
              <a:rPr lang="vi-VN" sz="2200" b="1">
                <a:latin typeface="Times New Roman" panose="02020603050405020304" pitchFamily="18" charset="0"/>
                <a:cs typeface="Times New Roman" panose="02020603050405020304" pitchFamily="18" charset="0"/>
              </a:rPr>
              <a:t>Gửi dữ liệu (Navigation):</a:t>
            </a:r>
            <a:r>
              <a:rPr lang="vi-VN" sz="2200">
                <a:latin typeface="Times New Roman" panose="02020603050405020304" pitchFamily="18" charset="0"/>
                <a:cs typeface="Times New Roman" panose="02020603050405020304" pitchFamily="18" charset="0"/>
              </a:rPr>
              <a:t> Dùng routerLink hoặc router.navigate kèm đối tượng queryParams.</a:t>
            </a:r>
          </a:p>
          <a:p>
            <a:pPr algn="just">
              <a:lnSpc>
                <a:spcPct val="150000"/>
              </a:lnSpc>
              <a:buFont typeface="+mj-lt"/>
              <a:buAutoNum type="arabicPeriod"/>
            </a:pPr>
            <a:r>
              <a:rPr lang="vi-VN" sz="2200" b="1">
                <a:latin typeface="Times New Roman" panose="02020603050405020304" pitchFamily="18" charset="0"/>
                <a:cs typeface="Times New Roman" panose="02020603050405020304" pitchFamily="18" charset="0"/>
              </a:rPr>
              <a:t>Nhận dữ liệu:</a:t>
            </a:r>
            <a:r>
              <a:rPr lang="vi-VN" sz="2200">
                <a:latin typeface="Times New Roman" panose="02020603050405020304" pitchFamily="18" charset="0"/>
                <a:cs typeface="Times New Roman" panose="02020603050405020304" pitchFamily="18" charset="0"/>
              </a:rPr>
              <a:t> Dùng ActivatedRoute để lắng nghe sự thay đổi của queryParamMap.</a:t>
            </a:r>
          </a:p>
          <a:p>
            <a:pPr algn="just">
              <a:lnSpc>
                <a:spcPct val="150000"/>
              </a:lnSpc>
              <a:buFont typeface="+mj-lt"/>
              <a:buAutoNum type="arabicPeriod"/>
            </a:pPr>
            <a:r>
              <a:rPr lang="vi-VN" sz="2200" b="1">
                <a:latin typeface="Times New Roman" panose="02020603050405020304" pitchFamily="18" charset="0"/>
                <a:cs typeface="Times New Roman" panose="02020603050405020304" pitchFamily="18" charset="0"/>
              </a:rPr>
              <a:t>Xử lý Logic:</a:t>
            </a:r>
            <a:r>
              <a:rPr lang="vi-VN" sz="2200">
                <a:latin typeface="Times New Roman" panose="02020603050405020304" pitchFamily="18" charset="0"/>
                <a:cs typeface="Times New Roman" panose="02020603050405020304" pitchFamily="18" charset="0"/>
              </a:rPr>
              <a:t> Dùng kết quả nhận được để lọc mảng dữ liệu gốc.</a:t>
            </a:r>
          </a:p>
        </p:txBody>
      </p:sp>
    </p:spTree>
    <p:extLst>
      <p:ext uri="{BB962C8B-B14F-4D97-AF65-F5344CB8AC3E}">
        <p14:creationId xmlns:p14="http://schemas.microsoft.com/office/powerpoint/2010/main" val="36918496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83CC3E0-FD5E-0048-57EA-4940A059B5B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C115CD5-C88E-31BB-34BE-F40CF65A6BD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CABA4AD-7F32-6EF4-9AA3-123CBDACE58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57</a:t>
            </a:fld>
            <a:endParaRPr/>
          </a:p>
        </p:txBody>
      </p:sp>
      <p:grpSp>
        <p:nvGrpSpPr>
          <p:cNvPr id="2" name="Group 1">
            <a:extLst>
              <a:ext uri="{FF2B5EF4-FFF2-40B4-BE49-F238E27FC236}">
                <a16:creationId xmlns:a16="http://schemas.microsoft.com/office/drawing/2014/main" id="{0F904891-79C6-6335-D164-3C7852C547FF}"/>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6C8F6865-D396-079D-C064-0A4E3BC6552E}"/>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a:t>
              </a:r>
              <a:r>
                <a:rPr lang="en-US" sz="2800">
                  <a:latin typeface="Times New Roman" panose="02020603050405020304" pitchFamily="18" charset="0"/>
                  <a:cs typeface="Times New Roman" panose="02020603050405020304" pitchFamily="18" charset="0"/>
                </a:rPr>
                <a:t>3</a:t>
              </a:r>
              <a:r>
                <a:rPr lang="vi-VN" sz="2800">
                  <a:latin typeface="Times New Roman" panose="02020603050405020304" pitchFamily="18" charset="0"/>
                  <a:cs typeface="Times New Roman" panose="02020603050405020304" pitchFamily="18" charset="0"/>
                </a:rPr>
                <a:t>.</a:t>
              </a:r>
              <a:r>
                <a:rPr lang="en-US" sz="2800">
                  <a:latin typeface="Times New Roman" panose="02020603050405020304" pitchFamily="18" charset="0"/>
                  <a:cs typeface="Times New Roman" panose="02020603050405020304" pitchFamily="18" charset="0"/>
                </a:rPr>
                <a:t>4</a:t>
              </a:r>
              <a:r>
                <a:rPr lang="vi-VN" sz="2800">
                  <a:latin typeface="Times New Roman" panose="02020603050405020304" pitchFamily="18" charset="0"/>
                  <a:cs typeface="Times New Roman" panose="02020603050405020304" pitchFamily="18" charset="0"/>
                </a:rPr>
                <a:t>. Route với </a:t>
              </a:r>
              <a:r>
                <a:rPr lang="en-US" sz="2800">
                  <a:latin typeface="Times New Roman" panose="02020603050405020304" pitchFamily="18" charset="0"/>
                  <a:cs typeface="Times New Roman" panose="02020603050405020304" pitchFamily="18" charset="0"/>
                </a:rPr>
                <a:t>Query Parameters và Filtering</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9030ED8-BB60-A652-C172-DE0E4C4A183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62F6372-456A-F251-7E8D-3B99E171DAF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9587171-FE1F-33DA-79E1-7119FF25709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7E2CB5F-6A67-63F8-0CAE-A3178DC7D7A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5A9F64CC-A4E0-CEBE-8C05-6D70973F67A2}"/>
              </a:ext>
            </a:extLst>
          </p:cNvPr>
          <p:cNvSpPr txBox="1"/>
          <p:nvPr/>
        </p:nvSpPr>
        <p:spPr>
          <a:xfrm>
            <a:off x="415252" y="774373"/>
            <a:ext cx="11385665" cy="539378"/>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200">
                <a:latin typeface="Times New Roman" panose="02020603050405020304" pitchFamily="18" charset="0"/>
                <a:cs typeface="Times New Roman" panose="02020603050405020304" pitchFamily="18" charset="0"/>
              </a:rPr>
              <a:t>Step 1: Tạo </a:t>
            </a:r>
            <a:r>
              <a:rPr lang="vi-VN" sz="2200" b="1">
                <a:latin typeface="Times New Roman" panose="02020603050405020304" pitchFamily="18" charset="0"/>
                <a:cs typeface="Times New Roman" panose="02020603050405020304" pitchFamily="18" charset="0"/>
              </a:rPr>
              <a:t>ProductListSearchComponent</a:t>
            </a:r>
          </a:p>
        </p:txBody>
      </p:sp>
      <p:pic>
        <p:nvPicPr>
          <p:cNvPr id="9" name="Picture 8">
            <a:extLst>
              <a:ext uri="{FF2B5EF4-FFF2-40B4-BE49-F238E27FC236}">
                <a16:creationId xmlns:a16="http://schemas.microsoft.com/office/drawing/2014/main" id="{547EE7BC-9212-D9C0-A9D7-67D4328E88B3}"/>
              </a:ext>
            </a:extLst>
          </p:cNvPr>
          <p:cNvPicPr>
            <a:picLocks noChangeAspect="1"/>
          </p:cNvPicPr>
          <p:nvPr/>
        </p:nvPicPr>
        <p:blipFill>
          <a:blip r:embed="rId3"/>
          <a:stretch>
            <a:fillRect/>
          </a:stretch>
        </p:blipFill>
        <p:spPr>
          <a:xfrm>
            <a:off x="728132" y="1422258"/>
            <a:ext cx="4679085" cy="2423370"/>
          </a:xfrm>
          <a:prstGeom prst="rect">
            <a:avLst/>
          </a:prstGeom>
        </p:spPr>
      </p:pic>
      <p:pic>
        <p:nvPicPr>
          <p:cNvPr id="11" name="Picture 10">
            <a:extLst>
              <a:ext uri="{FF2B5EF4-FFF2-40B4-BE49-F238E27FC236}">
                <a16:creationId xmlns:a16="http://schemas.microsoft.com/office/drawing/2014/main" id="{E79E637E-3BF9-CADF-FE9A-F71D0B0F5CDA}"/>
              </a:ext>
            </a:extLst>
          </p:cNvPr>
          <p:cNvPicPr>
            <a:picLocks noChangeAspect="1"/>
          </p:cNvPicPr>
          <p:nvPr/>
        </p:nvPicPr>
        <p:blipFill>
          <a:blip r:embed="rId4"/>
          <a:stretch>
            <a:fillRect/>
          </a:stretch>
        </p:blipFill>
        <p:spPr>
          <a:xfrm>
            <a:off x="5830213" y="1483489"/>
            <a:ext cx="6005080" cy="769687"/>
          </a:xfrm>
          <a:prstGeom prst="rect">
            <a:avLst/>
          </a:prstGeom>
        </p:spPr>
      </p:pic>
      <p:cxnSp>
        <p:nvCxnSpPr>
          <p:cNvPr id="14" name="Connector: Elbow 13">
            <a:extLst>
              <a:ext uri="{FF2B5EF4-FFF2-40B4-BE49-F238E27FC236}">
                <a16:creationId xmlns:a16="http://schemas.microsoft.com/office/drawing/2014/main" id="{8596ABF2-3C78-5699-01AF-F65F1C1ADE02}"/>
              </a:ext>
            </a:extLst>
          </p:cNvPr>
          <p:cNvCxnSpPr>
            <a:endCxn id="11" idx="2"/>
          </p:cNvCxnSpPr>
          <p:nvPr/>
        </p:nvCxnSpPr>
        <p:spPr>
          <a:xfrm flipV="1">
            <a:off x="4524233" y="2253176"/>
            <a:ext cx="4308520" cy="960872"/>
          </a:xfrm>
          <a:prstGeom prst="bent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9C75F9CE-4DD3-3ED7-19CA-0F61BEC867E2}"/>
              </a:ext>
            </a:extLst>
          </p:cNvPr>
          <p:cNvPicPr>
            <a:picLocks noChangeAspect="1"/>
          </p:cNvPicPr>
          <p:nvPr/>
        </p:nvPicPr>
        <p:blipFill>
          <a:blip r:embed="rId5"/>
          <a:stretch>
            <a:fillRect/>
          </a:stretch>
        </p:blipFill>
        <p:spPr>
          <a:xfrm>
            <a:off x="4991386" y="4153473"/>
            <a:ext cx="7008912" cy="2125493"/>
          </a:xfrm>
          <a:prstGeom prst="rect">
            <a:avLst/>
          </a:prstGeom>
        </p:spPr>
      </p:pic>
      <p:pic>
        <p:nvPicPr>
          <p:cNvPr id="18" name="Picture 17">
            <a:extLst>
              <a:ext uri="{FF2B5EF4-FFF2-40B4-BE49-F238E27FC236}">
                <a16:creationId xmlns:a16="http://schemas.microsoft.com/office/drawing/2014/main" id="{B1067AD2-9427-776B-EBC7-600CA549CDCA}"/>
              </a:ext>
            </a:extLst>
          </p:cNvPr>
          <p:cNvPicPr>
            <a:picLocks noChangeAspect="1"/>
          </p:cNvPicPr>
          <p:nvPr/>
        </p:nvPicPr>
        <p:blipFill>
          <a:blip r:embed="rId6"/>
          <a:stretch>
            <a:fillRect/>
          </a:stretch>
        </p:blipFill>
        <p:spPr>
          <a:xfrm>
            <a:off x="728132" y="3954134"/>
            <a:ext cx="3619814" cy="2423370"/>
          </a:xfrm>
          <a:prstGeom prst="rect">
            <a:avLst/>
          </a:prstGeom>
        </p:spPr>
      </p:pic>
      <p:cxnSp>
        <p:nvCxnSpPr>
          <p:cNvPr id="20" name="Straight Arrow Connector 19">
            <a:extLst>
              <a:ext uri="{FF2B5EF4-FFF2-40B4-BE49-F238E27FC236}">
                <a16:creationId xmlns:a16="http://schemas.microsoft.com/office/drawing/2014/main" id="{F396D28E-51FB-777A-25B8-061BF6312ED2}"/>
              </a:ext>
            </a:extLst>
          </p:cNvPr>
          <p:cNvCxnSpPr/>
          <p:nvPr/>
        </p:nvCxnSpPr>
        <p:spPr>
          <a:xfrm>
            <a:off x="10761260" y="2088107"/>
            <a:ext cx="0" cy="195163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FB6FD21-A6BD-FFE9-1493-1C5ED455F2F8}"/>
              </a:ext>
            </a:extLst>
          </p:cNvPr>
          <p:cNvCxnSpPr/>
          <p:nvPr/>
        </p:nvCxnSpPr>
        <p:spPr>
          <a:xfrm flipH="1">
            <a:off x="4347946" y="5541402"/>
            <a:ext cx="739693"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38419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797A0AC-D549-7AFF-06DD-8FC0DC58025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BBCC657-E54A-F40B-5C9E-AC294C8334B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8099265-49C3-C3C8-D834-ACF5E3C9BB5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58</a:t>
            </a:fld>
            <a:endParaRPr/>
          </a:p>
        </p:txBody>
      </p:sp>
      <p:grpSp>
        <p:nvGrpSpPr>
          <p:cNvPr id="2" name="Group 1">
            <a:extLst>
              <a:ext uri="{FF2B5EF4-FFF2-40B4-BE49-F238E27FC236}">
                <a16:creationId xmlns:a16="http://schemas.microsoft.com/office/drawing/2014/main" id="{B34BC440-DCE3-05EA-204F-FF266B8374EB}"/>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ED4B14A1-7662-0C96-B8A2-0864B4260BA4}"/>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a:t>
              </a:r>
              <a:r>
                <a:rPr lang="en-US" sz="2800">
                  <a:latin typeface="Times New Roman" panose="02020603050405020304" pitchFamily="18" charset="0"/>
                  <a:cs typeface="Times New Roman" panose="02020603050405020304" pitchFamily="18" charset="0"/>
                </a:rPr>
                <a:t>3</a:t>
              </a:r>
              <a:r>
                <a:rPr lang="vi-VN" sz="2800">
                  <a:latin typeface="Times New Roman" panose="02020603050405020304" pitchFamily="18" charset="0"/>
                  <a:cs typeface="Times New Roman" panose="02020603050405020304" pitchFamily="18" charset="0"/>
                </a:rPr>
                <a:t>.</a:t>
              </a:r>
              <a:r>
                <a:rPr lang="en-US" sz="2800">
                  <a:latin typeface="Times New Roman" panose="02020603050405020304" pitchFamily="18" charset="0"/>
                  <a:cs typeface="Times New Roman" panose="02020603050405020304" pitchFamily="18" charset="0"/>
                </a:rPr>
                <a:t>4</a:t>
              </a:r>
              <a:r>
                <a:rPr lang="vi-VN" sz="2800">
                  <a:latin typeface="Times New Roman" panose="02020603050405020304" pitchFamily="18" charset="0"/>
                  <a:cs typeface="Times New Roman" panose="02020603050405020304" pitchFamily="18" charset="0"/>
                </a:rPr>
                <a:t>. Route với </a:t>
              </a:r>
              <a:r>
                <a:rPr lang="en-US" sz="2800">
                  <a:latin typeface="Times New Roman" panose="02020603050405020304" pitchFamily="18" charset="0"/>
                  <a:cs typeface="Times New Roman" panose="02020603050405020304" pitchFamily="18" charset="0"/>
                </a:rPr>
                <a:t>Query Parameters và Filtering</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DEF9FE1-F55E-186F-5589-8A019BFBD58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F923E95-503C-5BCB-53E3-D6B6D654BE6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7E6DADA-CF10-A6B4-AB10-3A3E380BCD1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56A5A7A-DCF9-E32A-C363-A7D6652371A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A7CD066E-910C-AA56-2D22-D02CDD8C4809}"/>
              </a:ext>
            </a:extLst>
          </p:cNvPr>
          <p:cNvSpPr txBox="1"/>
          <p:nvPr/>
        </p:nvSpPr>
        <p:spPr>
          <a:xfrm>
            <a:off x="415252" y="774373"/>
            <a:ext cx="11385665" cy="539378"/>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200">
                <a:latin typeface="Times New Roman" panose="02020603050405020304" pitchFamily="18" charset="0"/>
                <a:cs typeface="Times New Roman" panose="02020603050405020304" pitchFamily="18" charset="0"/>
              </a:rPr>
              <a:t>Step 1: Tạo </a:t>
            </a:r>
            <a:r>
              <a:rPr lang="vi-VN" sz="2200" b="1">
                <a:latin typeface="Times New Roman" panose="02020603050405020304" pitchFamily="18" charset="0"/>
                <a:cs typeface="Times New Roman" panose="02020603050405020304" pitchFamily="18" charset="0"/>
              </a:rPr>
              <a:t>ProductListSearchComponent</a:t>
            </a:r>
          </a:p>
        </p:txBody>
      </p:sp>
      <p:pic>
        <p:nvPicPr>
          <p:cNvPr id="10" name="Picture 9">
            <a:extLst>
              <a:ext uri="{FF2B5EF4-FFF2-40B4-BE49-F238E27FC236}">
                <a16:creationId xmlns:a16="http://schemas.microsoft.com/office/drawing/2014/main" id="{0A633604-67E0-F31E-CEBC-CCFF669F2741}"/>
              </a:ext>
            </a:extLst>
          </p:cNvPr>
          <p:cNvPicPr>
            <a:picLocks noChangeAspect="1"/>
          </p:cNvPicPr>
          <p:nvPr/>
        </p:nvPicPr>
        <p:blipFill>
          <a:blip r:embed="rId3"/>
          <a:stretch>
            <a:fillRect/>
          </a:stretch>
        </p:blipFill>
        <p:spPr>
          <a:xfrm>
            <a:off x="728132" y="1349861"/>
            <a:ext cx="7163421" cy="4991533"/>
          </a:xfrm>
          <a:prstGeom prst="rect">
            <a:avLst/>
          </a:prstGeom>
        </p:spPr>
      </p:pic>
      <p:sp>
        <p:nvSpPr>
          <p:cNvPr id="15" name="TextBox 14">
            <a:extLst>
              <a:ext uri="{FF2B5EF4-FFF2-40B4-BE49-F238E27FC236}">
                <a16:creationId xmlns:a16="http://schemas.microsoft.com/office/drawing/2014/main" id="{00EF437E-E490-9DCB-5FA0-D8F904F0060A}"/>
              </a:ext>
            </a:extLst>
          </p:cNvPr>
          <p:cNvSpPr txBox="1"/>
          <p:nvPr/>
        </p:nvSpPr>
        <p:spPr>
          <a:xfrm>
            <a:off x="7823964" y="2504675"/>
            <a:ext cx="4238045" cy="2123658"/>
          </a:xfrm>
          <a:prstGeom prst="rect">
            <a:avLst/>
          </a:prstGeom>
          <a:noFill/>
        </p:spPr>
        <p:txBody>
          <a:bodyPr wrap="square">
            <a:spAutoFit/>
          </a:bodyPr>
          <a:lstStyle/>
          <a:p>
            <a:r>
              <a:rPr lang="en-US" sz="2200">
                <a:latin typeface="Times New Roman" panose="02020603050405020304" pitchFamily="18" charset="0"/>
                <a:cs typeface="Times New Roman" panose="02020603050405020304" pitchFamily="18" charset="0"/>
              </a:rPr>
              <a:t>Vẫn sử dụng:</a:t>
            </a:r>
          </a:p>
          <a:p>
            <a:r>
              <a:rPr lang="en-US" sz="2200" b="1">
                <a:latin typeface="Times New Roman" panose="02020603050405020304" pitchFamily="18" charset="0"/>
                <a:cs typeface="Times New Roman" panose="02020603050405020304" pitchFamily="18" charset="0"/>
              </a:rPr>
              <a:t>ProductHttpHandleErrorService</a:t>
            </a:r>
          </a:p>
          <a:p>
            <a:r>
              <a:rPr lang="en-US" sz="2200">
                <a:latin typeface="Times New Roman" panose="02020603050405020304" pitchFamily="18" charset="0"/>
                <a:cs typeface="Times New Roman" panose="02020603050405020304" pitchFamily="18" charset="0"/>
              </a:rPr>
              <a:t>Để nạp dữ liệu</a:t>
            </a:r>
          </a:p>
          <a:p>
            <a:endParaRPr lang="en-US" sz="2200" b="1">
              <a:latin typeface="Times New Roman" panose="02020603050405020304" pitchFamily="18" charset="0"/>
              <a:cs typeface="Times New Roman" panose="02020603050405020304" pitchFamily="18" charset="0"/>
            </a:endParaRPr>
          </a:p>
          <a:p>
            <a:r>
              <a:rPr lang="en-US" sz="2200" b="1">
                <a:latin typeface="Times New Roman" panose="02020603050405020304" pitchFamily="18" charset="0"/>
                <a:cs typeface="Times New Roman" panose="02020603050405020304" pitchFamily="18" charset="0"/>
              </a:rPr>
              <a:t>Router, ActivatedRoute </a:t>
            </a:r>
            <a:r>
              <a:rPr lang="en-US" sz="2200">
                <a:latin typeface="Times New Roman" panose="02020603050405020304" pitchFamily="18" charset="0"/>
                <a:cs typeface="Times New Roman" panose="02020603050405020304" pitchFamily="18" charset="0"/>
              </a:rPr>
              <a:t>để điều hướng và đọc dữ liệu Parameters</a:t>
            </a:r>
          </a:p>
        </p:txBody>
      </p:sp>
    </p:spTree>
    <p:extLst>
      <p:ext uri="{BB962C8B-B14F-4D97-AF65-F5344CB8AC3E}">
        <p14:creationId xmlns:p14="http://schemas.microsoft.com/office/powerpoint/2010/main" val="99231021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E9B8432-691D-DF1A-947F-9F7F1CD190D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0551D57-413C-A48B-8130-C0363652B2A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2DE8CFF-B8BB-18FE-DD86-06685ACAE1A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59</a:t>
            </a:fld>
            <a:endParaRPr/>
          </a:p>
        </p:txBody>
      </p:sp>
      <p:grpSp>
        <p:nvGrpSpPr>
          <p:cNvPr id="2" name="Group 1">
            <a:extLst>
              <a:ext uri="{FF2B5EF4-FFF2-40B4-BE49-F238E27FC236}">
                <a16:creationId xmlns:a16="http://schemas.microsoft.com/office/drawing/2014/main" id="{7F284434-F368-019C-6463-2B07033C9623}"/>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4705245C-82A4-3A0A-C615-1BD02185F8C3}"/>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a:t>
              </a:r>
              <a:r>
                <a:rPr lang="en-US" sz="2800">
                  <a:latin typeface="Times New Roman" panose="02020603050405020304" pitchFamily="18" charset="0"/>
                  <a:cs typeface="Times New Roman" panose="02020603050405020304" pitchFamily="18" charset="0"/>
                </a:rPr>
                <a:t>3</a:t>
              </a:r>
              <a:r>
                <a:rPr lang="vi-VN" sz="2800">
                  <a:latin typeface="Times New Roman" panose="02020603050405020304" pitchFamily="18" charset="0"/>
                  <a:cs typeface="Times New Roman" panose="02020603050405020304" pitchFamily="18" charset="0"/>
                </a:rPr>
                <a:t>.</a:t>
              </a:r>
              <a:r>
                <a:rPr lang="en-US" sz="2800">
                  <a:latin typeface="Times New Roman" panose="02020603050405020304" pitchFamily="18" charset="0"/>
                  <a:cs typeface="Times New Roman" panose="02020603050405020304" pitchFamily="18" charset="0"/>
                </a:rPr>
                <a:t>4</a:t>
              </a:r>
              <a:r>
                <a:rPr lang="vi-VN" sz="2800">
                  <a:latin typeface="Times New Roman" panose="02020603050405020304" pitchFamily="18" charset="0"/>
                  <a:cs typeface="Times New Roman" panose="02020603050405020304" pitchFamily="18" charset="0"/>
                </a:rPr>
                <a:t>. Route với </a:t>
              </a:r>
              <a:r>
                <a:rPr lang="en-US" sz="2800">
                  <a:latin typeface="Times New Roman" panose="02020603050405020304" pitchFamily="18" charset="0"/>
                  <a:cs typeface="Times New Roman" panose="02020603050405020304" pitchFamily="18" charset="0"/>
                </a:rPr>
                <a:t>Query Parameters và Filtering</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43619ED-DA27-8B59-0A7A-10460F7E869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A066D63-C0B6-243E-7E97-A36FD095B80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720DCC4-DC76-2C22-AD98-F2DF50DE592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218C145-A3B6-377C-DD23-C4A35CA4921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5B78BA5F-9E74-064F-A11C-A84646DD8643}"/>
              </a:ext>
            </a:extLst>
          </p:cNvPr>
          <p:cNvSpPr txBox="1"/>
          <p:nvPr/>
        </p:nvSpPr>
        <p:spPr>
          <a:xfrm>
            <a:off x="415252" y="737075"/>
            <a:ext cx="11385665" cy="539378"/>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200">
                <a:latin typeface="Times New Roman" panose="02020603050405020304" pitchFamily="18" charset="0"/>
                <a:cs typeface="Times New Roman" panose="02020603050405020304" pitchFamily="18" charset="0"/>
              </a:rPr>
              <a:t>Step 2: product-list-search-component.ts</a:t>
            </a:r>
            <a:endParaRPr lang="vi-VN" sz="22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3B3D3444-279A-C7B4-8061-95BA552DA1B9}"/>
              </a:ext>
            </a:extLst>
          </p:cNvPr>
          <p:cNvPicPr>
            <a:picLocks noChangeAspect="1"/>
          </p:cNvPicPr>
          <p:nvPr/>
        </p:nvPicPr>
        <p:blipFill>
          <a:blip r:embed="rId3"/>
          <a:stretch>
            <a:fillRect/>
          </a:stretch>
        </p:blipFill>
        <p:spPr>
          <a:xfrm>
            <a:off x="728132" y="1276453"/>
            <a:ext cx="8135696" cy="4960037"/>
          </a:xfrm>
          <a:prstGeom prst="rect">
            <a:avLst/>
          </a:prstGeom>
        </p:spPr>
      </p:pic>
    </p:spTree>
    <p:extLst>
      <p:ext uri="{BB962C8B-B14F-4D97-AF65-F5344CB8AC3E}">
        <p14:creationId xmlns:p14="http://schemas.microsoft.com/office/powerpoint/2010/main" val="13382679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7AAFECA-F2C7-7306-AA12-4B331A7DEED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EC23825-2AA0-3B9B-0DD7-21C2D98752C7}"/>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6218430-6A4D-B82A-56FC-0DEA2C31F5F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60</a:t>
            </a:fld>
            <a:endParaRPr/>
          </a:p>
        </p:txBody>
      </p:sp>
      <p:grpSp>
        <p:nvGrpSpPr>
          <p:cNvPr id="2" name="Group 1">
            <a:extLst>
              <a:ext uri="{FF2B5EF4-FFF2-40B4-BE49-F238E27FC236}">
                <a16:creationId xmlns:a16="http://schemas.microsoft.com/office/drawing/2014/main" id="{F19D378D-E9C9-3E82-CCE9-25DE7E1CDEEB}"/>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6A6DF8AF-1D2E-DDB3-25AA-7BBD9A566A0C}"/>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a:t>
              </a:r>
              <a:r>
                <a:rPr lang="en-US" sz="2800">
                  <a:latin typeface="Times New Roman" panose="02020603050405020304" pitchFamily="18" charset="0"/>
                  <a:cs typeface="Times New Roman" panose="02020603050405020304" pitchFamily="18" charset="0"/>
                </a:rPr>
                <a:t>3</a:t>
              </a:r>
              <a:r>
                <a:rPr lang="vi-VN" sz="2800">
                  <a:latin typeface="Times New Roman" panose="02020603050405020304" pitchFamily="18" charset="0"/>
                  <a:cs typeface="Times New Roman" panose="02020603050405020304" pitchFamily="18" charset="0"/>
                </a:rPr>
                <a:t>.</a:t>
              </a:r>
              <a:r>
                <a:rPr lang="en-US" sz="2800">
                  <a:latin typeface="Times New Roman" panose="02020603050405020304" pitchFamily="18" charset="0"/>
                  <a:cs typeface="Times New Roman" panose="02020603050405020304" pitchFamily="18" charset="0"/>
                </a:rPr>
                <a:t>4</a:t>
              </a:r>
              <a:r>
                <a:rPr lang="vi-VN" sz="2800">
                  <a:latin typeface="Times New Roman" panose="02020603050405020304" pitchFamily="18" charset="0"/>
                  <a:cs typeface="Times New Roman" panose="02020603050405020304" pitchFamily="18" charset="0"/>
                </a:rPr>
                <a:t>. Route với </a:t>
              </a:r>
              <a:r>
                <a:rPr lang="en-US" sz="2800">
                  <a:latin typeface="Times New Roman" panose="02020603050405020304" pitchFamily="18" charset="0"/>
                  <a:cs typeface="Times New Roman" panose="02020603050405020304" pitchFamily="18" charset="0"/>
                </a:rPr>
                <a:t>Query Parameters và Filtering</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4EC1C73-6024-EA08-8625-ED875A08A35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67AE1E6-B2B9-53D1-99D3-0E05B38E943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90EED4B-AF21-D45B-9F5C-FF15E25FF4D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D8D2D16-9F47-C3FA-300A-E412C242D55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9" name="Picture 8">
            <a:extLst>
              <a:ext uri="{FF2B5EF4-FFF2-40B4-BE49-F238E27FC236}">
                <a16:creationId xmlns:a16="http://schemas.microsoft.com/office/drawing/2014/main" id="{5AF7EC01-9902-CB5E-14C4-04C4C643B4B7}"/>
              </a:ext>
            </a:extLst>
          </p:cNvPr>
          <p:cNvPicPr>
            <a:picLocks noChangeAspect="1"/>
          </p:cNvPicPr>
          <p:nvPr/>
        </p:nvPicPr>
        <p:blipFill>
          <a:blip r:embed="rId3"/>
          <a:stretch>
            <a:fillRect/>
          </a:stretch>
        </p:blipFill>
        <p:spPr>
          <a:xfrm>
            <a:off x="564686" y="824362"/>
            <a:ext cx="7225196" cy="5608004"/>
          </a:xfrm>
          <a:prstGeom prst="rect">
            <a:avLst/>
          </a:prstGeom>
        </p:spPr>
      </p:pic>
    </p:spTree>
    <p:extLst>
      <p:ext uri="{BB962C8B-B14F-4D97-AF65-F5344CB8AC3E}">
        <p14:creationId xmlns:p14="http://schemas.microsoft.com/office/powerpoint/2010/main" val="23904544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0C5747C-D434-4890-2016-B53A198D6A1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08D9FE2A-8C90-68DC-AB55-BFE69B8B763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0D68D7F-9C73-6026-DD2A-75055314721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61</a:t>
            </a:fld>
            <a:endParaRPr/>
          </a:p>
        </p:txBody>
      </p:sp>
      <p:grpSp>
        <p:nvGrpSpPr>
          <p:cNvPr id="2" name="Group 1">
            <a:extLst>
              <a:ext uri="{FF2B5EF4-FFF2-40B4-BE49-F238E27FC236}">
                <a16:creationId xmlns:a16="http://schemas.microsoft.com/office/drawing/2014/main" id="{E0246979-575E-4252-D3DD-0C7D10E3AA09}"/>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908C5A06-5309-F9C0-2D5C-B358DA35FEF7}"/>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a:t>
              </a:r>
              <a:r>
                <a:rPr lang="en-US" sz="2800">
                  <a:latin typeface="Times New Roman" panose="02020603050405020304" pitchFamily="18" charset="0"/>
                  <a:cs typeface="Times New Roman" panose="02020603050405020304" pitchFamily="18" charset="0"/>
                </a:rPr>
                <a:t>3</a:t>
              </a:r>
              <a:r>
                <a:rPr lang="vi-VN" sz="2800">
                  <a:latin typeface="Times New Roman" panose="02020603050405020304" pitchFamily="18" charset="0"/>
                  <a:cs typeface="Times New Roman" panose="02020603050405020304" pitchFamily="18" charset="0"/>
                </a:rPr>
                <a:t>.</a:t>
              </a:r>
              <a:r>
                <a:rPr lang="en-US" sz="2800">
                  <a:latin typeface="Times New Roman" panose="02020603050405020304" pitchFamily="18" charset="0"/>
                  <a:cs typeface="Times New Roman" panose="02020603050405020304" pitchFamily="18" charset="0"/>
                </a:rPr>
                <a:t>4</a:t>
              </a:r>
              <a:r>
                <a:rPr lang="vi-VN" sz="2800">
                  <a:latin typeface="Times New Roman" panose="02020603050405020304" pitchFamily="18" charset="0"/>
                  <a:cs typeface="Times New Roman" panose="02020603050405020304" pitchFamily="18" charset="0"/>
                </a:rPr>
                <a:t>. Route với </a:t>
              </a:r>
              <a:r>
                <a:rPr lang="en-US" sz="2800">
                  <a:latin typeface="Times New Roman" panose="02020603050405020304" pitchFamily="18" charset="0"/>
                  <a:cs typeface="Times New Roman" panose="02020603050405020304" pitchFamily="18" charset="0"/>
                </a:rPr>
                <a:t>Query Parameters và Filtering</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631AFB8-7CC4-C8F2-A9ED-E78CFC1D9B1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F0C128E-5B50-B4E0-FBC1-2CBED1C8A48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BF8CB7B-C847-2BCB-70F4-8FC36D67E38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C444064-3C62-36FA-A374-528FC2FCB8E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0" name="Picture 9">
            <a:extLst>
              <a:ext uri="{FF2B5EF4-FFF2-40B4-BE49-F238E27FC236}">
                <a16:creationId xmlns:a16="http://schemas.microsoft.com/office/drawing/2014/main" id="{6D179164-6A55-610D-1D18-E729F63109C9}"/>
              </a:ext>
            </a:extLst>
          </p:cNvPr>
          <p:cNvPicPr>
            <a:picLocks noChangeAspect="1"/>
          </p:cNvPicPr>
          <p:nvPr/>
        </p:nvPicPr>
        <p:blipFill>
          <a:blip r:embed="rId3"/>
          <a:stretch>
            <a:fillRect/>
          </a:stretch>
        </p:blipFill>
        <p:spPr>
          <a:xfrm>
            <a:off x="564686" y="834298"/>
            <a:ext cx="6827683" cy="5289739"/>
          </a:xfrm>
          <a:prstGeom prst="rect">
            <a:avLst/>
          </a:prstGeom>
        </p:spPr>
      </p:pic>
    </p:spTree>
    <p:extLst>
      <p:ext uri="{BB962C8B-B14F-4D97-AF65-F5344CB8AC3E}">
        <p14:creationId xmlns:p14="http://schemas.microsoft.com/office/powerpoint/2010/main" val="39420441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5A5F03B-E9BB-5681-23EF-10C35DE47F4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8A8510C-875B-8714-F9C5-61795AD64C8C}"/>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0846A93-EBD7-9267-82C3-A517F2CE0AA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62</a:t>
            </a:fld>
            <a:endParaRPr/>
          </a:p>
        </p:txBody>
      </p:sp>
      <p:grpSp>
        <p:nvGrpSpPr>
          <p:cNvPr id="2" name="Group 1">
            <a:extLst>
              <a:ext uri="{FF2B5EF4-FFF2-40B4-BE49-F238E27FC236}">
                <a16:creationId xmlns:a16="http://schemas.microsoft.com/office/drawing/2014/main" id="{1377A931-E5C6-0BD2-914F-FB7216DE6B80}"/>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FC2B163B-7111-FBE8-D929-7BE1D695826D}"/>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a:t>
              </a:r>
              <a:r>
                <a:rPr lang="en-US" sz="2800">
                  <a:latin typeface="Times New Roman" panose="02020603050405020304" pitchFamily="18" charset="0"/>
                  <a:cs typeface="Times New Roman" panose="02020603050405020304" pitchFamily="18" charset="0"/>
                </a:rPr>
                <a:t>3</a:t>
              </a:r>
              <a:r>
                <a:rPr lang="vi-VN" sz="2800">
                  <a:latin typeface="Times New Roman" panose="02020603050405020304" pitchFamily="18" charset="0"/>
                  <a:cs typeface="Times New Roman" panose="02020603050405020304" pitchFamily="18" charset="0"/>
                </a:rPr>
                <a:t>.</a:t>
              </a:r>
              <a:r>
                <a:rPr lang="en-US" sz="2800">
                  <a:latin typeface="Times New Roman" panose="02020603050405020304" pitchFamily="18" charset="0"/>
                  <a:cs typeface="Times New Roman" panose="02020603050405020304" pitchFamily="18" charset="0"/>
                </a:rPr>
                <a:t>4</a:t>
              </a:r>
              <a:r>
                <a:rPr lang="vi-VN" sz="2800">
                  <a:latin typeface="Times New Roman" panose="02020603050405020304" pitchFamily="18" charset="0"/>
                  <a:cs typeface="Times New Roman" panose="02020603050405020304" pitchFamily="18" charset="0"/>
                </a:rPr>
                <a:t>. Route với </a:t>
              </a:r>
              <a:r>
                <a:rPr lang="en-US" sz="2800">
                  <a:latin typeface="Times New Roman" panose="02020603050405020304" pitchFamily="18" charset="0"/>
                  <a:cs typeface="Times New Roman" panose="02020603050405020304" pitchFamily="18" charset="0"/>
                </a:rPr>
                <a:t>Query Parameters và Filtering</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91177EA-3F3C-7A3B-C641-FB05766AD9E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70C9391-8C5D-EB37-DEBF-519235775F7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8C39796-BC7A-E2EB-377E-B71B1FFC1D4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54E8487-BBD8-BFA3-2E05-36DA6D4354B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9EB968AA-F209-117D-4228-B99975DBDE63}"/>
              </a:ext>
            </a:extLst>
          </p:cNvPr>
          <p:cNvSpPr txBox="1"/>
          <p:nvPr/>
        </p:nvSpPr>
        <p:spPr>
          <a:xfrm>
            <a:off x="415252" y="737075"/>
            <a:ext cx="11385665" cy="539378"/>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200">
                <a:latin typeface="Times New Roman" panose="02020603050405020304" pitchFamily="18" charset="0"/>
                <a:cs typeface="Times New Roman" panose="02020603050405020304" pitchFamily="18" charset="0"/>
              </a:rPr>
              <a:t>Step 3: product-list-search-component.html</a:t>
            </a:r>
            <a:endParaRPr lang="vi-VN" sz="2200" b="1">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8D6EDEDF-F447-E256-52DA-64CF424E06D2}"/>
              </a:ext>
            </a:extLst>
          </p:cNvPr>
          <p:cNvPicPr>
            <a:picLocks noChangeAspect="1"/>
          </p:cNvPicPr>
          <p:nvPr/>
        </p:nvPicPr>
        <p:blipFill>
          <a:blip r:embed="rId3"/>
          <a:stretch>
            <a:fillRect/>
          </a:stretch>
        </p:blipFill>
        <p:spPr>
          <a:xfrm>
            <a:off x="610433" y="1245075"/>
            <a:ext cx="5772597" cy="5102096"/>
          </a:xfrm>
          <a:prstGeom prst="rect">
            <a:avLst/>
          </a:prstGeom>
        </p:spPr>
      </p:pic>
    </p:spTree>
    <p:extLst>
      <p:ext uri="{BB962C8B-B14F-4D97-AF65-F5344CB8AC3E}">
        <p14:creationId xmlns:p14="http://schemas.microsoft.com/office/powerpoint/2010/main" val="31818461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64A9D16-E907-B17D-30A7-678F2A0D0CA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AFBE6F3-072C-D504-833D-2DAEE6B1303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F65BBC5-7718-E840-BF22-C011276E84E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63</a:t>
            </a:fld>
            <a:endParaRPr/>
          </a:p>
        </p:txBody>
      </p:sp>
      <p:grpSp>
        <p:nvGrpSpPr>
          <p:cNvPr id="2" name="Group 1">
            <a:extLst>
              <a:ext uri="{FF2B5EF4-FFF2-40B4-BE49-F238E27FC236}">
                <a16:creationId xmlns:a16="http://schemas.microsoft.com/office/drawing/2014/main" id="{875BE391-3E92-30A9-5893-03F0183245D1}"/>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362DEE6E-98AB-5FFE-64A7-949652A9F895}"/>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a:t>
              </a:r>
              <a:r>
                <a:rPr lang="en-US" sz="2800">
                  <a:latin typeface="Times New Roman" panose="02020603050405020304" pitchFamily="18" charset="0"/>
                  <a:cs typeface="Times New Roman" panose="02020603050405020304" pitchFamily="18" charset="0"/>
                </a:rPr>
                <a:t>3</a:t>
              </a:r>
              <a:r>
                <a:rPr lang="vi-VN" sz="2800">
                  <a:latin typeface="Times New Roman" panose="02020603050405020304" pitchFamily="18" charset="0"/>
                  <a:cs typeface="Times New Roman" panose="02020603050405020304" pitchFamily="18" charset="0"/>
                </a:rPr>
                <a:t>.</a:t>
              </a:r>
              <a:r>
                <a:rPr lang="en-US" sz="2800">
                  <a:latin typeface="Times New Roman" panose="02020603050405020304" pitchFamily="18" charset="0"/>
                  <a:cs typeface="Times New Roman" panose="02020603050405020304" pitchFamily="18" charset="0"/>
                </a:rPr>
                <a:t>4</a:t>
              </a:r>
              <a:r>
                <a:rPr lang="vi-VN" sz="2800">
                  <a:latin typeface="Times New Roman" panose="02020603050405020304" pitchFamily="18" charset="0"/>
                  <a:cs typeface="Times New Roman" panose="02020603050405020304" pitchFamily="18" charset="0"/>
                </a:rPr>
                <a:t>. Route với </a:t>
              </a:r>
              <a:r>
                <a:rPr lang="en-US" sz="2800">
                  <a:latin typeface="Times New Roman" panose="02020603050405020304" pitchFamily="18" charset="0"/>
                  <a:cs typeface="Times New Roman" panose="02020603050405020304" pitchFamily="18" charset="0"/>
                </a:rPr>
                <a:t>Query Parameters và Filtering</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F1186E0-D4DE-D369-C960-967E8778C68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A85A09A-D8BE-A12A-D499-9ED87017938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56E0F98-740D-02CF-25EC-5F9AE358488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3676B8B-6EB8-B150-04C1-6FAEFFAD49C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2390C6BA-A511-6D90-B6E8-5D179065CD55}"/>
              </a:ext>
            </a:extLst>
          </p:cNvPr>
          <p:cNvSpPr txBox="1"/>
          <p:nvPr/>
        </p:nvSpPr>
        <p:spPr>
          <a:xfrm>
            <a:off x="415252" y="737075"/>
            <a:ext cx="11385665" cy="539378"/>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200">
                <a:latin typeface="Times New Roman" panose="02020603050405020304" pitchFamily="18" charset="0"/>
                <a:cs typeface="Times New Roman" panose="02020603050405020304" pitchFamily="18" charset="0"/>
              </a:rPr>
              <a:t>Step 3: product-list-search-component.html</a:t>
            </a:r>
            <a:endParaRPr lang="vi-VN" sz="22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82933A63-8B31-192D-234B-9D466D2F2B13}"/>
              </a:ext>
            </a:extLst>
          </p:cNvPr>
          <p:cNvPicPr>
            <a:picLocks noChangeAspect="1"/>
          </p:cNvPicPr>
          <p:nvPr/>
        </p:nvPicPr>
        <p:blipFill>
          <a:blip r:embed="rId3"/>
          <a:stretch>
            <a:fillRect/>
          </a:stretch>
        </p:blipFill>
        <p:spPr>
          <a:xfrm>
            <a:off x="564686" y="1276453"/>
            <a:ext cx="5425067" cy="5101051"/>
          </a:xfrm>
          <a:prstGeom prst="rect">
            <a:avLst/>
          </a:prstGeom>
        </p:spPr>
      </p:pic>
    </p:spTree>
    <p:extLst>
      <p:ext uri="{BB962C8B-B14F-4D97-AF65-F5344CB8AC3E}">
        <p14:creationId xmlns:p14="http://schemas.microsoft.com/office/powerpoint/2010/main" val="410058455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64866EC-0F90-B0D7-EBF5-76B780F0132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DEC60BD-AFD4-5DD4-5F99-64A5A9C05D0C}"/>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9F63BA9-ABA4-ABCA-BD8C-ECC6D4A21B1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64</a:t>
            </a:fld>
            <a:endParaRPr/>
          </a:p>
        </p:txBody>
      </p:sp>
      <p:grpSp>
        <p:nvGrpSpPr>
          <p:cNvPr id="2" name="Group 1">
            <a:extLst>
              <a:ext uri="{FF2B5EF4-FFF2-40B4-BE49-F238E27FC236}">
                <a16:creationId xmlns:a16="http://schemas.microsoft.com/office/drawing/2014/main" id="{528494B8-592D-58B1-56AB-050F8F007551}"/>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B45C7B70-4D6E-728E-4C00-4BFE16E60E8A}"/>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a:t>
              </a:r>
              <a:r>
                <a:rPr lang="en-US" sz="2800">
                  <a:latin typeface="Times New Roman" panose="02020603050405020304" pitchFamily="18" charset="0"/>
                  <a:cs typeface="Times New Roman" panose="02020603050405020304" pitchFamily="18" charset="0"/>
                </a:rPr>
                <a:t>3</a:t>
              </a:r>
              <a:r>
                <a:rPr lang="vi-VN" sz="2800">
                  <a:latin typeface="Times New Roman" panose="02020603050405020304" pitchFamily="18" charset="0"/>
                  <a:cs typeface="Times New Roman" panose="02020603050405020304" pitchFamily="18" charset="0"/>
                </a:rPr>
                <a:t>.</a:t>
              </a:r>
              <a:r>
                <a:rPr lang="en-US" sz="2800">
                  <a:latin typeface="Times New Roman" panose="02020603050405020304" pitchFamily="18" charset="0"/>
                  <a:cs typeface="Times New Roman" panose="02020603050405020304" pitchFamily="18" charset="0"/>
                </a:rPr>
                <a:t>4</a:t>
              </a:r>
              <a:r>
                <a:rPr lang="vi-VN" sz="2800">
                  <a:latin typeface="Times New Roman" panose="02020603050405020304" pitchFamily="18" charset="0"/>
                  <a:cs typeface="Times New Roman" panose="02020603050405020304" pitchFamily="18" charset="0"/>
                </a:rPr>
                <a:t>. Route với </a:t>
              </a:r>
              <a:r>
                <a:rPr lang="en-US" sz="2800">
                  <a:latin typeface="Times New Roman" panose="02020603050405020304" pitchFamily="18" charset="0"/>
                  <a:cs typeface="Times New Roman" panose="02020603050405020304" pitchFamily="18" charset="0"/>
                </a:rPr>
                <a:t>Query Parameters và Filtering</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F9458FA-F739-F3C7-63A7-892D59D1196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8EA6168-A99E-8058-1FF3-55D04F5316A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6777965-4949-79E7-118F-3984A72E357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A6FDAE2-E3B5-25D6-9AEB-77541964A4C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2FC2142D-110C-577B-0BC5-7E2F5B3B8354}"/>
              </a:ext>
            </a:extLst>
          </p:cNvPr>
          <p:cNvSpPr txBox="1"/>
          <p:nvPr/>
        </p:nvSpPr>
        <p:spPr>
          <a:xfrm>
            <a:off x="415252" y="737075"/>
            <a:ext cx="11385665" cy="539378"/>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200">
                <a:latin typeface="Times New Roman" panose="02020603050405020304" pitchFamily="18" charset="0"/>
                <a:cs typeface="Times New Roman" panose="02020603050405020304" pitchFamily="18" charset="0"/>
              </a:rPr>
              <a:t>Step 4: app-routing-module.ts</a:t>
            </a:r>
            <a:endParaRPr lang="vi-VN" sz="2200" b="1">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499323DE-7BE9-9F14-6A27-76FA6ADC576C}"/>
              </a:ext>
            </a:extLst>
          </p:cNvPr>
          <p:cNvPicPr>
            <a:picLocks noChangeAspect="1"/>
          </p:cNvPicPr>
          <p:nvPr/>
        </p:nvPicPr>
        <p:blipFill>
          <a:blip r:embed="rId3"/>
          <a:srcRect b="25422"/>
          <a:stretch>
            <a:fillRect/>
          </a:stretch>
        </p:blipFill>
        <p:spPr>
          <a:xfrm>
            <a:off x="564686" y="1257282"/>
            <a:ext cx="9266664" cy="5114544"/>
          </a:xfrm>
          <a:prstGeom prst="rect">
            <a:avLst/>
          </a:prstGeom>
        </p:spPr>
      </p:pic>
      <p:sp>
        <p:nvSpPr>
          <p:cNvPr id="12" name="Rectangle 11">
            <a:extLst>
              <a:ext uri="{FF2B5EF4-FFF2-40B4-BE49-F238E27FC236}">
                <a16:creationId xmlns:a16="http://schemas.microsoft.com/office/drawing/2014/main" id="{3A5283C3-30ED-B5D3-F118-240288E7DF7A}"/>
              </a:ext>
            </a:extLst>
          </p:cNvPr>
          <p:cNvSpPr/>
          <p:nvPr/>
        </p:nvSpPr>
        <p:spPr>
          <a:xfrm>
            <a:off x="728132" y="5708071"/>
            <a:ext cx="8960813" cy="3048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699941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E0861C0-F953-94DC-CB01-9F4B0189799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D39F1B90-8CA2-A9B3-5622-5B9E132BB87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477B6EA-5F61-C602-600D-A5728D81951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65</a:t>
            </a:fld>
            <a:endParaRPr/>
          </a:p>
        </p:txBody>
      </p:sp>
      <p:grpSp>
        <p:nvGrpSpPr>
          <p:cNvPr id="2" name="Group 1">
            <a:extLst>
              <a:ext uri="{FF2B5EF4-FFF2-40B4-BE49-F238E27FC236}">
                <a16:creationId xmlns:a16="http://schemas.microsoft.com/office/drawing/2014/main" id="{851E0D36-2C65-31F8-4776-4F228AAC1969}"/>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36F4882C-48BB-D023-A9C1-0C8D6B4DC221}"/>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a:t>
              </a:r>
              <a:r>
                <a:rPr lang="en-US" sz="2800">
                  <a:latin typeface="Times New Roman" panose="02020603050405020304" pitchFamily="18" charset="0"/>
                  <a:cs typeface="Times New Roman" panose="02020603050405020304" pitchFamily="18" charset="0"/>
                </a:rPr>
                <a:t>3</a:t>
              </a:r>
              <a:r>
                <a:rPr lang="vi-VN" sz="2800">
                  <a:latin typeface="Times New Roman" panose="02020603050405020304" pitchFamily="18" charset="0"/>
                  <a:cs typeface="Times New Roman" panose="02020603050405020304" pitchFamily="18" charset="0"/>
                </a:rPr>
                <a:t>.</a:t>
              </a:r>
              <a:r>
                <a:rPr lang="en-US" sz="2800">
                  <a:latin typeface="Times New Roman" panose="02020603050405020304" pitchFamily="18" charset="0"/>
                  <a:cs typeface="Times New Roman" panose="02020603050405020304" pitchFamily="18" charset="0"/>
                </a:rPr>
                <a:t>4</a:t>
              </a:r>
              <a:r>
                <a:rPr lang="vi-VN" sz="2800">
                  <a:latin typeface="Times New Roman" panose="02020603050405020304" pitchFamily="18" charset="0"/>
                  <a:cs typeface="Times New Roman" panose="02020603050405020304" pitchFamily="18" charset="0"/>
                </a:rPr>
                <a:t>. Route với </a:t>
              </a:r>
              <a:r>
                <a:rPr lang="en-US" sz="2800">
                  <a:latin typeface="Times New Roman" panose="02020603050405020304" pitchFamily="18" charset="0"/>
                  <a:cs typeface="Times New Roman" panose="02020603050405020304" pitchFamily="18" charset="0"/>
                </a:rPr>
                <a:t>Query Parameters và Filtering</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74DBFF7-EF51-568D-A836-72303A73523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7603DCD-6B7E-3D7A-F8A1-044039F024D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DC8A61B-0B2D-18E9-DFE8-AE1242D68A5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457400B-964A-AEA0-0548-F3AB87A8550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475766C0-85D8-A3C0-BD87-F00845B2A59D}"/>
              </a:ext>
            </a:extLst>
          </p:cNvPr>
          <p:cNvSpPr txBox="1"/>
          <p:nvPr/>
        </p:nvSpPr>
        <p:spPr>
          <a:xfrm>
            <a:off x="415252" y="737075"/>
            <a:ext cx="11385665" cy="539378"/>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200">
                <a:latin typeface="Times New Roman" panose="02020603050405020304" pitchFamily="18" charset="0"/>
                <a:cs typeface="Times New Roman" panose="02020603050405020304" pitchFamily="18" charset="0"/>
              </a:rPr>
              <a:t>Step 5: app.html</a:t>
            </a:r>
            <a:endParaRPr lang="vi-VN" sz="22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ABA605FB-1202-4616-5853-064467AEB9F0}"/>
              </a:ext>
            </a:extLst>
          </p:cNvPr>
          <p:cNvPicPr>
            <a:picLocks noChangeAspect="1"/>
          </p:cNvPicPr>
          <p:nvPr/>
        </p:nvPicPr>
        <p:blipFill>
          <a:blip r:embed="rId3"/>
          <a:stretch>
            <a:fillRect/>
          </a:stretch>
        </p:blipFill>
        <p:spPr>
          <a:xfrm>
            <a:off x="1578348" y="1431970"/>
            <a:ext cx="8702794" cy="3711262"/>
          </a:xfrm>
          <a:prstGeom prst="rect">
            <a:avLst/>
          </a:prstGeom>
        </p:spPr>
      </p:pic>
    </p:spTree>
    <p:extLst>
      <p:ext uri="{BB962C8B-B14F-4D97-AF65-F5344CB8AC3E}">
        <p14:creationId xmlns:p14="http://schemas.microsoft.com/office/powerpoint/2010/main" val="299836822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6723492-7BBC-7F3C-5FC3-A8403F4B369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5F0FBCD-9528-7084-0EAB-215A886F5BE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923399B-AD28-CABA-8BFA-E76224F023F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66</a:t>
            </a:fld>
            <a:endParaRPr/>
          </a:p>
        </p:txBody>
      </p:sp>
      <p:grpSp>
        <p:nvGrpSpPr>
          <p:cNvPr id="2" name="Group 1">
            <a:extLst>
              <a:ext uri="{FF2B5EF4-FFF2-40B4-BE49-F238E27FC236}">
                <a16:creationId xmlns:a16="http://schemas.microsoft.com/office/drawing/2014/main" id="{5EE2C7A4-3F05-5215-227F-F3B895BD23DC}"/>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4D3F8C4A-5AA5-88A0-2571-00110CFCAB0C}"/>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a:t>
              </a:r>
              <a:r>
                <a:rPr lang="en-US" sz="2800">
                  <a:latin typeface="Times New Roman" panose="02020603050405020304" pitchFamily="18" charset="0"/>
                  <a:cs typeface="Times New Roman" panose="02020603050405020304" pitchFamily="18" charset="0"/>
                </a:rPr>
                <a:t>3</a:t>
              </a:r>
              <a:r>
                <a:rPr lang="vi-VN" sz="2800">
                  <a:latin typeface="Times New Roman" panose="02020603050405020304" pitchFamily="18" charset="0"/>
                  <a:cs typeface="Times New Roman" panose="02020603050405020304" pitchFamily="18" charset="0"/>
                </a:rPr>
                <a:t>.</a:t>
              </a:r>
              <a:r>
                <a:rPr lang="en-US" sz="2800">
                  <a:latin typeface="Times New Roman" panose="02020603050405020304" pitchFamily="18" charset="0"/>
                  <a:cs typeface="Times New Roman" panose="02020603050405020304" pitchFamily="18" charset="0"/>
                </a:rPr>
                <a:t>4</a:t>
              </a:r>
              <a:r>
                <a:rPr lang="vi-VN" sz="2800">
                  <a:latin typeface="Times New Roman" panose="02020603050405020304" pitchFamily="18" charset="0"/>
                  <a:cs typeface="Times New Roman" panose="02020603050405020304" pitchFamily="18" charset="0"/>
                </a:rPr>
                <a:t>. Route với </a:t>
              </a:r>
              <a:r>
                <a:rPr lang="en-US" sz="2800">
                  <a:latin typeface="Times New Roman" panose="02020603050405020304" pitchFamily="18" charset="0"/>
                  <a:cs typeface="Times New Roman" panose="02020603050405020304" pitchFamily="18" charset="0"/>
                </a:rPr>
                <a:t>Query Parameters và Filtering</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AC639C6-95E4-C38F-9CA0-C8C48A975AF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34192A8-6251-C88F-6695-4AC3AC6B91D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C4811D0-926E-1E4F-E2D8-212B8E57C6B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1EF28F6-E3D4-8B46-D93C-DF112A230D3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9B1793D4-4807-0975-FB90-B16F07FD3E78}"/>
              </a:ext>
            </a:extLst>
          </p:cNvPr>
          <p:cNvSpPr txBox="1"/>
          <p:nvPr/>
        </p:nvSpPr>
        <p:spPr>
          <a:xfrm>
            <a:off x="415252" y="737075"/>
            <a:ext cx="11385665" cy="539378"/>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200">
                <a:latin typeface="Times New Roman" panose="02020603050405020304" pitchFamily="18" charset="0"/>
                <a:cs typeface="Times New Roman" panose="02020603050405020304" pitchFamily="18" charset="0"/>
              </a:rPr>
              <a:t>Step 6: Chạy app.html</a:t>
            </a:r>
            <a:endParaRPr lang="vi-VN" sz="2200" b="1">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8A3DCA6C-CE95-D859-266E-61D2AAAB20FE}"/>
              </a:ext>
            </a:extLst>
          </p:cNvPr>
          <p:cNvPicPr>
            <a:picLocks noChangeAspect="1"/>
          </p:cNvPicPr>
          <p:nvPr/>
        </p:nvPicPr>
        <p:blipFill>
          <a:blip r:embed="rId3"/>
          <a:stretch>
            <a:fillRect/>
          </a:stretch>
        </p:blipFill>
        <p:spPr>
          <a:xfrm>
            <a:off x="2086280" y="1870628"/>
            <a:ext cx="7613040" cy="4480948"/>
          </a:xfrm>
          <a:prstGeom prst="rect">
            <a:avLst/>
          </a:prstGeom>
        </p:spPr>
      </p:pic>
      <p:sp>
        <p:nvSpPr>
          <p:cNvPr id="13" name="TextBox 12">
            <a:extLst>
              <a:ext uri="{FF2B5EF4-FFF2-40B4-BE49-F238E27FC236}">
                <a16:creationId xmlns:a16="http://schemas.microsoft.com/office/drawing/2014/main" id="{17F69F6F-AFAE-9C69-5041-D620A373FA1D}"/>
              </a:ext>
            </a:extLst>
          </p:cNvPr>
          <p:cNvSpPr txBox="1"/>
          <p:nvPr/>
        </p:nvSpPr>
        <p:spPr>
          <a:xfrm>
            <a:off x="2037387" y="1354240"/>
            <a:ext cx="8117226" cy="400110"/>
          </a:xfrm>
          <a:prstGeom prst="rect">
            <a:avLst/>
          </a:prstGeom>
          <a:noFill/>
        </p:spPr>
        <p:txBody>
          <a:bodyPr wrap="square">
            <a:spAutoFit/>
          </a:bodyPr>
          <a:lstStyle/>
          <a:p>
            <a:r>
              <a:rPr lang="en-US" sz="2000"/>
              <a:t>http://localhost:4200/searchproduct?min=299&amp;max=799</a:t>
            </a:r>
          </a:p>
        </p:txBody>
      </p:sp>
    </p:spTree>
    <p:extLst>
      <p:ext uri="{BB962C8B-B14F-4D97-AF65-F5344CB8AC3E}">
        <p14:creationId xmlns:p14="http://schemas.microsoft.com/office/powerpoint/2010/main" val="5239939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F3246CF-85B7-7A47-29EF-64093A9A58B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2FB4F6B-617B-8963-929E-CD227CF6AB1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C81D799-4433-EDFE-7CD6-B9C8D3306C2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67</a:t>
            </a:fld>
            <a:endParaRPr/>
          </a:p>
        </p:txBody>
      </p:sp>
      <p:grpSp>
        <p:nvGrpSpPr>
          <p:cNvPr id="2" name="Group 1">
            <a:extLst>
              <a:ext uri="{FF2B5EF4-FFF2-40B4-BE49-F238E27FC236}">
                <a16:creationId xmlns:a16="http://schemas.microsoft.com/office/drawing/2014/main" id="{551275D8-2208-2C91-B3EB-EEA0EAB71D28}"/>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E2EACEBF-2A04-2185-2C87-AE8F8B2BC506}"/>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a:t>
              </a:r>
              <a:r>
                <a:rPr lang="en-US" sz="2800">
                  <a:latin typeface="Times New Roman" panose="02020603050405020304" pitchFamily="18" charset="0"/>
                  <a:cs typeface="Times New Roman" panose="02020603050405020304" pitchFamily="18" charset="0"/>
                </a:rPr>
                <a:t>3</a:t>
              </a:r>
              <a:r>
                <a:rPr lang="vi-VN" sz="2800">
                  <a:latin typeface="Times New Roman" panose="02020603050405020304" pitchFamily="18" charset="0"/>
                  <a:cs typeface="Times New Roman" panose="02020603050405020304" pitchFamily="18" charset="0"/>
                </a:rPr>
                <a:t>.</a:t>
              </a:r>
              <a:r>
                <a:rPr lang="en-US" sz="2800">
                  <a:latin typeface="Times New Roman" panose="02020603050405020304" pitchFamily="18" charset="0"/>
                  <a:cs typeface="Times New Roman" panose="02020603050405020304" pitchFamily="18" charset="0"/>
                </a:rPr>
                <a:t>4</a:t>
              </a:r>
              <a:r>
                <a:rPr lang="vi-VN" sz="2800">
                  <a:latin typeface="Times New Roman" panose="02020603050405020304" pitchFamily="18" charset="0"/>
                  <a:cs typeface="Times New Roman" panose="02020603050405020304" pitchFamily="18" charset="0"/>
                </a:rPr>
                <a:t>. Route với </a:t>
              </a:r>
              <a:r>
                <a:rPr lang="en-US" sz="2800">
                  <a:latin typeface="Times New Roman" panose="02020603050405020304" pitchFamily="18" charset="0"/>
                  <a:cs typeface="Times New Roman" panose="02020603050405020304" pitchFamily="18" charset="0"/>
                </a:rPr>
                <a:t>Query Parameters và Filtering</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5A7A11A-7C31-DBC3-D837-3F1113B9269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B522B0D-AC73-2A34-8726-327CF800439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758BC9C-5813-DBE1-C9C8-EAA32854F3A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7C95A25-373E-6240-90B7-4486FA6D8C8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4236E287-293D-1499-FF91-BFA71D7B1217}"/>
              </a:ext>
            </a:extLst>
          </p:cNvPr>
          <p:cNvSpPr txBox="1"/>
          <p:nvPr/>
        </p:nvSpPr>
        <p:spPr>
          <a:xfrm>
            <a:off x="415252" y="737075"/>
            <a:ext cx="11385665" cy="539378"/>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200">
                <a:latin typeface="Times New Roman" panose="02020603050405020304" pitchFamily="18" charset="0"/>
                <a:cs typeface="Times New Roman" panose="02020603050405020304" pitchFamily="18" charset="0"/>
              </a:rPr>
              <a:t>Step 7: Trong trường hợp không dùng Query parameters thì sửa hàm Onfilter:</a:t>
            </a:r>
            <a:endParaRPr lang="vi-VN" sz="2200" b="1">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6EA3B89B-7B15-83DF-1B6C-99D238318658}"/>
              </a:ext>
            </a:extLst>
          </p:cNvPr>
          <p:cNvSpPr txBox="1"/>
          <p:nvPr/>
        </p:nvSpPr>
        <p:spPr>
          <a:xfrm>
            <a:off x="728132" y="1408044"/>
            <a:ext cx="10300543" cy="2732543"/>
          </a:xfrm>
          <a:prstGeom prst="rect">
            <a:avLst/>
          </a:prstGeom>
          <a:noFill/>
          <a:ln>
            <a:solidFill>
              <a:srgbClr val="002060"/>
            </a:solidFill>
          </a:ln>
        </p:spPr>
        <p:txBody>
          <a:bodyPr wrap="square">
            <a:spAutoFit/>
          </a:bodyPr>
          <a:lstStyle/>
          <a:p>
            <a:pPr>
              <a:lnSpc>
                <a:spcPts val="2250"/>
              </a:lnSpc>
              <a:buNone/>
            </a:pPr>
            <a:r>
              <a:rPr lang="en-US" sz="2000" b="0">
                <a:solidFill>
                  <a:srgbClr val="000000"/>
                </a:solidFill>
                <a:effectLst/>
                <a:latin typeface="Consolas" panose="020B0609020204030204" pitchFamily="49" charset="0"/>
              </a:rPr>
              <a:t>onFilter()</a:t>
            </a:r>
          </a:p>
          <a:p>
            <a:pPr>
              <a:lnSpc>
                <a:spcPts val="2250"/>
              </a:lnSpc>
              <a:buNone/>
            </a:pPr>
            <a:r>
              <a:rPr lang="en-US" sz="2000" b="0">
                <a:solidFill>
                  <a:srgbClr val="000000"/>
                </a:solidFill>
                <a:effectLst/>
                <a:latin typeface="Consolas" panose="020B0609020204030204" pitchFamily="49" charset="0"/>
              </a:rPr>
              <a:t>  {</a:t>
            </a:r>
          </a:p>
          <a:p>
            <a:pPr>
              <a:lnSpc>
                <a:spcPts val="2250"/>
              </a:lnSpc>
              <a:buNone/>
            </a:pPr>
            <a:r>
              <a:rPr lang="en-US" sz="2000" b="0">
                <a:solidFill>
                  <a:srgbClr val="000000"/>
                </a:solidFill>
                <a:effectLst/>
                <a:latin typeface="Consolas" panose="020B0609020204030204" pitchFamily="49" charset="0"/>
              </a:rPr>
              <a:t>    </a:t>
            </a:r>
            <a:r>
              <a:rPr lang="en-US" sz="2000" b="0">
                <a:solidFill>
                  <a:srgbClr val="008000"/>
                </a:solidFill>
                <a:effectLst/>
                <a:latin typeface="Consolas" panose="020B0609020204030204" pitchFamily="49" charset="0"/>
              </a:rPr>
              <a:t>// Lấy giá trị hiện tại của Signal để lọc</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    </a:t>
            </a:r>
            <a:r>
              <a:rPr lang="en-US" sz="2000" b="0">
                <a:solidFill>
                  <a:srgbClr val="0000FF"/>
                </a:solidFill>
                <a:effectLst/>
                <a:latin typeface="Consolas" panose="020B0609020204030204" pitchFamily="49" charset="0"/>
              </a:rPr>
              <a:t>const</a:t>
            </a:r>
            <a:r>
              <a:rPr lang="en-US" sz="2000" b="0">
                <a:solidFill>
                  <a:srgbClr val="000000"/>
                </a:solidFill>
                <a:effectLst/>
                <a:latin typeface="Consolas" panose="020B0609020204030204" pitchFamily="49" charset="0"/>
              </a:rPr>
              <a:t> result = </a:t>
            </a:r>
            <a:r>
              <a:rPr lang="en-US" sz="2000" b="0">
                <a:solidFill>
                  <a:srgbClr val="0000FF"/>
                </a:solidFill>
                <a:effectLst/>
                <a:latin typeface="Consolas" panose="020B0609020204030204" pitchFamily="49" charset="0"/>
              </a:rPr>
              <a:t>this</a:t>
            </a:r>
            <a:r>
              <a:rPr lang="en-US" sz="2000" b="0">
                <a:solidFill>
                  <a:srgbClr val="000000"/>
                </a:solidFill>
                <a:effectLst/>
                <a:latin typeface="Consolas" panose="020B0609020204030204" pitchFamily="49" charset="0"/>
              </a:rPr>
              <a:t>.products().filter(p </a:t>
            </a:r>
            <a:r>
              <a:rPr lang="en-US" sz="2000" b="0">
                <a:solidFill>
                  <a:srgbClr val="0000FF"/>
                </a:solidFill>
                <a:effectLst/>
                <a:latin typeface="Consolas" panose="020B0609020204030204" pitchFamily="49" charset="0"/>
              </a:rPr>
              <a:t>=&gt;</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      p.price &gt;= </a:t>
            </a:r>
            <a:r>
              <a:rPr lang="en-US" sz="2000" b="0">
                <a:solidFill>
                  <a:srgbClr val="0000FF"/>
                </a:solidFill>
                <a:effectLst/>
                <a:latin typeface="Consolas" panose="020B0609020204030204" pitchFamily="49" charset="0"/>
              </a:rPr>
              <a:t>this</a:t>
            </a:r>
            <a:r>
              <a:rPr lang="en-US" sz="2000" b="0">
                <a:solidFill>
                  <a:srgbClr val="000000"/>
                </a:solidFill>
                <a:effectLst/>
                <a:latin typeface="Consolas" panose="020B0609020204030204" pitchFamily="49" charset="0"/>
              </a:rPr>
              <a:t>.minPrice() &amp;&amp; p.price &lt;= </a:t>
            </a:r>
            <a:r>
              <a:rPr lang="en-US" sz="2000" b="0">
                <a:solidFill>
                  <a:srgbClr val="0000FF"/>
                </a:solidFill>
                <a:effectLst/>
                <a:latin typeface="Consolas" panose="020B0609020204030204" pitchFamily="49" charset="0"/>
              </a:rPr>
              <a:t>this</a:t>
            </a:r>
            <a:r>
              <a:rPr lang="en-US" sz="2000" b="0">
                <a:solidFill>
                  <a:srgbClr val="000000"/>
                </a:solidFill>
                <a:effectLst/>
                <a:latin typeface="Consolas" panose="020B0609020204030204" pitchFamily="49" charset="0"/>
              </a:rPr>
              <a:t>.maxPrice()</a:t>
            </a:r>
          </a:p>
          <a:p>
            <a:pPr>
              <a:lnSpc>
                <a:spcPts val="2250"/>
              </a:lnSpc>
              <a:buNone/>
            </a:pPr>
            <a:r>
              <a:rPr lang="en-US" sz="2000" b="0">
                <a:solidFill>
                  <a:srgbClr val="000000"/>
                </a:solidFill>
                <a:effectLst/>
                <a:latin typeface="Consolas" panose="020B0609020204030204" pitchFamily="49" charset="0"/>
              </a:rPr>
              <a:t>    );</a:t>
            </a:r>
          </a:p>
          <a:p>
            <a:pPr>
              <a:lnSpc>
                <a:spcPts val="2250"/>
              </a:lnSpc>
              <a:buNone/>
            </a:pPr>
            <a:r>
              <a:rPr lang="en-US" sz="2000" b="0">
                <a:solidFill>
                  <a:srgbClr val="000000"/>
                </a:solidFill>
                <a:effectLst/>
                <a:latin typeface="Consolas" panose="020B0609020204030204" pitchFamily="49" charset="0"/>
              </a:rPr>
              <a:t>    </a:t>
            </a:r>
            <a:r>
              <a:rPr lang="en-US" sz="2000" b="0">
                <a:solidFill>
                  <a:srgbClr val="008000"/>
                </a:solidFill>
                <a:effectLst/>
                <a:latin typeface="Consolas" panose="020B0609020204030204" pitchFamily="49" charset="0"/>
              </a:rPr>
              <a:t>// Hiển thị kết quả</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    </a:t>
            </a:r>
            <a:r>
              <a:rPr lang="en-US" sz="2000" b="0">
                <a:solidFill>
                  <a:srgbClr val="0000FF"/>
                </a:solidFill>
                <a:effectLst/>
                <a:latin typeface="Consolas" panose="020B0609020204030204" pitchFamily="49" charset="0"/>
              </a:rPr>
              <a:t>this</a:t>
            </a:r>
            <a:r>
              <a:rPr lang="en-US" sz="2000" b="0">
                <a:solidFill>
                  <a:srgbClr val="000000"/>
                </a:solidFill>
                <a:effectLst/>
                <a:latin typeface="Consolas" panose="020B0609020204030204" pitchFamily="49" charset="0"/>
              </a:rPr>
              <a:t>.filteredProducts.set(result);</a:t>
            </a:r>
          </a:p>
          <a:p>
            <a:pPr>
              <a:lnSpc>
                <a:spcPts val="2250"/>
              </a:lnSpc>
              <a:buNone/>
            </a:pPr>
            <a:r>
              <a:rPr lang="en-US" sz="2000" b="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21954554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FC4AF41-81B3-53ED-E765-1CD08A7BE0A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0EE88757-4439-B11D-37FB-8900B7263E4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06B3737-035A-6EBC-AF56-DDB17F5C75D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68</a:t>
            </a:fld>
            <a:endParaRPr/>
          </a:p>
        </p:txBody>
      </p:sp>
      <p:grpSp>
        <p:nvGrpSpPr>
          <p:cNvPr id="2" name="Group 1">
            <a:extLst>
              <a:ext uri="{FF2B5EF4-FFF2-40B4-BE49-F238E27FC236}">
                <a16:creationId xmlns:a16="http://schemas.microsoft.com/office/drawing/2014/main" id="{0E8A9037-B874-2961-A98B-8AA884938565}"/>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92FF156A-02A3-12BF-D78D-A90A4C363795}"/>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4.3.5. Wildcard (**) route cho Not Found page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0207D1F-F7ED-EE15-DDE8-36D2D954DFA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411172A-2D98-3435-AEE5-2D7DCC7B54A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0450F5D-05E8-C33E-C789-AE0D80AFE2B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5462DCD-72FD-16A1-EFEB-9CC2199FF9E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4A08667C-9DB6-17B8-AE94-959FB12AB539}"/>
              </a:ext>
            </a:extLst>
          </p:cNvPr>
          <p:cNvSpPr txBox="1"/>
          <p:nvPr/>
        </p:nvSpPr>
        <p:spPr>
          <a:xfrm>
            <a:off x="476031" y="841012"/>
            <a:ext cx="11457352" cy="2241960"/>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Wildcard Route (Đường dẫn đại diện) được ký hiệu bằng hai dấu sao liên tiếp. Trong Angular, đây là cơ chế "bắt tất cả" (catch-all). Khi người dùng nhập một URL trên trình duyệt mà Router không tìm thấy bất kỳ sự trùng khớp nào trong các khai báo trước đó, nó sẽ tự động điều hướng về Route này.</a:t>
            </a:r>
          </a:p>
        </p:txBody>
      </p:sp>
      <p:sp>
        <p:nvSpPr>
          <p:cNvPr id="8" name="Rectangle 1">
            <a:extLst>
              <a:ext uri="{FF2B5EF4-FFF2-40B4-BE49-F238E27FC236}">
                <a16:creationId xmlns:a16="http://schemas.microsoft.com/office/drawing/2014/main" id="{55A5E230-B99D-E237-23CD-A7A8F5EE4D54}"/>
              </a:ext>
            </a:extLst>
          </p:cNvPr>
          <p:cNvSpPr>
            <a:spLocks noChangeArrowheads="1"/>
          </p:cNvSpPr>
          <p:nvPr/>
        </p:nvSpPr>
        <p:spPr bwMode="auto">
          <a:xfrm>
            <a:off x="598868" y="3186909"/>
            <a:ext cx="11211678" cy="2062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Xử lý lỗi 404:</a:t>
            </a:r>
            <a:r>
              <a:rPr kumimoji="0" lang="en-US" altLang="en-US" sz="2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Thay vì để trình duyệt báo lỗi hoặc hiển thị trang trống, Ta có thể điều hướng người dùng đến một Component thông báo lỗi thân thiện (ví dụ: </a:t>
            </a:r>
            <a:r>
              <a:rPr kumimoji="0" lang="en-US" altLang="en-US" sz="2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PageNotFoundComponent</a:t>
            </a:r>
            <a:r>
              <a:rPr kumimoji="0" lang="en-US" altLang="en-US" sz="2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Điều hướng mặc định:</a:t>
            </a:r>
            <a:r>
              <a:rPr kumimoji="0" lang="en-US" altLang="en-US" sz="2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Ta cũng có thể dùng nó để tự động đẩy người dùng quay về trang chủ (/home) nếu họ gõ sai địa chỉ.</a:t>
            </a:r>
          </a:p>
        </p:txBody>
      </p:sp>
    </p:spTree>
    <p:extLst>
      <p:ext uri="{BB962C8B-B14F-4D97-AF65-F5344CB8AC3E}">
        <p14:creationId xmlns:p14="http://schemas.microsoft.com/office/powerpoint/2010/main" val="161678410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E2842B8-BF46-6D3C-942E-3E1C1D41503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3EEE344-F5A9-50E1-EFC6-A2705165F007}"/>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C7BF751-FEBB-C6ED-53CD-7625F9E4FA4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69</a:t>
            </a:fld>
            <a:endParaRPr/>
          </a:p>
        </p:txBody>
      </p:sp>
      <p:grpSp>
        <p:nvGrpSpPr>
          <p:cNvPr id="2" name="Group 1">
            <a:extLst>
              <a:ext uri="{FF2B5EF4-FFF2-40B4-BE49-F238E27FC236}">
                <a16:creationId xmlns:a16="http://schemas.microsoft.com/office/drawing/2014/main" id="{E63663CE-E359-EFE7-4C00-5E354226AFD8}"/>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1F17C50E-F50D-2302-B14D-948E800D6FE2}"/>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4.3.5. Wildcard (**) route cho Not Found page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E5AB606-EDEE-ADE4-64A8-A9033273292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B724C22-13D3-B1D3-91B0-628BECF34E4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08393B1-C104-F0C0-76DF-4209C2FA61C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A582E2B-AB1F-A972-58F8-1327E31B9FD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1" name="TextBox 10">
            <a:extLst>
              <a:ext uri="{FF2B5EF4-FFF2-40B4-BE49-F238E27FC236}">
                <a16:creationId xmlns:a16="http://schemas.microsoft.com/office/drawing/2014/main" id="{6110540C-E291-7024-9496-AB4E08348A1E}"/>
              </a:ext>
            </a:extLst>
          </p:cNvPr>
          <p:cNvSpPr txBox="1"/>
          <p:nvPr/>
        </p:nvSpPr>
        <p:spPr>
          <a:xfrm>
            <a:off x="542786" y="841012"/>
            <a:ext cx="10990005" cy="3349956"/>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Quy tắc "Thứ tự ưu tiên" </a:t>
            </a:r>
            <a:r>
              <a:rPr lang="en-US" sz="2400" b="1">
                <a:latin typeface="Times New Roman" panose="02020603050405020304" pitchFamily="18" charset="0"/>
                <a:cs typeface="Times New Roman" panose="02020603050405020304" pitchFamily="18" charset="0"/>
              </a:rPr>
              <a:t>khi cấu hình Routing</a:t>
            </a:r>
            <a:endParaRPr lang="vi-VN" sz="2400" b="1">
              <a:latin typeface="Times New Roman" panose="02020603050405020304" pitchFamily="18" charset="0"/>
              <a:cs typeface="Times New Roman" panose="02020603050405020304" pitchFamily="18" charset="0"/>
            </a:endParaRPr>
          </a:p>
          <a:p>
            <a:pPr algn="just">
              <a:lnSpc>
                <a:spcPct val="150000"/>
              </a:lnSpc>
              <a:buNone/>
            </a:pPr>
            <a:r>
              <a:rPr lang="vi-VN" sz="2400">
                <a:latin typeface="Times New Roman" panose="02020603050405020304" pitchFamily="18" charset="0"/>
                <a:cs typeface="Times New Roman" panose="02020603050405020304" pitchFamily="18" charset="0"/>
              </a:rPr>
              <a:t>Router của Angular sử dụng chiến lược </a:t>
            </a:r>
            <a:r>
              <a:rPr lang="vi-VN" sz="2400" b="1">
                <a:latin typeface="Times New Roman" panose="02020603050405020304" pitchFamily="18" charset="0"/>
                <a:cs typeface="Times New Roman" panose="02020603050405020304" pitchFamily="18" charset="0"/>
              </a:rPr>
              <a:t>First-match wins</a:t>
            </a:r>
            <a:r>
              <a:rPr lang="vi-VN" sz="2400">
                <a:latin typeface="Times New Roman" panose="02020603050405020304" pitchFamily="18" charset="0"/>
                <a:cs typeface="Times New Roman" panose="02020603050405020304" pitchFamily="18" charset="0"/>
              </a:rPr>
              <a:t> (Trùng khớp đầu tiên sẽ thắng). Nó sẽ quét mảng Routes từ trên xuống dưới.</a:t>
            </a:r>
          </a:p>
          <a:p>
            <a:pPr algn="just">
              <a:lnSpc>
                <a:spcPct val="150000"/>
              </a:lnSpc>
              <a:buFont typeface="Arial" panose="020B0604020202020204" pitchFamily="34" charset="0"/>
              <a:buChar char="•"/>
            </a:pPr>
            <a:r>
              <a:rPr lang="vi-VN" sz="2400">
                <a:latin typeface="Times New Roman" panose="02020603050405020304" pitchFamily="18" charset="0"/>
                <a:cs typeface="Times New Roman" panose="02020603050405020304" pitchFamily="18" charset="0"/>
              </a:rPr>
              <a:t>Do đó, </a:t>
            </a:r>
            <a:r>
              <a:rPr lang="vi-VN" sz="2400" b="1">
                <a:latin typeface="Times New Roman" panose="02020603050405020304" pitchFamily="18" charset="0"/>
                <a:cs typeface="Times New Roman" panose="02020603050405020304" pitchFamily="18" charset="0"/>
              </a:rPr>
              <a:t>Wildcard Route luôn luôn phải đặt ở </a:t>
            </a:r>
            <a:r>
              <a:rPr lang="vi-VN" sz="2400" b="1">
                <a:solidFill>
                  <a:srgbClr val="FF0000"/>
                </a:solidFill>
                <a:latin typeface="Times New Roman" panose="02020603050405020304" pitchFamily="18" charset="0"/>
                <a:cs typeface="Times New Roman" panose="02020603050405020304" pitchFamily="18" charset="0"/>
              </a:rPr>
              <a:t>vị trí cuối cùng</a:t>
            </a:r>
            <a:r>
              <a:rPr lang="vi-VN" sz="2400">
                <a:solidFill>
                  <a:srgbClr val="FF0000"/>
                </a:solidFill>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của mảng cấu hình.</a:t>
            </a:r>
          </a:p>
          <a:p>
            <a:pPr algn="just">
              <a:lnSpc>
                <a:spcPct val="150000"/>
              </a:lnSpc>
              <a:buFont typeface="Arial" panose="020B0604020202020204" pitchFamily="34" charset="0"/>
              <a:buChar char="•"/>
            </a:pPr>
            <a:r>
              <a:rPr lang="vi-VN" sz="2400">
                <a:latin typeface="Times New Roman" panose="02020603050405020304" pitchFamily="18" charset="0"/>
                <a:cs typeface="Times New Roman" panose="02020603050405020304" pitchFamily="18" charset="0"/>
              </a:rPr>
              <a:t>Nếu </a:t>
            </a:r>
            <a:r>
              <a:rPr lang="en-US" sz="2400">
                <a:latin typeface="Times New Roman" panose="02020603050405020304" pitchFamily="18" charset="0"/>
                <a:cs typeface="Times New Roman" panose="02020603050405020304" pitchFamily="18" charset="0"/>
              </a:rPr>
              <a:t>Ta</a:t>
            </a:r>
            <a:r>
              <a:rPr lang="vi-VN" sz="2400">
                <a:latin typeface="Times New Roman" panose="02020603050405020304" pitchFamily="18" charset="0"/>
                <a:cs typeface="Times New Roman" panose="02020603050405020304" pitchFamily="18" charset="0"/>
              </a:rPr>
              <a:t> đặt lên đầu trang, mọi URL (kể cả URL đúng) đều sẽ bị điều hướng vào trang Not Found.</a:t>
            </a:r>
          </a:p>
        </p:txBody>
      </p:sp>
    </p:spTree>
    <p:extLst>
      <p:ext uri="{BB962C8B-B14F-4D97-AF65-F5344CB8AC3E}">
        <p14:creationId xmlns:p14="http://schemas.microsoft.com/office/powerpoint/2010/main" val="210979077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86F53EE-787E-4563-7E10-BA3F37FC04B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D108CA1-3A34-409E-3B3C-2F398C72927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90BDDB4-2285-0AE0-F183-37FDEC5A1E07}"/>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70</a:t>
            </a:fld>
            <a:endParaRPr/>
          </a:p>
        </p:txBody>
      </p:sp>
      <p:grpSp>
        <p:nvGrpSpPr>
          <p:cNvPr id="2" name="Group 1">
            <a:extLst>
              <a:ext uri="{FF2B5EF4-FFF2-40B4-BE49-F238E27FC236}">
                <a16:creationId xmlns:a16="http://schemas.microsoft.com/office/drawing/2014/main" id="{B1674147-FFFC-D189-A3CE-91F234101778}"/>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18F8AAB3-A9F3-EE11-873C-883DF160E55B}"/>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4.3.5. Wildcard (**) route cho Not Found page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CA79F90D-5611-3835-CBE1-289A83300C1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8C27C23-C9B8-2FCB-1C89-B10FBEB51B5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2BF4029-11D5-6602-7802-123681FE5A7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4983D0C-08EF-7459-0361-88781F71A07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1" name="TextBox 10">
            <a:extLst>
              <a:ext uri="{FF2B5EF4-FFF2-40B4-BE49-F238E27FC236}">
                <a16:creationId xmlns:a16="http://schemas.microsoft.com/office/drawing/2014/main" id="{066BC058-3533-FE12-0B52-E32744783151}"/>
              </a:ext>
            </a:extLst>
          </p:cNvPr>
          <p:cNvSpPr txBox="1"/>
          <p:nvPr/>
        </p:nvSpPr>
        <p:spPr>
          <a:xfrm>
            <a:off x="542786" y="841012"/>
            <a:ext cx="10990005"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  Tạo component </a:t>
            </a:r>
            <a:r>
              <a:rPr lang="en-US" sz="2400" b="1">
                <a:latin typeface="Times New Roman" panose="02020603050405020304" pitchFamily="18" charset="0"/>
                <a:cs typeface="Times New Roman" panose="02020603050405020304" pitchFamily="18" charset="0"/>
              </a:rPr>
              <a:t>PageNotFoundComponent</a:t>
            </a:r>
            <a:endParaRPr lang="vi-VN" sz="240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65BF4918-EED6-59C9-6DB2-86F9C04C91EB}"/>
              </a:ext>
            </a:extLst>
          </p:cNvPr>
          <p:cNvPicPr>
            <a:picLocks noChangeAspect="1"/>
          </p:cNvPicPr>
          <p:nvPr/>
        </p:nvPicPr>
        <p:blipFill>
          <a:blip r:embed="rId3"/>
          <a:stretch>
            <a:fillRect/>
          </a:stretch>
        </p:blipFill>
        <p:spPr>
          <a:xfrm>
            <a:off x="728773" y="1524916"/>
            <a:ext cx="4148027" cy="1873948"/>
          </a:xfrm>
          <a:prstGeom prst="rect">
            <a:avLst/>
          </a:prstGeom>
        </p:spPr>
      </p:pic>
      <p:pic>
        <p:nvPicPr>
          <p:cNvPr id="14" name="Picture 13">
            <a:extLst>
              <a:ext uri="{FF2B5EF4-FFF2-40B4-BE49-F238E27FC236}">
                <a16:creationId xmlns:a16="http://schemas.microsoft.com/office/drawing/2014/main" id="{42B341D8-18F7-6E82-C146-EC121EA96E2D}"/>
              </a:ext>
            </a:extLst>
          </p:cNvPr>
          <p:cNvPicPr>
            <a:picLocks noChangeAspect="1"/>
          </p:cNvPicPr>
          <p:nvPr/>
        </p:nvPicPr>
        <p:blipFill>
          <a:blip r:embed="rId4"/>
          <a:stretch>
            <a:fillRect/>
          </a:stretch>
        </p:blipFill>
        <p:spPr>
          <a:xfrm>
            <a:off x="6096000" y="1521333"/>
            <a:ext cx="5563082" cy="952583"/>
          </a:xfrm>
          <a:prstGeom prst="rect">
            <a:avLst/>
          </a:prstGeom>
        </p:spPr>
      </p:pic>
      <p:pic>
        <p:nvPicPr>
          <p:cNvPr id="16" name="Picture 15">
            <a:extLst>
              <a:ext uri="{FF2B5EF4-FFF2-40B4-BE49-F238E27FC236}">
                <a16:creationId xmlns:a16="http://schemas.microsoft.com/office/drawing/2014/main" id="{84F3B566-7F1B-3419-67BE-4701D765F0AC}"/>
              </a:ext>
            </a:extLst>
          </p:cNvPr>
          <p:cNvPicPr>
            <a:picLocks noChangeAspect="1"/>
          </p:cNvPicPr>
          <p:nvPr/>
        </p:nvPicPr>
        <p:blipFill>
          <a:blip r:embed="rId5"/>
          <a:stretch>
            <a:fillRect/>
          </a:stretch>
        </p:blipFill>
        <p:spPr>
          <a:xfrm>
            <a:off x="4681045" y="3975510"/>
            <a:ext cx="7353937" cy="2575783"/>
          </a:xfrm>
          <a:prstGeom prst="rect">
            <a:avLst/>
          </a:prstGeom>
        </p:spPr>
      </p:pic>
      <p:pic>
        <p:nvPicPr>
          <p:cNvPr id="18" name="Picture 17">
            <a:extLst>
              <a:ext uri="{FF2B5EF4-FFF2-40B4-BE49-F238E27FC236}">
                <a16:creationId xmlns:a16="http://schemas.microsoft.com/office/drawing/2014/main" id="{F71D4ABA-66E8-81DC-14DF-274066076753}"/>
              </a:ext>
            </a:extLst>
          </p:cNvPr>
          <p:cNvPicPr>
            <a:picLocks noChangeAspect="1"/>
          </p:cNvPicPr>
          <p:nvPr/>
        </p:nvPicPr>
        <p:blipFill>
          <a:blip r:embed="rId6"/>
          <a:stretch>
            <a:fillRect/>
          </a:stretch>
        </p:blipFill>
        <p:spPr>
          <a:xfrm>
            <a:off x="564686" y="3975510"/>
            <a:ext cx="3482642" cy="2331922"/>
          </a:xfrm>
          <a:prstGeom prst="rect">
            <a:avLst/>
          </a:prstGeom>
        </p:spPr>
      </p:pic>
      <p:cxnSp>
        <p:nvCxnSpPr>
          <p:cNvPr id="19" name="Connector: Elbow 18">
            <a:extLst>
              <a:ext uri="{FF2B5EF4-FFF2-40B4-BE49-F238E27FC236}">
                <a16:creationId xmlns:a16="http://schemas.microsoft.com/office/drawing/2014/main" id="{3478150D-EAA5-F7F4-3ECA-B0EFB30CFA52}"/>
              </a:ext>
            </a:extLst>
          </p:cNvPr>
          <p:cNvCxnSpPr>
            <a:cxnSpLocks/>
            <a:endCxn id="14" idx="2"/>
          </p:cNvCxnSpPr>
          <p:nvPr/>
        </p:nvCxnSpPr>
        <p:spPr>
          <a:xfrm flipV="1">
            <a:off x="3951166" y="2473916"/>
            <a:ext cx="4926375" cy="704764"/>
          </a:xfrm>
          <a:prstGeom prst="bent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21D5B07-90E0-AE59-3513-FAA470C2566B}"/>
              </a:ext>
            </a:extLst>
          </p:cNvPr>
          <p:cNvCxnSpPr/>
          <p:nvPr/>
        </p:nvCxnSpPr>
        <p:spPr>
          <a:xfrm>
            <a:off x="10207079" y="2420498"/>
            <a:ext cx="0" cy="195163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2A68D76E-2B9B-E524-4C10-AE4582E2AC4A}"/>
              </a:ext>
            </a:extLst>
          </p:cNvPr>
          <p:cNvCxnSpPr/>
          <p:nvPr/>
        </p:nvCxnSpPr>
        <p:spPr>
          <a:xfrm flipH="1">
            <a:off x="4137107" y="5449038"/>
            <a:ext cx="739693"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720259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2EBFA5E-EB18-038A-2997-49D7CC03444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DDD4CC8-9F27-BF3D-39CB-39D86E0715B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0E30CB7-F763-EB13-71E2-5070A33C795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71</a:t>
            </a:fld>
            <a:endParaRPr/>
          </a:p>
        </p:txBody>
      </p:sp>
      <p:grpSp>
        <p:nvGrpSpPr>
          <p:cNvPr id="2" name="Group 1">
            <a:extLst>
              <a:ext uri="{FF2B5EF4-FFF2-40B4-BE49-F238E27FC236}">
                <a16:creationId xmlns:a16="http://schemas.microsoft.com/office/drawing/2014/main" id="{893F250F-A1ED-5ABC-CA10-5FA07EA2CEC3}"/>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F72D3C82-1C6A-3399-52D0-197729F465B3}"/>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4.3.5. Wildcard (**) route cho Not Found page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6FED5AD-C2A5-5AA3-8E6B-AC88F0B2307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3B48E21-9802-68EA-111D-9C653B65F2A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1A6ABA7-AD15-C0F7-D9B2-A549170E54A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1A807AD-66F8-28B2-CD69-4835CA295CA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1" name="TextBox 10">
            <a:extLst>
              <a:ext uri="{FF2B5EF4-FFF2-40B4-BE49-F238E27FC236}">
                <a16:creationId xmlns:a16="http://schemas.microsoft.com/office/drawing/2014/main" id="{C1049363-4BAD-95CE-4D59-AABD6AECEBA7}"/>
              </a:ext>
            </a:extLst>
          </p:cNvPr>
          <p:cNvSpPr txBox="1"/>
          <p:nvPr/>
        </p:nvSpPr>
        <p:spPr>
          <a:xfrm>
            <a:off x="542786" y="841012"/>
            <a:ext cx="10990005"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a:t>
            </a:r>
            <a:r>
              <a:rPr lang="en-US" sz="2400" b="1">
                <a:latin typeface="Times New Roman" panose="02020603050405020304" pitchFamily="18" charset="0"/>
                <a:cs typeface="Times New Roman" panose="02020603050405020304" pitchFamily="18" charset="0"/>
              </a:rPr>
              <a:t>PageNotFoundComponent.html</a:t>
            </a:r>
            <a:endParaRPr lang="vi-VN" sz="240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667CDD33-8332-C7EF-5BAB-8E3598045273}"/>
              </a:ext>
            </a:extLst>
          </p:cNvPr>
          <p:cNvPicPr>
            <a:picLocks noChangeAspect="1"/>
          </p:cNvPicPr>
          <p:nvPr/>
        </p:nvPicPr>
        <p:blipFill>
          <a:blip r:embed="rId3"/>
          <a:stretch>
            <a:fillRect/>
          </a:stretch>
        </p:blipFill>
        <p:spPr>
          <a:xfrm>
            <a:off x="277626" y="1580990"/>
            <a:ext cx="11636748" cy="3696020"/>
          </a:xfrm>
          <a:prstGeom prst="rect">
            <a:avLst/>
          </a:prstGeom>
        </p:spPr>
      </p:pic>
    </p:spTree>
    <p:extLst>
      <p:ext uri="{BB962C8B-B14F-4D97-AF65-F5344CB8AC3E}">
        <p14:creationId xmlns:p14="http://schemas.microsoft.com/office/powerpoint/2010/main" val="326669724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A77575B-E48F-4EE7-5F40-7CE3E99EFFD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4830985-7944-64DC-3BF4-8856F819522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FC9A461-3640-BB58-9294-154D3217872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72</a:t>
            </a:fld>
            <a:endParaRPr/>
          </a:p>
        </p:txBody>
      </p:sp>
      <p:grpSp>
        <p:nvGrpSpPr>
          <p:cNvPr id="2" name="Group 1">
            <a:extLst>
              <a:ext uri="{FF2B5EF4-FFF2-40B4-BE49-F238E27FC236}">
                <a16:creationId xmlns:a16="http://schemas.microsoft.com/office/drawing/2014/main" id="{CDCE0C22-2D55-2B0F-902D-0C04DA38C81B}"/>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E18CABA8-96A6-C179-2519-00758825409C}"/>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4.3.5. Wildcard (**) route cho Not Found page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CAAFA2F-8F24-DAEC-8D1D-05482BA9C60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A48DE4F-B6B7-12A1-DC30-1F4A489CF09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642477E-E8E1-A7FA-63DF-4E26434D488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81EF8CE-3187-717F-41D1-0469CFE1EAA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1" name="TextBox 10">
            <a:extLst>
              <a:ext uri="{FF2B5EF4-FFF2-40B4-BE49-F238E27FC236}">
                <a16:creationId xmlns:a16="http://schemas.microsoft.com/office/drawing/2014/main" id="{97B44336-C1A8-8A0C-90CF-3660895AFE0F}"/>
              </a:ext>
            </a:extLst>
          </p:cNvPr>
          <p:cNvSpPr txBox="1"/>
          <p:nvPr/>
        </p:nvSpPr>
        <p:spPr>
          <a:xfrm>
            <a:off x="542786" y="841012"/>
            <a:ext cx="10990005"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3:  </a:t>
            </a:r>
            <a:r>
              <a:rPr lang="en-US" sz="2400" b="1">
                <a:latin typeface="Times New Roman" panose="02020603050405020304" pitchFamily="18" charset="0"/>
                <a:cs typeface="Times New Roman" panose="02020603050405020304" pitchFamily="18" charset="0"/>
              </a:rPr>
              <a:t>app-routing-module.ts</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16993D3E-973B-32CA-56BE-3BA980F1EEF5}"/>
              </a:ext>
            </a:extLst>
          </p:cNvPr>
          <p:cNvPicPr>
            <a:picLocks noChangeAspect="1"/>
          </p:cNvPicPr>
          <p:nvPr/>
        </p:nvPicPr>
        <p:blipFill>
          <a:blip r:embed="rId3"/>
          <a:stretch>
            <a:fillRect/>
          </a:stretch>
        </p:blipFill>
        <p:spPr>
          <a:xfrm>
            <a:off x="728132" y="1835255"/>
            <a:ext cx="10150720" cy="2812024"/>
          </a:xfrm>
          <a:prstGeom prst="rect">
            <a:avLst/>
          </a:prstGeom>
        </p:spPr>
      </p:pic>
      <p:sp>
        <p:nvSpPr>
          <p:cNvPr id="12" name="Rectangle 11">
            <a:extLst>
              <a:ext uri="{FF2B5EF4-FFF2-40B4-BE49-F238E27FC236}">
                <a16:creationId xmlns:a16="http://schemas.microsoft.com/office/drawing/2014/main" id="{459F23A9-6B3C-ACE8-F418-C00FBBC365F3}"/>
              </a:ext>
            </a:extLst>
          </p:cNvPr>
          <p:cNvSpPr/>
          <p:nvPr/>
        </p:nvSpPr>
        <p:spPr>
          <a:xfrm>
            <a:off x="542786" y="3897745"/>
            <a:ext cx="10605505" cy="3651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7143542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A69E41C-52D2-8F88-2CF3-22B10B9B2C6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86B41C7-53CD-1C96-49BD-110F3F108E7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092031C-6A8E-FB6D-A754-81249CC0783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73</a:t>
            </a:fld>
            <a:endParaRPr/>
          </a:p>
        </p:txBody>
      </p:sp>
      <p:grpSp>
        <p:nvGrpSpPr>
          <p:cNvPr id="2" name="Group 1">
            <a:extLst>
              <a:ext uri="{FF2B5EF4-FFF2-40B4-BE49-F238E27FC236}">
                <a16:creationId xmlns:a16="http://schemas.microsoft.com/office/drawing/2014/main" id="{39C65441-64A0-4EC7-7FD3-2490F28B2A64}"/>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9D01F314-14D7-85AD-DCFC-3EA7C4FC6CF5}"/>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4.3.5. Wildcard (**) route cho Not Found page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5A67EDF-99DC-945D-728C-FE7E002C217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7F0A4CC-CAFE-703F-042E-F0F83F27057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20150E1-4321-19F0-3AC8-2AD0057E7AF3}"/>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B1725B0-A8AF-0AD2-287B-CAFAC51DFD8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1" name="TextBox 10">
            <a:extLst>
              <a:ext uri="{FF2B5EF4-FFF2-40B4-BE49-F238E27FC236}">
                <a16:creationId xmlns:a16="http://schemas.microsoft.com/office/drawing/2014/main" id="{F71D1954-9CD3-3BA5-F549-99CF33C1B615}"/>
              </a:ext>
            </a:extLst>
          </p:cNvPr>
          <p:cNvSpPr txBox="1"/>
          <p:nvPr/>
        </p:nvSpPr>
        <p:spPr>
          <a:xfrm>
            <a:off x="542786" y="841012"/>
            <a:ext cx="10990005" cy="1133965"/>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4: Thử nghiệm truy suất vào một page không tồn tại trong hệ thống, ví dụ trang admin:</a:t>
            </a:r>
            <a:endParaRPr lang="vi-VN" sz="240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890B9A63-7DE5-0208-6E06-4869D743B46D}"/>
              </a:ext>
            </a:extLst>
          </p:cNvPr>
          <p:cNvPicPr>
            <a:picLocks noChangeAspect="1"/>
          </p:cNvPicPr>
          <p:nvPr/>
        </p:nvPicPr>
        <p:blipFill>
          <a:blip r:embed="rId3"/>
          <a:stretch>
            <a:fillRect/>
          </a:stretch>
        </p:blipFill>
        <p:spPr>
          <a:xfrm>
            <a:off x="2855481" y="1521123"/>
            <a:ext cx="7745603" cy="4553592"/>
          </a:xfrm>
          <a:prstGeom prst="rect">
            <a:avLst/>
          </a:prstGeom>
        </p:spPr>
      </p:pic>
    </p:spTree>
    <p:extLst>
      <p:ext uri="{BB962C8B-B14F-4D97-AF65-F5344CB8AC3E}">
        <p14:creationId xmlns:p14="http://schemas.microsoft.com/office/powerpoint/2010/main" val="28161546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86E63D24-3F73-FF62-F020-AB40A8D88BE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62394A2-6F21-94D6-DB6A-6CCB2B6F0C0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88529F3-7625-8607-9D36-9DCAFCBDE24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74</a:t>
            </a:fld>
            <a:endParaRPr/>
          </a:p>
        </p:txBody>
      </p:sp>
      <p:grpSp>
        <p:nvGrpSpPr>
          <p:cNvPr id="2" name="Group 1">
            <a:extLst>
              <a:ext uri="{FF2B5EF4-FFF2-40B4-BE49-F238E27FC236}">
                <a16:creationId xmlns:a16="http://schemas.microsoft.com/office/drawing/2014/main" id="{31866A07-6E5C-928C-6A83-A91057876D69}"/>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A9CE58FA-05BA-2325-82A9-77EFA567E1D7}"/>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4.3.5. Wildcard (**) route cho Not Found page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A874C26-7F5B-BBBD-56DA-F0F31D586AD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DF7EA6A-5A0B-9CA6-CAB9-A106B868387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648960A-24C5-CB96-83ED-095C92737F3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BC49260-C776-87EA-41A8-ECEA95013C9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1" name="TextBox 10">
            <a:extLst>
              <a:ext uri="{FF2B5EF4-FFF2-40B4-BE49-F238E27FC236}">
                <a16:creationId xmlns:a16="http://schemas.microsoft.com/office/drawing/2014/main" id="{479499F4-97CC-A546-ED11-391365F3F56E}"/>
              </a:ext>
            </a:extLst>
          </p:cNvPr>
          <p:cNvSpPr txBox="1"/>
          <p:nvPr/>
        </p:nvSpPr>
        <p:spPr>
          <a:xfrm>
            <a:off x="542786" y="841012"/>
            <a:ext cx="10990005" cy="1687963"/>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5: Lưu ý về trang chủ mặc định khi chạy, để tránh bị lỗi Not Found 404</a:t>
            </a:r>
          </a:p>
          <a:p>
            <a:pPr algn="just">
              <a:lnSpc>
                <a:spcPct val="150000"/>
              </a:lnSpc>
            </a:pPr>
            <a:r>
              <a:rPr lang="en-US" sz="2400">
                <a:latin typeface="Times New Roman" panose="02020603050405020304" pitchFamily="18" charset="0"/>
                <a:cs typeface="Times New Roman" panose="02020603050405020304" pitchFamily="18" charset="0"/>
              </a:rPr>
              <a:t>Ta muốn mặc định trang nào là trang được chạy đầu tiên khi vào hệ thống thì khai báo thêm trong Routing:</a:t>
            </a:r>
            <a:endParaRPr lang="vi-VN" sz="240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2CCFCEBF-5265-847D-E7A3-A10F7FF11534}"/>
              </a:ext>
            </a:extLst>
          </p:cNvPr>
          <p:cNvSpPr txBox="1"/>
          <p:nvPr/>
        </p:nvSpPr>
        <p:spPr>
          <a:xfrm>
            <a:off x="3496732" y="2106086"/>
            <a:ext cx="5375419" cy="392736"/>
          </a:xfrm>
          <a:prstGeom prst="rect">
            <a:avLst/>
          </a:prstGeom>
          <a:noFill/>
          <a:ln>
            <a:solidFill>
              <a:srgbClr val="002060"/>
            </a:solidFill>
          </a:ln>
        </p:spPr>
        <p:txBody>
          <a:bodyPr wrap="square">
            <a:spAutoFit/>
          </a:bodyPr>
          <a:lstStyle/>
          <a:p>
            <a:pPr>
              <a:lnSpc>
                <a:spcPts val="2250"/>
              </a:lnSpc>
              <a:buNone/>
            </a:pPr>
            <a:r>
              <a:rPr lang="en-US" sz="2400" b="0">
                <a:solidFill>
                  <a:srgbClr val="000000"/>
                </a:solidFill>
                <a:effectLst/>
                <a:latin typeface="Consolas" panose="020B0609020204030204" pitchFamily="49" charset="0"/>
              </a:rPr>
              <a:t>{path:</a:t>
            </a:r>
            <a:r>
              <a:rPr lang="en-US" sz="2400" b="0">
                <a:solidFill>
                  <a:srgbClr val="A31515"/>
                </a:solidFill>
                <a:effectLst/>
                <a:latin typeface="Consolas" panose="020B0609020204030204" pitchFamily="49" charset="0"/>
              </a:rPr>
              <a:t>""</a:t>
            </a:r>
            <a:r>
              <a:rPr lang="en-US" sz="2400" b="0">
                <a:solidFill>
                  <a:srgbClr val="000000"/>
                </a:solidFill>
                <a:effectLst/>
                <a:latin typeface="Consolas" panose="020B0609020204030204" pitchFamily="49" charset="0"/>
              </a:rPr>
              <a:t>,component:Contact}</a:t>
            </a:r>
          </a:p>
        </p:txBody>
      </p:sp>
      <p:sp>
        <p:nvSpPr>
          <p:cNvPr id="12" name="TextBox 11">
            <a:extLst>
              <a:ext uri="{FF2B5EF4-FFF2-40B4-BE49-F238E27FC236}">
                <a16:creationId xmlns:a16="http://schemas.microsoft.com/office/drawing/2014/main" id="{5DA1D763-779F-76D4-0B96-233B6DD08330}"/>
              </a:ext>
            </a:extLst>
          </p:cNvPr>
          <p:cNvSpPr txBox="1"/>
          <p:nvPr/>
        </p:nvSpPr>
        <p:spPr>
          <a:xfrm>
            <a:off x="564686" y="2585018"/>
            <a:ext cx="10990005" cy="1687963"/>
          </a:xfrm>
          <a:prstGeom prst="rect">
            <a:avLst/>
          </a:prstGeom>
          <a:noFill/>
        </p:spPr>
        <p:txBody>
          <a:bodyPr wrap="square">
            <a:spAutoFit/>
          </a:bodyPr>
          <a:lstStyle/>
          <a:p>
            <a:pPr algn="just">
              <a:lnSpc>
                <a:spcPct val="150000"/>
              </a:lnSpc>
            </a:pPr>
            <a:r>
              <a:rPr lang="en-US" sz="2400">
                <a:latin typeface="Times New Roman" panose="02020603050405020304" pitchFamily="18" charset="0"/>
                <a:cs typeface="Times New Roman" panose="02020603050405020304" pitchFamily="18" charset="0"/>
              </a:rPr>
              <a:t>Vì khi mặc định chạy </a:t>
            </a:r>
            <a:r>
              <a:rPr lang="en-US" sz="2400">
                <a:latin typeface="Times New Roman" panose="02020603050405020304" pitchFamily="18" charset="0"/>
                <a:cs typeface="Times New Roman" panose="02020603050405020304" pitchFamily="18" charset="0"/>
                <a:hlinkClick r:id="rId3"/>
              </a:rPr>
              <a:t>http://localhost:4200/</a:t>
            </a:r>
            <a:r>
              <a:rPr lang="en-US" sz="2400">
                <a:latin typeface="Times New Roman" panose="02020603050405020304" pitchFamily="18" charset="0"/>
                <a:cs typeface="Times New Roman" panose="02020603050405020304" pitchFamily="18" charset="0"/>
              </a:rPr>
              <a:t> , nếu không định nghĩa Routing, chương trình sẽ vào NOT FOUND. Do đó cần bổ sung path rộng ở trên và trỏ mặc định tới trang mà ta muốn chạy đầu tiên.</a:t>
            </a:r>
            <a:endParaRPr lang="vi-VN" sz="240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1EB0A456-93F9-E9D4-2A85-A848AEC6B9B6}"/>
              </a:ext>
            </a:extLst>
          </p:cNvPr>
          <p:cNvPicPr>
            <a:picLocks noChangeAspect="1"/>
          </p:cNvPicPr>
          <p:nvPr/>
        </p:nvPicPr>
        <p:blipFill>
          <a:blip r:embed="rId4"/>
          <a:stretch>
            <a:fillRect/>
          </a:stretch>
        </p:blipFill>
        <p:spPr>
          <a:xfrm>
            <a:off x="4818281" y="3747452"/>
            <a:ext cx="4737611" cy="2619542"/>
          </a:xfrm>
          <a:prstGeom prst="rect">
            <a:avLst/>
          </a:prstGeom>
        </p:spPr>
      </p:pic>
    </p:spTree>
    <p:extLst>
      <p:ext uri="{BB962C8B-B14F-4D97-AF65-F5344CB8AC3E}">
        <p14:creationId xmlns:p14="http://schemas.microsoft.com/office/powerpoint/2010/main" val="217965726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2275B71-6DA4-B881-774F-56A0BD7858B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4F0BB8F-FB64-ED3F-8CC2-193C82558FC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49657EA-3A2D-877B-096B-41F82810559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75</a:t>
            </a:fld>
            <a:endParaRPr/>
          </a:p>
        </p:txBody>
      </p:sp>
      <p:grpSp>
        <p:nvGrpSpPr>
          <p:cNvPr id="2" name="Group 1">
            <a:extLst>
              <a:ext uri="{FF2B5EF4-FFF2-40B4-BE49-F238E27FC236}">
                <a16:creationId xmlns:a16="http://schemas.microsoft.com/office/drawing/2014/main" id="{65A235BC-D527-2E17-814B-E40CD7AB844B}"/>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CD334DE2-93CA-6B81-C8A6-51D3B57A6CA0}"/>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4.4. Các kỹ thuật khác của Routing</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00E8B0D-51C7-CD46-D113-070A7CC3C76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B0F480A-3D66-FCC7-322B-327AAE204B9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0357F21-6787-EB29-4446-EEC12B0A188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E712B5C-D7C9-8757-6DF9-A11BFC0DFB3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DFAA5126-DD83-4BC8-D823-ACFE290066FC}"/>
              </a:ext>
            </a:extLst>
          </p:cNvPr>
          <p:cNvSpPr txBox="1"/>
          <p:nvPr/>
        </p:nvSpPr>
        <p:spPr>
          <a:xfrm>
            <a:off x="476030" y="788933"/>
            <a:ext cx="11564547" cy="1200329"/>
          </a:xfrm>
          <a:prstGeom prst="rect">
            <a:avLst/>
          </a:prstGeom>
          <a:noFill/>
        </p:spPr>
        <p:txBody>
          <a:bodyPr wrap="square">
            <a:spAutoFit/>
          </a:bodyPr>
          <a:lstStyle/>
          <a:p>
            <a:pPr marL="457200" indent="-457200" algn="just">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4.</a:t>
            </a:r>
            <a:r>
              <a:rPr lang="en-US" sz="2400">
                <a:latin typeface="Times New Roman" panose="02020603050405020304" pitchFamily="18" charset="0"/>
                <a:cs typeface="Times New Roman" panose="02020603050405020304" pitchFamily="18" charset="0"/>
              </a:rPr>
              <a:t>4</a:t>
            </a:r>
            <a:r>
              <a:rPr lang="vi-VN" sz="2400">
                <a:latin typeface="Times New Roman" panose="02020603050405020304" pitchFamily="18" charset="0"/>
                <a:cs typeface="Times New Roman" panose="02020603050405020304" pitchFamily="18" charset="0"/>
              </a:rPr>
              <a:t>.</a:t>
            </a:r>
            <a:r>
              <a:rPr lang="en-US" sz="2400">
                <a:latin typeface="Times New Roman" panose="02020603050405020304" pitchFamily="18" charset="0"/>
                <a:cs typeface="Times New Roman" panose="02020603050405020304" pitchFamily="18" charset="0"/>
              </a:rPr>
              <a:t>1</a:t>
            </a:r>
            <a:r>
              <a:rPr lang="vi-VN" sz="2400">
                <a:latin typeface="Times New Roman" panose="02020603050405020304" pitchFamily="18" charset="0"/>
                <a:cs typeface="Times New Roman" panose="02020603050405020304" pitchFamily="18" charset="0"/>
              </a:rPr>
              <a:t>. Nested routes (con route)</a:t>
            </a:r>
          </a:p>
          <a:p>
            <a:pPr marL="457200" indent="-457200" algn="just">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4.4.</a:t>
            </a:r>
            <a:r>
              <a:rPr lang="en-US" sz="2400">
                <a:latin typeface="Times New Roman" panose="02020603050405020304" pitchFamily="18" charset="0"/>
                <a:cs typeface="Times New Roman" panose="02020603050405020304" pitchFamily="18" charset="0"/>
              </a:rPr>
              <a:t>2</a:t>
            </a:r>
            <a:r>
              <a:rPr lang="vi-VN" sz="2400">
                <a:latin typeface="Times New Roman" panose="02020603050405020304" pitchFamily="18" charset="0"/>
                <a:cs typeface="Times New Roman" panose="02020603050405020304" pitchFamily="18" charset="0"/>
              </a:rPr>
              <a:t>. Lazy Loading Module</a:t>
            </a:r>
          </a:p>
          <a:p>
            <a:pPr marL="457200" indent="-457200" algn="just">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4.4.</a:t>
            </a:r>
            <a:r>
              <a:rPr lang="en-US" sz="2400">
                <a:latin typeface="Times New Roman" panose="02020603050405020304" pitchFamily="18" charset="0"/>
                <a:cs typeface="Times New Roman" panose="02020603050405020304" pitchFamily="18" charset="0"/>
              </a:rPr>
              <a:t>3</a:t>
            </a:r>
            <a:r>
              <a:rPr lang="vi-VN" sz="2400">
                <a:latin typeface="Times New Roman" panose="02020603050405020304" pitchFamily="18" charset="0"/>
                <a:cs typeface="Times New Roman" panose="02020603050405020304" pitchFamily="18" charset="0"/>
              </a:rPr>
              <a:t>. Guards – bảo vệ Route</a:t>
            </a:r>
          </a:p>
        </p:txBody>
      </p:sp>
    </p:spTree>
    <p:extLst>
      <p:ext uri="{BB962C8B-B14F-4D97-AF65-F5344CB8AC3E}">
        <p14:creationId xmlns:p14="http://schemas.microsoft.com/office/powerpoint/2010/main" val="219480619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07AE85F-DFF0-AF6B-84E6-08D5FC4054D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9B62FB1-637C-E49E-B0DF-75ABDE4D6C3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AF2211A-1A4E-875F-C50F-47CFE8BFF5D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76</a:t>
            </a:fld>
            <a:endParaRPr/>
          </a:p>
        </p:txBody>
      </p:sp>
      <p:grpSp>
        <p:nvGrpSpPr>
          <p:cNvPr id="2" name="Group 1">
            <a:extLst>
              <a:ext uri="{FF2B5EF4-FFF2-40B4-BE49-F238E27FC236}">
                <a16:creationId xmlns:a16="http://schemas.microsoft.com/office/drawing/2014/main" id="{28B2B298-2008-CCE8-3CC6-369C49DDADA4}"/>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42FEBA0B-79BE-1252-1F78-EC4D3FB3587A}"/>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a:t>
              </a:r>
              <a:r>
                <a:rPr lang="en-US" sz="2800">
                  <a:latin typeface="Times New Roman" panose="02020603050405020304" pitchFamily="18" charset="0"/>
                  <a:cs typeface="Times New Roman" panose="02020603050405020304" pitchFamily="18" charset="0"/>
                </a:rPr>
                <a:t>4</a:t>
              </a:r>
              <a:r>
                <a:rPr lang="vi-VN" sz="2800">
                  <a:latin typeface="Times New Roman" panose="02020603050405020304" pitchFamily="18" charset="0"/>
                  <a:cs typeface="Times New Roman" panose="02020603050405020304" pitchFamily="18" charset="0"/>
                </a:rPr>
                <a:t>.</a:t>
              </a:r>
              <a:r>
                <a:rPr lang="en-US" sz="2800">
                  <a:latin typeface="Times New Roman" panose="02020603050405020304" pitchFamily="18" charset="0"/>
                  <a:cs typeface="Times New Roman" panose="02020603050405020304" pitchFamily="18" charset="0"/>
                </a:rPr>
                <a:t>1</a:t>
              </a:r>
              <a:r>
                <a:rPr lang="vi-VN" sz="2800">
                  <a:latin typeface="Times New Roman" panose="02020603050405020304" pitchFamily="18" charset="0"/>
                  <a:cs typeface="Times New Roman" panose="02020603050405020304" pitchFamily="18" charset="0"/>
                </a:rPr>
                <a:t>. Nested routes (route</a:t>
              </a:r>
              <a:r>
                <a:rPr lang="en-US" sz="2800">
                  <a:latin typeface="Times New Roman" panose="02020603050405020304" pitchFamily="18" charset="0"/>
                  <a:cs typeface="Times New Roman" panose="02020603050405020304" pitchFamily="18" charset="0"/>
                </a:rPr>
                <a:t> lồng nhau</a:t>
              </a:r>
              <a:r>
                <a:rPr lang="vi-VN" sz="2800">
                  <a:latin typeface="Times New Roman" panose="02020603050405020304" pitchFamily="18" charset="0"/>
                  <a:cs typeface="Times New Roman" panose="02020603050405020304" pitchFamily="18" charset="0"/>
                </a:rPr>
                <a: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CEEAAA16-A39E-2D98-A22C-E80DAB0A344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7925937-3592-B2D0-A532-3899CBFF2E8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AB89951-DD5B-051D-E26A-9968C75DE16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ACC0980-CD3A-DA40-CEB8-E8690D3201B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CD10F6C1-1A61-C226-FBDF-C83C5C23E8FA}"/>
              </a:ext>
            </a:extLst>
          </p:cNvPr>
          <p:cNvSpPr txBox="1"/>
          <p:nvPr/>
        </p:nvSpPr>
        <p:spPr>
          <a:xfrm>
            <a:off x="542786" y="945803"/>
            <a:ext cx="11382514" cy="3349956"/>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vi-VN" sz="2400">
                <a:latin typeface="+mj-lt"/>
              </a:rPr>
              <a:t>Nested Routes cho phép hiển thị các Component lồng nhau. Component cha sẽ đóng vai trò như một khung (layout) và các Component con sẽ hiển thị vào vị trí của thẻ </a:t>
            </a:r>
            <a:r>
              <a:rPr lang="vi-VN" sz="2400" b="1">
                <a:latin typeface="+mj-lt"/>
              </a:rPr>
              <a:t>&lt;router-outlet&gt; </a:t>
            </a:r>
            <a:r>
              <a:rPr lang="vi-VN" sz="2400">
                <a:latin typeface="+mj-lt"/>
              </a:rPr>
              <a:t>nằm trong cha.</a:t>
            </a:r>
          </a:p>
          <a:p>
            <a:pPr marL="342900" indent="-342900" algn="just">
              <a:lnSpc>
                <a:spcPct val="150000"/>
              </a:lnSpc>
              <a:buFont typeface="Wingdings" panose="05000000000000000000" pitchFamily="2" charset="2"/>
              <a:buChar char="ü"/>
            </a:pPr>
            <a:r>
              <a:rPr lang="vi-VN" sz="2400" b="1">
                <a:latin typeface="+mj-lt"/>
              </a:rPr>
              <a:t>Cấu trúc:</a:t>
            </a:r>
            <a:r>
              <a:rPr lang="vi-VN" sz="2400">
                <a:latin typeface="+mj-lt"/>
              </a:rPr>
              <a:t> Sử dụng mảng children bên trong đối tượng Route cha.</a:t>
            </a:r>
          </a:p>
          <a:p>
            <a:pPr marL="342900" indent="-342900" algn="just">
              <a:lnSpc>
                <a:spcPct val="150000"/>
              </a:lnSpc>
              <a:buFont typeface="Wingdings" panose="05000000000000000000" pitchFamily="2" charset="2"/>
              <a:buChar char="ü"/>
            </a:pPr>
            <a:r>
              <a:rPr lang="vi-VN" sz="2400" b="1">
                <a:latin typeface="+mj-lt"/>
              </a:rPr>
              <a:t>Ứng dụng:</a:t>
            </a:r>
            <a:r>
              <a:rPr lang="vi-VN" sz="2400">
                <a:latin typeface="+mj-lt"/>
              </a:rPr>
              <a:t> Thường dùng cho các trang Dashboard, quản trị (Admin) hoặc các trang có Tabs.</a:t>
            </a:r>
          </a:p>
        </p:txBody>
      </p:sp>
    </p:spTree>
    <p:extLst>
      <p:ext uri="{BB962C8B-B14F-4D97-AF65-F5344CB8AC3E}">
        <p14:creationId xmlns:p14="http://schemas.microsoft.com/office/powerpoint/2010/main" val="243880518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1DE1F95-1812-39AF-9F96-D9925493C8F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D8419CF-C430-B659-984B-FA68B22575CC}"/>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BC0DCAE-639C-819A-09BD-4F10D999668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77</a:t>
            </a:fld>
            <a:endParaRPr/>
          </a:p>
        </p:txBody>
      </p:sp>
      <p:grpSp>
        <p:nvGrpSpPr>
          <p:cNvPr id="2" name="Group 1">
            <a:extLst>
              <a:ext uri="{FF2B5EF4-FFF2-40B4-BE49-F238E27FC236}">
                <a16:creationId xmlns:a16="http://schemas.microsoft.com/office/drawing/2014/main" id="{53170EAF-64B3-D128-0D8D-947B406A0066}"/>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A6772C38-0145-FF0B-6580-196AD96FC830}"/>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a:t>
              </a:r>
              <a:r>
                <a:rPr lang="en-US" sz="2800">
                  <a:latin typeface="Times New Roman" panose="02020603050405020304" pitchFamily="18" charset="0"/>
                  <a:cs typeface="Times New Roman" panose="02020603050405020304" pitchFamily="18" charset="0"/>
                </a:rPr>
                <a:t>4</a:t>
              </a:r>
              <a:r>
                <a:rPr lang="vi-VN" sz="2800">
                  <a:latin typeface="Times New Roman" panose="02020603050405020304" pitchFamily="18" charset="0"/>
                  <a:cs typeface="Times New Roman" panose="02020603050405020304" pitchFamily="18" charset="0"/>
                </a:rPr>
                <a:t>.</a:t>
              </a:r>
              <a:r>
                <a:rPr lang="en-US" sz="2800">
                  <a:latin typeface="Times New Roman" panose="02020603050405020304" pitchFamily="18" charset="0"/>
                  <a:cs typeface="Times New Roman" panose="02020603050405020304" pitchFamily="18" charset="0"/>
                </a:rPr>
                <a:t>1</a:t>
              </a:r>
              <a:r>
                <a:rPr lang="vi-VN" sz="2800">
                  <a:latin typeface="Times New Roman" panose="02020603050405020304" pitchFamily="18" charset="0"/>
                  <a:cs typeface="Times New Roman" panose="02020603050405020304" pitchFamily="18" charset="0"/>
                </a:rPr>
                <a:t>. Nested routes (route</a:t>
              </a:r>
              <a:r>
                <a:rPr lang="en-US" sz="2800">
                  <a:latin typeface="Times New Roman" panose="02020603050405020304" pitchFamily="18" charset="0"/>
                  <a:cs typeface="Times New Roman" panose="02020603050405020304" pitchFamily="18" charset="0"/>
                </a:rPr>
                <a:t> lồng nhau</a:t>
              </a:r>
              <a:r>
                <a:rPr lang="vi-VN" sz="2800">
                  <a:latin typeface="Times New Roman" panose="02020603050405020304" pitchFamily="18" charset="0"/>
                  <a:cs typeface="Times New Roman" panose="02020603050405020304" pitchFamily="18" charset="0"/>
                </a:rPr>
                <a: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15F59B1-E9B8-F27A-AA80-41AEAB960DA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534F6FB-D1E7-4823-88C3-1F4C0650D3B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8C97135-11BB-31C6-B6DC-D1CB9497B49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3818AF9-2C86-6A9D-0A89-70360A78052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939FD5F6-958C-0004-2F47-9E0370C9DE75}"/>
              </a:ext>
            </a:extLst>
          </p:cNvPr>
          <p:cNvSpPr txBox="1"/>
          <p:nvPr/>
        </p:nvSpPr>
        <p:spPr>
          <a:xfrm>
            <a:off x="415252" y="714060"/>
            <a:ext cx="11382514" cy="579582"/>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 Xem cấu trúc nested routes của </a:t>
            </a:r>
            <a:r>
              <a:rPr lang="en-US" sz="2400" b="1">
                <a:latin typeface="Times New Roman" panose="02020603050405020304" pitchFamily="18" charset="0"/>
                <a:cs typeface="Times New Roman" panose="02020603050405020304" pitchFamily="18" charset="0"/>
              </a:rPr>
              <a:t>samplenested</a:t>
            </a:r>
            <a:endParaRPr lang="vi-VN" sz="2400" b="1">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4018E4BE-EE29-36EA-CA7E-5563234CB621}"/>
              </a:ext>
            </a:extLst>
          </p:cNvPr>
          <p:cNvPicPr>
            <a:picLocks noChangeAspect="1"/>
          </p:cNvPicPr>
          <p:nvPr/>
        </p:nvPicPr>
        <p:blipFill>
          <a:blip r:embed="rId3"/>
          <a:stretch>
            <a:fillRect/>
          </a:stretch>
        </p:blipFill>
        <p:spPr>
          <a:xfrm>
            <a:off x="542786" y="1293642"/>
            <a:ext cx="10631977" cy="4980146"/>
          </a:xfrm>
          <a:prstGeom prst="rect">
            <a:avLst/>
          </a:prstGeom>
        </p:spPr>
      </p:pic>
      <p:sp>
        <p:nvSpPr>
          <p:cNvPr id="11" name="Rectangle 10">
            <a:extLst>
              <a:ext uri="{FF2B5EF4-FFF2-40B4-BE49-F238E27FC236}">
                <a16:creationId xmlns:a16="http://schemas.microsoft.com/office/drawing/2014/main" id="{6FC45454-ADBA-52F1-F7EB-FCA91C60FFD9}"/>
              </a:ext>
            </a:extLst>
          </p:cNvPr>
          <p:cNvSpPr/>
          <p:nvPr/>
        </p:nvSpPr>
        <p:spPr>
          <a:xfrm>
            <a:off x="662940" y="3589020"/>
            <a:ext cx="10631977" cy="21869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572222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8482D27-F7DA-161E-7761-D417EB92987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06F1DB5-37D7-A59D-2263-A689B898CA8C}"/>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90E3CF1-2DC6-C4CF-B2FE-AA036B4804F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78</a:t>
            </a:fld>
            <a:endParaRPr/>
          </a:p>
        </p:txBody>
      </p:sp>
      <p:grpSp>
        <p:nvGrpSpPr>
          <p:cNvPr id="2" name="Group 1">
            <a:extLst>
              <a:ext uri="{FF2B5EF4-FFF2-40B4-BE49-F238E27FC236}">
                <a16:creationId xmlns:a16="http://schemas.microsoft.com/office/drawing/2014/main" id="{534CDD1B-F79C-9F68-5B86-FD7B719AC48E}"/>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79AECADC-7935-3533-EA23-C73FA97B03D0}"/>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a:t>
              </a:r>
              <a:r>
                <a:rPr lang="en-US" sz="2800">
                  <a:latin typeface="Times New Roman" panose="02020603050405020304" pitchFamily="18" charset="0"/>
                  <a:cs typeface="Times New Roman" panose="02020603050405020304" pitchFamily="18" charset="0"/>
                </a:rPr>
                <a:t>4</a:t>
              </a:r>
              <a:r>
                <a:rPr lang="vi-VN" sz="2800">
                  <a:latin typeface="Times New Roman" panose="02020603050405020304" pitchFamily="18" charset="0"/>
                  <a:cs typeface="Times New Roman" panose="02020603050405020304" pitchFamily="18" charset="0"/>
                </a:rPr>
                <a:t>.</a:t>
              </a:r>
              <a:r>
                <a:rPr lang="en-US" sz="2800">
                  <a:latin typeface="Times New Roman" panose="02020603050405020304" pitchFamily="18" charset="0"/>
                  <a:cs typeface="Times New Roman" panose="02020603050405020304" pitchFamily="18" charset="0"/>
                </a:rPr>
                <a:t>1</a:t>
              </a:r>
              <a:r>
                <a:rPr lang="vi-VN" sz="2800">
                  <a:latin typeface="Times New Roman" panose="02020603050405020304" pitchFamily="18" charset="0"/>
                  <a:cs typeface="Times New Roman" panose="02020603050405020304" pitchFamily="18" charset="0"/>
                </a:rPr>
                <a:t>. Nested routes (route</a:t>
              </a:r>
              <a:r>
                <a:rPr lang="en-US" sz="2800">
                  <a:latin typeface="Times New Roman" panose="02020603050405020304" pitchFamily="18" charset="0"/>
                  <a:cs typeface="Times New Roman" panose="02020603050405020304" pitchFamily="18" charset="0"/>
                </a:rPr>
                <a:t> lồng nhau</a:t>
              </a:r>
              <a:r>
                <a:rPr lang="vi-VN" sz="2800">
                  <a:latin typeface="Times New Roman" panose="02020603050405020304" pitchFamily="18" charset="0"/>
                  <a:cs typeface="Times New Roman" panose="02020603050405020304" pitchFamily="18" charset="0"/>
                </a:rPr>
                <a: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295D18A-EE54-5574-7C8E-A8DDF47C7D9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925E9B2-C503-E349-F0D2-89155C5399B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CBEB077-7ED6-1FBF-2ED1-53480830768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8F37E59-52D6-C35D-05FF-08BC03D2A78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FB98D80D-4CAA-328E-3F4A-38BF1A86163B}"/>
              </a:ext>
            </a:extLst>
          </p:cNvPr>
          <p:cNvSpPr txBox="1"/>
          <p:nvPr/>
        </p:nvSpPr>
        <p:spPr>
          <a:xfrm>
            <a:off x="415252" y="714060"/>
            <a:ext cx="11382514" cy="2795958"/>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Bổ sung </a:t>
            </a:r>
            <a:r>
              <a:rPr lang="en-US" sz="2400" b="1">
                <a:latin typeface="Times New Roman" panose="02020603050405020304" pitchFamily="18" charset="0"/>
                <a:cs typeface="Times New Roman" panose="02020603050405020304" pitchFamily="18" charset="0"/>
              </a:rPr>
              <a:t>router-outlet</a:t>
            </a:r>
            <a:r>
              <a:rPr lang="en-US" sz="2400">
                <a:latin typeface="Times New Roman" panose="02020603050405020304" pitchFamily="18" charset="0"/>
                <a:cs typeface="Times New Roman" panose="02020603050405020304" pitchFamily="18" charset="0"/>
              </a:rPr>
              <a:t> cho </a:t>
            </a:r>
            <a:r>
              <a:rPr lang="en-US" sz="2400" b="1">
                <a:latin typeface="Times New Roman" panose="02020603050405020304" pitchFamily="18" charset="0"/>
                <a:cs typeface="Times New Roman" panose="02020603050405020304" pitchFamily="18" charset="0"/>
              </a:rPr>
              <a:t>product-list-advanced-component</a:t>
            </a:r>
            <a:r>
              <a:rPr lang="en-US" sz="2400">
                <a:latin typeface="Times New Roman" panose="02020603050405020304" pitchFamily="18" charset="0"/>
                <a:cs typeface="Times New Roman" panose="02020603050405020304" pitchFamily="18" charset="0"/>
              </a:rPr>
              <a:t>.html. Ta muốn các route con </a:t>
            </a:r>
            <a:r>
              <a:rPr lang="en-US" sz="2400" b="1">
                <a:latin typeface="Times New Roman" panose="02020603050405020304" pitchFamily="18" charset="0"/>
                <a:cs typeface="Times New Roman" panose="02020603050405020304" pitchFamily="18" charset="0"/>
              </a:rPr>
              <a:t>ProductListSearchComponent </a:t>
            </a:r>
            <a:r>
              <a:rPr lang="en-US" sz="2400">
                <a:latin typeface="Times New Roman" panose="02020603050405020304" pitchFamily="18" charset="0"/>
                <a:cs typeface="Times New Roman" panose="02020603050405020304" pitchFamily="18" charset="0"/>
              </a:rPr>
              <a:t>và </a:t>
            </a:r>
            <a:r>
              <a:rPr lang="en-US" sz="2400" b="1">
                <a:latin typeface="Times New Roman" panose="02020603050405020304" pitchFamily="18" charset="0"/>
                <a:cs typeface="Times New Roman" panose="02020603050405020304" pitchFamily="18" charset="0"/>
              </a:rPr>
              <a:t>ProductDetailComponent</a:t>
            </a:r>
            <a:r>
              <a:rPr lang="en-US" sz="2400">
                <a:latin typeface="Times New Roman" panose="02020603050405020304" pitchFamily="18" charset="0"/>
                <a:cs typeface="Times New Roman" panose="02020603050405020304" pitchFamily="18" charset="0"/>
              </a:rPr>
              <a:t> nằm ở vị trí nào trong product-list-advanced-component thì ta đặt &lt;router-outlet&gt;&lt;/router-outlet&gt; ở đó. Giả sử bài học này ta đặt ở </a:t>
            </a:r>
            <a:r>
              <a:rPr lang="en-US" sz="2400" b="1">
                <a:latin typeface="Times New Roman" panose="02020603050405020304" pitchFamily="18" charset="0"/>
                <a:cs typeface="Times New Roman" panose="02020603050405020304" pitchFamily="18" charset="0"/>
              </a:rPr>
              <a:t>dòng cuối cùng </a:t>
            </a:r>
            <a:r>
              <a:rPr lang="en-US" sz="2400">
                <a:latin typeface="Times New Roman" panose="02020603050405020304" pitchFamily="18" charset="0"/>
                <a:cs typeface="Times New Roman" panose="02020603050405020304" pitchFamily="18" charset="0"/>
              </a:rPr>
              <a:t>của product-list-advanced-component.html</a:t>
            </a:r>
            <a:endParaRPr lang="vi-VN" sz="2400" b="1">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02720544-82E7-C949-ED63-F87616066D64}"/>
              </a:ext>
            </a:extLst>
          </p:cNvPr>
          <p:cNvPicPr>
            <a:picLocks noChangeAspect="1"/>
          </p:cNvPicPr>
          <p:nvPr/>
        </p:nvPicPr>
        <p:blipFill>
          <a:blip r:embed="rId3"/>
          <a:stretch>
            <a:fillRect/>
          </a:stretch>
        </p:blipFill>
        <p:spPr>
          <a:xfrm>
            <a:off x="3303022" y="3087611"/>
            <a:ext cx="5723116" cy="2812024"/>
          </a:xfrm>
          <a:prstGeom prst="rect">
            <a:avLst/>
          </a:prstGeom>
        </p:spPr>
      </p:pic>
      <p:sp>
        <p:nvSpPr>
          <p:cNvPr id="13" name="Rectangle 12">
            <a:extLst>
              <a:ext uri="{FF2B5EF4-FFF2-40B4-BE49-F238E27FC236}">
                <a16:creationId xmlns:a16="http://schemas.microsoft.com/office/drawing/2014/main" id="{5ADA0FE0-D554-B1F1-67C9-CA9F9DA69A46}"/>
              </a:ext>
            </a:extLst>
          </p:cNvPr>
          <p:cNvSpPr/>
          <p:nvPr/>
        </p:nvSpPr>
        <p:spPr>
          <a:xfrm>
            <a:off x="3406140" y="5562755"/>
            <a:ext cx="5852160" cy="44545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6527826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9C4FC8F-5740-931F-D8A0-3DE07B87ED8E}"/>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0A716C69-9739-05FC-3198-2F016E239ED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48B4064-C402-9DCA-A6FA-8617528D11C3}"/>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79</a:t>
            </a:fld>
            <a:endParaRPr/>
          </a:p>
        </p:txBody>
      </p:sp>
      <p:grpSp>
        <p:nvGrpSpPr>
          <p:cNvPr id="2" name="Group 1">
            <a:extLst>
              <a:ext uri="{FF2B5EF4-FFF2-40B4-BE49-F238E27FC236}">
                <a16:creationId xmlns:a16="http://schemas.microsoft.com/office/drawing/2014/main" id="{3E3DAE5B-FDA8-0DCF-ABA7-F87D224F1722}"/>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211BED82-E6F1-3AAB-4848-294CA67D861D}"/>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a:t>
              </a:r>
              <a:r>
                <a:rPr lang="en-US" sz="2800">
                  <a:latin typeface="Times New Roman" panose="02020603050405020304" pitchFamily="18" charset="0"/>
                  <a:cs typeface="Times New Roman" panose="02020603050405020304" pitchFamily="18" charset="0"/>
                </a:rPr>
                <a:t>4</a:t>
              </a:r>
              <a:r>
                <a:rPr lang="vi-VN" sz="2800">
                  <a:latin typeface="Times New Roman" panose="02020603050405020304" pitchFamily="18" charset="0"/>
                  <a:cs typeface="Times New Roman" panose="02020603050405020304" pitchFamily="18" charset="0"/>
                </a:rPr>
                <a:t>.</a:t>
              </a:r>
              <a:r>
                <a:rPr lang="en-US" sz="2800">
                  <a:latin typeface="Times New Roman" panose="02020603050405020304" pitchFamily="18" charset="0"/>
                  <a:cs typeface="Times New Roman" panose="02020603050405020304" pitchFamily="18" charset="0"/>
                </a:rPr>
                <a:t>1</a:t>
              </a:r>
              <a:r>
                <a:rPr lang="vi-VN" sz="2800">
                  <a:latin typeface="Times New Roman" panose="02020603050405020304" pitchFamily="18" charset="0"/>
                  <a:cs typeface="Times New Roman" panose="02020603050405020304" pitchFamily="18" charset="0"/>
                </a:rPr>
                <a:t>. Nested routes (route</a:t>
              </a:r>
              <a:r>
                <a:rPr lang="en-US" sz="2800">
                  <a:latin typeface="Times New Roman" panose="02020603050405020304" pitchFamily="18" charset="0"/>
                  <a:cs typeface="Times New Roman" panose="02020603050405020304" pitchFamily="18" charset="0"/>
                </a:rPr>
                <a:t> lồng nhau</a:t>
              </a:r>
              <a:r>
                <a:rPr lang="vi-VN" sz="2800">
                  <a:latin typeface="Times New Roman" panose="02020603050405020304" pitchFamily="18" charset="0"/>
                  <a:cs typeface="Times New Roman" panose="02020603050405020304" pitchFamily="18" charset="0"/>
                </a:rPr>
                <a: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F4F7316-04E9-7083-50BB-CA2676EC7F1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B6EF794-A681-407D-4920-5DA271B39C9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168DC19-99DF-D5D6-93A2-D5A693A281A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1A754A6-D15C-5405-2D59-88BD43E5308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96B5221B-A88A-A549-5126-AA0C9BF577ED}"/>
              </a:ext>
            </a:extLst>
          </p:cNvPr>
          <p:cNvSpPr txBox="1"/>
          <p:nvPr/>
        </p:nvSpPr>
        <p:spPr>
          <a:xfrm>
            <a:off x="415252" y="714060"/>
            <a:ext cx="11382514"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3: app.html</a:t>
            </a:r>
            <a:endParaRPr lang="vi-VN" sz="2400" b="1">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FD0A9D4B-B197-AF29-2CDB-BF590C042DB1}"/>
              </a:ext>
            </a:extLst>
          </p:cNvPr>
          <p:cNvPicPr>
            <a:picLocks noChangeAspect="1"/>
          </p:cNvPicPr>
          <p:nvPr/>
        </p:nvPicPr>
        <p:blipFill>
          <a:blip r:embed="rId3"/>
          <a:stretch>
            <a:fillRect/>
          </a:stretch>
        </p:blipFill>
        <p:spPr>
          <a:xfrm>
            <a:off x="2163722" y="1607466"/>
            <a:ext cx="8260796" cy="4404742"/>
          </a:xfrm>
          <a:prstGeom prst="rect">
            <a:avLst/>
          </a:prstGeom>
        </p:spPr>
      </p:pic>
    </p:spTree>
    <p:extLst>
      <p:ext uri="{BB962C8B-B14F-4D97-AF65-F5344CB8AC3E}">
        <p14:creationId xmlns:p14="http://schemas.microsoft.com/office/powerpoint/2010/main" val="207907532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F0ACE36-844C-F14A-F1DA-109370A4EA4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1F12E5A-3CB0-6DC8-06A4-3C5EDB49575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2C66F22-8F67-337D-CDFF-68C30E6F910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80</a:t>
            </a:fld>
            <a:endParaRPr/>
          </a:p>
        </p:txBody>
      </p:sp>
      <p:grpSp>
        <p:nvGrpSpPr>
          <p:cNvPr id="2" name="Group 1">
            <a:extLst>
              <a:ext uri="{FF2B5EF4-FFF2-40B4-BE49-F238E27FC236}">
                <a16:creationId xmlns:a16="http://schemas.microsoft.com/office/drawing/2014/main" id="{FDE6EBE1-9544-1D74-0A79-76A1D6E1163A}"/>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02B863D1-5947-8744-EAED-9C238BA2445A}"/>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a:t>
              </a:r>
              <a:r>
                <a:rPr lang="en-US" sz="2800">
                  <a:latin typeface="Times New Roman" panose="02020603050405020304" pitchFamily="18" charset="0"/>
                  <a:cs typeface="Times New Roman" panose="02020603050405020304" pitchFamily="18" charset="0"/>
                </a:rPr>
                <a:t>4</a:t>
              </a:r>
              <a:r>
                <a:rPr lang="vi-VN" sz="2800">
                  <a:latin typeface="Times New Roman" panose="02020603050405020304" pitchFamily="18" charset="0"/>
                  <a:cs typeface="Times New Roman" panose="02020603050405020304" pitchFamily="18" charset="0"/>
                </a:rPr>
                <a:t>.</a:t>
              </a:r>
              <a:r>
                <a:rPr lang="en-US" sz="2800">
                  <a:latin typeface="Times New Roman" panose="02020603050405020304" pitchFamily="18" charset="0"/>
                  <a:cs typeface="Times New Roman" panose="02020603050405020304" pitchFamily="18" charset="0"/>
                </a:rPr>
                <a:t>1</a:t>
              </a:r>
              <a:r>
                <a:rPr lang="vi-VN" sz="2800">
                  <a:latin typeface="Times New Roman" panose="02020603050405020304" pitchFamily="18" charset="0"/>
                  <a:cs typeface="Times New Roman" panose="02020603050405020304" pitchFamily="18" charset="0"/>
                </a:rPr>
                <a:t>. Nested routes (route</a:t>
              </a:r>
              <a:r>
                <a:rPr lang="en-US" sz="2800">
                  <a:latin typeface="Times New Roman" panose="02020603050405020304" pitchFamily="18" charset="0"/>
                  <a:cs typeface="Times New Roman" panose="02020603050405020304" pitchFamily="18" charset="0"/>
                </a:rPr>
                <a:t> lồng nhau</a:t>
              </a:r>
              <a:r>
                <a:rPr lang="vi-VN" sz="2800">
                  <a:latin typeface="Times New Roman" panose="02020603050405020304" pitchFamily="18" charset="0"/>
                  <a:cs typeface="Times New Roman" panose="02020603050405020304" pitchFamily="18" charset="0"/>
                </a:rPr>
                <a: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745D90B-4CAA-38A7-8AB5-AC53770F309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8B04C468-D1F8-BEF1-9314-987418D860F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2209C2A-9784-95ED-1091-816A1FBA558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590EB8A-A04B-99C5-779B-D42B899A733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00EADB09-D273-CE27-60F6-32DF02FA0221}"/>
              </a:ext>
            </a:extLst>
          </p:cNvPr>
          <p:cNvSpPr txBox="1"/>
          <p:nvPr/>
        </p:nvSpPr>
        <p:spPr>
          <a:xfrm>
            <a:off x="415252" y="714060"/>
            <a:ext cx="11382514"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4: chạy app.html</a:t>
            </a:r>
            <a:endParaRPr lang="vi-VN" sz="2400" b="1">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384D0E7A-B4DF-062E-A2D2-D1020A6FA91A}"/>
              </a:ext>
            </a:extLst>
          </p:cNvPr>
          <p:cNvPicPr>
            <a:picLocks noChangeAspect="1"/>
          </p:cNvPicPr>
          <p:nvPr/>
        </p:nvPicPr>
        <p:blipFill>
          <a:blip r:embed="rId3"/>
          <a:stretch>
            <a:fillRect/>
          </a:stretch>
        </p:blipFill>
        <p:spPr>
          <a:xfrm>
            <a:off x="564686" y="1445028"/>
            <a:ext cx="4658345" cy="4984335"/>
          </a:xfrm>
          <a:prstGeom prst="rect">
            <a:avLst/>
          </a:prstGeom>
        </p:spPr>
      </p:pic>
      <p:sp>
        <p:nvSpPr>
          <p:cNvPr id="13" name="TextBox 12">
            <a:extLst>
              <a:ext uri="{FF2B5EF4-FFF2-40B4-BE49-F238E27FC236}">
                <a16:creationId xmlns:a16="http://schemas.microsoft.com/office/drawing/2014/main" id="{93934887-2113-69CE-2241-7687B1FA25F3}"/>
              </a:ext>
            </a:extLst>
          </p:cNvPr>
          <p:cNvSpPr txBox="1"/>
          <p:nvPr/>
        </p:nvSpPr>
        <p:spPr>
          <a:xfrm>
            <a:off x="802201" y="4219992"/>
            <a:ext cx="4295579" cy="400110"/>
          </a:xfrm>
          <a:prstGeom prst="rect">
            <a:avLst/>
          </a:prstGeom>
          <a:noFill/>
        </p:spPr>
        <p:txBody>
          <a:bodyPr wrap="square">
            <a:spAutoFit/>
          </a:bodyPr>
          <a:lstStyle/>
          <a:p>
            <a:r>
              <a:rPr lang="en-US" sz="2000"/>
              <a:t>http://localhost:4200/samplenested</a:t>
            </a:r>
          </a:p>
        </p:txBody>
      </p:sp>
      <p:pic>
        <p:nvPicPr>
          <p:cNvPr id="15" name="Picture 14">
            <a:extLst>
              <a:ext uri="{FF2B5EF4-FFF2-40B4-BE49-F238E27FC236}">
                <a16:creationId xmlns:a16="http://schemas.microsoft.com/office/drawing/2014/main" id="{87EEAE6F-30ED-6F4F-22C4-B99A63C83DA0}"/>
              </a:ext>
            </a:extLst>
          </p:cNvPr>
          <p:cNvPicPr>
            <a:picLocks noChangeAspect="1"/>
          </p:cNvPicPr>
          <p:nvPr/>
        </p:nvPicPr>
        <p:blipFill>
          <a:blip r:embed="rId4"/>
          <a:stretch>
            <a:fillRect/>
          </a:stretch>
        </p:blipFill>
        <p:spPr>
          <a:xfrm>
            <a:off x="5811080" y="1212893"/>
            <a:ext cx="5578719" cy="5448603"/>
          </a:xfrm>
          <a:prstGeom prst="rect">
            <a:avLst/>
          </a:prstGeom>
        </p:spPr>
      </p:pic>
      <p:sp>
        <p:nvSpPr>
          <p:cNvPr id="16" name="TextBox 15">
            <a:extLst>
              <a:ext uri="{FF2B5EF4-FFF2-40B4-BE49-F238E27FC236}">
                <a16:creationId xmlns:a16="http://schemas.microsoft.com/office/drawing/2014/main" id="{4032A96D-F74A-7F00-D575-46025FD4808A}"/>
              </a:ext>
            </a:extLst>
          </p:cNvPr>
          <p:cNvSpPr txBox="1"/>
          <p:nvPr/>
        </p:nvSpPr>
        <p:spPr>
          <a:xfrm>
            <a:off x="6189541" y="821950"/>
            <a:ext cx="5288185" cy="400110"/>
          </a:xfrm>
          <a:prstGeom prst="rect">
            <a:avLst/>
          </a:prstGeom>
          <a:noFill/>
        </p:spPr>
        <p:txBody>
          <a:bodyPr wrap="square">
            <a:spAutoFit/>
          </a:bodyPr>
          <a:lstStyle/>
          <a:p>
            <a:r>
              <a:rPr lang="en-US" sz="2000"/>
              <a:t>http://localhost:4200/samplenested/search</a:t>
            </a:r>
          </a:p>
        </p:txBody>
      </p:sp>
    </p:spTree>
    <p:extLst>
      <p:ext uri="{BB962C8B-B14F-4D97-AF65-F5344CB8AC3E}">
        <p14:creationId xmlns:p14="http://schemas.microsoft.com/office/powerpoint/2010/main" val="149318326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DC461A9-4C18-EC5F-73CD-52746182E2B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06A1EC5-12F7-6107-1DC4-D2A5CB5296C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042227E-347F-02E3-0744-220964B8422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81</a:t>
            </a:fld>
            <a:endParaRPr/>
          </a:p>
        </p:txBody>
      </p:sp>
      <p:grpSp>
        <p:nvGrpSpPr>
          <p:cNvPr id="2" name="Group 1">
            <a:extLst>
              <a:ext uri="{FF2B5EF4-FFF2-40B4-BE49-F238E27FC236}">
                <a16:creationId xmlns:a16="http://schemas.microsoft.com/office/drawing/2014/main" id="{7BD731DE-BC53-D561-B622-3D11B0F50E25}"/>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1566B30C-ED4D-14A8-A4C2-0593F3E2C8D4}"/>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a:latin typeface="Times New Roman" panose="02020603050405020304" pitchFamily="18" charset="0"/>
                  <a:cs typeface="Times New Roman" panose="02020603050405020304" pitchFamily="18" charset="0"/>
                </a:rPr>
                <a:t>4.</a:t>
              </a:r>
              <a:r>
                <a:rPr lang="en-US" sz="2800">
                  <a:latin typeface="Times New Roman" panose="02020603050405020304" pitchFamily="18" charset="0"/>
                  <a:cs typeface="Times New Roman" panose="02020603050405020304" pitchFamily="18" charset="0"/>
                </a:rPr>
                <a:t>4</a:t>
              </a:r>
              <a:r>
                <a:rPr lang="vi-VN" sz="2800">
                  <a:latin typeface="Times New Roman" panose="02020603050405020304" pitchFamily="18" charset="0"/>
                  <a:cs typeface="Times New Roman" panose="02020603050405020304" pitchFamily="18" charset="0"/>
                </a:rPr>
                <a:t>.</a:t>
              </a:r>
              <a:r>
                <a:rPr lang="en-US" sz="2800">
                  <a:latin typeface="Times New Roman" panose="02020603050405020304" pitchFamily="18" charset="0"/>
                  <a:cs typeface="Times New Roman" panose="02020603050405020304" pitchFamily="18" charset="0"/>
                </a:rPr>
                <a:t>1</a:t>
              </a:r>
              <a:r>
                <a:rPr lang="vi-VN" sz="2800">
                  <a:latin typeface="Times New Roman" panose="02020603050405020304" pitchFamily="18" charset="0"/>
                  <a:cs typeface="Times New Roman" panose="02020603050405020304" pitchFamily="18" charset="0"/>
                </a:rPr>
                <a:t>. Nested routes (route</a:t>
              </a:r>
              <a:r>
                <a:rPr lang="en-US" sz="2800">
                  <a:latin typeface="Times New Roman" panose="02020603050405020304" pitchFamily="18" charset="0"/>
                  <a:cs typeface="Times New Roman" panose="02020603050405020304" pitchFamily="18" charset="0"/>
                </a:rPr>
                <a:t> lồng nhau</a:t>
              </a:r>
              <a:r>
                <a:rPr lang="vi-VN" sz="2800">
                  <a:latin typeface="Times New Roman" panose="02020603050405020304" pitchFamily="18" charset="0"/>
                  <a:cs typeface="Times New Roman" panose="02020603050405020304" pitchFamily="18" charset="0"/>
                </a:rPr>
                <a:t>)</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87C9EAF4-23E7-1946-8880-8A8941B9172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476FF29-BBA2-A0DB-ADE0-E4F82F2D30E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B16C2EF-F38E-C204-D6FC-4B758C76E1E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0792E2A-2C57-F5F2-7F8A-B338AFECAAD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9842EFF8-289C-220C-059C-839B5F298011}"/>
              </a:ext>
            </a:extLst>
          </p:cNvPr>
          <p:cNvSpPr txBox="1"/>
          <p:nvPr/>
        </p:nvSpPr>
        <p:spPr>
          <a:xfrm>
            <a:off x="415252" y="714060"/>
            <a:ext cx="4583468"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4: chạy app.html</a:t>
            </a:r>
            <a:endParaRPr lang="vi-VN" sz="2400" b="1">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49133998-7CB5-88ED-ABF6-7A4ABC12B8E1}"/>
              </a:ext>
            </a:extLst>
          </p:cNvPr>
          <p:cNvPicPr>
            <a:picLocks noChangeAspect="1"/>
          </p:cNvPicPr>
          <p:nvPr/>
        </p:nvPicPr>
        <p:blipFill>
          <a:blip r:embed="rId3"/>
          <a:stretch>
            <a:fillRect/>
          </a:stretch>
        </p:blipFill>
        <p:spPr>
          <a:xfrm>
            <a:off x="564686" y="1445028"/>
            <a:ext cx="4658345" cy="4984335"/>
          </a:xfrm>
          <a:prstGeom prst="rect">
            <a:avLst/>
          </a:prstGeom>
        </p:spPr>
      </p:pic>
      <p:sp>
        <p:nvSpPr>
          <p:cNvPr id="13" name="TextBox 12">
            <a:extLst>
              <a:ext uri="{FF2B5EF4-FFF2-40B4-BE49-F238E27FC236}">
                <a16:creationId xmlns:a16="http://schemas.microsoft.com/office/drawing/2014/main" id="{CD552109-4A72-9B9C-7E62-F7412439AE5E}"/>
              </a:ext>
            </a:extLst>
          </p:cNvPr>
          <p:cNvSpPr txBox="1"/>
          <p:nvPr/>
        </p:nvSpPr>
        <p:spPr>
          <a:xfrm>
            <a:off x="802201" y="4219992"/>
            <a:ext cx="4196519" cy="400110"/>
          </a:xfrm>
          <a:prstGeom prst="rect">
            <a:avLst/>
          </a:prstGeom>
          <a:noFill/>
        </p:spPr>
        <p:txBody>
          <a:bodyPr wrap="square">
            <a:spAutoFit/>
          </a:bodyPr>
          <a:lstStyle/>
          <a:p>
            <a:r>
              <a:rPr lang="en-US" sz="2000"/>
              <a:t>http://localhost:4200/samplenested</a:t>
            </a:r>
          </a:p>
        </p:txBody>
      </p:sp>
      <p:sp>
        <p:nvSpPr>
          <p:cNvPr id="16" name="TextBox 15">
            <a:extLst>
              <a:ext uri="{FF2B5EF4-FFF2-40B4-BE49-F238E27FC236}">
                <a16:creationId xmlns:a16="http://schemas.microsoft.com/office/drawing/2014/main" id="{D918DFCB-9033-4FF2-F216-B7EBE4139807}"/>
              </a:ext>
            </a:extLst>
          </p:cNvPr>
          <p:cNvSpPr txBox="1"/>
          <p:nvPr/>
        </p:nvSpPr>
        <p:spPr>
          <a:xfrm>
            <a:off x="5407096" y="834886"/>
            <a:ext cx="6678967" cy="400110"/>
          </a:xfrm>
          <a:prstGeom prst="rect">
            <a:avLst/>
          </a:prstGeom>
          <a:noFill/>
        </p:spPr>
        <p:txBody>
          <a:bodyPr wrap="square">
            <a:spAutoFit/>
          </a:bodyPr>
          <a:lstStyle/>
          <a:p>
            <a:r>
              <a:rPr lang="en-US" sz="2000"/>
              <a:t>http://localhost:4200/samplenested/detail/4</a:t>
            </a:r>
          </a:p>
        </p:txBody>
      </p:sp>
      <p:pic>
        <p:nvPicPr>
          <p:cNvPr id="9" name="Picture 8">
            <a:extLst>
              <a:ext uri="{FF2B5EF4-FFF2-40B4-BE49-F238E27FC236}">
                <a16:creationId xmlns:a16="http://schemas.microsoft.com/office/drawing/2014/main" id="{3934E4FA-6A04-EDAB-9CAB-51F219959E71}"/>
              </a:ext>
            </a:extLst>
          </p:cNvPr>
          <p:cNvPicPr>
            <a:picLocks noChangeAspect="1"/>
          </p:cNvPicPr>
          <p:nvPr/>
        </p:nvPicPr>
        <p:blipFill>
          <a:blip r:embed="rId4"/>
          <a:srcRect b="18917"/>
          <a:stretch>
            <a:fillRect/>
          </a:stretch>
        </p:blipFill>
        <p:spPr>
          <a:xfrm>
            <a:off x="5508662" y="1332807"/>
            <a:ext cx="6577401" cy="5208776"/>
          </a:xfrm>
          <a:prstGeom prst="rect">
            <a:avLst/>
          </a:prstGeom>
        </p:spPr>
      </p:pic>
    </p:spTree>
    <p:extLst>
      <p:ext uri="{BB962C8B-B14F-4D97-AF65-F5344CB8AC3E}">
        <p14:creationId xmlns:p14="http://schemas.microsoft.com/office/powerpoint/2010/main" val="341041857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445D0E4-0A32-598A-6B2D-5B909531DA0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01B59ED-E4AE-1AF8-9F5C-F16001B8824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B1CFC00-04AE-0373-AE4D-2494614A2BC7}"/>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82</a:t>
            </a:fld>
            <a:endParaRPr/>
          </a:p>
        </p:txBody>
      </p:sp>
      <p:grpSp>
        <p:nvGrpSpPr>
          <p:cNvPr id="2" name="Group 1">
            <a:extLst>
              <a:ext uri="{FF2B5EF4-FFF2-40B4-BE49-F238E27FC236}">
                <a16:creationId xmlns:a16="http://schemas.microsoft.com/office/drawing/2014/main" id="{94B184B3-CCF5-99E4-69E2-097C299089B8}"/>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EFA55851-F2A8-CA04-2D3C-EE67BD064E66}"/>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4.4.</a:t>
              </a:r>
              <a:r>
                <a:rPr lang="en-US" sz="2800" b="1">
                  <a:latin typeface="Times New Roman" panose="02020603050405020304" pitchFamily="18" charset="0"/>
                  <a:cs typeface="Times New Roman" panose="02020603050405020304" pitchFamily="18" charset="0"/>
                </a:rPr>
                <a:t>2</a:t>
              </a:r>
              <a:r>
                <a:rPr lang="vi-VN" sz="2800" b="1">
                  <a:latin typeface="Times New Roman" panose="02020603050405020304" pitchFamily="18" charset="0"/>
                  <a:cs typeface="Times New Roman" panose="02020603050405020304" pitchFamily="18" charset="0"/>
                </a:rPr>
                <a:t>. Lazy Loading Module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FADE755-E7F3-A6F1-C47A-2B70B19F09B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B453707-0801-68A9-876B-EA101B956BF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4C335B4-8BCB-9965-00CD-FAC3CA0A6B9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54956CB-4192-3D84-2831-734FC55DEB6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8769181D-2573-0244-CB21-2ED80A1E2778}"/>
              </a:ext>
            </a:extLst>
          </p:cNvPr>
          <p:cNvSpPr txBox="1"/>
          <p:nvPr/>
        </p:nvSpPr>
        <p:spPr>
          <a:xfrm>
            <a:off x="476031" y="788933"/>
            <a:ext cx="11464510" cy="2241960"/>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vi-VN" sz="2400" b="1">
                <a:latin typeface="+mj-lt"/>
              </a:rPr>
              <a:t>Lazy Loading</a:t>
            </a:r>
            <a:r>
              <a:rPr lang="vi-VN" sz="2400">
                <a:latin typeface="+mj-lt"/>
              </a:rPr>
              <a:t> là kỹ thuật chỉ tải các Module cần thiết khi người dùng truy cập vào một lộ trình (Route) cụ thể. Thay vì tải toàn bộ mã nguồn của ứng dụng ngay từ lần đầu tiên (Eager Loading), Angular sẽ chia nhỏ ứng dụng thành các file .js riêng biệt (gọi là các </a:t>
            </a:r>
            <a:r>
              <a:rPr lang="vi-VN" sz="2400" b="1">
                <a:latin typeface="+mj-lt"/>
              </a:rPr>
              <a:t>Chunks</a:t>
            </a:r>
            <a:r>
              <a:rPr lang="vi-VN" sz="2400">
                <a:latin typeface="+mj-lt"/>
              </a:rPr>
              <a:t>).</a:t>
            </a:r>
            <a:endParaRPr lang="vi-VN" sz="2400">
              <a:latin typeface="+mj-lt"/>
              <a:cs typeface="Times New Roman" panose="02020603050405020304" pitchFamily="18" charset="0"/>
            </a:endParaRPr>
          </a:p>
        </p:txBody>
      </p:sp>
      <p:sp>
        <p:nvSpPr>
          <p:cNvPr id="8" name="Rectangle 1">
            <a:extLst>
              <a:ext uri="{FF2B5EF4-FFF2-40B4-BE49-F238E27FC236}">
                <a16:creationId xmlns:a16="http://schemas.microsoft.com/office/drawing/2014/main" id="{D49D72F2-951E-2842-FB63-19CDA087BDB5}"/>
              </a:ext>
            </a:extLst>
          </p:cNvPr>
          <p:cNvSpPr>
            <a:spLocks noChangeArrowheads="1"/>
          </p:cNvSpPr>
          <p:nvPr/>
        </p:nvSpPr>
        <p:spPr bwMode="auto">
          <a:xfrm>
            <a:off x="805706" y="3030893"/>
            <a:ext cx="10805160" cy="2570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Giảm thời gian tải trang đầu (Initial Load Time):</a:t>
            </a:r>
            <a:r>
              <a:rPr kumimoji="0" lang="en-US" altLang="en-US" sz="2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Người dùng không phải chờ tải những tính năng mà họ chưa dùng tới (ví dụ: trang Admin khi họ chỉ là khách hàng).</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Tiết kiệm băng thông:</a:t>
            </a:r>
            <a:r>
              <a:rPr kumimoji="0" lang="en-US" altLang="en-US" sz="2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Chỉ tải những gì thực sự cần thiết.</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Tối ưu tài nguyên thiết bị:</a:t>
            </a:r>
            <a:r>
              <a:rPr kumimoji="0" lang="en-US" altLang="en-US" sz="2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Giảm tải cho trình duyệt khi phải phân tích và thực thi một lượng lớn code ngay lập tức.</a:t>
            </a:r>
          </a:p>
        </p:txBody>
      </p:sp>
    </p:spTree>
    <p:extLst>
      <p:ext uri="{BB962C8B-B14F-4D97-AF65-F5344CB8AC3E}">
        <p14:creationId xmlns:p14="http://schemas.microsoft.com/office/powerpoint/2010/main" val="245108975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BA25E136-CD83-C58C-825C-80CB770716B8}"/>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FE87CC0-D706-5260-52B0-566E8DA817C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6E1DE69-F4F7-8031-A723-DFCCC3E76B8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83</a:t>
            </a:fld>
            <a:endParaRPr/>
          </a:p>
        </p:txBody>
      </p:sp>
      <p:grpSp>
        <p:nvGrpSpPr>
          <p:cNvPr id="2" name="Group 1">
            <a:extLst>
              <a:ext uri="{FF2B5EF4-FFF2-40B4-BE49-F238E27FC236}">
                <a16:creationId xmlns:a16="http://schemas.microsoft.com/office/drawing/2014/main" id="{39BA13A2-BFDD-790A-4764-99BF61D649E6}"/>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DB4BC8B1-74B1-AE88-E3B0-C1FFD5C7F2C3}"/>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4.4.</a:t>
              </a:r>
              <a:r>
                <a:rPr lang="en-US" sz="2800" b="1">
                  <a:latin typeface="Times New Roman" panose="02020603050405020304" pitchFamily="18" charset="0"/>
                  <a:cs typeface="Times New Roman" panose="02020603050405020304" pitchFamily="18" charset="0"/>
                </a:rPr>
                <a:t>2</a:t>
              </a:r>
              <a:r>
                <a:rPr lang="vi-VN" sz="2800" b="1">
                  <a:latin typeface="Times New Roman" panose="02020603050405020304" pitchFamily="18" charset="0"/>
                  <a:cs typeface="Times New Roman" panose="02020603050405020304" pitchFamily="18" charset="0"/>
                </a:rPr>
                <a:t>. Lazy Loading Module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331FDC78-FE26-0629-71B1-111CC6AB0DB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DC72564-BEBD-266E-7E55-5205286860E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38E6516-7B38-C729-48CE-B59C1DACA53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CD41573-90B6-9638-F93B-30ADA4A3EE9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A1C925F6-1D5B-570F-79F2-416B6223C373}"/>
              </a:ext>
            </a:extLst>
          </p:cNvPr>
          <p:cNvSpPr txBox="1"/>
          <p:nvPr/>
        </p:nvSpPr>
        <p:spPr>
          <a:xfrm>
            <a:off x="476031" y="788933"/>
            <a:ext cx="11464510" cy="3903954"/>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Cơ chế hoạt động: </a:t>
            </a:r>
            <a:r>
              <a:rPr lang="vi-VN" sz="2400">
                <a:latin typeface="Times New Roman" panose="02020603050405020304" pitchFamily="18" charset="0"/>
                <a:cs typeface="Times New Roman" panose="02020603050405020304" pitchFamily="18" charset="0"/>
              </a:rPr>
              <a:t>Khi </a:t>
            </a:r>
            <a:r>
              <a:rPr lang="en-US" sz="2400">
                <a:latin typeface="Times New Roman" panose="02020603050405020304" pitchFamily="18" charset="0"/>
                <a:cs typeface="Times New Roman" panose="02020603050405020304" pitchFamily="18" charset="0"/>
              </a:rPr>
              <a:t>Ta</a:t>
            </a:r>
            <a:r>
              <a:rPr lang="vi-VN" sz="2400">
                <a:latin typeface="Times New Roman" panose="02020603050405020304" pitchFamily="18" charset="0"/>
                <a:cs typeface="Times New Roman" panose="02020603050405020304" pitchFamily="18" charset="0"/>
              </a:rPr>
              <a:t> cấu hình Lazy Loading, trình biên dịch Angular sẽ tách Module đó ra một file riêng. Chỉ khi người dùng nhấn vào đường dẫn tương ứng, trình duyệt mới thực hiện một request HTTP để lấy file đó về và thực thi.</a:t>
            </a:r>
            <a:endParaRPr lang="en-US" sz="2400">
              <a:latin typeface="Times New Roman" panose="02020603050405020304" pitchFamily="18" charset="0"/>
              <a:cs typeface="Times New Roman" panose="02020603050405020304" pitchFamily="18" charset="0"/>
            </a:endParaRPr>
          </a:p>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Lưu ý để Lazy Loading hoạt động thì:</a:t>
            </a:r>
          </a:p>
          <a:p>
            <a:pPr marL="457200" indent="-457200" algn="just">
              <a:lnSpc>
                <a:spcPct val="150000"/>
              </a:lnSpc>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Cần khai báo </a:t>
            </a:r>
            <a:r>
              <a:rPr lang="en-US" sz="2400" b="1">
                <a:solidFill>
                  <a:srgbClr val="FF0000"/>
                </a:solidFill>
                <a:latin typeface="Times New Roman" panose="02020603050405020304" pitchFamily="18" charset="0"/>
                <a:cs typeface="Times New Roman" panose="02020603050405020304" pitchFamily="18" charset="0"/>
              </a:rPr>
              <a:t>standalone: true</a:t>
            </a:r>
            <a:r>
              <a:rPr lang="en-US" sz="2400">
                <a:latin typeface="Times New Roman" panose="02020603050405020304" pitchFamily="18" charset="0"/>
                <a:cs typeface="Times New Roman" panose="02020603050405020304" pitchFamily="18" charset="0"/>
              </a:rPr>
              <a:t> cho component đó trong trong file .ts.</a:t>
            </a:r>
          </a:p>
          <a:p>
            <a:pPr marL="457200" indent="-457200" algn="just">
              <a:lnSpc>
                <a:spcPct val="150000"/>
              </a:lnSpc>
              <a:buFont typeface="Wingdings" panose="05000000000000000000" pitchFamily="2" charset="2"/>
              <a:buChar char="ü"/>
            </a:pPr>
            <a:r>
              <a:rPr lang="en-US" sz="2400">
                <a:solidFill>
                  <a:srgbClr val="FF0000"/>
                </a:solidFill>
                <a:latin typeface="Times New Roman" panose="02020603050405020304" pitchFamily="18" charset="0"/>
                <a:cs typeface="Times New Roman" panose="02020603050405020304" pitchFamily="18" charset="0"/>
              </a:rPr>
              <a:t>Xóa bỏ các khai báo </a:t>
            </a:r>
            <a:r>
              <a:rPr lang="en-US" sz="2400">
                <a:latin typeface="Times New Roman" panose="02020603050405020304" pitchFamily="18" charset="0"/>
                <a:cs typeface="Times New Roman" panose="02020603050405020304" pitchFamily="18" charset="0"/>
              </a:rPr>
              <a:t>của component đó khỏi </a:t>
            </a:r>
            <a:r>
              <a:rPr lang="en-US" sz="2400" b="1">
                <a:latin typeface="Times New Roman" panose="02020603050405020304" pitchFamily="18" charset="0"/>
                <a:cs typeface="Times New Roman" panose="02020603050405020304" pitchFamily="18" charset="0"/>
              </a:rPr>
              <a:t>app-routing-module.ts</a:t>
            </a:r>
            <a:r>
              <a:rPr lang="en-US" sz="2400">
                <a:latin typeface="Times New Roman" panose="02020603050405020304" pitchFamily="18" charset="0"/>
                <a:cs typeface="Times New Roman" panose="02020603050405020304" pitchFamily="18" charset="0"/>
              </a:rPr>
              <a:t>, </a:t>
            </a:r>
            <a:r>
              <a:rPr lang="en-US" sz="2400" b="1">
                <a:latin typeface="Times New Roman" panose="02020603050405020304" pitchFamily="18" charset="0"/>
                <a:cs typeface="Times New Roman" panose="02020603050405020304" pitchFamily="18" charset="0"/>
              </a:rPr>
              <a:t>app-module.ts</a:t>
            </a:r>
            <a:r>
              <a:rPr lang="en-US" sz="2400">
                <a:latin typeface="Times New Roman" panose="02020603050405020304" pitchFamily="18" charset="0"/>
                <a:cs typeface="Times New Roman" panose="02020603050405020304" pitchFamily="18" charset="0"/>
              </a:rPr>
              <a:t>. Nếu không xóa thì nó mất đi ý nghĩa của lazy loading.</a:t>
            </a:r>
          </a:p>
        </p:txBody>
      </p:sp>
    </p:spTree>
    <p:extLst>
      <p:ext uri="{BB962C8B-B14F-4D97-AF65-F5344CB8AC3E}">
        <p14:creationId xmlns:p14="http://schemas.microsoft.com/office/powerpoint/2010/main" val="420066871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076C281-E04C-9F64-AAEF-231E0DF15CF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66D3CC0-3813-DED7-DC69-EB15CD4E264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2AB134E-DCEC-DEC4-36BC-9CE04A09901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84</a:t>
            </a:fld>
            <a:endParaRPr/>
          </a:p>
        </p:txBody>
      </p:sp>
      <p:grpSp>
        <p:nvGrpSpPr>
          <p:cNvPr id="2" name="Group 1">
            <a:extLst>
              <a:ext uri="{FF2B5EF4-FFF2-40B4-BE49-F238E27FC236}">
                <a16:creationId xmlns:a16="http://schemas.microsoft.com/office/drawing/2014/main" id="{0F38614C-CE93-54BE-174B-B2D4DEA3457B}"/>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CB07AF46-0C0B-1A54-D49D-5988C6315818}"/>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4.4.</a:t>
              </a:r>
              <a:r>
                <a:rPr lang="en-US" sz="2800" b="1">
                  <a:latin typeface="Times New Roman" panose="02020603050405020304" pitchFamily="18" charset="0"/>
                  <a:cs typeface="Times New Roman" panose="02020603050405020304" pitchFamily="18" charset="0"/>
                </a:rPr>
                <a:t>2</a:t>
              </a:r>
              <a:r>
                <a:rPr lang="vi-VN" sz="2800" b="1">
                  <a:latin typeface="Times New Roman" panose="02020603050405020304" pitchFamily="18" charset="0"/>
                  <a:cs typeface="Times New Roman" panose="02020603050405020304" pitchFamily="18" charset="0"/>
                </a:rPr>
                <a:t>. Lazy Loading Module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B318E167-48ED-1574-E3C3-2E57CEBAC1D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E375C8A-5FF3-E48C-9660-4B520E5244D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3F79033-B67D-F39E-025B-8C7C783CB58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B32A12D-F9B3-A321-D72F-45B75757412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6CB128D7-E9FC-5A81-D33F-243F35262816}"/>
              </a:ext>
            </a:extLst>
          </p:cNvPr>
          <p:cNvSpPr txBox="1"/>
          <p:nvPr/>
        </p:nvSpPr>
        <p:spPr>
          <a:xfrm>
            <a:off x="476031" y="788933"/>
            <a:ext cx="11464510" cy="57996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 Tạo một component tên “LazyComponent” hiển thị các Khoa đào tạo trong UEL</a:t>
            </a:r>
          </a:p>
        </p:txBody>
      </p:sp>
      <p:pic>
        <p:nvPicPr>
          <p:cNvPr id="10" name="Picture 9">
            <a:extLst>
              <a:ext uri="{FF2B5EF4-FFF2-40B4-BE49-F238E27FC236}">
                <a16:creationId xmlns:a16="http://schemas.microsoft.com/office/drawing/2014/main" id="{7834F3D5-C57E-C36E-B69B-0823DF4E7A88}"/>
              </a:ext>
            </a:extLst>
          </p:cNvPr>
          <p:cNvPicPr>
            <a:picLocks noChangeAspect="1"/>
          </p:cNvPicPr>
          <p:nvPr/>
        </p:nvPicPr>
        <p:blipFill>
          <a:blip r:embed="rId3"/>
          <a:stretch>
            <a:fillRect/>
          </a:stretch>
        </p:blipFill>
        <p:spPr>
          <a:xfrm>
            <a:off x="476031" y="1472617"/>
            <a:ext cx="4267570" cy="1920406"/>
          </a:xfrm>
          <a:prstGeom prst="rect">
            <a:avLst/>
          </a:prstGeom>
        </p:spPr>
      </p:pic>
      <p:pic>
        <p:nvPicPr>
          <p:cNvPr id="12" name="Picture 11">
            <a:extLst>
              <a:ext uri="{FF2B5EF4-FFF2-40B4-BE49-F238E27FC236}">
                <a16:creationId xmlns:a16="http://schemas.microsoft.com/office/drawing/2014/main" id="{15A71AB9-0AE8-991B-066D-0A34EB4EB8AA}"/>
              </a:ext>
            </a:extLst>
          </p:cNvPr>
          <p:cNvPicPr>
            <a:picLocks noChangeAspect="1"/>
          </p:cNvPicPr>
          <p:nvPr/>
        </p:nvPicPr>
        <p:blipFill>
          <a:blip r:embed="rId4"/>
          <a:stretch>
            <a:fillRect/>
          </a:stretch>
        </p:blipFill>
        <p:spPr>
          <a:xfrm>
            <a:off x="5878617" y="1665805"/>
            <a:ext cx="4915326" cy="838273"/>
          </a:xfrm>
          <a:prstGeom prst="rect">
            <a:avLst/>
          </a:prstGeom>
        </p:spPr>
      </p:pic>
      <p:pic>
        <p:nvPicPr>
          <p:cNvPr id="14" name="Picture 13">
            <a:extLst>
              <a:ext uri="{FF2B5EF4-FFF2-40B4-BE49-F238E27FC236}">
                <a16:creationId xmlns:a16="http://schemas.microsoft.com/office/drawing/2014/main" id="{8F1A94C7-F8ED-F508-8BC9-DB660C913BA6}"/>
              </a:ext>
            </a:extLst>
          </p:cNvPr>
          <p:cNvPicPr>
            <a:picLocks noChangeAspect="1"/>
          </p:cNvPicPr>
          <p:nvPr/>
        </p:nvPicPr>
        <p:blipFill>
          <a:blip r:embed="rId5"/>
          <a:stretch>
            <a:fillRect/>
          </a:stretch>
        </p:blipFill>
        <p:spPr>
          <a:xfrm>
            <a:off x="5878617" y="3837294"/>
            <a:ext cx="5784081" cy="2629128"/>
          </a:xfrm>
          <a:prstGeom prst="rect">
            <a:avLst/>
          </a:prstGeom>
        </p:spPr>
      </p:pic>
      <p:pic>
        <p:nvPicPr>
          <p:cNvPr id="16" name="Picture 15">
            <a:extLst>
              <a:ext uri="{FF2B5EF4-FFF2-40B4-BE49-F238E27FC236}">
                <a16:creationId xmlns:a16="http://schemas.microsoft.com/office/drawing/2014/main" id="{9F8C7F34-3145-38A2-1EDA-99DA21FCD147}"/>
              </a:ext>
            </a:extLst>
          </p:cNvPr>
          <p:cNvPicPr>
            <a:picLocks noChangeAspect="1"/>
          </p:cNvPicPr>
          <p:nvPr/>
        </p:nvPicPr>
        <p:blipFill>
          <a:blip r:embed="rId6"/>
          <a:stretch>
            <a:fillRect/>
          </a:stretch>
        </p:blipFill>
        <p:spPr>
          <a:xfrm>
            <a:off x="1135044" y="3562336"/>
            <a:ext cx="3055885" cy="2697714"/>
          </a:xfrm>
          <a:prstGeom prst="rect">
            <a:avLst/>
          </a:prstGeom>
        </p:spPr>
      </p:pic>
      <p:cxnSp>
        <p:nvCxnSpPr>
          <p:cNvPr id="17" name="Connector: Elbow 16">
            <a:extLst>
              <a:ext uri="{FF2B5EF4-FFF2-40B4-BE49-F238E27FC236}">
                <a16:creationId xmlns:a16="http://schemas.microsoft.com/office/drawing/2014/main" id="{345CB9DC-18E7-5C21-C536-F1D8B9D1857F}"/>
              </a:ext>
            </a:extLst>
          </p:cNvPr>
          <p:cNvCxnSpPr>
            <a:cxnSpLocks/>
          </p:cNvCxnSpPr>
          <p:nvPr/>
        </p:nvCxnSpPr>
        <p:spPr>
          <a:xfrm flipV="1">
            <a:off x="3951166" y="2473916"/>
            <a:ext cx="4926375" cy="704764"/>
          </a:xfrm>
          <a:prstGeom prst="bentConnector2">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3471C6A-A0F2-5F2A-8FE3-E172D41D7DAA}"/>
              </a:ext>
            </a:extLst>
          </p:cNvPr>
          <p:cNvCxnSpPr/>
          <p:nvPr/>
        </p:nvCxnSpPr>
        <p:spPr>
          <a:xfrm>
            <a:off x="10222319" y="2417208"/>
            <a:ext cx="0" cy="195163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2890098-11EF-5A8A-91D1-37D5E8FC803C}"/>
              </a:ext>
            </a:extLst>
          </p:cNvPr>
          <p:cNvCxnSpPr/>
          <p:nvPr/>
        </p:nvCxnSpPr>
        <p:spPr>
          <a:xfrm flipH="1">
            <a:off x="4685747" y="5151858"/>
            <a:ext cx="739693"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918471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AAC520B-D52F-1F1E-D5ED-5A441E9C3FD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25535AA-FF28-5145-1A95-D2DE56FAF10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3E6F4D6-EB1A-2F06-F9DC-AE619E9F7AA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85</a:t>
            </a:fld>
            <a:endParaRPr/>
          </a:p>
        </p:txBody>
      </p:sp>
      <p:grpSp>
        <p:nvGrpSpPr>
          <p:cNvPr id="2" name="Group 1">
            <a:extLst>
              <a:ext uri="{FF2B5EF4-FFF2-40B4-BE49-F238E27FC236}">
                <a16:creationId xmlns:a16="http://schemas.microsoft.com/office/drawing/2014/main" id="{A2A07419-2645-7737-A3D4-7519397ABE72}"/>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324E12AC-8DE6-6AAE-C810-BA97CA1A2C28}"/>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4.4.</a:t>
              </a:r>
              <a:r>
                <a:rPr lang="en-US" sz="2800" b="1">
                  <a:latin typeface="Times New Roman" panose="02020603050405020304" pitchFamily="18" charset="0"/>
                  <a:cs typeface="Times New Roman" panose="02020603050405020304" pitchFamily="18" charset="0"/>
                </a:rPr>
                <a:t>2</a:t>
              </a:r>
              <a:r>
                <a:rPr lang="vi-VN" sz="2800" b="1">
                  <a:latin typeface="Times New Roman" panose="02020603050405020304" pitchFamily="18" charset="0"/>
                  <a:cs typeface="Times New Roman" panose="02020603050405020304" pitchFamily="18" charset="0"/>
                </a:rPr>
                <a:t>. Lazy Loading Module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EF20FC9-6C55-3AC1-12C8-24AAF0F4ED4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C5265E6-10E2-B3E5-497F-77356630214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52AD2B1-C785-21A6-76EA-4BB5840E1D4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E5A5C6F-0245-BBCE-FD19-252CEB1CA98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9462A81-FAE0-837F-4329-B2404FF80E2D}"/>
              </a:ext>
            </a:extLst>
          </p:cNvPr>
          <p:cNvSpPr txBox="1"/>
          <p:nvPr/>
        </p:nvSpPr>
        <p:spPr>
          <a:xfrm>
            <a:off x="476031" y="788933"/>
            <a:ext cx="11464510" cy="57996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cấu hình </a:t>
            </a:r>
            <a:r>
              <a:rPr lang="en-US" sz="2400" b="1">
                <a:solidFill>
                  <a:srgbClr val="FF0000"/>
                </a:solidFill>
                <a:latin typeface="Times New Roman" panose="02020603050405020304" pitchFamily="18" charset="0"/>
                <a:cs typeface="Times New Roman" panose="02020603050405020304" pitchFamily="18" charset="0"/>
              </a:rPr>
              <a:t>standalone: true</a:t>
            </a:r>
            <a:r>
              <a:rPr lang="en-US" sz="2400">
                <a:latin typeface="Times New Roman" panose="02020603050405020304" pitchFamily="18" charset="0"/>
                <a:cs typeface="Times New Roman" panose="02020603050405020304" pitchFamily="18" charset="0"/>
              </a:rPr>
              <a:t> cho “LazyComponent” trong file .ts</a:t>
            </a:r>
          </a:p>
        </p:txBody>
      </p:sp>
      <p:pic>
        <p:nvPicPr>
          <p:cNvPr id="11" name="Picture 10">
            <a:extLst>
              <a:ext uri="{FF2B5EF4-FFF2-40B4-BE49-F238E27FC236}">
                <a16:creationId xmlns:a16="http://schemas.microsoft.com/office/drawing/2014/main" id="{6E85CCA8-0D2D-3D18-75C2-35F282A65D41}"/>
              </a:ext>
            </a:extLst>
          </p:cNvPr>
          <p:cNvPicPr>
            <a:picLocks noChangeAspect="1"/>
          </p:cNvPicPr>
          <p:nvPr/>
        </p:nvPicPr>
        <p:blipFill>
          <a:blip r:embed="rId3"/>
          <a:stretch>
            <a:fillRect/>
          </a:stretch>
        </p:blipFill>
        <p:spPr>
          <a:xfrm>
            <a:off x="1062673" y="1645753"/>
            <a:ext cx="7308213" cy="3856054"/>
          </a:xfrm>
          <a:prstGeom prst="rect">
            <a:avLst/>
          </a:prstGeom>
        </p:spPr>
      </p:pic>
      <p:sp>
        <p:nvSpPr>
          <p:cNvPr id="13" name="Rectangle 12">
            <a:extLst>
              <a:ext uri="{FF2B5EF4-FFF2-40B4-BE49-F238E27FC236}">
                <a16:creationId xmlns:a16="http://schemas.microsoft.com/office/drawing/2014/main" id="{281B8850-AB36-2842-381A-59C8BB5F4529}"/>
              </a:ext>
            </a:extLst>
          </p:cNvPr>
          <p:cNvSpPr/>
          <p:nvPr/>
        </p:nvSpPr>
        <p:spPr>
          <a:xfrm>
            <a:off x="1196340" y="3649980"/>
            <a:ext cx="5105400" cy="3581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5941437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203F16A-BB91-B435-1160-78F9978B979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FC3A5F4-449B-4A8B-E6AB-302DE4130D97}"/>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02A724D-0467-16DE-CFCF-37489149F9D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86</a:t>
            </a:fld>
            <a:endParaRPr/>
          </a:p>
        </p:txBody>
      </p:sp>
      <p:grpSp>
        <p:nvGrpSpPr>
          <p:cNvPr id="2" name="Group 1">
            <a:extLst>
              <a:ext uri="{FF2B5EF4-FFF2-40B4-BE49-F238E27FC236}">
                <a16:creationId xmlns:a16="http://schemas.microsoft.com/office/drawing/2014/main" id="{9AEA05DC-3208-1700-9AC4-411F5439AC4E}"/>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0D8AD037-5B47-DA7F-4245-1E90115B91C5}"/>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4.4.</a:t>
              </a:r>
              <a:r>
                <a:rPr lang="en-US" sz="2800" b="1">
                  <a:latin typeface="Times New Roman" panose="02020603050405020304" pitchFamily="18" charset="0"/>
                  <a:cs typeface="Times New Roman" panose="02020603050405020304" pitchFamily="18" charset="0"/>
                </a:rPr>
                <a:t>2</a:t>
              </a:r>
              <a:r>
                <a:rPr lang="vi-VN" sz="2800" b="1">
                  <a:latin typeface="Times New Roman" panose="02020603050405020304" pitchFamily="18" charset="0"/>
                  <a:cs typeface="Times New Roman" panose="02020603050405020304" pitchFamily="18" charset="0"/>
                </a:rPr>
                <a:t>. Lazy Loading Module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CC5213A-EA12-9CF2-1910-9C159DB2319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220797A-7618-1385-DB88-E5697625EFE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4FBE462-93C5-5C77-9A9D-A5A8AE9B945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F0080A1-C48E-AE13-22BE-85333006C30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E0CB266C-681E-3820-837C-414F2BF1A7D8}"/>
              </a:ext>
            </a:extLst>
          </p:cNvPr>
          <p:cNvSpPr txBox="1"/>
          <p:nvPr/>
        </p:nvSpPr>
        <p:spPr>
          <a:xfrm>
            <a:off x="388797" y="693845"/>
            <a:ext cx="5810469" cy="57996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3: LazyComponent.html</a:t>
            </a:r>
          </a:p>
        </p:txBody>
      </p:sp>
      <p:sp>
        <p:nvSpPr>
          <p:cNvPr id="10" name="TextBox 9">
            <a:extLst>
              <a:ext uri="{FF2B5EF4-FFF2-40B4-BE49-F238E27FC236}">
                <a16:creationId xmlns:a16="http://schemas.microsoft.com/office/drawing/2014/main" id="{7D79E612-182F-86F3-6668-83B693F25E89}"/>
              </a:ext>
            </a:extLst>
          </p:cNvPr>
          <p:cNvSpPr txBox="1"/>
          <p:nvPr/>
        </p:nvSpPr>
        <p:spPr>
          <a:xfrm>
            <a:off x="415252" y="1231740"/>
            <a:ext cx="5185448" cy="5262979"/>
          </a:xfrm>
          <a:prstGeom prst="rect">
            <a:avLst/>
          </a:prstGeom>
          <a:noFill/>
        </p:spPr>
        <p:txBody>
          <a:bodyPr wrap="square">
            <a:spAutoFit/>
          </a:bodyPr>
          <a:lstStyle/>
          <a:p>
            <a:pPr>
              <a:buNone/>
            </a:pPr>
            <a:r>
              <a:rPr lang="vi-VN" b="0">
                <a:solidFill>
                  <a:srgbClr val="800000"/>
                </a:solidFill>
                <a:effectLst/>
                <a:latin typeface="Consolas" panose="020B0609020204030204" pitchFamily="49" charset="0"/>
              </a:rPr>
              <a:t>&lt;table</a:t>
            </a:r>
            <a:r>
              <a:rPr lang="vi-VN" b="0">
                <a:solidFill>
                  <a:srgbClr val="000000"/>
                </a:solidFill>
                <a:effectLst/>
                <a:latin typeface="Consolas" panose="020B0609020204030204" pitchFamily="49" charset="0"/>
              </a:rPr>
              <a:t> </a:t>
            </a:r>
            <a:r>
              <a:rPr lang="vi-VN" b="0">
                <a:solidFill>
                  <a:srgbClr val="CD3131"/>
                </a:solidFill>
                <a:effectLst/>
                <a:latin typeface="Consolas" panose="020B0609020204030204" pitchFamily="49" charset="0"/>
              </a:rPr>
              <a:t>border</a:t>
            </a:r>
            <a:r>
              <a:rPr lang="vi-VN" b="0">
                <a:solidFill>
                  <a:srgbClr val="000000"/>
                </a:solidFill>
                <a:effectLst/>
                <a:latin typeface="Consolas" panose="020B0609020204030204" pitchFamily="49" charset="0"/>
              </a:rPr>
              <a:t>=</a:t>
            </a:r>
            <a:r>
              <a:rPr lang="vi-VN" b="0">
                <a:solidFill>
                  <a:srgbClr val="0000FF"/>
                </a:solidFill>
                <a:effectLst/>
                <a:latin typeface="Consolas" panose="020B0609020204030204" pitchFamily="49" charset="0"/>
              </a:rPr>
              <a:t>"1"</a:t>
            </a:r>
            <a:r>
              <a:rPr lang="vi-VN" b="0">
                <a:solidFill>
                  <a:srgbClr val="800000"/>
                </a:solidFill>
                <a:effectLst/>
                <a:latin typeface="Consolas" panose="020B0609020204030204" pitchFamily="49" charset="0"/>
              </a:rPr>
              <a:t>&gt;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&lt;thead&gt;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&lt;tr&gt;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&lt;th&gt;</a:t>
            </a:r>
            <a:r>
              <a:rPr lang="vi-VN" b="0">
                <a:solidFill>
                  <a:srgbClr val="000000"/>
                </a:solidFill>
                <a:effectLst/>
                <a:latin typeface="Consolas" panose="020B0609020204030204" pitchFamily="49" charset="0"/>
              </a:rPr>
              <a:t>#</a:t>
            </a:r>
            <a:r>
              <a:rPr lang="vi-VN" b="0">
                <a:solidFill>
                  <a:srgbClr val="800000"/>
                </a:solidFill>
                <a:effectLst/>
                <a:latin typeface="Consolas" panose="020B0609020204030204" pitchFamily="49" charset="0"/>
              </a:rPr>
              <a:t>&lt;/th&gt;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&lt;th&gt;</a:t>
            </a:r>
            <a:r>
              <a:rPr lang="vi-VN" b="0">
                <a:solidFill>
                  <a:srgbClr val="000000"/>
                </a:solidFill>
                <a:effectLst/>
                <a:latin typeface="Consolas" panose="020B0609020204030204" pitchFamily="49" charset="0"/>
              </a:rPr>
              <a:t>Khoa đào tạo</a:t>
            </a:r>
            <a:r>
              <a:rPr lang="vi-VN" b="0">
                <a:solidFill>
                  <a:srgbClr val="800000"/>
                </a:solidFill>
                <a:effectLst/>
                <a:latin typeface="Consolas" panose="020B0609020204030204" pitchFamily="49" charset="0"/>
              </a:rPr>
              <a:t>&lt;/th&gt;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&lt;/tr&gt;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&lt;/thead&gt;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&lt;tbody&gt;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&lt;tr&gt;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&lt;td&gt;</a:t>
            </a:r>
            <a:r>
              <a:rPr lang="vi-VN" b="0">
                <a:solidFill>
                  <a:srgbClr val="000000"/>
                </a:solidFill>
                <a:effectLst/>
                <a:latin typeface="Consolas" panose="020B0609020204030204" pitchFamily="49" charset="0"/>
              </a:rPr>
              <a:t>01</a:t>
            </a:r>
            <a:r>
              <a:rPr lang="vi-VN" b="0">
                <a:solidFill>
                  <a:srgbClr val="800000"/>
                </a:solidFill>
                <a:effectLst/>
                <a:latin typeface="Consolas" panose="020B0609020204030204" pitchFamily="49" charset="0"/>
              </a:rPr>
              <a:t>&lt;/td&gt;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&lt;td&gt;</a:t>
            </a:r>
            <a:r>
              <a:rPr lang="vi-VN" b="0">
                <a:solidFill>
                  <a:srgbClr val="000000"/>
                </a:solidFill>
                <a:effectLst/>
                <a:latin typeface="Consolas" panose="020B0609020204030204" pitchFamily="49" charset="0"/>
              </a:rPr>
              <a:t>Khoa Kinh tế</a:t>
            </a:r>
            <a:r>
              <a:rPr lang="vi-VN" b="0">
                <a:solidFill>
                  <a:srgbClr val="800000"/>
                </a:solidFill>
                <a:effectLst/>
                <a:latin typeface="Consolas" panose="020B0609020204030204" pitchFamily="49" charset="0"/>
              </a:rPr>
              <a:t>&lt;/td&gt;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&lt;/tr&gt;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&lt;tr&gt;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&lt;td&gt;</a:t>
            </a:r>
            <a:r>
              <a:rPr lang="vi-VN" b="0">
                <a:solidFill>
                  <a:srgbClr val="000000"/>
                </a:solidFill>
                <a:effectLst/>
                <a:latin typeface="Consolas" panose="020B0609020204030204" pitchFamily="49" charset="0"/>
              </a:rPr>
              <a:t>02</a:t>
            </a:r>
            <a:r>
              <a:rPr lang="vi-VN" b="0">
                <a:solidFill>
                  <a:srgbClr val="800000"/>
                </a:solidFill>
                <a:effectLst/>
                <a:latin typeface="Consolas" panose="020B0609020204030204" pitchFamily="49" charset="0"/>
              </a:rPr>
              <a:t>&lt;/td&gt;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&lt;td&gt;</a:t>
            </a:r>
            <a:r>
              <a:rPr lang="vi-VN" b="0">
                <a:solidFill>
                  <a:srgbClr val="000000"/>
                </a:solidFill>
                <a:effectLst/>
                <a:latin typeface="Consolas" panose="020B0609020204030204" pitchFamily="49" charset="0"/>
              </a:rPr>
              <a:t>Khoa Kinh tế đối ngoại</a:t>
            </a:r>
            <a:r>
              <a:rPr lang="vi-VN" b="0">
                <a:solidFill>
                  <a:srgbClr val="800000"/>
                </a:solidFill>
                <a:effectLst/>
                <a:latin typeface="Consolas" panose="020B0609020204030204" pitchFamily="49" charset="0"/>
              </a:rPr>
              <a:t>&lt;/td&gt;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&lt;/tr&gt;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&lt;tr&gt;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&lt;td&gt;</a:t>
            </a:r>
            <a:r>
              <a:rPr lang="vi-VN" b="0">
                <a:solidFill>
                  <a:srgbClr val="000000"/>
                </a:solidFill>
                <a:effectLst/>
                <a:latin typeface="Consolas" panose="020B0609020204030204" pitchFamily="49" charset="0"/>
              </a:rPr>
              <a:t>03</a:t>
            </a:r>
            <a:r>
              <a:rPr lang="vi-VN" b="0">
                <a:solidFill>
                  <a:srgbClr val="800000"/>
                </a:solidFill>
                <a:effectLst/>
                <a:latin typeface="Consolas" panose="020B0609020204030204" pitchFamily="49" charset="0"/>
              </a:rPr>
              <a:t>&lt;/td&gt;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&lt;td&gt;</a:t>
            </a:r>
            <a:r>
              <a:rPr lang="vi-VN" b="0">
                <a:solidFill>
                  <a:srgbClr val="000000"/>
                </a:solidFill>
                <a:effectLst/>
                <a:latin typeface="Consolas" panose="020B0609020204030204" pitchFamily="49" charset="0"/>
              </a:rPr>
              <a:t>Khoa Tài chính – Ngân hàng</a:t>
            </a:r>
            <a:r>
              <a:rPr lang="vi-VN" b="0">
                <a:solidFill>
                  <a:srgbClr val="800000"/>
                </a:solidFill>
                <a:effectLst/>
                <a:latin typeface="Consolas" panose="020B0609020204030204" pitchFamily="49" charset="0"/>
              </a:rPr>
              <a:t>&lt;/td&gt;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&lt;/tr&gt;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&lt;tr&gt;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&lt;td&gt;</a:t>
            </a:r>
            <a:r>
              <a:rPr lang="vi-VN" b="0">
                <a:solidFill>
                  <a:srgbClr val="000000"/>
                </a:solidFill>
                <a:effectLst/>
                <a:latin typeface="Consolas" panose="020B0609020204030204" pitchFamily="49" charset="0"/>
              </a:rPr>
              <a:t>04</a:t>
            </a:r>
            <a:r>
              <a:rPr lang="vi-VN" b="0">
                <a:solidFill>
                  <a:srgbClr val="800000"/>
                </a:solidFill>
                <a:effectLst/>
                <a:latin typeface="Consolas" panose="020B0609020204030204" pitchFamily="49" charset="0"/>
              </a:rPr>
              <a:t>&lt;/td&gt;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&lt;td&gt;</a:t>
            </a:r>
            <a:r>
              <a:rPr lang="vi-VN" b="0">
                <a:solidFill>
                  <a:srgbClr val="000000"/>
                </a:solidFill>
                <a:effectLst/>
                <a:latin typeface="Consolas" panose="020B0609020204030204" pitchFamily="49" charset="0"/>
              </a:rPr>
              <a:t>Khoa Kế toán – Kiểm toán</a:t>
            </a:r>
            <a:r>
              <a:rPr lang="vi-VN" b="0">
                <a:solidFill>
                  <a:srgbClr val="800000"/>
                </a:solidFill>
                <a:effectLst/>
                <a:latin typeface="Consolas" panose="020B0609020204030204" pitchFamily="49" charset="0"/>
              </a:rPr>
              <a:t>&lt;/td&gt;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&lt;/tr&gt;</a:t>
            </a:r>
            <a:endParaRPr lang="vi-VN" b="0">
              <a:solidFill>
                <a:srgbClr val="000000"/>
              </a:solidFill>
              <a:effectLst/>
              <a:latin typeface="Consolas" panose="020B0609020204030204" pitchFamily="49" charset="0"/>
            </a:endParaRPr>
          </a:p>
        </p:txBody>
      </p:sp>
      <p:sp>
        <p:nvSpPr>
          <p:cNvPr id="14" name="TextBox 13">
            <a:extLst>
              <a:ext uri="{FF2B5EF4-FFF2-40B4-BE49-F238E27FC236}">
                <a16:creationId xmlns:a16="http://schemas.microsoft.com/office/drawing/2014/main" id="{4439387E-74A4-6C90-23B2-207FEA7105B8}"/>
              </a:ext>
            </a:extLst>
          </p:cNvPr>
          <p:cNvSpPr txBox="1"/>
          <p:nvPr/>
        </p:nvSpPr>
        <p:spPr>
          <a:xfrm>
            <a:off x="6891868" y="843230"/>
            <a:ext cx="4572000" cy="5693866"/>
          </a:xfrm>
          <a:prstGeom prst="rect">
            <a:avLst/>
          </a:prstGeom>
          <a:noFill/>
        </p:spPr>
        <p:txBody>
          <a:bodyPr wrap="square">
            <a:spAutoFit/>
          </a:bodyPr>
          <a:lstStyle/>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&lt;tr&gt;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&lt;td&gt;</a:t>
            </a:r>
            <a:r>
              <a:rPr lang="vi-VN" b="0">
                <a:solidFill>
                  <a:srgbClr val="000000"/>
                </a:solidFill>
                <a:effectLst/>
                <a:latin typeface="Consolas" panose="020B0609020204030204" pitchFamily="49" charset="0"/>
              </a:rPr>
              <a:t>05</a:t>
            </a:r>
            <a:r>
              <a:rPr lang="vi-VN" b="0">
                <a:solidFill>
                  <a:srgbClr val="800000"/>
                </a:solidFill>
                <a:effectLst/>
                <a:latin typeface="Consolas" panose="020B0609020204030204" pitchFamily="49" charset="0"/>
              </a:rPr>
              <a:t>&lt;/td&gt;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&lt;td&gt;</a:t>
            </a:r>
            <a:r>
              <a:rPr lang="vi-VN" b="0">
                <a:solidFill>
                  <a:srgbClr val="000000"/>
                </a:solidFill>
                <a:effectLst/>
                <a:latin typeface="Consolas" panose="020B0609020204030204" pitchFamily="49" charset="0"/>
              </a:rPr>
              <a:t>Khoa Hệ thống thông tin</a:t>
            </a:r>
            <a:r>
              <a:rPr lang="vi-VN" b="0">
                <a:solidFill>
                  <a:srgbClr val="800000"/>
                </a:solidFill>
                <a:effectLst/>
                <a:latin typeface="Consolas" panose="020B0609020204030204" pitchFamily="49" charset="0"/>
              </a:rPr>
              <a:t>&lt;/td&gt;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&lt;/tr&gt;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&lt;tr&gt;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&lt;td&gt;</a:t>
            </a:r>
            <a:r>
              <a:rPr lang="vi-VN" b="0">
                <a:solidFill>
                  <a:srgbClr val="000000"/>
                </a:solidFill>
                <a:effectLst/>
                <a:latin typeface="Consolas" panose="020B0609020204030204" pitchFamily="49" charset="0"/>
              </a:rPr>
              <a:t>06</a:t>
            </a:r>
            <a:r>
              <a:rPr lang="vi-VN" b="0">
                <a:solidFill>
                  <a:srgbClr val="800000"/>
                </a:solidFill>
                <a:effectLst/>
                <a:latin typeface="Consolas" panose="020B0609020204030204" pitchFamily="49" charset="0"/>
              </a:rPr>
              <a:t>&lt;/td&gt;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&lt;td&gt;</a:t>
            </a:r>
            <a:r>
              <a:rPr lang="vi-VN" b="0">
                <a:solidFill>
                  <a:srgbClr val="000000"/>
                </a:solidFill>
                <a:effectLst/>
                <a:latin typeface="Consolas" panose="020B0609020204030204" pitchFamily="49" charset="0"/>
              </a:rPr>
              <a:t>Khoa Quản trị Kinh doanh</a:t>
            </a:r>
            <a:r>
              <a:rPr lang="vi-VN" b="0">
                <a:solidFill>
                  <a:srgbClr val="800000"/>
                </a:solidFill>
                <a:effectLst/>
                <a:latin typeface="Consolas" panose="020B0609020204030204" pitchFamily="49" charset="0"/>
              </a:rPr>
              <a:t>&lt;/td&gt;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&lt;/tr&gt;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&lt;tr&gt;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&lt;td&gt;</a:t>
            </a:r>
            <a:r>
              <a:rPr lang="vi-VN" b="0">
                <a:solidFill>
                  <a:srgbClr val="000000"/>
                </a:solidFill>
                <a:effectLst/>
                <a:latin typeface="Consolas" panose="020B0609020204030204" pitchFamily="49" charset="0"/>
              </a:rPr>
              <a:t>07</a:t>
            </a:r>
            <a:r>
              <a:rPr lang="vi-VN" b="0">
                <a:solidFill>
                  <a:srgbClr val="800000"/>
                </a:solidFill>
                <a:effectLst/>
                <a:latin typeface="Consolas" panose="020B0609020204030204" pitchFamily="49" charset="0"/>
              </a:rPr>
              <a:t>&lt;/td&gt;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&lt;td&gt;</a:t>
            </a:r>
            <a:r>
              <a:rPr lang="vi-VN" b="0">
                <a:solidFill>
                  <a:srgbClr val="000000"/>
                </a:solidFill>
                <a:effectLst/>
                <a:latin typeface="Consolas" panose="020B0609020204030204" pitchFamily="49" charset="0"/>
              </a:rPr>
              <a:t>Khoa Luật</a:t>
            </a:r>
            <a:r>
              <a:rPr lang="vi-VN" b="0">
                <a:solidFill>
                  <a:srgbClr val="800000"/>
                </a:solidFill>
                <a:effectLst/>
                <a:latin typeface="Consolas" panose="020B0609020204030204" pitchFamily="49" charset="0"/>
              </a:rPr>
              <a:t>&lt;/td&gt;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&lt;/tr&gt;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&lt;tr&gt;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&lt;td&gt;</a:t>
            </a:r>
            <a:r>
              <a:rPr lang="vi-VN" b="0">
                <a:solidFill>
                  <a:srgbClr val="000000"/>
                </a:solidFill>
                <a:effectLst/>
                <a:latin typeface="Consolas" panose="020B0609020204030204" pitchFamily="49" charset="0"/>
              </a:rPr>
              <a:t>08</a:t>
            </a:r>
            <a:r>
              <a:rPr lang="vi-VN" b="0">
                <a:solidFill>
                  <a:srgbClr val="800000"/>
                </a:solidFill>
                <a:effectLst/>
                <a:latin typeface="Consolas" panose="020B0609020204030204" pitchFamily="49" charset="0"/>
              </a:rPr>
              <a:t>&lt;/td&gt;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&lt;td&gt;</a:t>
            </a:r>
            <a:r>
              <a:rPr lang="vi-VN" b="0">
                <a:solidFill>
                  <a:srgbClr val="000000"/>
                </a:solidFill>
                <a:effectLst/>
                <a:latin typeface="Consolas" panose="020B0609020204030204" pitchFamily="49" charset="0"/>
              </a:rPr>
              <a:t>Khoa Luật Kinh tế</a:t>
            </a:r>
            <a:r>
              <a:rPr lang="vi-VN" b="0">
                <a:solidFill>
                  <a:srgbClr val="800000"/>
                </a:solidFill>
                <a:effectLst/>
                <a:latin typeface="Consolas" panose="020B0609020204030204" pitchFamily="49" charset="0"/>
              </a:rPr>
              <a:t>&lt;/td&gt;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&lt;/tr&gt;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&lt;tr&gt;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&lt;td&gt;</a:t>
            </a:r>
            <a:r>
              <a:rPr lang="vi-VN" b="0">
                <a:solidFill>
                  <a:srgbClr val="000000"/>
                </a:solidFill>
                <a:effectLst/>
                <a:latin typeface="Consolas" panose="020B0609020204030204" pitchFamily="49" charset="0"/>
              </a:rPr>
              <a:t>09</a:t>
            </a:r>
            <a:r>
              <a:rPr lang="vi-VN" b="0">
                <a:solidFill>
                  <a:srgbClr val="800000"/>
                </a:solidFill>
                <a:effectLst/>
                <a:latin typeface="Consolas" panose="020B0609020204030204" pitchFamily="49" charset="0"/>
              </a:rPr>
              <a:t>&lt;/td&gt;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&lt;td&gt;</a:t>
            </a:r>
            <a:r>
              <a:rPr lang="vi-VN" b="0">
                <a:solidFill>
                  <a:srgbClr val="000000"/>
                </a:solidFill>
                <a:effectLst/>
                <a:latin typeface="Consolas" panose="020B0609020204030204" pitchFamily="49" charset="0"/>
              </a:rPr>
              <a:t>Khoa Toán Kinh tế</a:t>
            </a:r>
            <a:r>
              <a:rPr lang="vi-VN" b="0">
                <a:solidFill>
                  <a:srgbClr val="800000"/>
                </a:solidFill>
                <a:effectLst/>
                <a:latin typeface="Consolas" panose="020B0609020204030204" pitchFamily="49" charset="0"/>
              </a:rPr>
              <a:t>&lt;/td&gt;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&lt;/tr&gt;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&lt;tr&gt;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&lt;td&gt;</a:t>
            </a:r>
            <a:r>
              <a:rPr lang="vi-VN" b="0">
                <a:solidFill>
                  <a:srgbClr val="000000"/>
                </a:solidFill>
                <a:effectLst/>
                <a:latin typeface="Consolas" panose="020B0609020204030204" pitchFamily="49" charset="0"/>
              </a:rPr>
              <a:t>10</a:t>
            </a:r>
            <a:r>
              <a:rPr lang="vi-VN" b="0">
                <a:solidFill>
                  <a:srgbClr val="800000"/>
                </a:solidFill>
                <a:effectLst/>
                <a:latin typeface="Consolas" panose="020B0609020204030204" pitchFamily="49" charset="0"/>
              </a:rPr>
              <a:t>&lt;/td&gt;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&lt;td&gt;</a:t>
            </a:r>
            <a:r>
              <a:rPr lang="vi-VN" b="0">
                <a:solidFill>
                  <a:srgbClr val="000000"/>
                </a:solidFill>
                <a:effectLst/>
                <a:latin typeface="Consolas" panose="020B0609020204030204" pitchFamily="49" charset="0"/>
              </a:rPr>
              <a:t>Viện Quốc tế UEL</a:t>
            </a:r>
            <a:r>
              <a:rPr lang="vi-VN" b="0">
                <a:solidFill>
                  <a:srgbClr val="800000"/>
                </a:solidFill>
                <a:effectLst/>
                <a:latin typeface="Consolas" panose="020B0609020204030204" pitchFamily="49" charset="0"/>
              </a:rPr>
              <a:t>&lt;/td&gt;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&lt;/tr&gt;</a:t>
            </a:r>
            <a:endParaRPr lang="vi-VN" b="0">
              <a:solidFill>
                <a:srgbClr val="000000"/>
              </a:solidFill>
              <a:effectLst/>
              <a:latin typeface="Consolas" panose="020B0609020204030204" pitchFamily="49" charset="0"/>
            </a:endParaRPr>
          </a:p>
          <a:p>
            <a:pPr>
              <a:buNone/>
            </a:pPr>
            <a:r>
              <a:rPr lang="vi-VN" b="0">
                <a:solidFill>
                  <a:srgbClr val="000000"/>
                </a:solidFill>
                <a:effectLst/>
                <a:latin typeface="Consolas" panose="020B0609020204030204" pitchFamily="49" charset="0"/>
              </a:rPr>
              <a:t>  </a:t>
            </a:r>
            <a:r>
              <a:rPr lang="vi-VN" b="0">
                <a:solidFill>
                  <a:srgbClr val="800000"/>
                </a:solidFill>
                <a:effectLst/>
                <a:latin typeface="Consolas" panose="020B0609020204030204" pitchFamily="49" charset="0"/>
              </a:rPr>
              <a:t>&lt;/tbody&gt;</a:t>
            </a:r>
            <a:endParaRPr lang="vi-VN" b="0">
              <a:solidFill>
                <a:srgbClr val="000000"/>
              </a:solidFill>
              <a:effectLst/>
              <a:latin typeface="Consolas" panose="020B0609020204030204" pitchFamily="49" charset="0"/>
            </a:endParaRPr>
          </a:p>
          <a:p>
            <a:pPr>
              <a:buNone/>
            </a:pPr>
            <a:r>
              <a:rPr lang="vi-VN" b="0">
                <a:solidFill>
                  <a:srgbClr val="800000"/>
                </a:solidFill>
                <a:effectLst/>
                <a:latin typeface="Consolas" panose="020B0609020204030204" pitchFamily="49" charset="0"/>
              </a:rPr>
              <a:t>&lt;/table&gt;</a:t>
            </a:r>
            <a:endParaRPr lang="vi-VN" b="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407797910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DBD5CC9-163F-D014-1DF6-7C8F3CC04A8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DCD19433-4EB1-B897-215B-DCD5F5F14CA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6CBBEC0-74B4-BB8A-1ABF-8134CE0A148C}"/>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87</a:t>
            </a:fld>
            <a:endParaRPr/>
          </a:p>
        </p:txBody>
      </p:sp>
      <p:grpSp>
        <p:nvGrpSpPr>
          <p:cNvPr id="2" name="Group 1">
            <a:extLst>
              <a:ext uri="{FF2B5EF4-FFF2-40B4-BE49-F238E27FC236}">
                <a16:creationId xmlns:a16="http://schemas.microsoft.com/office/drawing/2014/main" id="{124392DC-2A5F-1FEC-983E-CF6D4992C388}"/>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D91795D2-B2EC-AA15-261F-7BF069CD8B54}"/>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4.4.</a:t>
              </a:r>
              <a:r>
                <a:rPr lang="en-US" sz="2800" b="1">
                  <a:latin typeface="Times New Roman" panose="02020603050405020304" pitchFamily="18" charset="0"/>
                  <a:cs typeface="Times New Roman" panose="02020603050405020304" pitchFamily="18" charset="0"/>
                </a:rPr>
                <a:t>2</a:t>
              </a:r>
              <a:r>
                <a:rPr lang="vi-VN" sz="2800" b="1">
                  <a:latin typeface="Times New Roman" panose="02020603050405020304" pitchFamily="18" charset="0"/>
                  <a:cs typeface="Times New Roman" panose="02020603050405020304" pitchFamily="18" charset="0"/>
                </a:rPr>
                <a:t>. Lazy Loading Module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89B986D7-ABDA-F530-F72D-9F503917832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0B1436F-37FB-0F59-2BC3-88EE3C1176D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CAB7683D-3DAC-466C-CCEB-6B9B0D82630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4F6497D-F265-FCB4-BEBD-09B162D7795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AD567FE0-A372-1E9E-6015-84CBDFACBCA2}"/>
              </a:ext>
            </a:extLst>
          </p:cNvPr>
          <p:cNvSpPr txBox="1"/>
          <p:nvPr/>
        </p:nvSpPr>
        <p:spPr>
          <a:xfrm>
            <a:off x="388797" y="693845"/>
            <a:ext cx="9060003" cy="57996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4: Xóa bỏ LazyComponent trong khai báo của app-module.ts:</a:t>
            </a:r>
          </a:p>
        </p:txBody>
      </p:sp>
      <p:pic>
        <p:nvPicPr>
          <p:cNvPr id="13" name="Picture 12">
            <a:extLst>
              <a:ext uri="{FF2B5EF4-FFF2-40B4-BE49-F238E27FC236}">
                <a16:creationId xmlns:a16="http://schemas.microsoft.com/office/drawing/2014/main" id="{9B2E6B19-9728-7657-1AF1-66C6DA5403D4}"/>
              </a:ext>
            </a:extLst>
          </p:cNvPr>
          <p:cNvPicPr>
            <a:picLocks noChangeAspect="1"/>
          </p:cNvPicPr>
          <p:nvPr/>
        </p:nvPicPr>
        <p:blipFill>
          <a:blip r:embed="rId3"/>
          <a:stretch>
            <a:fillRect/>
          </a:stretch>
        </p:blipFill>
        <p:spPr>
          <a:xfrm>
            <a:off x="2721333" y="1325669"/>
            <a:ext cx="5680633" cy="5103693"/>
          </a:xfrm>
          <a:prstGeom prst="rect">
            <a:avLst/>
          </a:prstGeom>
        </p:spPr>
      </p:pic>
      <p:sp>
        <p:nvSpPr>
          <p:cNvPr id="15" name="Rectangle 14">
            <a:extLst>
              <a:ext uri="{FF2B5EF4-FFF2-40B4-BE49-F238E27FC236}">
                <a16:creationId xmlns:a16="http://schemas.microsoft.com/office/drawing/2014/main" id="{A54792B5-574D-6ED7-F567-27284682B73E}"/>
              </a:ext>
            </a:extLst>
          </p:cNvPr>
          <p:cNvSpPr/>
          <p:nvPr/>
        </p:nvSpPr>
        <p:spPr>
          <a:xfrm>
            <a:off x="2308860" y="1981200"/>
            <a:ext cx="6499860" cy="3651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33BD1A8-B010-726C-78E6-926D9257C58C}"/>
              </a:ext>
            </a:extLst>
          </p:cNvPr>
          <p:cNvSpPr/>
          <p:nvPr/>
        </p:nvSpPr>
        <p:spPr>
          <a:xfrm>
            <a:off x="2301240" y="5532331"/>
            <a:ext cx="6499860" cy="3651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9165547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C2E2DC4-CB15-6BDA-ECE7-128A0DF7919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7DACA08-B9D1-2158-D7AA-DA942F1D070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36A4F62-C0DC-CA0A-72C3-9F5B884BEA9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88</a:t>
            </a:fld>
            <a:endParaRPr/>
          </a:p>
        </p:txBody>
      </p:sp>
      <p:grpSp>
        <p:nvGrpSpPr>
          <p:cNvPr id="2" name="Group 1">
            <a:extLst>
              <a:ext uri="{FF2B5EF4-FFF2-40B4-BE49-F238E27FC236}">
                <a16:creationId xmlns:a16="http://schemas.microsoft.com/office/drawing/2014/main" id="{5F8071D5-0426-60A2-61BD-607D3902FD0C}"/>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3F6DAA77-E908-11E6-72D0-BA274FEC9399}"/>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4.4.</a:t>
              </a:r>
              <a:r>
                <a:rPr lang="en-US" sz="2800" b="1">
                  <a:latin typeface="Times New Roman" panose="02020603050405020304" pitchFamily="18" charset="0"/>
                  <a:cs typeface="Times New Roman" panose="02020603050405020304" pitchFamily="18" charset="0"/>
                </a:rPr>
                <a:t>2</a:t>
              </a:r>
              <a:r>
                <a:rPr lang="vi-VN" sz="2800" b="1">
                  <a:latin typeface="Times New Roman" panose="02020603050405020304" pitchFamily="18" charset="0"/>
                  <a:cs typeface="Times New Roman" panose="02020603050405020304" pitchFamily="18" charset="0"/>
                </a:rPr>
                <a:t>. Lazy Loading Module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88FD61D-7CF4-1B2C-A125-29755CC15899}"/>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FC42BD2-7238-7044-00B3-BEA4CFA5E5B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6CBAEF2-C4EE-51F3-8B62-72336E1EF875}"/>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B44044F-0CAF-D1FF-A2E6-8A487A90F315}"/>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F5C269D2-BFC0-90B7-3D00-391CF8AF50A7}"/>
              </a:ext>
            </a:extLst>
          </p:cNvPr>
          <p:cNvSpPr txBox="1"/>
          <p:nvPr/>
        </p:nvSpPr>
        <p:spPr>
          <a:xfrm>
            <a:off x="327748" y="632036"/>
            <a:ext cx="11536503" cy="57996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5: Khai báo routing Lazy loading cho LazyComponent: app-routing-module.ts</a:t>
            </a:r>
          </a:p>
        </p:txBody>
      </p:sp>
      <p:pic>
        <p:nvPicPr>
          <p:cNvPr id="10" name="Picture 9">
            <a:extLst>
              <a:ext uri="{FF2B5EF4-FFF2-40B4-BE49-F238E27FC236}">
                <a16:creationId xmlns:a16="http://schemas.microsoft.com/office/drawing/2014/main" id="{874DCAA8-2297-6573-D67E-C5C4E266EDAF}"/>
              </a:ext>
            </a:extLst>
          </p:cNvPr>
          <p:cNvPicPr>
            <a:picLocks noChangeAspect="1"/>
          </p:cNvPicPr>
          <p:nvPr/>
        </p:nvPicPr>
        <p:blipFill>
          <a:blip r:embed="rId3"/>
          <a:stretch>
            <a:fillRect/>
          </a:stretch>
        </p:blipFill>
        <p:spPr>
          <a:xfrm>
            <a:off x="434732" y="1188271"/>
            <a:ext cx="8240424" cy="5219713"/>
          </a:xfrm>
          <a:prstGeom prst="rect">
            <a:avLst/>
          </a:prstGeom>
        </p:spPr>
      </p:pic>
      <p:sp>
        <p:nvSpPr>
          <p:cNvPr id="11" name="Rectangle 10">
            <a:extLst>
              <a:ext uri="{FF2B5EF4-FFF2-40B4-BE49-F238E27FC236}">
                <a16:creationId xmlns:a16="http://schemas.microsoft.com/office/drawing/2014/main" id="{193EF0BE-8306-E5E2-3C7C-2BBC9211128C}"/>
              </a:ext>
            </a:extLst>
          </p:cNvPr>
          <p:cNvSpPr/>
          <p:nvPr/>
        </p:nvSpPr>
        <p:spPr>
          <a:xfrm>
            <a:off x="542786" y="4732020"/>
            <a:ext cx="5995174" cy="12344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444603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FE25463-83E9-0EBC-B92F-0B9C73770F7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EBBBC35-FE4B-2561-1486-5700FA4A569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A82BB7C-5AF1-7765-0864-912507A2F1E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89</a:t>
            </a:fld>
            <a:endParaRPr/>
          </a:p>
        </p:txBody>
      </p:sp>
      <p:grpSp>
        <p:nvGrpSpPr>
          <p:cNvPr id="2" name="Group 1">
            <a:extLst>
              <a:ext uri="{FF2B5EF4-FFF2-40B4-BE49-F238E27FC236}">
                <a16:creationId xmlns:a16="http://schemas.microsoft.com/office/drawing/2014/main" id="{15DB798A-455D-E55F-B1CF-9B9481BB4815}"/>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B3F5F234-1673-2F19-2CBA-4BAB62CBEEC3}"/>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4.4.</a:t>
              </a:r>
              <a:r>
                <a:rPr lang="en-US" sz="2800" b="1">
                  <a:latin typeface="Times New Roman" panose="02020603050405020304" pitchFamily="18" charset="0"/>
                  <a:cs typeface="Times New Roman" panose="02020603050405020304" pitchFamily="18" charset="0"/>
                </a:rPr>
                <a:t>2</a:t>
              </a:r>
              <a:r>
                <a:rPr lang="vi-VN" sz="2800" b="1">
                  <a:latin typeface="Times New Roman" panose="02020603050405020304" pitchFamily="18" charset="0"/>
                  <a:cs typeface="Times New Roman" panose="02020603050405020304" pitchFamily="18" charset="0"/>
                </a:rPr>
                <a:t>. Lazy Loading Module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3206E32-B667-44DC-3873-FD8A82F2052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B1254D5-D24C-0A86-9518-29DEE703E95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42C7555-2C5C-1EB5-0F1D-8995EF83D5F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0D9D77E-B6C4-BFAE-A34A-C425F7CF7A7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E7C2A00C-B40C-A1A4-1934-00A124AD1DC8}"/>
              </a:ext>
            </a:extLst>
          </p:cNvPr>
          <p:cNvSpPr txBox="1"/>
          <p:nvPr/>
        </p:nvSpPr>
        <p:spPr>
          <a:xfrm>
            <a:off x="327748" y="632036"/>
            <a:ext cx="11536503" cy="579967"/>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6: Kiểm chứng sự Lazy Loading</a:t>
            </a:r>
          </a:p>
        </p:txBody>
      </p:sp>
      <p:sp>
        <p:nvSpPr>
          <p:cNvPr id="16" name="TextBox 15">
            <a:extLst>
              <a:ext uri="{FF2B5EF4-FFF2-40B4-BE49-F238E27FC236}">
                <a16:creationId xmlns:a16="http://schemas.microsoft.com/office/drawing/2014/main" id="{4B0B3B2B-719A-7B59-8AAE-E26F3EC55E27}"/>
              </a:ext>
            </a:extLst>
          </p:cNvPr>
          <p:cNvSpPr txBox="1"/>
          <p:nvPr/>
        </p:nvSpPr>
        <p:spPr>
          <a:xfrm>
            <a:off x="7914709" y="4900862"/>
            <a:ext cx="2735580" cy="646331"/>
          </a:xfrm>
          <a:prstGeom prst="rect">
            <a:avLst/>
          </a:prstGeom>
          <a:noFill/>
        </p:spPr>
        <p:txBody>
          <a:bodyPr wrap="square">
            <a:spAutoFit/>
          </a:bodyPr>
          <a:lstStyle/>
          <a:p>
            <a:r>
              <a:rPr lang="en-US" sz="1800"/>
              <a:t>File:</a:t>
            </a:r>
          </a:p>
          <a:p>
            <a:r>
              <a:rPr lang="en-US" sz="1800"/>
              <a:t>chunk-IT72CZBP.js</a:t>
            </a:r>
          </a:p>
        </p:txBody>
      </p:sp>
      <p:pic>
        <p:nvPicPr>
          <p:cNvPr id="18" name="Picture 17">
            <a:extLst>
              <a:ext uri="{FF2B5EF4-FFF2-40B4-BE49-F238E27FC236}">
                <a16:creationId xmlns:a16="http://schemas.microsoft.com/office/drawing/2014/main" id="{BE19C718-5744-4099-3C8D-ACDDA513B954}"/>
              </a:ext>
            </a:extLst>
          </p:cNvPr>
          <p:cNvPicPr>
            <a:picLocks noChangeAspect="1"/>
          </p:cNvPicPr>
          <p:nvPr/>
        </p:nvPicPr>
        <p:blipFill>
          <a:blip r:embed="rId3"/>
          <a:srcRect b="7334"/>
          <a:stretch>
            <a:fillRect/>
          </a:stretch>
        </p:blipFill>
        <p:spPr>
          <a:xfrm>
            <a:off x="728132" y="1263860"/>
            <a:ext cx="6746322" cy="5061786"/>
          </a:xfrm>
          <a:prstGeom prst="rect">
            <a:avLst/>
          </a:prstGeom>
        </p:spPr>
      </p:pic>
      <p:sp>
        <p:nvSpPr>
          <p:cNvPr id="19" name="Rectangle 18">
            <a:extLst>
              <a:ext uri="{FF2B5EF4-FFF2-40B4-BE49-F238E27FC236}">
                <a16:creationId xmlns:a16="http://schemas.microsoft.com/office/drawing/2014/main" id="{3C97203C-FB09-638A-2B9C-D7AFD84B535C}"/>
              </a:ext>
            </a:extLst>
          </p:cNvPr>
          <p:cNvSpPr/>
          <p:nvPr/>
        </p:nvSpPr>
        <p:spPr>
          <a:xfrm>
            <a:off x="3496732" y="5842215"/>
            <a:ext cx="4160520" cy="1676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5057986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D479497-6E5A-DEB9-7AC6-B8EAB7C1BE0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25BC773-BFCC-9110-C0F7-9A881B49DDB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52EEF8A-35D1-862E-B289-963118D5C40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90</a:t>
            </a:fld>
            <a:endParaRPr/>
          </a:p>
        </p:txBody>
      </p:sp>
      <p:grpSp>
        <p:nvGrpSpPr>
          <p:cNvPr id="2" name="Group 1">
            <a:extLst>
              <a:ext uri="{FF2B5EF4-FFF2-40B4-BE49-F238E27FC236}">
                <a16:creationId xmlns:a16="http://schemas.microsoft.com/office/drawing/2014/main" id="{9C6CA234-A03C-FC75-063A-3F48D763D4E7}"/>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88AB2DEF-D295-A5A2-FF67-98506A5C66AD}"/>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4.4.</a:t>
              </a:r>
              <a:r>
                <a:rPr lang="en-US" sz="2800" b="1">
                  <a:latin typeface="Times New Roman" panose="02020603050405020304" pitchFamily="18" charset="0"/>
                  <a:cs typeface="Times New Roman" panose="02020603050405020304" pitchFamily="18" charset="0"/>
                </a:rPr>
                <a:t>3</a:t>
              </a:r>
              <a:r>
                <a:rPr lang="vi-VN" sz="2800" b="1">
                  <a:latin typeface="Times New Roman" panose="02020603050405020304" pitchFamily="18" charset="0"/>
                  <a:cs typeface="Times New Roman" panose="02020603050405020304" pitchFamily="18" charset="0"/>
                </a:rPr>
                <a:t>. Guards – bảo vệ Route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BC95F52E-2B85-539D-9642-D841A0100BF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BE787DA-50F4-ED9D-D3B0-3AA8F3FCFF0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5107B60-6548-111E-CD50-DA52B640323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B65E3DF-281F-3374-2C59-06FE2BCE4C8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551BE12B-E982-2E4F-2192-46B03450AC7D}"/>
              </a:ext>
            </a:extLst>
          </p:cNvPr>
          <p:cNvSpPr txBox="1"/>
          <p:nvPr/>
        </p:nvSpPr>
        <p:spPr>
          <a:xfrm>
            <a:off x="476030" y="788933"/>
            <a:ext cx="11564547" cy="2795958"/>
          </a:xfrm>
          <a:prstGeom prst="rect">
            <a:avLst/>
          </a:prstGeom>
          <a:noFill/>
        </p:spPr>
        <p:txBody>
          <a:bodyPr wrap="square">
            <a:spAutoFit/>
          </a:bodyPr>
          <a:lstStyle/>
          <a:p>
            <a:pPr marL="457200" indent="-457200" algn="just">
              <a:lnSpc>
                <a:spcPct val="150000"/>
              </a:lnSpc>
              <a:buFont typeface="Wingdings" panose="05000000000000000000" pitchFamily="2" charset="2"/>
              <a:buChar char="v"/>
            </a:pPr>
            <a:r>
              <a:rPr lang="vi-VN" sz="2400" b="1">
                <a:latin typeface="+mj-lt"/>
              </a:rPr>
              <a:t>Guards</a:t>
            </a:r>
            <a:r>
              <a:rPr lang="vi-VN" sz="2400">
                <a:latin typeface="+mj-lt"/>
              </a:rPr>
              <a:t> là những "trạm kiểm soát" logic được đặt trên các tuyến đường (Routes) của ứng dụng. Trước khi người dùng truy cập vào hoặc rời khỏi một trang nào đó, Guard sẽ được kích hoạt để kiểm tra các điều kiện nhất định. </a:t>
            </a:r>
            <a:endParaRPr lang="en-US" sz="2400">
              <a:latin typeface="+mj-lt"/>
            </a:endParaRPr>
          </a:p>
          <a:p>
            <a:pPr marL="457200" indent="-457200" algn="just">
              <a:lnSpc>
                <a:spcPct val="150000"/>
              </a:lnSpc>
              <a:buFont typeface="Wingdings" panose="05000000000000000000" pitchFamily="2" charset="2"/>
              <a:buChar char="v"/>
            </a:pPr>
            <a:r>
              <a:rPr lang="vi-VN" sz="2400">
                <a:latin typeface="+mj-lt"/>
              </a:rPr>
              <a:t>Nếu kết quả trả về là </a:t>
            </a:r>
            <a:r>
              <a:rPr lang="vi-VN" sz="2400" b="1">
                <a:solidFill>
                  <a:srgbClr val="FF0000"/>
                </a:solidFill>
                <a:latin typeface="+mj-lt"/>
              </a:rPr>
              <a:t>true</a:t>
            </a:r>
            <a:r>
              <a:rPr lang="vi-VN" sz="2400">
                <a:latin typeface="+mj-lt"/>
              </a:rPr>
              <a:t>, hành động điều hướng sẽ được tiếp tục; nếu là </a:t>
            </a:r>
            <a:r>
              <a:rPr lang="vi-VN" sz="2400" b="1">
                <a:solidFill>
                  <a:srgbClr val="FF0000"/>
                </a:solidFill>
                <a:latin typeface="+mj-lt"/>
              </a:rPr>
              <a:t>false</a:t>
            </a:r>
            <a:r>
              <a:rPr lang="vi-VN" sz="2400">
                <a:latin typeface="+mj-lt"/>
              </a:rPr>
              <a:t>, hành động đó sẽ bị chặn lại hoặc điều hướng sang một trang khác.</a:t>
            </a:r>
            <a:endParaRPr lang="vi-VN" sz="2400">
              <a:latin typeface="+mj-lt"/>
              <a:cs typeface="Times New Roman" panose="02020603050405020304" pitchFamily="18" charset="0"/>
            </a:endParaRPr>
          </a:p>
        </p:txBody>
      </p:sp>
    </p:spTree>
    <p:extLst>
      <p:ext uri="{BB962C8B-B14F-4D97-AF65-F5344CB8AC3E}">
        <p14:creationId xmlns:p14="http://schemas.microsoft.com/office/powerpoint/2010/main" val="373106959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A4C4583-54DD-7D58-2AA5-687D06A47B6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5E6A268-4EA9-AB92-761D-FB1EE1211AC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A420C7F-6D0C-B227-BD5E-E5C4CDD0733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91</a:t>
            </a:fld>
            <a:endParaRPr/>
          </a:p>
        </p:txBody>
      </p:sp>
      <p:grpSp>
        <p:nvGrpSpPr>
          <p:cNvPr id="2" name="Group 1">
            <a:extLst>
              <a:ext uri="{FF2B5EF4-FFF2-40B4-BE49-F238E27FC236}">
                <a16:creationId xmlns:a16="http://schemas.microsoft.com/office/drawing/2014/main" id="{D3801B50-D0A6-7EDB-065F-7DDC0FC4CCE7}"/>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E9FE1EBA-85D6-6234-61E6-421D9C443E3F}"/>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4.4.</a:t>
              </a:r>
              <a:r>
                <a:rPr lang="en-US" sz="2800" b="1">
                  <a:latin typeface="Times New Roman" panose="02020603050405020304" pitchFamily="18" charset="0"/>
                  <a:cs typeface="Times New Roman" panose="02020603050405020304" pitchFamily="18" charset="0"/>
                </a:rPr>
                <a:t>3</a:t>
              </a:r>
              <a:r>
                <a:rPr lang="vi-VN" sz="2800" b="1">
                  <a:latin typeface="Times New Roman" panose="02020603050405020304" pitchFamily="18" charset="0"/>
                  <a:cs typeface="Times New Roman" panose="02020603050405020304" pitchFamily="18" charset="0"/>
                </a:rPr>
                <a:t>. Guards – bảo vệ Route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E2357ED-77AE-9854-2FFE-6D8071F63C9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4C441DA5-9345-E59D-B3AF-06FFB706815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8FF53A4-32D2-D3F6-3AC6-7025D8E44AF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B930689-8D7D-4EC2-EF3A-79E579BAAF9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27D3BF15-E6DB-001C-4F7E-2822840AF299}"/>
              </a:ext>
            </a:extLst>
          </p:cNvPr>
          <p:cNvSpPr txBox="1"/>
          <p:nvPr/>
        </p:nvSpPr>
        <p:spPr>
          <a:xfrm>
            <a:off x="542786" y="841012"/>
            <a:ext cx="11104824" cy="4457952"/>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vi-VN" sz="2400">
                <a:latin typeface="Times New Roman" panose="02020603050405020304" pitchFamily="18" charset="0"/>
                <a:cs typeface="Times New Roman" panose="02020603050405020304" pitchFamily="18" charset="0"/>
              </a:rPr>
              <a:t>Trong Angular </a:t>
            </a:r>
            <a:r>
              <a:rPr lang="en-US" sz="2400">
                <a:latin typeface="Times New Roman" panose="02020603050405020304" pitchFamily="18" charset="0"/>
                <a:cs typeface="Times New Roman" panose="02020603050405020304" pitchFamily="18" charset="0"/>
              </a:rPr>
              <a:t>phiên bản mở </a:t>
            </a:r>
            <a:r>
              <a:rPr lang="vi-VN" sz="2400">
                <a:latin typeface="Times New Roman" panose="02020603050405020304" pitchFamily="18" charset="0"/>
                <a:cs typeface="Times New Roman" panose="02020603050405020304" pitchFamily="18" charset="0"/>
              </a:rPr>
              <a:t>(v17+), các Guard thường được viết dưới dạng </a:t>
            </a:r>
            <a:r>
              <a:rPr lang="vi-VN" sz="2400" b="1">
                <a:latin typeface="Times New Roman" panose="02020603050405020304" pitchFamily="18" charset="0"/>
                <a:cs typeface="Times New Roman" panose="02020603050405020304" pitchFamily="18" charset="0"/>
              </a:rPr>
              <a:t>Functional Guards</a:t>
            </a:r>
            <a:r>
              <a:rPr lang="vi-VN" sz="2400">
                <a:latin typeface="Times New Roman" panose="02020603050405020304" pitchFamily="18" charset="0"/>
                <a:cs typeface="Times New Roman" panose="02020603050405020304" pitchFamily="18" charset="0"/>
              </a:rPr>
              <a:t> (hàm) để đơn giản hóa code:</a:t>
            </a:r>
          </a:p>
          <a:p>
            <a:pPr marL="342900" indent="-342900" algn="just">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CanActivate:</a:t>
            </a:r>
            <a:r>
              <a:rPr lang="vi-VN" sz="2400">
                <a:latin typeface="Times New Roman" panose="02020603050405020304" pitchFamily="18" charset="0"/>
                <a:cs typeface="Times New Roman" panose="02020603050405020304" pitchFamily="18" charset="0"/>
              </a:rPr>
              <a:t> Kiểm tra xem người dùng có được phép truy cập vào một Route hay không (ví dụ: yêu cầu đăng nhập).</a:t>
            </a:r>
          </a:p>
          <a:p>
            <a:pPr marL="342900" indent="-342900" algn="just">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CanDeactivate:</a:t>
            </a:r>
            <a:r>
              <a:rPr lang="vi-VN" sz="2400">
                <a:latin typeface="Times New Roman" panose="02020603050405020304" pitchFamily="18" charset="0"/>
                <a:cs typeface="Times New Roman" panose="02020603050405020304" pitchFamily="18" charset="0"/>
              </a:rPr>
              <a:t> Kiểm tra xem người dùng có được phép rời khỏi Route hiện tại hay không (ví dụ: hỏi "Bạn có muốn lưu thay đổi không?").</a:t>
            </a:r>
          </a:p>
          <a:p>
            <a:pPr marL="342900" indent="-342900" algn="just">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CanMatch:</a:t>
            </a:r>
            <a:r>
              <a:rPr lang="vi-VN" sz="2400">
                <a:latin typeface="Times New Roman" panose="02020603050405020304" pitchFamily="18" charset="0"/>
                <a:cs typeface="Times New Roman" panose="02020603050405020304" pitchFamily="18" charset="0"/>
              </a:rPr>
              <a:t> Kiểm tra xem một Route (thường là Lazy Loaded) có khớp và được phép tải về hay không.</a:t>
            </a:r>
          </a:p>
        </p:txBody>
      </p:sp>
    </p:spTree>
    <p:extLst>
      <p:ext uri="{BB962C8B-B14F-4D97-AF65-F5344CB8AC3E}">
        <p14:creationId xmlns:p14="http://schemas.microsoft.com/office/powerpoint/2010/main" val="215736186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FF325B6-35B2-9BAC-3E2B-EA6ACD4E5B5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2578731-224D-E69D-2C0D-F9BD93C5C0B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E02D265-E474-F577-3046-BF1F29588F4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92</a:t>
            </a:fld>
            <a:endParaRPr/>
          </a:p>
        </p:txBody>
      </p:sp>
      <p:grpSp>
        <p:nvGrpSpPr>
          <p:cNvPr id="2" name="Group 1">
            <a:extLst>
              <a:ext uri="{FF2B5EF4-FFF2-40B4-BE49-F238E27FC236}">
                <a16:creationId xmlns:a16="http://schemas.microsoft.com/office/drawing/2014/main" id="{57A09E41-0EC6-8969-7F28-AB7C6F13FF2B}"/>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61D37A21-53C3-BC29-A5F4-BCCFC9CB8343}"/>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4.4.</a:t>
              </a:r>
              <a:r>
                <a:rPr lang="en-US" sz="2800" b="1">
                  <a:latin typeface="Times New Roman" panose="02020603050405020304" pitchFamily="18" charset="0"/>
                  <a:cs typeface="Times New Roman" panose="02020603050405020304" pitchFamily="18" charset="0"/>
                </a:rPr>
                <a:t>3</a:t>
              </a:r>
              <a:r>
                <a:rPr lang="vi-VN" sz="2800" b="1">
                  <a:latin typeface="Times New Roman" panose="02020603050405020304" pitchFamily="18" charset="0"/>
                  <a:cs typeface="Times New Roman" panose="02020603050405020304" pitchFamily="18" charset="0"/>
                </a:rPr>
                <a:t>. Guards – bảo vệ Route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AAF34CC-2785-7A3A-742D-8EFF92B9A95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F439A91-F277-B152-8C90-479099ABF87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7EDC2C9-1ECF-C818-8069-957B3ADA1A1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59A57FF-7FCC-552B-193F-0C5AE8CF5E2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C1F742AE-42A4-2421-D2C9-2E36E9AC64F1}"/>
              </a:ext>
            </a:extLst>
          </p:cNvPr>
          <p:cNvSpPr txBox="1"/>
          <p:nvPr/>
        </p:nvSpPr>
        <p:spPr>
          <a:xfrm>
            <a:off x="446366" y="841012"/>
            <a:ext cx="11299267" cy="3903954"/>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Tại sao cần sử dụng Guards?</a:t>
            </a:r>
          </a:p>
          <a:p>
            <a:pPr marL="342900" indent="-342900" algn="just">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Bảo mật:</a:t>
            </a:r>
            <a:r>
              <a:rPr lang="vi-VN" sz="2400">
                <a:latin typeface="Times New Roman" panose="02020603050405020304" pitchFamily="18" charset="0"/>
                <a:cs typeface="Times New Roman" panose="02020603050405020304" pitchFamily="18" charset="0"/>
              </a:rPr>
              <a:t> Ngăn chặn người dùng vãng lai truy cập vào các trang quản trị hoặc trang cá nhân.</a:t>
            </a:r>
          </a:p>
          <a:p>
            <a:pPr marL="342900" indent="-342900" algn="just">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Ràng buộc logic:</a:t>
            </a:r>
            <a:r>
              <a:rPr lang="vi-VN" sz="2400">
                <a:latin typeface="Times New Roman" panose="02020603050405020304" pitchFamily="18" charset="0"/>
                <a:cs typeface="Times New Roman" panose="02020603050405020304" pitchFamily="18" charset="0"/>
              </a:rPr>
              <a:t> Đảm bảo người dùng phải hoàn thành một quy trình (như điền form) trước khi chuyển trang.</a:t>
            </a:r>
          </a:p>
          <a:p>
            <a:pPr marL="342900" indent="-342900" algn="just">
              <a:lnSpc>
                <a:spcPct val="150000"/>
              </a:lnSpc>
              <a:buFont typeface="Wingdings" panose="05000000000000000000" pitchFamily="2" charset="2"/>
              <a:buChar char="ü"/>
            </a:pPr>
            <a:r>
              <a:rPr lang="vi-VN" sz="2400" b="1">
                <a:latin typeface="Times New Roman" panose="02020603050405020304" pitchFamily="18" charset="0"/>
                <a:cs typeface="Times New Roman" panose="02020603050405020304" pitchFamily="18" charset="0"/>
              </a:rPr>
              <a:t>Trải nghiệm người dùng:</a:t>
            </a:r>
            <a:r>
              <a:rPr lang="vi-VN" sz="2400">
                <a:latin typeface="Times New Roman" panose="02020603050405020304" pitchFamily="18" charset="0"/>
                <a:cs typeface="Times New Roman" panose="02020603050405020304" pitchFamily="18" charset="0"/>
              </a:rPr>
              <a:t> Ngăn chặn việc vô tình làm mất dữ liệu khi đang nhập liệu dở dang.</a:t>
            </a:r>
          </a:p>
        </p:txBody>
      </p:sp>
    </p:spTree>
    <p:extLst>
      <p:ext uri="{BB962C8B-B14F-4D97-AF65-F5344CB8AC3E}">
        <p14:creationId xmlns:p14="http://schemas.microsoft.com/office/powerpoint/2010/main" val="146592777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14939BE-A4B7-377A-0E4D-966377E0948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A12F2B6-325D-EFD6-6FCC-76B76353C34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B46163D-52DC-B140-DB56-B5F7DB1FB6D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93</a:t>
            </a:fld>
            <a:endParaRPr/>
          </a:p>
        </p:txBody>
      </p:sp>
      <p:grpSp>
        <p:nvGrpSpPr>
          <p:cNvPr id="2" name="Group 1">
            <a:extLst>
              <a:ext uri="{FF2B5EF4-FFF2-40B4-BE49-F238E27FC236}">
                <a16:creationId xmlns:a16="http://schemas.microsoft.com/office/drawing/2014/main" id="{696F91D7-4AAE-8B5E-B603-9A85DFC440C8}"/>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A574FB21-3578-B9B1-60B0-688F13E2B122}"/>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4.4.</a:t>
              </a:r>
              <a:r>
                <a:rPr lang="en-US" sz="2800" b="1">
                  <a:latin typeface="Times New Roman" panose="02020603050405020304" pitchFamily="18" charset="0"/>
                  <a:cs typeface="Times New Roman" panose="02020603050405020304" pitchFamily="18" charset="0"/>
                </a:rPr>
                <a:t>3</a:t>
              </a:r>
              <a:r>
                <a:rPr lang="vi-VN" sz="2800" b="1">
                  <a:latin typeface="Times New Roman" panose="02020603050405020304" pitchFamily="18" charset="0"/>
                  <a:cs typeface="Times New Roman" panose="02020603050405020304" pitchFamily="18" charset="0"/>
                </a:rPr>
                <a:t>. Guards – bảo vệ Route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A33DC73A-6C07-3139-A938-2A92DC9CDA4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8078F4F6-0A29-E82C-12EA-401A3EB104D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D971C13-A1AD-8246-5BFD-1E2B8A9EDF1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138B418-40D9-E145-2C6A-1DB0935065C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AC7381C-BEC6-156A-86AD-D1C59EF69AF7}"/>
              </a:ext>
            </a:extLst>
          </p:cNvPr>
          <p:cNvSpPr txBox="1"/>
          <p:nvPr/>
        </p:nvSpPr>
        <p:spPr>
          <a:xfrm>
            <a:off x="446366" y="786769"/>
            <a:ext cx="11299267"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 Tạo file “auth.guard.ts” và viết mã lệnh (giả lập localStorage):</a:t>
            </a:r>
            <a:endParaRPr lang="vi-VN" sz="240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F20282C7-6E8D-6DF3-6AF9-69C4FC0009BD}"/>
              </a:ext>
            </a:extLst>
          </p:cNvPr>
          <p:cNvPicPr>
            <a:picLocks noChangeAspect="1"/>
          </p:cNvPicPr>
          <p:nvPr/>
        </p:nvPicPr>
        <p:blipFill>
          <a:blip r:embed="rId3"/>
          <a:srcRect/>
          <a:stretch/>
        </p:blipFill>
        <p:spPr>
          <a:xfrm>
            <a:off x="683550" y="1366816"/>
            <a:ext cx="8047117" cy="4961513"/>
          </a:xfrm>
          <a:prstGeom prst="rect">
            <a:avLst/>
          </a:prstGeom>
        </p:spPr>
      </p:pic>
      <p:sp>
        <p:nvSpPr>
          <p:cNvPr id="11" name="Rectangle 10">
            <a:extLst>
              <a:ext uri="{FF2B5EF4-FFF2-40B4-BE49-F238E27FC236}">
                <a16:creationId xmlns:a16="http://schemas.microsoft.com/office/drawing/2014/main" id="{C9827AB0-1648-E35A-8828-A26A3270DFCD}"/>
              </a:ext>
            </a:extLst>
          </p:cNvPr>
          <p:cNvSpPr/>
          <p:nvPr/>
        </p:nvSpPr>
        <p:spPr>
          <a:xfrm>
            <a:off x="2710249" y="2627870"/>
            <a:ext cx="1013254" cy="2883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03C9BDD0-67FB-4F78-6795-303B9C7AE3DE}"/>
              </a:ext>
            </a:extLst>
          </p:cNvPr>
          <p:cNvCxnSpPr/>
          <p:nvPr/>
        </p:nvCxnSpPr>
        <p:spPr>
          <a:xfrm flipH="1">
            <a:off x="5659395" y="5758249"/>
            <a:ext cx="2281881"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200124E-30D2-5D23-4C88-419F0C8B6BF7}"/>
              </a:ext>
            </a:extLst>
          </p:cNvPr>
          <p:cNvSpPr txBox="1"/>
          <p:nvPr/>
        </p:nvSpPr>
        <p:spPr>
          <a:xfrm>
            <a:off x="7314061" y="5341584"/>
            <a:ext cx="4208203" cy="400110"/>
          </a:xfrm>
          <a:prstGeom prst="rect">
            <a:avLst/>
          </a:prstGeom>
          <a:noFill/>
          <a:ln>
            <a:solidFill>
              <a:srgbClr val="FF0000"/>
            </a:solidFill>
          </a:ln>
        </p:spPr>
        <p:txBody>
          <a:bodyPr wrap="none" rtlCol="0">
            <a:spAutoFit/>
          </a:bodyPr>
          <a:lstStyle/>
          <a:p>
            <a:r>
              <a:rPr lang="en-US" sz="2000">
                <a:latin typeface="Times New Roman" panose="02020603050405020304" pitchFamily="18" charset="0"/>
                <a:cs typeface="Times New Roman" panose="02020603050405020304" pitchFamily="18" charset="0"/>
              </a:rPr>
              <a:t>Ví dụ ta trỏ về </a:t>
            </a:r>
            <a:r>
              <a:rPr lang="en-US" sz="2000" b="1">
                <a:latin typeface="Times New Roman" panose="02020603050405020304" pitchFamily="18" charset="0"/>
                <a:cs typeface="Times New Roman" panose="02020603050405020304" pitchFamily="18" charset="0"/>
              </a:rPr>
              <a:t>contacts</a:t>
            </a:r>
            <a:r>
              <a:rPr lang="en-US" sz="2000">
                <a:latin typeface="Times New Roman" panose="02020603050405020304" pitchFamily="18" charset="0"/>
                <a:cs typeface="Times New Roman" panose="02020603050405020304" pitchFamily="18" charset="0"/>
              </a:rPr>
              <a:t> nếu chưa login</a:t>
            </a:r>
          </a:p>
        </p:txBody>
      </p:sp>
    </p:spTree>
    <p:extLst>
      <p:ext uri="{BB962C8B-B14F-4D97-AF65-F5344CB8AC3E}">
        <p14:creationId xmlns:p14="http://schemas.microsoft.com/office/powerpoint/2010/main" val="120177814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733FEB0-534B-496D-C354-30742D5C7F8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FF79A48-E1FF-634E-5984-E17E8531AEB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940EC1A-9E84-8512-5683-867FF2A0C57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94</a:t>
            </a:fld>
            <a:endParaRPr/>
          </a:p>
        </p:txBody>
      </p:sp>
      <p:grpSp>
        <p:nvGrpSpPr>
          <p:cNvPr id="2" name="Group 1">
            <a:extLst>
              <a:ext uri="{FF2B5EF4-FFF2-40B4-BE49-F238E27FC236}">
                <a16:creationId xmlns:a16="http://schemas.microsoft.com/office/drawing/2014/main" id="{B2FCC6E7-E988-AB7A-7888-21743EEBFF9F}"/>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0AABA415-4024-B953-C7DA-E126B3B7A357}"/>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4.4.</a:t>
              </a:r>
              <a:r>
                <a:rPr lang="en-US" sz="2800" b="1">
                  <a:latin typeface="Times New Roman" panose="02020603050405020304" pitchFamily="18" charset="0"/>
                  <a:cs typeface="Times New Roman" panose="02020603050405020304" pitchFamily="18" charset="0"/>
                </a:rPr>
                <a:t>3</a:t>
              </a:r>
              <a:r>
                <a:rPr lang="vi-VN" sz="2800" b="1">
                  <a:latin typeface="Times New Roman" panose="02020603050405020304" pitchFamily="18" charset="0"/>
                  <a:cs typeface="Times New Roman" panose="02020603050405020304" pitchFamily="18" charset="0"/>
                </a:rPr>
                <a:t>. Guards – bảo vệ Route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E479C7A-8F22-6697-CF33-1CCC7C1CA70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0703AE8-F8A5-A00E-0319-A3FF1A6D6FC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798747E-C026-46FB-F82E-4AB7F3FA4F8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49EA876-7898-0F2A-F39B-C1898CD2EF1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F2B9E93A-8BB3-5805-5B8E-4AA41385C31E}"/>
              </a:ext>
            </a:extLst>
          </p:cNvPr>
          <p:cNvSpPr txBox="1"/>
          <p:nvPr/>
        </p:nvSpPr>
        <p:spPr>
          <a:xfrm>
            <a:off x="446366" y="786769"/>
            <a:ext cx="11299267"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Áp dụng cho cấu hình Routing, muốn routing nào được bảo về thì khai báo</a:t>
            </a:r>
            <a:endParaRPr lang="vi-VN" sz="240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12D8AED4-7765-5D46-3A69-A15C911266CE}"/>
              </a:ext>
            </a:extLst>
          </p:cNvPr>
          <p:cNvPicPr>
            <a:picLocks noChangeAspect="1"/>
          </p:cNvPicPr>
          <p:nvPr/>
        </p:nvPicPr>
        <p:blipFill>
          <a:blip r:embed="rId3"/>
          <a:stretch>
            <a:fillRect/>
          </a:stretch>
        </p:blipFill>
        <p:spPr>
          <a:xfrm>
            <a:off x="842051" y="1366736"/>
            <a:ext cx="5655186" cy="5010768"/>
          </a:xfrm>
          <a:prstGeom prst="rect">
            <a:avLst/>
          </a:prstGeom>
        </p:spPr>
      </p:pic>
      <p:sp>
        <p:nvSpPr>
          <p:cNvPr id="12" name="Rectangle 11">
            <a:extLst>
              <a:ext uri="{FF2B5EF4-FFF2-40B4-BE49-F238E27FC236}">
                <a16:creationId xmlns:a16="http://schemas.microsoft.com/office/drawing/2014/main" id="{F2188735-27DA-FFA6-416B-2CD0FA5E35D0}"/>
              </a:ext>
            </a:extLst>
          </p:cNvPr>
          <p:cNvSpPr/>
          <p:nvPr/>
        </p:nvSpPr>
        <p:spPr>
          <a:xfrm>
            <a:off x="857250" y="1902279"/>
            <a:ext cx="5927271" cy="17961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5DABE6A-E36A-CD99-9951-124C5E71943A}"/>
              </a:ext>
            </a:extLst>
          </p:cNvPr>
          <p:cNvSpPr/>
          <p:nvPr/>
        </p:nvSpPr>
        <p:spPr>
          <a:xfrm>
            <a:off x="857250" y="5617808"/>
            <a:ext cx="5927271" cy="17961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519619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922F2D5C-7C87-8F49-A364-5681CE0D01F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1D266D2-346B-85AA-D2CA-717ABF21F9B7}"/>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53FA0B4-B8A1-9F41-1511-D3D413FDEF77}"/>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95</a:t>
            </a:fld>
            <a:endParaRPr/>
          </a:p>
        </p:txBody>
      </p:sp>
      <p:grpSp>
        <p:nvGrpSpPr>
          <p:cNvPr id="2" name="Group 1">
            <a:extLst>
              <a:ext uri="{FF2B5EF4-FFF2-40B4-BE49-F238E27FC236}">
                <a16:creationId xmlns:a16="http://schemas.microsoft.com/office/drawing/2014/main" id="{3FDEA5CC-6496-2AE7-7EB4-67FE2A597FBB}"/>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53758062-0399-F34E-48CF-FB6113671E08}"/>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4.4.</a:t>
              </a:r>
              <a:r>
                <a:rPr lang="en-US" sz="2800" b="1">
                  <a:latin typeface="Times New Roman" panose="02020603050405020304" pitchFamily="18" charset="0"/>
                  <a:cs typeface="Times New Roman" panose="02020603050405020304" pitchFamily="18" charset="0"/>
                </a:rPr>
                <a:t>3</a:t>
              </a:r>
              <a:r>
                <a:rPr lang="vi-VN" sz="2800" b="1">
                  <a:latin typeface="Times New Roman" panose="02020603050405020304" pitchFamily="18" charset="0"/>
                  <a:cs typeface="Times New Roman" panose="02020603050405020304" pitchFamily="18" charset="0"/>
                </a:rPr>
                <a:t>. Guards – bảo vệ Route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BA08B92-BB59-3ACF-8871-5474B40EA7A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2C43664-F5F9-0C42-3D4D-935E8918DEF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03BFB83-72DC-4D3C-E3F6-4F888577B2C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05E93BC-F6EC-FE46-D467-CD72A6E47BC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8F81CE07-7397-F1EF-09AA-A1C1FF0AE5C2}"/>
              </a:ext>
            </a:extLst>
          </p:cNvPr>
          <p:cNvSpPr txBox="1"/>
          <p:nvPr/>
        </p:nvSpPr>
        <p:spPr>
          <a:xfrm>
            <a:off x="446366" y="786769"/>
            <a:ext cx="11299267" cy="1133965"/>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3: Thử nghiệm chạy </a:t>
            </a:r>
            <a:r>
              <a:rPr lang="en-US" sz="2400">
                <a:latin typeface="Times New Roman" panose="02020603050405020304" pitchFamily="18" charset="0"/>
                <a:cs typeface="Times New Roman" panose="02020603050405020304" pitchFamily="18" charset="0"/>
                <a:hlinkClick r:id="rId3"/>
              </a:rPr>
              <a:t>http://localhost:4200/lazyinfo</a:t>
            </a:r>
            <a:r>
              <a:rPr lang="en-US" sz="2400">
                <a:latin typeface="Times New Roman" panose="02020603050405020304" pitchFamily="18" charset="0"/>
                <a:cs typeface="Times New Roman" panose="02020603050405020304" pitchFamily="18" charset="0"/>
              </a:rPr>
              <a:t> và bị chặn</a:t>
            </a:r>
          </a:p>
          <a:p>
            <a:pPr algn="just">
              <a:lnSpc>
                <a:spcPct val="150000"/>
              </a:lnSpc>
            </a:pPr>
            <a:r>
              <a:rPr lang="en-US" sz="2400">
                <a:latin typeface="Times New Roman" panose="02020603050405020304" pitchFamily="18" charset="0"/>
                <a:cs typeface="Times New Roman" panose="02020603050405020304" pitchFamily="18" charset="0"/>
              </a:rPr>
              <a:t>Lúc này Guards xác nhận chưa thấy đăng nhập và sẽ đẩy qua </a:t>
            </a:r>
            <a:r>
              <a:rPr lang="en-US" sz="2400" b="1">
                <a:latin typeface="Times New Roman" panose="02020603050405020304" pitchFamily="18" charset="0"/>
                <a:cs typeface="Times New Roman" panose="02020603050405020304" pitchFamily="18" charset="0"/>
              </a:rPr>
              <a:t>contacts</a:t>
            </a:r>
            <a:endParaRPr lang="vi-VN" sz="24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0DB3416F-0F15-DEA7-F19F-78AC1BC60EEE}"/>
              </a:ext>
            </a:extLst>
          </p:cNvPr>
          <p:cNvPicPr>
            <a:picLocks noChangeAspect="1"/>
          </p:cNvPicPr>
          <p:nvPr/>
        </p:nvPicPr>
        <p:blipFill>
          <a:blip r:embed="rId4"/>
          <a:stretch>
            <a:fillRect/>
          </a:stretch>
        </p:blipFill>
        <p:spPr>
          <a:xfrm>
            <a:off x="2694044" y="1970428"/>
            <a:ext cx="5601185" cy="3284505"/>
          </a:xfrm>
          <a:prstGeom prst="rect">
            <a:avLst/>
          </a:prstGeom>
        </p:spPr>
      </p:pic>
    </p:spTree>
    <p:extLst>
      <p:ext uri="{BB962C8B-B14F-4D97-AF65-F5344CB8AC3E}">
        <p14:creationId xmlns:p14="http://schemas.microsoft.com/office/powerpoint/2010/main" val="376597930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7D3F8D8-A3FC-672F-4CBC-968BF7CB569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B0878DE-B519-4B73-F981-85E320C058C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1B01655-1BE9-99FA-93BC-0132835D0F8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96</a:t>
            </a:fld>
            <a:endParaRPr/>
          </a:p>
        </p:txBody>
      </p:sp>
      <p:grpSp>
        <p:nvGrpSpPr>
          <p:cNvPr id="2" name="Group 1">
            <a:extLst>
              <a:ext uri="{FF2B5EF4-FFF2-40B4-BE49-F238E27FC236}">
                <a16:creationId xmlns:a16="http://schemas.microsoft.com/office/drawing/2014/main" id="{9E5EA684-4247-04D0-2BEF-5560856D88E2}"/>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E1FABA41-0D2D-5978-B84E-5D8B8A113B2D}"/>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4.4.</a:t>
              </a:r>
              <a:r>
                <a:rPr lang="en-US" sz="2800" b="1">
                  <a:latin typeface="Times New Roman" panose="02020603050405020304" pitchFamily="18" charset="0"/>
                  <a:cs typeface="Times New Roman" panose="02020603050405020304" pitchFamily="18" charset="0"/>
                </a:rPr>
                <a:t>3</a:t>
              </a:r>
              <a:r>
                <a:rPr lang="vi-VN" sz="2800" b="1">
                  <a:latin typeface="Times New Roman" panose="02020603050405020304" pitchFamily="18" charset="0"/>
                  <a:cs typeface="Times New Roman" panose="02020603050405020304" pitchFamily="18" charset="0"/>
                </a:rPr>
                <a:t>. Guards – bảo vệ Route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AF2FC4F3-6D9F-03DA-6598-7328232E9CC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7E88C39-7276-F3E0-29AF-14A0AC629E4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5CE26C0-304B-A8B4-AFA3-2FC000FACBF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2568788-661F-7316-CF8E-C90F910FB51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4BBDC2F-56C3-B691-57DB-FC3361163E8D}"/>
              </a:ext>
            </a:extLst>
          </p:cNvPr>
          <p:cNvSpPr txBox="1"/>
          <p:nvPr/>
        </p:nvSpPr>
        <p:spPr>
          <a:xfrm>
            <a:off x="446366" y="786769"/>
            <a:ext cx="11299267" cy="579967"/>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4: dùng F12 để dev thay đổi isLoggedIn=true. Bằng cách gõ lệnh bên dưới</a:t>
            </a:r>
            <a:endParaRPr lang="vi-VN" sz="2400" b="1">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8DA9929E-7FDB-CB19-E795-81A223A15E32}"/>
              </a:ext>
            </a:extLst>
          </p:cNvPr>
          <p:cNvSpPr txBox="1"/>
          <p:nvPr/>
        </p:nvSpPr>
        <p:spPr>
          <a:xfrm>
            <a:off x="2947086" y="1427874"/>
            <a:ext cx="5158946" cy="400110"/>
          </a:xfrm>
          <a:prstGeom prst="rect">
            <a:avLst/>
          </a:prstGeom>
          <a:noFill/>
          <a:ln>
            <a:solidFill>
              <a:srgbClr val="FF0000"/>
            </a:solidFill>
          </a:ln>
        </p:spPr>
        <p:txBody>
          <a:bodyPr wrap="square">
            <a:spAutoFit/>
          </a:bodyPr>
          <a:lstStyle/>
          <a:p>
            <a:r>
              <a:rPr lang="en-US" sz="2000"/>
              <a:t>localStorage.setItem('isLoggedIn', 'true')</a:t>
            </a:r>
          </a:p>
        </p:txBody>
      </p:sp>
      <p:pic>
        <p:nvPicPr>
          <p:cNvPr id="13" name="Picture 12">
            <a:extLst>
              <a:ext uri="{FF2B5EF4-FFF2-40B4-BE49-F238E27FC236}">
                <a16:creationId xmlns:a16="http://schemas.microsoft.com/office/drawing/2014/main" id="{8D6F3537-3CFB-90C1-F3E7-456D053CAF3E}"/>
              </a:ext>
            </a:extLst>
          </p:cNvPr>
          <p:cNvPicPr>
            <a:picLocks noChangeAspect="1"/>
          </p:cNvPicPr>
          <p:nvPr/>
        </p:nvPicPr>
        <p:blipFill>
          <a:blip r:embed="rId3"/>
          <a:stretch>
            <a:fillRect/>
          </a:stretch>
        </p:blipFill>
        <p:spPr>
          <a:xfrm>
            <a:off x="-1" y="1889122"/>
            <a:ext cx="12192000" cy="3973589"/>
          </a:xfrm>
          <a:prstGeom prst="rect">
            <a:avLst/>
          </a:prstGeom>
        </p:spPr>
      </p:pic>
    </p:spTree>
    <p:extLst>
      <p:ext uri="{BB962C8B-B14F-4D97-AF65-F5344CB8AC3E}">
        <p14:creationId xmlns:p14="http://schemas.microsoft.com/office/powerpoint/2010/main" val="183973141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ADD2E1E-4B52-6778-14FC-15AC9A431CD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A56CB63-B069-C4EC-E78C-E32F7B24A16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0E5492B-C84F-24DB-997C-2F802B494E63}"/>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97</a:t>
            </a:fld>
            <a:endParaRPr/>
          </a:p>
        </p:txBody>
      </p:sp>
      <p:grpSp>
        <p:nvGrpSpPr>
          <p:cNvPr id="2" name="Group 1">
            <a:extLst>
              <a:ext uri="{FF2B5EF4-FFF2-40B4-BE49-F238E27FC236}">
                <a16:creationId xmlns:a16="http://schemas.microsoft.com/office/drawing/2014/main" id="{837307A9-C69C-4595-4584-AA299A72C770}"/>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FE81688A-AFA1-5976-783B-8CEC863D93A2}"/>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4.4.</a:t>
              </a:r>
              <a:r>
                <a:rPr lang="en-US" sz="2800" b="1">
                  <a:latin typeface="Times New Roman" panose="02020603050405020304" pitchFamily="18" charset="0"/>
                  <a:cs typeface="Times New Roman" panose="02020603050405020304" pitchFamily="18" charset="0"/>
                </a:rPr>
                <a:t>3</a:t>
              </a:r>
              <a:r>
                <a:rPr lang="vi-VN" sz="2800" b="1">
                  <a:latin typeface="Times New Roman" panose="02020603050405020304" pitchFamily="18" charset="0"/>
                  <a:cs typeface="Times New Roman" panose="02020603050405020304" pitchFamily="18" charset="0"/>
                </a:rPr>
                <a:t>. Guards – bảo vệ Route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9339B28-30FD-F6AA-0866-6A4CEC3CFA4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504ABDD-EA73-579E-07C3-C49BF0FDE2B6}"/>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94E3508-3F27-8E5D-7D0D-26DDBA5BBB4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093E053-98E6-A3D4-93DE-584B3E02634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417B039A-8237-40AC-8213-9DD1F68B614E}"/>
              </a:ext>
            </a:extLst>
          </p:cNvPr>
          <p:cNvSpPr txBox="1"/>
          <p:nvPr/>
        </p:nvSpPr>
        <p:spPr>
          <a:xfrm>
            <a:off x="446366" y="786769"/>
            <a:ext cx="11299267" cy="1133965"/>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4: dùng F12 để dev thay đổi isLoggedIn=true. Bằng cách gõ lệnh bên dưới</a:t>
            </a:r>
          </a:p>
          <a:p>
            <a:pPr algn="just">
              <a:lnSpc>
                <a:spcPct val="150000"/>
              </a:lnSpc>
            </a:pPr>
            <a:r>
              <a:rPr lang="en-US" sz="2400" b="1">
                <a:latin typeface="Times New Roman" panose="02020603050405020304" pitchFamily="18" charset="0"/>
                <a:cs typeface="Times New Roman" panose="02020603050405020304" pitchFamily="18" charset="0"/>
              </a:rPr>
              <a:t>Nhập allow pasting rồi nhấn enter, sau đó copy + paste lệnh vào</a:t>
            </a:r>
            <a:endParaRPr lang="vi-VN" sz="2400" b="1">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CD4274A8-F3B8-FCF6-D4DA-6368CF598C25}"/>
              </a:ext>
            </a:extLst>
          </p:cNvPr>
          <p:cNvSpPr txBox="1"/>
          <p:nvPr/>
        </p:nvSpPr>
        <p:spPr>
          <a:xfrm>
            <a:off x="3098799" y="2028990"/>
            <a:ext cx="5158946" cy="400110"/>
          </a:xfrm>
          <a:prstGeom prst="rect">
            <a:avLst/>
          </a:prstGeom>
          <a:noFill/>
          <a:ln>
            <a:solidFill>
              <a:srgbClr val="FF0000"/>
            </a:solidFill>
          </a:ln>
        </p:spPr>
        <p:txBody>
          <a:bodyPr wrap="square">
            <a:spAutoFit/>
          </a:bodyPr>
          <a:lstStyle/>
          <a:p>
            <a:r>
              <a:rPr lang="en-US" sz="2000"/>
              <a:t>localStorage.setItem('isLoggedIn', 'true')</a:t>
            </a:r>
          </a:p>
        </p:txBody>
      </p:sp>
      <p:pic>
        <p:nvPicPr>
          <p:cNvPr id="10" name="Picture 9">
            <a:extLst>
              <a:ext uri="{FF2B5EF4-FFF2-40B4-BE49-F238E27FC236}">
                <a16:creationId xmlns:a16="http://schemas.microsoft.com/office/drawing/2014/main" id="{37446FD4-93DD-E94D-B22D-C379B9295E32}"/>
              </a:ext>
            </a:extLst>
          </p:cNvPr>
          <p:cNvPicPr>
            <a:picLocks noChangeAspect="1"/>
          </p:cNvPicPr>
          <p:nvPr/>
        </p:nvPicPr>
        <p:blipFill>
          <a:blip r:embed="rId3"/>
          <a:stretch>
            <a:fillRect/>
          </a:stretch>
        </p:blipFill>
        <p:spPr>
          <a:xfrm>
            <a:off x="2685967" y="2664518"/>
            <a:ext cx="6622354" cy="983065"/>
          </a:xfrm>
          <a:prstGeom prst="rect">
            <a:avLst/>
          </a:prstGeom>
        </p:spPr>
      </p:pic>
      <p:pic>
        <p:nvPicPr>
          <p:cNvPr id="14" name="Picture 13">
            <a:extLst>
              <a:ext uri="{FF2B5EF4-FFF2-40B4-BE49-F238E27FC236}">
                <a16:creationId xmlns:a16="http://schemas.microsoft.com/office/drawing/2014/main" id="{00F79F3B-7366-5C11-EF9E-063B27CD4B86}"/>
              </a:ext>
            </a:extLst>
          </p:cNvPr>
          <p:cNvPicPr>
            <a:picLocks noChangeAspect="1"/>
          </p:cNvPicPr>
          <p:nvPr/>
        </p:nvPicPr>
        <p:blipFill>
          <a:blip r:embed="rId4"/>
          <a:stretch>
            <a:fillRect/>
          </a:stretch>
        </p:blipFill>
        <p:spPr>
          <a:xfrm>
            <a:off x="2786699" y="4155949"/>
            <a:ext cx="6058425" cy="2179509"/>
          </a:xfrm>
          <a:prstGeom prst="rect">
            <a:avLst/>
          </a:prstGeom>
        </p:spPr>
      </p:pic>
      <p:sp>
        <p:nvSpPr>
          <p:cNvPr id="15" name="Arrow: Down 14">
            <a:extLst>
              <a:ext uri="{FF2B5EF4-FFF2-40B4-BE49-F238E27FC236}">
                <a16:creationId xmlns:a16="http://schemas.microsoft.com/office/drawing/2014/main" id="{454D3E97-2E8D-0B28-4131-E147A390CACC}"/>
              </a:ext>
            </a:extLst>
          </p:cNvPr>
          <p:cNvSpPr/>
          <p:nvPr/>
        </p:nvSpPr>
        <p:spPr>
          <a:xfrm>
            <a:off x="5437414" y="3649436"/>
            <a:ext cx="351065" cy="464466"/>
          </a:xfrm>
          <a:prstGeom prst="down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7966976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99847E3-5598-0280-90FF-B0088AB4875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86BCAE8-1262-4C88-9AE9-CCF17F11522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D5C403A-6052-93A9-7D82-F734D43AC6F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98</a:t>
            </a:fld>
            <a:endParaRPr/>
          </a:p>
        </p:txBody>
      </p:sp>
      <p:grpSp>
        <p:nvGrpSpPr>
          <p:cNvPr id="2" name="Group 1">
            <a:extLst>
              <a:ext uri="{FF2B5EF4-FFF2-40B4-BE49-F238E27FC236}">
                <a16:creationId xmlns:a16="http://schemas.microsoft.com/office/drawing/2014/main" id="{8F7271D2-91AE-D6C0-3F94-16B6D4103A8C}"/>
              </a:ext>
            </a:extLst>
          </p:cNvPr>
          <p:cNvGrpSpPr/>
          <p:nvPr/>
        </p:nvGrpSpPr>
        <p:grpSpPr>
          <a:xfrm>
            <a:off x="214276" y="229075"/>
            <a:ext cx="7272804" cy="508000"/>
            <a:chOff x="789624" y="1191463"/>
            <a:chExt cx="7272804" cy="508000"/>
          </a:xfrm>
        </p:grpSpPr>
        <p:sp>
          <p:nvSpPr>
            <p:cNvPr id="3" name="AutoShape 52">
              <a:extLst>
                <a:ext uri="{FF2B5EF4-FFF2-40B4-BE49-F238E27FC236}">
                  <a16:creationId xmlns:a16="http://schemas.microsoft.com/office/drawing/2014/main" id="{D6126BCC-BFEA-0874-6770-CA74EF195E63}"/>
                </a:ext>
              </a:extLst>
            </p:cNvPr>
            <p:cNvSpPr>
              <a:spLocks noChangeArrowheads="1"/>
            </p:cNvSpPr>
            <p:nvPr/>
          </p:nvSpPr>
          <p:spPr bwMode="gray">
            <a:xfrm>
              <a:off x="990600" y="1191463"/>
              <a:ext cx="7071828"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4.4.</a:t>
              </a:r>
              <a:r>
                <a:rPr lang="en-US" sz="2800" b="1">
                  <a:latin typeface="Times New Roman" panose="02020603050405020304" pitchFamily="18" charset="0"/>
                  <a:cs typeface="Times New Roman" panose="02020603050405020304" pitchFamily="18" charset="0"/>
                </a:rPr>
                <a:t>3</a:t>
              </a:r>
              <a:r>
                <a:rPr lang="vi-VN" sz="2800" b="1">
                  <a:latin typeface="Times New Roman" panose="02020603050405020304" pitchFamily="18" charset="0"/>
                  <a:cs typeface="Times New Roman" panose="02020603050405020304" pitchFamily="18" charset="0"/>
                </a:rPr>
                <a:t>. Guards – bảo vệ Route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C810867-47E9-D2AD-0DAE-41DC66D985C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B1068B2-AF31-4178-05DE-6B3FCD2CCE3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A4905DA1-56BB-9318-6A3A-56070C8D3FB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7392DE0-D6E8-9D25-3CAE-877E4A47B0D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C4823D91-29D1-BE29-1C1A-44D704A45FB3}"/>
              </a:ext>
            </a:extLst>
          </p:cNvPr>
          <p:cNvSpPr txBox="1"/>
          <p:nvPr/>
        </p:nvSpPr>
        <p:spPr>
          <a:xfrm>
            <a:off x="446366" y="786769"/>
            <a:ext cx="11299267" cy="1133965"/>
          </a:xfrm>
          <a:prstGeom prst="rect">
            <a:avLst/>
          </a:prstGeom>
          <a:noFill/>
        </p:spPr>
        <p:txBody>
          <a:bodyPr wrap="square">
            <a:spAutoFit/>
          </a:bodyPr>
          <a:lstStyle/>
          <a:p>
            <a:pPr marL="342900" indent="-342900" algn="just">
              <a:lnSpc>
                <a:spcPct val="150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5: Test lại </a:t>
            </a:r>
            <a:r>
              <a:rPr lang="en-US" sz="2400">
                <a:latin typeface="Times New Roman" panose="02020603050405020304" pitchFamily="18" charset="0"/>
                <a:cs typeface="Times New Roman" panose="02020603050405020304" pitchFamily="18" charset="0"/>
                <a:hlinkClick r:id="rId3"/>
              </a:rPr>
              <a:t>http://localhost:4200/lazyinfo</a:t>
            </a:r>
            <a:r>
              <a:rPr lang="en-US" sz="2400">
                <a:latin typeface="Times New Roman" panose="02020603050405020304" pitchFamily="18" charset="0"/>
                <a:cs typeface="Times New Roman" panose="02020603050405020304" pitchFamily="18" charset="0"/>
              </a:rPr>
              <a:t> , bây giờ Guards cho phép truy suất vì ta đã đăng nhập:</a:t>
            </a:r>
            <a:endParaRPr lang="vi-VN" sz="2400" b="1">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2F69CB33-91DC-AAF6-D8B0-35C70BB5B5B7}"/>
              </a:ext>
            </a:extLst>
          </p:cNvPr>
          <p:cNvPicPr>
            <a:picLocks noChangeAspect="1"/>
          </p:cNvPicPr>
          <p:nvPr/>
        </p:nvPicPr>
        <p:blipFill>
          <a:blip r:embed="rId4"/>
          <a:stretch>
            <a:fillRect/>
          </a:stretch>
        </p:blipFill>
        <p:spPr>
          <a:xfrm>
            <a:off x="4024594" y="1387505"/>
            <a:ext cx="3685609" cy="5172562"/>
          </a:xfrm>
          <a:prstGeom prst="rect">
            <a:avLst/>
          </a:prstGeom>
        </p:spPr>
      </p:pic>
      <p:sp>
        <p:nvSpPr>
          <p:cNvPr id="13" name="TextBox 12">
            <a:extLst>
              <a:ext uri="{FF2B5EF4-FFF2-40B4-BE49-F238E27FC236}">
                <a16:creationId xmlns:a16="http://schemas.microsoft.com/office/drawing/2014/main" id="{FF8FE17E-AB65-CE29-2E0E-07819EF1D539}"/>
              </a:ext>
            </a:extLst>
          </p:cNvPr>
          <p:cNvSpPr txBox="1"/>
          <p:nvPr/>
        </p:nvSpPr>
        <p:spPr>
          <a:xfrm>
            <a:off x="7628238" y="2936158"/>
            <a:ext cx="4341654" cy="1687963"/>
          </a:xfrm>
          <a:prstGeom prst="rect">
            <a:avLst/>
          </a:prstGeom>
          <a:noFill/>
        </p:spPr>
        <p:txBody>
          <a:bodyPr wrap="square">
            <a:spAutoFit/>
          </a:bodyPr>
          <a:lstStyle/>
          <a:p>
            <a:pPr marL="342900" indent="-342900" algn="just">
              <a:lnSpc>
                <a:spcPct val="150000"/>
              </a:lnSpc>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Các trường hợp khác Sinh viên nghiên cứu và thực hiện (CanDeactivate, CanMatch)</a:t>
            </a:r>
            <a:endParaRPr lang="vi-VN" sz="24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937269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p:cNvSpPr txBox="1">
            <a:spLocks noGrp="1"/>
          </p:cNvSpPr>
          <p:nvPr>
            <p:ph type="sldNum" idx="12"/>
          </p:nvPr>
        </p:nvSpPr>
        <p:spPr>
          <a:xfrm>
            <a:off x="2998573" y="6377505"/>
            <a:ext cx="498159"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99</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214276" y="265650"/>
            <a:ext cx="4620576" cy="508000"/>
            <a:chOff x="789624" y="1191463"/>
            <a:chExt cx="4620576"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Bài học tiếp theo</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85DC0356-1476-4F40-23D1-E8134A8166F6}"/>
              </a:ext>
            </a:extLst>
          </p:cNvPr>
          <p:cNvSpPr txBox="1"/>
          <p:nvPr/>
        </p:nvSpPr>
        <p:spPr>
          <a:xfrm>
            <a:off x="462279" y="928291"/>
            <a:ext cx="11564547" cy="4893647"/>
          </a:xfrm>
          <a:prstGeom prst="rect">
            <a:avLst/>
          </a:prstGeom>
          <a:noFill/>
        </p:spPr>
        <p:txBody>
          <a:bodyPr wrap="square">
            <a:spAutoFit/>
          </a:bodyPr>
          <a:lstStyle/>
          <a:p>
            <a:pPr marL="457200" indent="-457200" algn="just">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5.1.</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Khái niệm Form trong Angular</a:t>
            </a:r>
          </a:p>
          <a:p>
            <a:pPr marL="457200" indent="-457200" algn="just">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5.2.</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Template Driven Forms</a:t>
            </a:r>
          </a:p>
          <a:p>
            <a:pPr marL="457200" indent="-457200" algn="just">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5.2.1. Tạo Form</a:t>
            </a:r>
          </a:p>
          <a:p>
            <a:pPr marL="457200" indent="-457200" algn="just">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5.2.2.</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Binding dữ liệu trên Form</a:t>
            </a:r>
          </a:p>
          <a:p>
            <a:pPr marL="457200" indent="-457200" algn="just">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5.2.3.</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Validation dữ liệu trên Form</a:t>
            </a:r>
          </a:p>
          <a:p>
            <a:pPr marL="457200" indent="-457200" algn="just">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5.2.4.</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Form Validation</a:t>
            </a:r>
          </a:p>
          <a:p>
            <a:pPr marL="457200" indent="-457200" algn="just">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5.3. Reactive Forms</a:t>
            </a:r>
          </a:p>
          <a:p>
            <a:pPr marL="457200" indent="-457200" algn="just">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5.3.1.</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Tạo Form Model</a:t>
            </a:r>
          </a:p>
          <a:p>
            <a:pPr marL="457200" indent="-457200" algn="just">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5.3.2.</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Load Data</a:t>
            </a:r>
          </a:p>
          <a:p>
            <a:pPr marL="457200" indent="-457200" algn="just">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5.3.3.</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Validation</a:t>
            </a:r>
          </a:p>
          <a:p>
            <a:pPr marL="457200" indent="-457200" algn="just">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5.3.4.</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Custom Validation</a:t>
            </a:r>
          </a:p>
          <a:p>
            <a:pPr marL="457200" indent="-457200" algn="just">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5.3.5.</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Cross Field Validation</a:t>
            </a:r>
          </a:p>
          <a:p>
            <a:pPr marL="457200" indent="-457200" algn="just">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5.3.6.</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Post form data to a server</a:t>
            </a:r>
          </a:p>
        </p:txBody>
      </p:sp>
    </p:spTree>
    <p:extLst>
      <p:ext uri="{BB962C8B-B14F-4D97-AF65-F5344CB8AC3E}">
        <p14:creationId xmlns:p14="http://schemas.microsoft.com/office/powerpoint/2010/main" val="263589991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a:spLocks noGrp="1"/>
          </p:cNvSpPr>
          <p:nvPr>
            <p:ph type="title"/>
          </p:nvPr>
        </p:nvSpPr>
        <p:spPr>
          <a:xfrm>
            <a:off x="838200" y="2581306"/>
            <a:ext cx="10515600" cy="156674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44E8C"/>
              </a:buClr>
              <a:buSzPts val="9600"/>
              <a:buFont typeface="Lato Black"/>
              <a:buNone/>
            </a:pPr>
            <a:r>
              <a:rPr lang="en-US" dirty="0"/>
              <a:t>THANK YOU!</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2525</TotalTime>
  <Words>8450</Words>
  <Application>Microsoft Office PowerPoint</Application>
  <PresentationFormat>Widescreen</PresentationFormat>
  <Paragraphs>982</Paragraphs>
  <Slides>100</Slides>
  <Notes>100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100</vt:i4>
      </vt:variant>
    </vt:vector>
  </HeadingPairs>
  <TitlesOfParts>
    <vt:vector size="110" baseType="lpstr">
      <vt:lpstr>Times New Roman</vt:lpstr>
      <vt:lpstr>Calibri</vt:lpstr>
      <vt:lpstr>Georgia</vt:lpstr>
      <vt:lpstr>Cambria</vt:lpstr>
      <vt:lpstr>Lato Black</vt:lpstr>
      <vt:lpstr>Consolas</vt:lpstr>
      <vt:lpstr>Wingdings</vt:lpstr>
      <vt:lpstr>Arial</vt:lpstr>
      <vt:lpstr>Lato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Pí Yeah</dc:creator>
  <cp:lastModifiedBy>Thanh Trần</cp:lastModifiedBy>
  <cp:revision>1031</cp:revision>
  <dcterms:created xsi:type="dcterms:W3CDTF">2022-12-02T04:21:00Z</dcterms:created>
  <dcterms:modified xsi:type="dcterms:W3CDTF">2026-05-24T08:45:23Z</dcterms:modified>
</cp:coreProperties>
</file>