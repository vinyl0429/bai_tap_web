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5"/>
  </p:notesMasterIdLst>
  <p:sldIdLst>
    <p:sldId id="256" r:id="rId2"/>
    <p:sldId id="274" r:id="rId3"/>
    <p:sldId id="268" r:id="rId4"/>
    <p:sldId id="275" r:id="rId5"/>
    <p:sldId id="280" r:id="rId6"/>
    <p:sldId id="281" r:id="rId7"/>
    <p:sldId id="283" r:id="rId8"/>
    <p:sldId id="282" r:id="rId9"/>
    <p:sldId id="276" r:id="rId10"/>
    <p:sldId id="284" r:id="rId11"/>
    <p:sldId id="286" r:id="rId12"/>
    <p:sldId id="285" r:id="rId13"/>
    <p:sldId id="300" r:id="rId14"/>
    <p:sldId id="299" r:id="rId15"/>
    <p:sldId id="287" r:id="rId16"/>
    <p:sldId id="288" r:id="rId17"/>
    <p:sldId id="289" r:id="rId18"/>
    <p:sldId id="291" r:id="rId19"/>
    <p:sldId id="290" r:id="rId20"/>
    <p:sldId id="292" r:id="rId21"/>
    <p:sldId id="293" r:id="rId22"/>
    <p:sldId id="301" r:id="rId23"/>
    <p:sldId id="294" r:id="rId24"/>
    <p:sldId id="295" r:id="rId25"/>
    <p:sldId id="302" r:id="rId26"/>
    <p:sldId id="303" r:id="rId27"/>
    <p:sldId id="296" r:id="rId28"/>
    <p:sldId id="304" r:id="rId29"/>
    <p:sldId id="297" r:id="rId30"/>
    <p:sldId id="298" r:id="rId31"/>
    <p:sldId id="306" r:id="rId32"/>
    <p:sldId id="305" r:id="rId33"/>
    <p:sldId id="277" r:id="rId34"/>
    <p:sldId id="307" r:id="rId35"/>
    <p:sldId id="309" r:id="rId36"/>
    <p:sldId id="310" r:id="rId37"/>
    <p:sldId id="311" r:id="rId38"/>
    <p:sldId id="308" r:id="rId39"/>
    <p:sldId id="278" r:id="rId40"/>
    <p:sldId id="312" r:id="rId41"/>
    <p:sldId id="313" r:id="rId42"/>
    <p:sldId id="314" r:id="rId43"/>
    <p:sldId id="318" r:id="rId44"/>
    <p:sldId id="319" r:id="rId45"/>
    <p:sldId id="320" r:id="rId46"/>
    <p:sldId id="321" r:id="rId47"/>
    <p:sldId id="322" r:id="rId48"/>
    <p:sldId id="323" r:id="rId49"/>
    <p:sldId id="315" r:id="rId50"/>
    <p:sldId id="316" r:id="rId51"/>
    <p:sldId id="317" r:id="rId52"/>
    <p:sldId id="324" r:id="rId53"/>
    <p:sldId id="263" r:id="rId54"/>
  </p:sldIdLst>
  <p:sldSz cx="12192000" cy="6858000"/>
  <p:notesSz cx="6858000" cy="9144000"/>
  <p:embeddedFontLst>
    <p:embeddedFont>
      <p:font typeface="Cambria" panose="02040503050406030204" pitchFamily="18" charset="0"/>
      <p:regular r:id="rId56"/>
      <p:bold r:id="rId57"/>
      <p:italic r:id="rId58"/>
      <p:boldItalic r:id="rId59"/>
    </p:embeddedFont>
    <p:embeddedFont>
      <p:font typeface="Lato" panose="020F0502020204030203" pitchFamily="34" charset="0"/>
      <p:regular r:id="rId60"/>
      <p:bold r:id="rId61"/>
      <p:italic r:id="rId62"/>
      <p:boldItalic r:id="rId63"/>
    </p:embeddedFont>
    <p:embeddedFont>
      <p:font typeface="Lato Black" panose="020F0502020204030203" pitchFamily="34" charset="0"/>
      <p:bold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52" autoAdjust="0"/>
    <p:restoredTop sz="82844" autoAdjust="0"/>
  </p:normalViewPr>
  <p:slideViewPr>
    <p:cSldViewPr snapToGrid="0">
      <p:cViewPr varScale="1">
        <p:scale>
          <a:sx n="97" d="100"/>
          <a:sy n="97" d="100"/>
        </p:scale>
        <p:origin x="1022" y="91"/>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customschemas.google.com/relationships/presentationmetadata" Target="metadata"/><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581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3F047B6-6C42-7BBA-9531-C1E32182974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07703AE-7829-81C1-8F10-A93E6ABADFD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885A930-66E5-4DF4-D842-F8F25DB544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8242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7C37980-1DD7-ABC4-CE97-618B3E77BF3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5B7C692-F053-248B-9D9B-321233986F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F58A364-25A2-E56F-9409-71B8372473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0355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5B85AE1-2B55-494C-3FD5-63BAC8EC372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488AD1A-B6C9-AD22-CC73-E47C950F25E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1830E96-F9CD-FAA0-01D4-9080E5F646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4325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FCCF415-60D0-97A3-0921-3453C285782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5C17806-6C12-22FB-5A4D-23F85A1D39D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99169D8-E5CF-7506-1AAE-CBCB59BB10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1778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58F8E4F-DAB0-EEA0-60AE-B3A9E4D9278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67CCB86-F41A-E77F-C57B-5E911C00698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DE7BF04-8BF7-CA44-2B29-B8B99C8D9F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9742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548D222-100A-8DBC-E9DF-F419546BBF3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E00F62A-8B80-7101-1227-44329C5B11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36501D0-E1C1-CF31-C54D-020E2E94ED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8137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E0D2CAD-AE85-B284-B7D4-9BE6247AD04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E4CA622-4CB9-3590-2157-29094075C9B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E6D9367-ADE1-BCB3-04BC-775C613C3E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3681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9F77A6C-DAAE-2BA4-109B-53BE95A9455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9AE11FE-5844-FAF5-9544-5E373211891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FB6E437-EE53-64CD-E5BA-0362D9027A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147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39A48B9-7142-8752-956F-7BFFDC73B68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FA2942F-0975-322B-28C7-DFF68FE9023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ED87F4B-91E5-55F2-A68C-B90A68E531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8475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D50FB77-0C01-2D83-F7F4-A982C88085E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F977DBE-43AF-E59C-459E-C9D51F9FAD6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const express = require('express');</a:t>
            </a:r>
          </a:p>
          <a:p>
            <a:r>
              <a:rPr lang="en-US" sz="1200" b="0" i="0" u="none" strike="noStrike" cap="none">
                <a:solidFill>
                  <a:schemeClr val="dk1"/>
                </a:solidFill>
                <a:effectLst/>
                <a:latin typeface="Calibri"/>
                <a:ea typeface="Calibri"/>
                <a:cs typeface="Calibri"/>
                <a:sym typeface="Calibri"/>
              </a:rPr>
              <a:t>const app = express();</a:t>
            </a:r>
          </a:p>
          <a:p>
            <a:r>
              <a:rPr lang="en-US" sz="1200" b="0" i="0" u="none" strike="noStrike" cap="none">
                <a:solidFill>
                  <a:schemeClr val="dk1"/>
                </a:solidFill>
                <a:effectLst/>
                <a:latin typeface="Calibri"/>
                <a:ea typeface="Calibri"/>
                <a:cs typeface="Calibri"/>
                <a:sym typeface="Calibri"/>
              </a:rPr>
              <a:t>const port = 3002;</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morgan=require("morgan")</a:t>
            </a:r>
          </a:p>
          <a:p>
            <a:r>
              <a:rPr lang="en-US" sz="1200" b="0" i="0" u="none" strike="noStrike" cap="none">
                <a:solidFill>
                  <a:schemeClr val="dk1"/>
                </a:solidFill>
                <a:effectLst/>
                <a:latin typeface="Calibri"/>
                <a:ea typeface="Calibri"/>
                <a:cs typeface="Calibri"/>
                <a:sym typeface="Calibri"/>
              </a:rPr>
              <a:t>app.use(morgan("combined"))</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path=require("path")</a:t>
            </a:r>
          </a:p>
          <a:p>
            <a:r>
              <a:rPr lang="en-US" sz="1200" b="0" i="0" u="none" strike="noStrike" cap="none">
                <a:solidFill>
                  <a:schemeClr val="dk1"/>
                </a:solidFill>
                <a:effectLst/>
                <a:latin typeface="Calibri"/>
                <a:ea typeface="Calibri"/>
                <a:cs typeface="Calibri"/>
                <a:sym typeface="Calibri"/>
              </a:rPr>
              <a:t>const fs = require('fs');</a:t>
            </a:r>
          </a:p>
          <a:p>
            <a:r>
              <a:rPr lang="en-US" sz="1200" b="0" i="0" u="none" strike="noStrike" cap="none">
                <a:solidFill>
                  <a:schemeClr val="dk1"/>
                </a:solidFill>
                <a:effectLst/>
                <a:latin typeface="Calibri"/>
                <a:ea typeface="Calibri"/>
                <a:cs typeface="Calibri"/>
                <a:sym typeface="Calibri"/>
              </a:rPr>
              <a:t>app.use(express.static(path.join(__dirname,"public")))</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cors=require("cors")</a:t>
            </a:r>
          </a:p>
          <a:p>
            <a:r>
              <a:rPr lang="en-US" sz="1200" b="0" i="0" u="none" strike="noStrike" cap="none">
                <a:solidFill>
                  <a:schemeClr val="dk1"/>
                </a:solidFill>
                <a:effectLst/>
                <a:latin typeface="Calibri"/>
                <a:ea typeface="Calibri"/>
                <a:cs typeface="Calibri"/>
                <a:sym typeface="Calibri"/>
              </a:rPr>
              <a:t>//app.use(cors())</a:t>
            </a:r>
          </a:p>
          <a:p>
            <a:r>
              <a:rPr lang="en-US" sz="1200" b="0" i="0" u="none" strike="noStrike" cap="none">
                <a:solidFill>
                  <a:schemeClr val="dk1"/>
                </a:solidFill>
                <a:effectLst/>
                <a:latin typeface="Calibri"/>
                <a:ea typeface="Calibri"/>
                <a:cs typeface="Calibri"/>
                <a:sym typeface="Calibri"/>
              </a:rPr>
              <a:t>app.use(cors({</a:t>
            </a:r>
          </a:p>
          <a:p>
            <a:r>
              <a:rPr lang="en-US" sz="1200" b="0" i="0" u="none" strike="noStrike" cap="none">
                <a:solidFill>
                  <a:schemeClr val="dk1"/>
                </a:solidFill>
                <a:effectLst/>
                <a:latin typeface="Calibri"/>
                <a:ea typeface="Calibri"/>
                <a:cs typeface="Calibri"/>
                <a:sym typeface="Calibri"/>
              </a:rPr>
              <a:t>    origin: 'http://localhost:4200', </a:t>
            </a:r>
          </a:p>
          <a:p>
            <a:r>
              <a:rPr lang="en-US" sz="1200" b="0" i="0" u="none" strike="noStrike" cap="none">
                <a:solidFill>
                  <a:schemeClr val="dk1"/>
                </a:solidFill>
                <a:effectLst/>
                <a:latin typeface="Calibri"/>
                <a:ea typeface="Calibri"/>
                <a:cs typeface="Calibri"/>
                <a:sym typeface="Calibri"/>
              </a:rPr>
              <a:t>    credentials: true</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const cookieParser = require('cookie-parser');</a:t>
            </a:r>
          </a:p>
          <a:p>
            <a:r>
              <a:rPr lang="en-US" sz="1200" b="0" i="0" u="none" strike="noStrike" cap="none">
                <a:solidFill>
                  <a:schemeClr val="dk1"/>
                </a:solidFill>
                <a:effectLst/>
                <a:latin typeface="Calibri"/>
                <a:ea typeface="Calibri"/>
                <a:cs typeface="Calibri"/>
                <a:sym typeface="Calibri"/>
              </a:rPr>
              <a:t>app.use(cookieParser());</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bodyParser=require("body-parser")</a:t>
            </a:r>
          </a:p>
          <a:p>
            <a:r>
              <a:rPr lang="en-US" sz="1200" b="0" i="0" u="none" strike="noStrike" cap="none">
                <a:solidFill>
                  <a:schemeClr val="dk1"/>
                </a:solidFill>
                <a:effectLst/>
                <a:latin typeface="Calibri"/>
                <a:ea typeface="Calibri"/>
                <a:cs typeface="Calibri"/>
                <a:sym typeface="Calibri"/>
              </a:rPr>
              <a:t>app.use(bodyParser.json({ limit: '50mb' })); </a:t>
            </a:r>
          </a:p>
          <a:p>
            <a:r>
              <a:rPr lang="en-US" sz="1200" b="0" i="0" u="none" strike="noStrike" cap="none">
                <a:solidFill>
                  <a:schemeClr val="dk1"/>
                </a:solidFill>
                <a:effectLst/>
                <a:latin typeface="Calibri"/>
                <a:ea typeface="Calibri"/>
                <a:cs typeface="Calibri"/>
                <a:sym typeface="Calibri"/>
              </a:rPr>
              <a:t>app.use(bodyParser.urlencoded({ limit: '50mb', extended: true }));</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app.listen(port,()=&gt;{</a:t>
            </a:r>
          </a:p>
          <a:p>
            <a:r>
              <a:rPr lang="en-US" sz="1200" b="0" i="0" u="none" strike="noStrike" cap="none">
                <a:solidFill>
                  <a:schemeClr val="dk1"/>
                </a:solidFill>
                <a:effectLst/>
                <a:latin typeface="Calibri"/>
                <a:ea typeface="Calibri"/>
                <a:cs typeface="Calibri"/>
                <a:sym typeface="Calibri"/>
              </a:rPr>
              <a:t>    console.log(`My Server listening on port ${port}`)</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app.get("/",(req,res)=&gt;{</a:t>
            </a:r>
          </a:p>
          <a:p>
            <a:r>
              <a:rPr lang="en-US" sz="1200" b="0" i="0" u="none" strike="noStrike" cap="none">
                <a:solidFill>
                  <a:schemeClr val="dk1"/>
                </a:solidFill>
                <a:effectLst/>
                <a:latin typeface="Calibri"/>
                <a:ea typeface="Calibri"/>
                <a:cs typeface="Calibri"/>
                <a:sym typeface="Calibri"/>
              </a:rPr>
              <a:t>    res.send("This Web server is processed for MongoDB")</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const { MongoClient, ObjectId } = require('mongodb');</a:t>
            </a:r>
          </a:p>
          <a:p>
            <a:r>
              <a:rPr lang="en-US" sz="1200" b="0" i="0" u="none" strike="noStrike" cap="none">
                <a:solidFill>
                  <a:schemeClr val="dk1"/>
                </a:solidFill>
                <a:effectLst/>
                <a:latin typeface="Calibri"/>
                <a:ea typeface="Calibri"/>
                <a:cs typeface="Calibri"/>
                <a:sym typeface="Calibri"/>
              </a:rPr>
              <a:t>const { log } = require('console');</a:t>
            </a:r>
          </a:p>
          <a:p>
            <a:r>
              <a:rPr lang="en-US" sz="1200" b="0" i="0" u="none" strike="noStrike" cap="none">
                <a:solidFill>
                  <a:schemeClr val="dk1"/>
                </a:solidFill>
                <a:effectLst/>
                <a:latin typeface="Calibri"/>
                <a:ea typeface="Calibri"/>
                <a:cs typeface="Calibri"/>
                <a:sym typeface="Calibri"/>
              </a:rPr>
              <a:t>client = new MongoClient("mongodb://127.0.0.1:27017");</a:t>
            </a:r>
          </a:p>
          <a:p>
            <a:r>
              <a:rPr lang="en-US" sz="1200" b="0" i="0" u="none" strike="noStrike" cap="none">
                <a:solidFill>
                  <a:schemeClr val="dk1"/>
                </a:solidFill>
                <a:effectLst/>
                <a:latin typeface="Calibri"/>
                <a:ea typeface="Calibri"/>
                <a:cs typeface="Calibri"/>
                <a:sym typeface="Calibri"/>
              </a:rPr>
              <a:t>client.connect();</a:t>
            </a:r>
          </a:p>
          <a:p>
            <a:r>
              <a:rPr lang="en-US" sz="1200" b="0" i="0" u="none" strike="noStrike" cap="none">
                <a:solidFill>
                  <a:schemeClr val="dk1"/>
                </a:solidFill>
                <a:effectLst/>
                <a:latin typeface="Calibri"/>
                <a:ea typeface="Calibri"/>
                <a:cs typeface="Calibri"/>
                <a:sym typeface="Calibri"/>
              </a:rPr>
              <a:t>database = client.db("FashionData");      </a:t>
            </a:r>
          </a:p>
          <a:p>
            <a:r>
              <a:rPr lang="en-US" sz="1200" b="0" i="0" u="none" strike="noStrike" cap="none">
                <a:solidFill>
                  <a:schemeClr val="dk1"/>
                </a:solidFill>
                <a:effectLst/>
                <a:latin typeface="Calibri"/>
                <a:ea typeface="Calibri"/>
                <a:cs typeface="Calibri"/>
                <a:sym typeface="Calibri"/>
              </a:rPr>
              <a:t>fashionCollection = database.collection("Fashion");</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app.get("/fashions",cors(),async (req,res)=&gt;{   </a:t>
            </a:r>
          </a:p>
          <a:p>
            <a:r>
              <a:rPr lang="en-US" sz="1200" b="0" i="0" u="none" strike="noStrike" cap="none">
                <a:solidFill>
                  <a:schemeClr val="dk1"/>
                </a:solidFill>
                <a:effectLst/>
                <a:latin typeface="Calibri"/>
                <a:ea typeface="Calibri"/>
                <a:cs typeface="Calibri"/>
                <a:sym typeface="Calibri"/>
              </a:rPr>
              <a:t>    const result = await fashionCollection.find({}).toArray();</a:t>
            </a:r>
          </a:p>
          <a:p>
            <a:r>
              <a:rPr lang="en-US" sz="1200" b="0" i="0" u="none" strike="noStrike" cap="none">
                <a:solidFill>
                  <a:schemeClr val="dk1"/>
                </a:solidFill>
                <a:effectLst/>
                <a:latin typeface="Calibri"/>
                <a:ea typeface="Calibri"/>
                <a:cs typeface="Calibri"/>
                <a:sym typeface="Calibri"/>
              </a:rPr>
              <a:t>    res.send(result)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app.get("/fashions/:id",cors(),async (req,res)=&gt;{</a:t>
            </a:r>
          </a:p>
          <a:p>
            <a:r>
              <a:rPr lang="en-US" sz="1200" b="0" i="0" u="none" strike="noStrike" cap="none">
                <a:solidFill>
                  <a:schemeClr val="dk1"/>
                </a:solidFill>
                <a:effectLst/>
                <a:latin typeface="Calibri"/>
                <a:ea typeface="Calibri"/>
                <a:cs typeface="Calibri"/>
                <a:sym typeface="Calibri"/>
              </a:rPr>
              <a:t>    var o_id = new ObjectId(req.params["id"]);</a:t>
            </a:r>
          </a:p>
          <a:p>
            <a:r>
              <a:rPr lang="en-US" sz="1200" b="0" i="0" u="none" strike="noStrike" cap="none">
                <a:solidFill>
                  <a:schemeClr val="dk1"/>
                </a:solidFill>
                <a:effectLst/>
                <a:latin typeface="Calibri"/>
                <a:ea typeface="Calibri"/>
                <a:cs typeface="Calibri"/>
                <a:sym typeface="Calibri"/>
              </a:rPr>
              <a:t>    const result = await fashionCollection.find({_id:o_id}).toArray();    </a:t>
            </a:r>
          </a:p>
          <a:p>
            <a:r>
              <a:rPr lang="en-US" sz="1200" b="0" i="0" u="none" strike="noStrike" cap="none">
                <a:solidFill>
                  <a:schemeClr val="dk1"/>
                </a:solidFill>
                <a:effectLst/>
                <a:latin typeface="Calibri"/>
                <a:ea typeface="Calibri"/>
                <a:cs typeface="Calibri"/>
                <a:sym typeface="Calibri"/>
              </a:rPr>
              <a:t>    res.send(result[0])</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app.post("/fashions",cors(),async(req,res)=&gt;{   </a:t>
            </a:r>
          </a:p>
          <a:p>
            <a:r>
              <a:rPr lang="en-US" sz="1200" b="0" i="0" u="none" strike="noStrike" cap="none">
                <a:solidFill>
                  <a:schemeClr val="dk1"/>
                </a:solidFill>
                <a:effectLst/>
                <a:latin typeface="Calibri"/>
                <a:ea typeface="Calibri"/>
                <a:cs typeface="Calibri"/>
                <a:sym typeface="Calibri"/>
              </a:rPr>
              <a:t>    //put json Fashion into database</a:t>
            </a:r>
          </a:p>
          <a:p>
            <a:r>
              <a:rPr lang="en-US" sz="1200" b="0" i="0" u="none" strike="noStrike" cap="none">
                <a:solidFill>
                  <a:schemeClr val="dk1"/>
                </a:solidFill>
                <a:effectLst/>
                <a:latin typeface="Calibri"/>
                <a:ea typeface="Calibri"/>
                <a:cs typeface="Calibri"/>
                <a:sym typeface="Calibri"/>
              </a:rPr>
              <a:t>    await fashionCollection.insertOne(req.body)</a:t>
            </a:r>
          </a:p>
          <a:p>
            <a:r>
              <a:rPr lang="en-US" sz="1200" b="0" i="0" u="none" strike="noStrike" cap="none">
                <a:solidFill>
                  <a:schemeClr val="dk1"/>
                </a:solidFill>
                <a:effectLst/>
                <a:latin typeface="Calibri"/>
                <a:ea typeface="Calibri"/>
                <a:cs typeface="Calibri"/>
                <a:sym typeface="Calibri"/>
              </a:rPr>
              <a:t>    //send message to client(send all database to client)</a:t>
            </a:r>
          </a:p>
          <a:p>
            <a:r>
              <a:rPr lang="en-US" sz="1200" b="0" i="0" u="none" strike="noStrike" cap="none">
                <a:solidFill>
                  <a:schemeClr val="dk1"/>
                </a:solidFill>
                <a:effectLst/>
                <a:latin typeface="Calibri"/>
                <a:ea typeface="Calibri"/>
                <a:cs typeface="Calibri"/>
                <a:sym typeface="Calibri"/>
              </a:rPr>
              <a:t>    res.send(req.body)</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app.put("/fashions",cors(),async(req,res)=&gt;{       </a:t>
            </a:r>
          </a:p>
          <a:p>
            <a:r>
              <a:rPr lang="en-US" sz="1200" b="0" i="0" u="none" strike="noStrike" cap="none">
                <a:solidFill>
                  <a:schemeClr val="dk1"/>
                </a:solidFill>
                <a:effectLst/>
                <a:latin typeface="Calibri"/>
                <a:ea typeface="Calibri"/>
                <a:cs typeface="Calibri"/>
                <a:sym typeface="Calibri"/>
              </a:rPr>
              <a:t>    //update json Fashion into database</a:t>
            </a:r>
          </a:p>
          <a:p>
            <a:r>
              <a:rPr lang="en-US" sz="1200" b="0" i="0" u="none" strike="noStrike" cap="none">
                <a:solidFill>
                  <a:schemeClr val="dk1"/>
                </a:solidFill>
                <a:effectLst/>
                <a:latin typeface="Calibri"/>
                <a:ea typeface="Calibri"/>
                <a:cs typeface="Calibri"/>
                <a:sym typeface="Calibri"/>
              </a:rPr>
              <a:t>    await fashionCollection.updateOne(</a:t>
            </a:r>
          </a:p>
          <a:p>
            <a:r>
              <a:rPr lang="en-US" sz="1200" b="0" i="0" u="none" strike="noStrike" cap="none">
                <a:solidFill>
                  <a:schemeClr val="dk1"/>
                </a:solidFill>
                <a:effectLst/>
                <a:latin typeface="Calibri"/>
                <a:ea typeface="Calibri"/>
                <a:cs typeface="Calibri"/>
                <a:sym typeface="Calibri"/>
              </a:rPr>
              <a:t>        {_id:new ObjectId(req.body._id)},//condition for update</a:t>
            </a:r>
          </a:p>
          <a:p>
            <a:r>
              <a:rPr lang="en-US" sz="1200" b="0" i="0" u="none" strike="noStrike" cap="none">
                <a:solidFill>
                  <a:schemeClr val="dk1"/>
                </a:solidFill>
                <a:effectLst/>
                <a:latin typeface="Calibri"/>
                <a:ea typeface="Calibri"/>
                <a:cs typeface="Calibri"/>
                <a:sym typeface="Calibri"/>
              </a:rPr>
              <a:t>        { $set: { //Field for updating</a:t>
            </a:r>
          </a:p>
          <a:p>
            <a:r>
              <a:rPr lang="en-US" sz="1200" b="0" i="0" u="none" strike="noStrike" cap="none">
                <a:solidFill>
                  <a:schemeClr val="dk1"/>
                </a:solidFill>
                <a:effectLst/>
                <a:latin typeface="Calibri"/>
                <a:ea typeface="Calibri"/>
                <a:cs typeface="Calibri"/>
                <a:sym typeface="Calibri"/>
              </a:rPr>
              <a:t>                style: req.body.style,</a:t>
            </a:r>
          </a:p>
          <a:p>
            <a:r>
              <a:rPr lang="en-US" sz="1200" b="0" i="0" u="none" strike="noStrike" cap="none">
                <a:solidFill>
                  <a:schemeClr val="dk1"/>
                </a:solidFill>
                <a:effectLst/>
                <a:latin typeface="Calibri"/>
                <a:ea typeface="Calibri"/>
                <a:cs typeface="Calibri"/>
                <a:sym typeface="Calibri"/>
              </a:rPr>
              <a:t>                fashion_subject:req.body.fashion_subject,</a:t>
            </a:r>
          </a:p>
          <a:p>
            <a:r>
              <a:rPr lang="en-US" sz="1200" b="0" i="0" u="none" strike="noStrike" cap="none">
                <a:solidFill>
                  <a:schemeClr val="dk1"/>
                </a:solidFill>
                <a:effectLst/>
                <a:latin typeface="Calibri"/>
                <a:ea typeface="Calibri"/>
                <a:cs typeface="Calibri"/>
                <a:sym typeface="Calibri"/>
              </a:rPr>
              <a:t>                fashion_detail:req.body.fashion_detail,</a:t>
            </a:r>
          </a:p>
          <a:p>
            <a:r>
              <a:rPr lang="en-US" sz="1200" b="0" i="0" u="none" strike="noStrike" cap="none">
                <a:solidFill>
                  <a:schemeClr val="dk1"/>
                </a:solidFill>
                <a:effectLst/>
                <a:latin typeface="Calibri"/>
                <a:ea typeface="Calibri"/>
                <a:cs typeface="Calibri"/>
                <a:sym typeface="Calibri"/>
              </a:rPr>
              <a:t>                fashion_image:req.body.fashion_image</a:t>
            </a:r>
          </a:p>
          <a:p>
            <a:r>
              <a:rPr lang="en-US" sz="1200" b="0" i="0" u="none" strike="noStrike" cap="none">
                <a:solidFill>
                  <a:schemeClr val="dk1"/>
                </a:solidFill>
                <a:effectLst/>
                <a:latin typeface="Calibri"/>
                <a:ea typeface="Calibri"/>
                <a:cs typeface="Calibri"/>
                <a:sym typeface="Calibri"/>
              </a:rPr>
              <a:t>            }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//send Fashion after updating</a:t>
            </a:r>
          </a:p>
          <a:p>
            <a:r>
              <a:rPr lang="en-US" sz="1200" b="0" i="0" u="none" strike="noStrike" cap="none">
                <a:solidFill>
                  <a:schemeClr val="dk1"/>
                </a:solidFill>
                <a:effectLst/>
                <a:latin typeface="Calibri"/>
                <a:ea typeface="Calibri"/>
                <a:cs typeface="Calibri"/>
                <a:sym typeface="Calibri"/>
              </a:rPr>
              <a:t>    var o_id = new ObjectId(req.body._id);</a:t>
            </a:r>
          </a:p>
          <a:p>
            <a:r>
              <a:rPr lang="en-US" sz="1200" b="0" i="0" u="none" strike="noStrike" cap="none">
                <a:solidFill>
                  <a:schemeClr val="dk1"/>
                </a:solidFill>
                <a:effectLst/>
                <a:latin typeface="Calibri"/>
                <a:ea typeface="Calibri"/>
                <a:cs typeface="Calibri"/>
                <a:sym typeface="Calibri"/>
              </a:rPr>
              <a:t>    const result = await fashionCollection.find({_id:o_id}).toArray();    </a:t>
            </a:r>
          </a:p>
          <a:p>
            <a:r>
              <a:rPr lang="en-US" sz="1200" b="0" i="0" u="none" strike="noStrike" cap="none">
                <a:solidFill>
                  <a:schemeClr val="dk1"/>
                </a:solidFill>
                <a:effectLst/>
                <a:latin typeface="Calibri"/>
                <a:ea typeface="Calibri"/>
                <a:cs typeface="Calibri"/>
                <a:sym typeface="Calibri"/>
              </a:rPr>
              <a:t>    res.send(result[0])</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app.delete("/fashions/:id",cors(),async(req,res)=&gt;{   </a:t>
            </a:r>
          </a:p>
          <a:p>
            <a:r>
              <a:rPr lang="en-US" sz="1200" b="0" i="0" u="none" strike="noStrike" cap="none">
                <a:solidFill>
                  <a:schemeClr val="dk1"/>
                </a:solidFill>
                <a:effectLst/>
                <a:latin typeface="Calibri"/>
                <a:ea typeface="Calibri"/>
                <a:cs typeface="Calibri"/>
                <a:sym typeface="Calibri"/>
              </a:rPr>
              <a:t>    //find detail Fashion with id</a:t>
            </a:r>
          </a:p>
          <a:p>
            <a:r>
              <a:rPr lang="en-US" sz="1200" b="0" i="0" u="none" strike="noStrike" cap="none">
                <a:solidFill>
                  <a:schemeClr val="dk1"/>
                </a:solidFill>
                <a:effectLst/>
                <a:latin typeface="Calibri"/>
                <a:ea typeface="Calibri"/>
                <a:cs typeface="Calibri"/>
                <a:sym typeface="Calibri"/>
              </a:rPr>
              <a:t>    var o_id = new ObjectId(req.params["id"]);</a:t>
            </a:r>
          </a:p>
          <a:p>
            <a:r>
              <a:rPr lang="en-US" sz="1200" b="0" i="0" u="none" strike="noStrike" cap="none">
                <a:solidFill>
                  <a:schemeClr val="dk1"/>
                </a:solidFill>
                <a:effectLst/>
                <a:latin typeface="Calibri"/>
                <a:ea typeface="Calibri"/>
                <a:cs typeface="Calibri"/>
                <a:sym typeface="Calibri"/>
              </a:rPr>
              <a:t>    const result = await fashionCollection.find({_id:o_id}).toArray(); </a:t>
            </a:r>
          </a:p>
          <a:p>
            <a:r>
              <a:rPr lang="en-US" sz="1200" b="0" i="0" u="none" strike="noStrike" cap="none">
                <a:solidFill>
                  <a:schemeClr val="dk1"/>
                </a:solidFill>
                <a:effectLst/>
                <a:latin typeface="Calibri"/>
                <a:ea typeface="Calibri"/>
                <a:cs typeface="Calibri"/>
                <a:sym typeface="Calibri"/>
              </a:rPr>
              <a:t>    //update json Fashion into database</a:t>
            </a:r>
          </a:p>
          <a:p>
            <a:r>
              <a:rPr lang="en-US" sz="1200" b="0" i="0" u="none" strike="noStrike" cap="none">
                <a:solidFill>
                  <a:schemeClr val="dk1"/>
                </a:solidFill>
                <a:effectLst/>
                <a:latin typeface="Calibri"/>
                <a:ea typeface="Calibri"/>
                <a:cs typeface="Calibri"/>
                <a:sym typeface="Calibri"/>
              </a:rPr>
              <a:t>    await fashionCollection.deleteOne(</a:t>
            </a:r>
          </a:p>
          <a:p>
            <a:r>
              <a:rPr lang="en-US" sz="1200" b="0" i="0" u="none" strike="noStrike" cap="none">
                <a:solidFill>
                  <a:schemeClr val="dk1"/>
                </a:solidFill>
                <a:effectLst/>
                <a:latin typeface="Calibri"/>
                <a:ea typeface="Calibri"/>
                <a:cs typeface="Calibri"/>
                <a:sym typeface="Calibri"/>
              </a:rPr>
              <a:t>        {_id:o_id}</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//send Fashion after remove</a:t>
            </a:r>
          </a:p>
          <a:p>
            <a:r>
              <a:rPr lang="en-US" sz="1200" b="0" i="0" u="none" strike="noStrike" cap="none">
                <a:solidFill>
                  <a:schemeClr val="dk1"/>
                </a:solidFill>
                <a:effectLst/>
                <a:latin typeface="Calibri"/>
                <a:ea typeface="Calibri"/>
                <a:cs typeface="Calibri"/>
                <a:sym typeface="Calibri"/>
              </a:rPr>
              <a:t>    res.send(result[0])</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app.post('/user-login', async (req, res) =&gt; {</a:t>
            </a:r>
          </a:p>
          <a:p>
            <a:r>
              <a:rPr lang="en-US" sz="1200" b="0" i="0" u="none" strike="noStrike" cap="none">
                <a:solidFill>
                  <a:schemeClr val="dk1"/>
                </a:solidFill>
                <a:effectLst/>
                <a:latin typeface="Calibri"/>
                <a:ea typeface="Calibri"/>
                <a:cs typeface="Calibri"/>
                <a:sym typeface="Calibri"/>
              </a:rPr>
              <a:t>    const UserCollection = database.collection("User");        </a:t>
            </a:r>
          </a:p>
          <a:p>
            <a:r>
              <a:rPr lang="en-US" sz="1200" b="0" i="0" u="none" strike="noStrike" cap="none">
                <a:solidFill>
                  <a:schemeClr val="dk1"/>
                </a:solidFill>
                <a:effectLst/>
                <a:latin typeface="Calibri"/>
                <a:ea typeface="Calibri"/>
                <a:cs typeface="Calibri"/>
                <a:sym typeface="Calibri"/>
              </a:rPr>
              <a:t>    const user = await UserCollection.findOne({ </a:t>
            </a:r>
          </a:p>
          <a:p>
            <a:r>
              <a:rPr lang="en-US" sz="1200" b="0" i="0" u="none" strike="noStrike" cap="none">
                <a:solidFill>
                  <a:schemeClr val="dk1"/>
                </a:solidFill>
                <a:effectLst/>
                <a:latin typeface="Calibri"/>
                <a:ea typeface="Calibri"/>
                <a:cs typeface="Calibri"/>
                <a:sym typeface="Calibri"/>
              </a:rPr>
              <a:t>        username: req.body.username, </a:t>
            </a:r>
          </a:p>
          <a:p>
            <a:r>
              <a:rPr lang="en-US" sz="1200" b="0" i="0" u="none" strike="noStrike" cap="none">
                <a:solidFill>
                  <a:schemeClr val="dk1"/>
                </a:solidFill>
                <a:effectLst/>
                <a:latin typeface="Calibri"/>
                <a:ea typeface="Calibri"/>
                <a:cs typeface="Calibri"/>
                <a:sym typeface="Calibri"/>
              </a:rPr>
              <a:t>        password: req.body.password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if (user) {</a:t>
            </a:r>
          </a:p>
          <a:p>
            <a:r>
              <a:rPr lang="en-US" sz="1200" b="0" i="0" u="none" strike="noStrike" cap="none">
                <a:solidFill>
                  <a:schemeClr val="dk1"/>
                </a:solidFill>
                <a:effectLst/>
                <a:latin typeface="Calibri"/>
                <a:ea typeface="Calibri"/>
                <a:cs typeface="Calibri"/>
                <a:sym typeface="Calibri"/>
              </a:rPr>
              <a:t>        if (req.body.rememberMe) {</a:t>
            </a:r>
          </a:p>
          <a:p>
            <a:r>
              <a:rPr lang="en-US" sz="1200" b="0" i="0" u="none" strike="noStrike" cap="none">
                <a:solidFill>
                  <a:schemeClr val="dk1"/>
                </a:solidFill>
                <a:effectLst/>
                <a:latin typeface="Calibri"/>
                <a:ea typeface="Calibri"/>
                <a:cs typeface="Calibri"/>
                <a:sym typeface="Calibri"/>
              </a:rPr>
              <a:t>            res.cookie('remember_user', req.body.username, {</a:t>
            </a:r>
          </a:p>
          <a:p>
            <a:r>
              <a:rPr lang="en-US" sz="1200" b="0" i="0" u="none" strike="noStrike" cap="none">
                <a:solidFill>
                  <a:schemeClr val="dk1"/>
                </a:solidFill>
                <a:effectLst/>
                <a:latin typeface="Calibri"/>
                <a:ea typeface="Calibri"/>
                <a:cs typeface="Calibri"/>
                <a:sym typeface="Calibri"/>
              </a:rPr>
              <a:t>                maxAge: 30 * 24 * 60 * 60 * 1000, // 30 ngày</a:t>
            </a:r>
          </a:p>
          <a:p>
            <a:r>
              <a:rPr lang="en-US" sz="1200" b="0" i="0" u="none" strike="noStrike" cap="none">
                <a:solidFill>
                  <a:schemeClr val="dk1"/>
                </a:solidFill>
                <a:effectLst/>
                <a:latin typeface="Calibri"/>
                <a:ea typeface="Calibri"/>
                <a:cs typeface="Calibri"/>
                <a:sym typeface="Calibri"/>
              </a:rPr>
              <a:t>                httpOnly: false,</a:t>
            </a:r>
          </a:p>
          <a:p>
            <a:r>
              <a:rPr lang="en-US" sz="1200" b="0" i="0" u="none" strike="noStrike" cap="none">
                <a:solidFill>
                  <a:schemeClr val="dk1"/>
                </a:solidFill>
                <a:effectLst/>
                <a:latin typeface="Calibri"/>
                <a:ea typeface="Calibri"/>
                <a:cs typeface="Calibri"/>
                <a:sym typeface="Calibri"/>
              </a:rPr>
              <a:t>                secure: false, // Set true nếu chạy https</a:t>
            </a:r>
          </a:p>
          <a:p>
            <a:r>
              <a:rPr lang="en-US" sz="1200" b="0" i="0" u="none" strike="noStrike" cap="none">
                <a:solidFill>
                  <a:schemeClr val="dk1"/>
                </a:solidFill>
                <a:effectLst/>
                <a:latin typeface="Calibri"/>
                <a:ea typeface="Calibri"/>
                <a:cs typeface="Calibri"/>
                <a:sym typeface="Calibri"/>
              </a:rPr>
              <a:t>                sameSite: 'Lax'</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res.status(200).send({ </a:t>
            </a:r>
          </a:p>
          <a:p>
            <a:r>
              <a:rPr lang="en-US" sz="1200" b="0" i="0" u="none" strike="noStrike" cap="none">
                <a:solidFill>
                  <a:schemeClr val="dk1"/>
                </a:solidFill>
                <a:effectLst/>
                <a:latin typeface="Calibri"/>
                <a:ea typeface="Calibri"/>
                <a:cs typeface="Calibri"/>
                <a:sym typeface="Calibri"/>
              </a:rPr>
              <a:t>            message: "Login successful!",</a:t>
            </a:r>
          </a:p>
          <a:p>
            <a:r>
              <a:rPr lang="en-US" sz="1200" b="0" i="0" u="none" strike="noStrike" cap="none">
                <a:solidFill>
                  <a:schemeClr val="dk1"/>
                </a:solidFill>
                <a:effectLst/>
                <a:latin typeface="Calibri"/>
                <a:ea typeface="Calibri"/>
                <a:cs typeface="Calibri"/>
                <a:sym typeface="Calibri"/>
              </a:rPr>
              <a:t>            user: { username: user.username, role: user.role }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else {</a:t>
            </a:r>
          </a:p>
          <a:p>
            <a:r>
              <a:rPr lang="en-US" sz="1200" b="0" i="0" u="none" strike="noStrike" cap="none">
                <a:solidFill>
                  <a:schemeClr val="dk1"/>
                </a:solidFill>
                <a:effectLst/>
                <a:latin typeface="Calibri"/>
                <a:ea typeface="Calibri"/>
                <a:cs typeface="Calibri"/>
                <a:sym typeface="Calibri"/>
              </a:rPr>
              <a:t>        res.status(401).send({ message: "Wrong user or email!" });</a:t>
            </a:r>
          </a:p>
          <a:p>
            <a:r>
              <a:rPr lang="en-US" sz="1200" b="0" i="0" u="none" strike="noStrike" cap="none">
                <a:solidFill>
                  <a:schemeClr val="dk1"/>
                </a:solidFill>
                <a:effectLst/>
                <a:latin typeface="Calibri"/>
                <a:ea typeface="Calibri"/>
                <a:cs typeface="Calibri"/>
                <a:sym typeface="Calibri"/>
              </a:rPr>
              <a:t>    }   </a:t>
            </a:r>
          </a:p>
          <a:p>
            <a:r>
              <a:rPr lang="en-US" sz="1200" b="0" i="0" u="none" strike="noStrike" cap="none">
                <a:solidFill>
                  <a:schemeClr val="dk1"/>
                </a:solidFill>
                <a:effectLst/>
                <a:latin typeface="Calibri"/>
                <a:ea typeface="Calibri"/>
                <a:cs typeface="Calibri"/>
                <a:sym typeface="Calibri"/>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754545C-6F70-EB16-2C4B-57931321B27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9138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A1C0326-C205-436A-AB99-BBBAFB3C48A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2F2C9EA-B505-2CAA-9E00-F8B6A086592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const express = require('express');</a:t>
            </a:r>
          </a:p>
          <a:p>
            <a:r>
              <a:rPr lang="en-US" sz="1200" b="0" i="0" u="none" strike="noStrike" cap="none">
                <a:solidFill>
                  <a:schemeClr val="dk1"/>
                </a:solidFill>
                <a:effectLst/>
                <a:latin typeface="Calibri"/>
                <a:ea typeface="Calibri"/>
                <a:cs typeface="Calibri"/>
                <a:sym typeface="Calibri"/>
              </a:rPr>
              <a:t>const app = express();</a:t>
            </a:r>
          </a:p>
          <a:p>
            <a:r>
              <a:rPr lang="en-US" sz="1200" b="0" i="0" u="none" strike="noStrike" cap="none">
                <a:solidFill>
                  <a:schemeClr val="dk1"/>
                </a:solidFill>
                <a:effectLst/>
                <a:latin typeface="Calibri"/>
                <a:ea typeface="Calibri"/>
                <a:cs typeface="Calibri"/>
                <a:sym typeface="Calibri"/>
              </a:rPr>
              <a:t>const port = 3002;</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morgan=require("morgan")</a:t>
            </a:r>
          </a:p>
          <a:p>
            <a:r>
              <a:rPr lang="en-US" sz="1200" b="0" i="0" u="none" strike="noStrike" cap="none">
                <a:solidFill>
                  <a:schemeClr val="dk1"/>
                </a:solidFill>
                <a:effectLst/>
                <a:latin typeface="Calibri"/>
                <a:ea typeface="Calibri"/>
                <a:cs typeface="Calibri"/>
                <a:sym typeface="Calibri"/>
              </a:rPr>
              <a:t>app.use(morgan("combined"))</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path=require("path")</a:t>
            </a:r>
          </a:p>
          <a:p>
            <a:r>
              <a:rPr lang="en-US" sz="1200" b="0" i="0" u="none" strike="noStrike" cap="none">
                <a:solidFill>
                  <a:schemeClr val="dk1"/>
                </a:solidFill>
                <a:effectLst/>
                <a:latin typeface="Calibri"/>
                <a:ea typeface="Calibri"/>
                <a:cs typeface="Calibri"/>
                <a:sym typeface="Calibri"/>
              </a:rPr>
              <a:t>const fs = require('fs');</a:t>
            </a:r>
          </a:p>
          <a:p>
            <a:r>
              <a:rPr lang="en-US" sz="1200" b="0" i="0" u="none" strike="noStrike" cap="none">
                <a:solidFill>
                  <a:schemeClr val="dk1"/>
                </a:solidFill>
                <a:effectLst/>
                <a:latin typeface="Calibri"/>
                <a:ea typeface="Calibri"/>
                <a:cs typeface="Calibri"/>
                <a:sym typeface="Calibri"/>
              </a:rPr>
              <a:t>app.use(express.static(path.join(__dirname,"public")))</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cors=require("cors")</a:t>
            </a:r>
          </a:p>
          <a:p>
            <a:r>
              <a:rPr lang="en-US" sz="1200" b="0" i="0" u="none" strike="noStrike" cap="none">
                <a:solidFill>
                  <a:schemeClr val="dk1"/>
                </a:solidFill>
                <a:effectLst/>
                <a:latin typeface="Calibri"/>
                <a:ea typeface="Calibri"/>
                <a:cs typeface="Calibri"/>
                <a:sym typeface="Calibri"/>
              </a:rPr>
              <a:t>//app.use(cors())</a:t>
            </a:r>
          </a:p>
          <a:p>
            <a:r>
              <a:rPr lang="en-US" sz="1200" b="0" i="0" u="none" strike="noStrike" cap="none">
                <a:solidFill>
                  <a:schemeClr val="dk1"/>
                </a:solidFill>
                <a:effectLst/>
                <a:latin typeface="Calibri"/>
                <a:ea typeface="Calibri"/>
                <a:cs typeface="Calibri"/>
                <a:sym typeface="Calibri"/>
              </a:rPr>
              <a:t>app.use(cors({</a:t>
            </a:r>
          </a:p>
          <a:p>
            <a:r>
              <a:rPr lang="en-US" sz="1200" b="0" i="0" u="none" strike="noStrike" cap="none">
                <a:solidFill>
                  <a:schemeClr val="dk1"/>
                </a:solidFill>
                <a:effectLst/>
                <a:latin typeface="Calibri"/>
                <a:ea typeface="Calibri"/>
                <a:cs typeface="Calibri"/>
                <a:sym typeface="Calibri"/>
              </a:rPr>
              <a:t>    origin: 'http://localhost:4200', </a:t>
            </a:r>
          </a:p>
          <a:p>
            <a:r>
              <a:rPr lang="en-US" sz="1200" b="0" i="0" u="none" strike="noStrike" cap="none">
                <a:solidFill>
                  <a:schemeClr val="dk1"/>
                </a:solidFill>
                <a:effectLst/>
                <a:latin typeface="Calibri"/>
                <a:ea typeface="Calibri"/>
                <a:cs typeface="Calibri"/>
                <a:sym typeface="Calibri"/>
              </a:rPr>
              <a:t>    credentials: true</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const cookieParser = require('cookie-parser');</a:t>
            </a:r>
          </a:p>
          <a:p>
            <a:r>
              <a:rPr lang="en-US" sz="1200" b="0" i="0" u="none" strike="noStrike" cap="none">
                <a:solidFill>
                  <a:schemeClr val="dk1"/>
                </a:solidFill>
                <a:effectLst/>
                <a:latin typeface="Calibri"/>
                <a:ea typeface="Calibri"/>
                <a:cs typeface="Calibri"/>
                <a:sym typeface="Calibri"/>
              </a:rPr>
              <a:t>app.use(cookieParser());</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bodyParser=require("body-parser")</a:t>
            </a:r>
          </a:p>
          <a:p>
            <a:r>
              <a:rPr lang="en-US" sz="1200" b="0" i="0" u="none" strike="noStrike" cap="none">
                <a:solidFill>
                  <a:schemeClr val="dk1"/>
                </a:solidFill>
                <a:effectLst/>
                <a:latin typeface="Calibri"/>
                <a:ea typeface="Calibri"/>
                <a:cs typeface="Calibri"/>
                <a:sym typeface="Calibri"/>
              </a:rPr>
              <a:t>app.use(bodyParser.json({ limit: '50mb' })); </a:t>
            </a:r>
          </a:p>
          <a:p>
            <a:r>
              <a:rPr lang="en-US" sz="1200" b="0" i="0" u="none" strike="noStrike" cap="none">
                <a:solidFill>
                  <a:schemeClr val="dk1"/>
                </a:solidFill>
                <a:effectLst/>
                <a:latin typeface="Calibri"/>
                <a:ea typeface="Calibri"/>
                <a:cs typeface="Calibri"/>
                <a:sym typeface="Calibri"/>
              </a:rPr>
              <a:t>app.use(bodyParser.urlencoded({ limit: '50mb', extended: true }));</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app.listen(port,()=&gt;{</a:t>
            </a:r>
          </a:p>
          <a:p>
            <a:r>
              <a:rPr lang="en-US" sz="1200" b="0" i="0" u="none" strike="noStrike" cap="none">
                <a:solidFill>
                  <a:schemeClr val="dk1"/>
                </a:solidFill>
                <a:effectLst/>
                <a:latin typeface="Calibri"/>
                <a:ea typeface="Calibri"/>
                <a:cs typeface="Calibri"/>
                <a:sym typeface="Calibri"/>
              </a:rPr>
              <a:t>    console.log(`My Server listening on port ${port}`)</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app.get("/",(req,res)=&gt;{</a:t>
            </a:r>
          </a:p>
          <a:p>
            <a:r>
              <a:rPr lang="en-US" sz="1200" b="0" i="0" u="none" strike="noStrike" cap="none">
                <a:solidFill>
                  <a:schemeClr val="dk1"/>
                </a:solidFill>
                <a:effectLst/>
                <a:latin typeface="Calibri"/>
                <a:ea typeface="Calibri"/>
                <a:cs typeface="Calibri"/>
                <a:sym typeface="Calibri"/>
              </a:rPr>
              <a:t>    res.send("This Web server is processed for MongoDB")</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const { MongoClient, ObjectId } = require('mongodb');</a:t>
            </a:r>
          </a:p>
          <a:p>
            <a:r>
              <a:rPr lang="en-US" sz="1200" b="0" i="0" u="none" strike="noStrike" cap="none">
                <a:solidFill>
                  <a:schemeClr val="dk1"/>
                </a:solidFill>
                <a:effectLst/>
                <a:latin typeface="Calibri"/>
                <a:ea typeface="Calibri"/>
                <a:cs typeface="Calibri"/>
                <a:sym typeface="Calibri"/>
              </a:rPr>
              <a:t>const { log } = require('console');</a:t>
            </a:r>
          </a:p>
          <a:p>
            <a:r>
              <a:rPr lang="en-US" sz="1200" b="0" i="0" u="none" strike="noStrike" cap="none">
                <a:solidFill>
                  <a:schemeClr val="dk1"/>
                </a:solidFill>
                <a:effectLst/>
                <a:latin typeface="Calibri"/>
                <a:ea typeface="Calibri"/>
                <a:cs typeface="Calibri"/>
                <a:sym typeface="Calibri"/>
              </a:rPr>
              <a:t>client = new MongoClient("mongodb://127.0.0.1:27017");</a:t>
            </a:r>
          </a:p>
          <a:p>
            <a:r>
              <a:rPr lang="en-US" sz="1200" b="0" i="0" u="none" strike="noStrike" cap="none">
                <a:solidFill>
                  <a:schemeClr val="dk1"/>
                </a:solidFill>
                <a:effectLst/>
                <a:latin typeface="Calibri"/>
                <a:ea typeface="Calibri"/>
                <a:cs typeface="Calibri"/>
                <a:sym typeface="Calibri"/>
              </a:rPr>
              <a:t>client.connect();</a:t>
            </a:r>
          </a:p>
          <a:p>
            <a:r>
              <a:rPr lang="en-US" sz="1200" b="0" i="0" u="none" strike="noStrike" cap="none">
                <a:solidFill>
                  <a:schemeClr val="dk1"/>
                </a:solidFill>
                <a:effectLst/>
                <a:latin typeface="Calibri"/>
                <a:ea typeface="Calibri"/>
                <a:cs typeface="Calibri"/>
                <a:sym typeface="Calibri"/>
              </a:rPr>
              <a:t>database = client.db("FashionData");      </a:t>
            </a:r>
          </a:p>
          <a:p>
            <a:r>
              <a:rPr lang="en-US" sz="1200" b="0" i="0" u="none" strike="noStrike" cap="none">
                <a:solidFill>
                  <a:schemeClr val="dk1"/>
                </a:solidFill>
                <a:effectLst/>
                <a:latin typeface="Calibri"/>
                <a:ea typeface="Calibri"/>
                <a:cs typeface="Calibri"/>
                <a:sym typeface="Calibri"/>
              </a:rPr>
              <a:t>fashionCollection = database.collection("Fashion");</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app.get("/fashions",cors(),async (req,res)=&gt;{   </a:t>
            </a:r>
          </a:p>
          <a:p>
            <a:r>
              <a:rPr lang="en-US" sz="1200" b="0" i="0" u="none" strike="noStrike" cap="none">
                <a:solidFill>
                  <a:schemeClr val="dk1"/>
                </a:solidFill>
                <a:effectLst/>
                <a:latin typeface="Calibri"/>
                <a:ea typeface="Calibri"/>
                <a:cs typeface="Calibri"/>
                <a:sym typeface="Calibri"/>
              </a:rPr>
              <a:t>    const result = await fashionCollection.find({}).toArray();</a:t>
            </a:r>
          </a:p>
          <a:p>
            <a:r>
              <a:rPr lang="en-US" sz="1200" b="0" i="0" u="none" strike="noStrike" cap="none">
                <a:solidFill>
                  <a:schemeClr val="dk1"/>
                </a:solidFill>
                <a:effectLst/>
                <a:latin typeface="Calibri"/>
                <a:ea typeface="Calibri"/>
                <a:cs typeface="Calibri"/>
                <a:sym typeface="Calibri"/>
              </a:rPr>
              <a:t>    res.send(result)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app.get("/fashions/:id",cors(),async (req,res)=&gt;{</a:t>
            </a:r>
          </a:p>
          <a:p>
            <a:r>
              <a:rPr lang="en-US" sz="1200" b="0" i="0" u="none" strike="noStrike" cap="none">
                <a:solidFill>
                  <a:schemeClr val="dk1"/>
                </a:solidFill>
                <a:effectLst/>
                <a:latin typeface="Calibri"/>
                <a:ea typeface="Calibri"/>
                <a:cs typeface="Calibri"/>
                <a:sym typeface="Calibri"/>
              </a:rPr>
              <a:t>    var o_id = new ObjectId(req.params["id"]);</a:t>
            </a:r>
          </a:p>
          <a:p>
            <a:r>
              <a:rPr lang="en-US" sz="1200" b="0" i="0" u="none" strike="noStrike" cap="none">
                <a:solidFill>
                  <a:schemeClr val="dk1"/>
                </a:solidFill>
                <a:effectLst/>
                <a:latin typeface="Calibri"/>
                <a:ea typeface="Calibri"/>
                <a:cs typeface="Calibri"/>
                <a:sym typeface="Calibri"/>
              </a:rPr>
              <a:t>    const result = await fashionCollection.find({_id:o_id}).toArray();    </a:t>
            </a:r>
          </a:p>
          <a:p>
            <a:r>
              <a:rPr lang="en-US" sz="1200" b="0" i="0" u="none" strike="noStrike" cap="none">
                <a:solidFill>
                  <a:schemeClr val="dk1"/>
                </a:solidFill>
                <a:effectLst/>
                <a:latin typeface="Calibri"/>
                <a:ea typeface="Calibri"/>
                <a:cs typeface="Calibri"/>
                <a:sym typeface="Calibri"/>
              </a:rPr>
              <a:t>    res.send(result[0])</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app.post("/fashions",cors(),async(req,res)=&gt;{   </a:t>
            </a:r>
          </a:p>
          <a:p>
            <a:r>
              <a:rPr lang="en-US" sz="1200" b="0" i="0" u="none" strike="noStrike" cap="none">
                <a:solidFill>
                  <a:schemeClr val="dk1"/>
                </a:solidFill>
                <a:effectLst/>
                <a:latin typeface="Calibri"/>
                <a:ea typeface="Calibri"/>
                <a:cs typeface="Calibri"/>
                <a:sym typeface="Calibri"/>
              </a:rPr>
              <a:t>    //put json Fashion into database</a:t>
            </a:r>
          </a:p>
          <a:p>
            <a:r>
              <a:rPr lang="en-US" sz="1200" b="0" i="0" u="none" strike="noStrike" cap="none">
                <a:solidFill>
                  <a:schemeClr val="dk1"/>
                </a:solidFill>
                <a:effectLst/>
                <a:latin typeface="Calibri"/>
                <a:ea typeface="Calibri"/>
                <a:cs typeface="Calibri"/>
                <a:sym typeface="Calibri"/>
              </a:rPr>
              <a:t>    await fashionCollection.insertOne(req.body)</a:t>
            </a:r>
          </a:p>
          <a:p>
            <a:r>
              <a:rPr lang="en-US" sz="1200" b="0" i="0" u="none" strike="noStrike" cap="none">
                <a:solidFill>
                  <a:schemeClr val="dk1"/>
                </a:solidFill>
                <a:effectLst/>
                <a:latin typeface="Calibri"/>
                <a:ea typeface="Calibri"/>
                <a:cs typeface="Calibri"/>
                <a:sym typeface="Calibri"/>
              </a:rPr>
              <a:t>    //send message to client(send all database to client)</a:t>
            </a:r>
          </a:p>
          <a:p>
            <a:r>
              <a:rPr lang="en-US" sz="1200" b="0" i="0" u="none" strike="noStrike" cap="none">
                <a:solidFill>
                  <a:schemeClr val="dk1"/>
                </a:solidFill>
                <a:effectLst/>
                <a:latin typeface="Calibri"/>
                <a:ea typeface="Calibri"/>
                <a:cs typeface="Calibri"/>
                <a:sym typeface="Calibri"/>
              </a:rPr>
              <a:t>    res.send(req.body)</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app.put("/fashions",cors(),async(req,res)=&gt;{       </a:t>
            </a:r>
          </a:p>
          <a:p>
            <a:r>
              <a:rPr lang="en-US" sz="1200" b="0" i="0" u="none" strike="noStrike" cap="none">
                <a:solidFill>
                  <a:schemeClr val="dk1"/>
                </a:solidFill>
                <a:effectLst/>
                <a:latin typeface="Calibri"/>
                <a:ea typeface="Calibri"/>
                <a:cs typeface="Calibri"/>
                <a:sym typeface="Calibri"/>
              </a:rPr>
              <a:t>    //update json Fashion into database</a:t>
            </a:r>
          </a:p>
          <a:p>
            <a:r>
              <a:rPr lang="en-US" sz="1200" b="0" i="0" u="none" strike="noStrike" cap="none">
                <a:solidFill>
                  <a:schemeClr val="dk1"/>
                </a:solidFill>
                <a:effectLst/>
                <a:latin typeface="Calibri"/>
                <a:ea typeface="Calibri"/>
                <a:cs typeface="Calibri"/>
                <a:sym typeface="Calibri"/>
              </a:rPr>
              <a:t>    await fashionCollection.updateOne(</a:t>
            </a:r>
          </a:p>
          <a:p>
            <a:r>
              <a:rPr lang="en-US" sz="1200" b="0" i="0" u="none" strike="noStrike" cap="none">
                <a:solidFill>
                  <a:schemeClr val="dk1"/>
                </a:solidFill>
                <a:effectLst/>
                <a:latin typeface="Calibri"/>
                <a:ea typeface="Calibri"/>
                <a:cs typeface="Calibri"/>
                <a:sym typeface="Calibri"/>
              </a:rPr>
              <a:t>        {_id:new ObjectId(req.body._id)},//condition for update</a:t>
            </a:r>
          </a:p>
          <a:p>
            <a:r>
              <a:rPr lang="en-US" sz="1200" b="0" i="0" u="none" strike="noStrike" cap="none">
                <a:solidFill>
                  <a:schemeClr val="dk1"/>
                </a:solidFill>
                <a:effectLst/>
                <a:latin typeface="Calibri"/>
                <a:ea typeface="Calibri"/>
                <a:cs typeface="Calibri"/>
                <a:sym typeface="Calibri"/>
              </a:rPr>
              <a:t>        { $set: { //Field for updating</a:t>
            </a:r>
          </a:p>
          <a:p>
            <a:r>
              <a:rPr lang="en-US" sz="1200" b="0" i="0" u="none" strike="noStrike" cap="none">
                <a:solidFill>
                  <a:schemeClr val="dk1"/>
                </a:solidFill>
                <a:effectLst/>
                <a:latin typeface="Calibri"/>
                <a:ea typeface="Calibri"/>
                <a:cs typeface="Calibri"/>
                <a:sym typeface="Calibri"/>
              </a:rPr>
              <a:t>                style: req.body.style,</a:t>
            </a:r>
          </a:p>
          <a:p>
            <a:r>
              <a:rPr lang="en-US" sz="1200" b="0" i="0" u="none" strike="noStrike" cap="none">
                <a:solidFill>
                  <a:schemeClr val="dk1"/>
                </a:solidFill>
                <a:effectLst/>
                <a:latin typeface="Calibri"/>
                <a:ea typeface="Calibri"/>
                <a:cs typeface="Calibri"/>
                <a:sym typeface="Calibri"/>
              </a:rPr>
              <a:t>                fashion_subject:req.body.fashion_subject,</a:t>
            </a:r>
          </a:p>
          <a:p>
            <a:r>
              <a:rPr lang="en-US" sz="1200" b="0" i="0" u="none" strike="noStrike" cap="none">
                <a:solidFill>
                  <a:schemeClr val="dk1"/>
                </a:solidFill>
                <a:effectLst/>
                <a:latin typeface="Calibri"/>
                <a:ea typeface="Calibri"/>
                <a:cs typeface="Calibri"/>
                <a:sym typeface="Calibri"/>
              </a:rPr>
              <a:t>                fashion_detail:req.body.fashion_detail,</a:t>
            </a:r>
          </a:p>
          <a:p>
            <a:r>
              <a:rPr lang="en-US" sz="1200" b="0" i="0" u="none" strike="noStrike" cap="none">
                <a:solidFill>
                  <a:schemeClr val="dk1"/>
                </a:solidFill>
                <a:effectLst/>
                <a:latin typeface="Calibri"/>
                <a:ea typeface="Calibri"/>
                <a:cs typeface="Calibri"/>
                <a:sym typeface="Calibri"/>
              </a:rPr>
              <a:t>                fashion_image:req.body.fashion_image</a:t>
            </a:r>
          </a:p>
          <a:p>
            <a:r>
              <a:rPr lang="en-US" sz="1200" b="0" i="0" u="none" strike="noStrike" cap="none">
                <a:solidFill>
                  <a:schemeClr val="dk1"/>
                </a:solidFill>
                <a:effectLst/>
                <a:latin typeface="Calibri"/>
                <a:ea typeface="Calibri"/>
                <a:cs typeface="Calibri"/>
                <a:sym typeface="Calibri"/>
              </a:rPr>
              <a:t>            }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//send Fashion after updating</a:t>
            </a:r>
          </a:p>
          <a:p>
            <a:r>
              <a:rPr lang="en-US" sz="1200" b="0" i="0" u="none" strike="noStrike" cap="none">
                <a:solidFill>
                  <a:schemeClr val="dk1"/>
                </a:solidFill>
                <a:effectLst/>
                <a:latin typeface="Calibri"/>
                <a:ea typeface="Calibri"/>
                <a:cs typeface="Calibri"/>
                <a:sym typeface="Calibri"/>
              </a:rPr>
              <a:t>    var o_id = new ObjectId(req.body._id);</a:t>
            </a:r>
          </a:p>
          <a:p>
            <a:r>
              <a:rPr lang="en-US" sz="1200" b="0" i="0" u="none" strike="noStrike" cap="none">
                <a:solidFill>
                  <a:schemeClr val="dk1"/>
                </a:solidFill>
                <a:effectLst/>
                <a:latin typeface="Calibri"/>
                <a:ea typeface="Calibri"/>
                <a:cs typeface="Calibri"/>
                <a:sym typeface="Calibri"/>
              </a:rPr>
              <a:t>    const result = await fashionCollection.find({_id:o_id}).toArray();    </a:t>
            </a:r>
          </a:p>
          <a:p>
            <a:r>
              <a:rPr lang="en-US" sz="1200" b="0" i="0" u="none" strike="noStrike" cap="none">
                <a:solidFill>
                  <a:schemeClr val="dk1"/>
                </a:solidFill>
                <a:effectLst/>
                <a:latin typeface="Calibri"/>
                <a:ea typeface="Calibri"/>
                <a:cs typeface="Calibri"/>
                <a:sym typeface="Calibri"/>
              </a:rPr>
              <a:t>    res.send(result[0])</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app.delete("/fashions/:id",cors(),async(req,res)=&gt;{   </a:t>
            </a:r>
          </a:p>
          <a:p>
            <a:r>
              <a:rPr lang="en-US" sz="1200" b="0" i="0" u="none" strike="noStrike" cap="none">
                <a:solidFill>
                  <a:schemeClr val="dk1"/>
                </a:solidFill>
                <a:effectLst/>
                <a:latin typeface="Calibri"/>
                <a:ea typeface="Calibri"/>
                <a:cs typeface="Calibri"/>
                <a:sym typeface="Calibri"/>
              </a:rPr>
              <a:t>    //find detail Fashion with id</a:t>
            </a:r>
          </a:p>
          <a:p>
            <a:r>
              <a:rPr lang="en-US" sz="1200" b="0" i="0" u="none" strike="noStrike" cap="none">
                <a:solidFill>
                  <a:schemeClr val="dk1"/>
                </a:solidFill>
                <a:effectLst/>
                <a:latin typeface="Calibri"/>
                <a:ea typeface="Calibri"/>
                <a:cs typeface="Calibri"/>
                <a:sym typeface="Calibri"/>
              </a:rPr>
              <a:t>    var o_id = new ObjectId(req.params["id"]);</a:t>
            </a:r>
          </a:p>
          <a:p>
            <a:r>
              <a:rPr lang="en-US" sz="1200" b="0" i="0" u="none" strike="noStrike" cap="none">
                <a:solidFill>
                  <a:schemeClr val="dk1"/>
                </a:solidFill>
                <a:effectLst/>
                <a:latin typeface="Calibri"/>
                <a:ea typeface="Calibri"/>
                <a:cs typeface="Calibri"/>
                <a:sym typeface="Calibri"/>
              </a:rPr>
              <a:t>    const result = await fashionCollection.find({_id:o_id}).toArray(); </a:t>
            </a:r>
          </a:p>
          <a:p>
            <a:r>
              <a:rPr lang="en-US" sz="1200" b="0" i="0" u="none" strike="noStrike" cap="none">
                <a:solidFill>
                  <a:schemeClr val="dk1"/>
                </a:solidFill>
                <a:effectLst/>
                <a:latin typeface="Calibri"/>
                <a:ea typeface="Calibri"/>
                <a:cs typeface="Calibri"/>
                <a:sym typeface="Calibri"/>
              </a:rPr>
              <a:t>    //update json Fashion into database</a:t>
            </a:r>
          </a:p>
          <a:p>
            <a:r>
              <a:rPr lang="en-US" sz="1200" b="0" i="0" u="none" strike="noStrike" cap="none">
                <a:solidFill>
                  <a:schemeClr val="dk1"/>
                </a:solidFill>
                <a:effectLst/>
                <a:latin typeface="Calibri"/>
                <a:ea typeface="Calibri"/>
                <a:cs typeface="Calibri"/>
                <a:sym typeface="Calibri"/>
              </a:rPr>
              <a:t>    await fashionCollection.deleteOne(</a:t>
            </a:r>
          </a:p>
          <a:p>
            <a:r>
              <a:rPr lang="en-US" sz="1200" b="0" i="0" u="none" strike="noStrike" cap="none">
                <a:solidFill>
                  <a:schemeClr val="dk1"/>
                </a:solidFill>
                <a:effectLst/>
                <a:latin typeface="Calibri"/>
                <a:ea typeface="Calibri"/>
                <a:cs typeface="Calibri"/>
                <a:sym typeface="Calibri"/>
              </a:rPr>
              <a:t>        {_id:o_id}</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//send Fashion after remove</a:t>
            </a:r>
          </a:p>
          <a:p>
            <a:r>
              <a:rPr lang="en-US" sz="1200" b="0" i="0" u="none" strike="noStrike" cap="none">
                <a:solidFill>
                  <a:schemeClr val="dk1"/>
                </a:solidFill>
                <a:effectLst/>
                <a:latin typeface="Calibri"/>
                <a:ea typeface="Calibri"/>
                <a:cs typeface="Calibri"/>
                <a:sym typeface="Calibri"/>
              </a:rPr>
              <a:t>    res.send(result[0])</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app.post('/user-login', async (req, res) =&gt; {</a:t>
            </a:r>
          </a:p>
          <a:p>
            <a:r>
              <a:rPr lang="en-US" sz="1200" b="0" i="0" u="none" strike="noStrike" cap="none">
                <a:solidFill>
                  <a:schemeClr val="dk1"/>
                </a:solidFill>
                <a:effectLst/>
                <a:latin typeface="Calibri"/>
                <a:ea typeface="Calibri"/>
                <a:cs typeface="Calibri"/>
                <a:sym typeface="Calibri"/>
              </a:rPr>
              <a:t>    const UserCollection = database.collection("User");        </a:t>
            </a:r>
          </a:p>
          <a:p>
            <a:r>
              <a:rPr lang="en-US" sz="1200" b="0" i="0" u="none" strike="noStrike" cap="none">
                <a:solidFill>
                  <a:schemeClr val="dk1"/>
                </a:solidFill>
                <a:effectLst/>
                <a:latin typeface="Calibri"/>
                <a:ea typeface="Calibri"/>
                <a:cs typeface="Calibri"/>
                <a:sym typeface="Calibri"/>
              </a:rPr>
              <a:t>    const user = await UserCollection.findOne({ </a:t>
            </a:r>
          </a:p>
          <a:p>
            <a:r>
              <a:rPr lang="en-US" sz="1200" b="0" i="0" u="none" strike="noStrike" cap="none">
                <a:solidFill>
                  <a:schemeClr val="dk1"/>
                </a:solidFill>
                <a:effectLst/>
                <a:latin typeface="Calibri"/>
                <a:ea typeface="Calibri"/>
                <a:cs typeface="Calibri"/>
                <a:sym typeface="Calibri"/>
              </a:rPr>
              <a:t>        username: req.body.username, </a:t>
            </a:r>
          </a:p>
          <a:p>
            <a:r>
              <a:rPr lang="en-US" sz="1200" b="0" i="0" u="none" strike="noStrike" cap="none">
                <a:solidFill>
                  <a:schemeClr val="dk1"/>
                </a:solidFill>
                <a:effectLst/>
                <a:latin typeface="Calibri"/>
                <a:ea typeface="Calibri"/>
                <a:cs typeface="Calibri"/>
                <a:sym typeface="Calibri"/>
              </a:rPr>
              <a:t>        password: req.body.password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if (user) {</a:t>
            </a:r>
          </a:p>
          <a:p>
            <a:r>
              <a:rPr lang="en-US" sz="1200" b="0" i="0" u="none" strike="noStrike" cap="none">
                <a:solidFill>
                  <a:schemeClr val="dk1"/>
                </a:solidFill>
                <a:effectLst/>
                <a:latin typeface="Calibri"/>
                <a:ea typeface="Calibri"/>
                <a:cs typeface="Calibri"/>
                <a:sym typeface="Calibri"/>
              </a:rPr>
              <a:t>        if (req.body.rememberMe) {</a:t>
            </a:r>
          </a:p>
          <a:p>
            <a:r>
              <a:rPr lang="en-US" sz="1200" b="0" i="0" u="none" strike="noStrike" cap="none">
                <a:solidFill>
                  <a:schemeClr val="dk1"/>
                </a:solidFill>
                <a:effectLst/>
                <a:latin typeface="Calibri"/>
                <a:ea typeface="Calibri"/>
                <a:cs typeface="Calibri"/>
                <a:sym typeface="Calibri"/>
              </a:rPr>
              <a:t>            res.cookie('remember_user', req.body.username, {</a:t>
            </a:r>
          </a:p>
          <a:p>
            <a:r>
              <a:rPr lang="en-US" sz="1200" b="0" i="0" u="none" strike="noStrike" cap="none">
                <a:solidFill>
                  <a:schemeClr val="dk1"/>
                </a:solidFill>
                <a:effectLst/>
                <a:latin typeface="Calibri"/>
                <a:ea typeface="Calibri"/>
                <a:cs typeface="Calibri"/>
                <a:sym typeface="Calibri"/>
              </a:rPr>
              <a:t>                maxAge: 30 * 24 * 60 * 60 * 1000, // 30 ngày</a:t>
            </a:r>
          </a:p>
          <a:p>
            <a:r>
              <a:rPr lang="en-US" sz="1200" b="0" i="0" u="none" strike="noStrike" cap="none">
                <a:solidFill>
                  <a:schemeClr val="dk1"/>
                </a:solidFill>
                <a:effectLst/>
                <a:latin typeface="Calibri"/>
                <a:ea typeface="Calibri"/>
                <a:cs typeface="Calibri"/>
                <a:sym typeface="Calibri"/>
              </a:rPr>
              <a:t>                httpOnly: false,</a:t>
            </a:r>
          </a:p>
          <a:p>
            <a:r>
              <a:rPr lang="en-US" sz="1200" b="0" i="0" u="none" strike="noStrike" cap="none">
                <a:solidFill>
                  <a:schemeClr val="dk1"/>
                </a:solidFill>
                <a:effectLst/>
                <a:latin typeface="Calibri"/>
                <a:ea typeface="Calibri"/>
                <a:cs typeface="Calibri"/>
                <a:sym typeface="Calibri"/>
              </a:rPr>
              <a:t>                secure: false, // Set true nếu chạy https</a:t>
            </a:r>
          </a:p>
          <a:p>
            <a:r>
              <a:rPr lang="en-US" sz="1200" b="0" i="0" u="none" strike="noStrike" cap="none">
                <a:solidFill>
                  <a:schemeClr val="dk1"/>
                </a:solidFill>
                <a:effectLst/>
                <a:latin typeface="Calibri"/>
                <a:ea typeface="Calibri"/>
                <a:cs typeface="Calibri"/>
                <a:sym typeface="Calibri"/>
              </a:rPr>
              <a:t>                sameSite: 'Lax'</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res.status(200).send({ </a:t>
            </a:r>
          </a:p>
          <a:p>
            <a:r>
              <a:rPr lang="en-US" sz="1200" b="0" i="0" u="none" strike="noStrike" cap="none">
                <a:solidFill>
                  <a:schemeClr val="dk1"/>
                </a:solidFill>
                <a:effectLst/>
                <a:latin typeface="Calibri"/>
                <a:ea typeface="Calibri"/>
                <a:cs typeface="Calibri"/>
                <a:sym typeface="Calibri"/>
              </a:rPr>
              <a:t>            message: "Login successful!",</a:t>
            </a:r>
          </a:p>
          <a:p>
            <a:r>
              <a:rPr lang="en-US" sz="1200" b="0" i="0" u="none" strike="noStrike" cap="none">
                <a:solidFill>
                  <a:schemeClr val="dk1"/>
                </a:solidFill>
                <a:effectLst/>
                <a:latin typeface="Calibri"/>
                <a:ea typeface="Calibri"/>
                <a:cs typeface="Calibri"/>
                <a:sym typeface="Calibri"/>
              </a:rPr>
              <a:t>            user: { username: user.username, role: user.role }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else {</a:t>
            </a:r>
          </a:p>
          <a:p>
            <a:r>
              <a:rPr lang="en-US" sz="1200" b="0" i="0" u="none" strike="noStrike" cap="none">
                <a:solidFill>
                  <a:schemeClr val="dk1"/>
                </a:solidFill>
                <a:effectLst/>
                <a:latin typeface="Calibri"/>
                <a:ea typeface="Calibri"/>
                <a:cs typeface="Calibri"/>
                <a:sym typeface="Calibri"/>
              </a:rPr>
              <a:t>        res.status(401).send({ message: "Wrong user or email!" });</a:t>
            </a:r>
          </a:p>
          <a:p>
            <a:r>
              <a:rPr lang="en-US" sz="1200" b="0" i="0" u="none" strike="noStrike" cap="none">
                <a:solidFill>
                  <a:schemeClr val="dk1"/>
                </a:solidFill>
                <a:effectLst/>
                <a:latin typeface="Calibri"/>
                <a:ea typeface="Calibri"/>
                <a:cs typeface="Calibri"/>
                <a:sym typeface="Calibri"/>
              </a:rPr>
              <a:t>    }   </a:t>
            </a:r>
          </a:p>
          <a:p>
            <a:r>
              <a:rPr lang="en-US" sz="1200" b="0" i="0" u="none" strike="noStrike" cap="none">
                <a:solidFill>
                  <a:schemeClr val="dk1"/>
                </a:solidFill>
                <a:effectLst/>
                <a:latin typeface="Calibri"/>
                <a:ea typeface="Calibri"/>
                <a:cs typeface="Calibri"/>
                <a:sym typeface="Calibri"/>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CE4377A-6B88-2BAB-9287-4FF0926306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1972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F83529D-FD96-8229-ACA2-C79BACC9DDE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C8CA33C-EA06-F161-63FE-9EF9DF712A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DF766E5-2D5F-7C8F-6AD3-D080D9325F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5593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48F7FE0-55AC-C813-034A-9A1B5D9C8A2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AEF0714-819F-6750-ABB2-950E07626A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058D386-41A9-6FAB-0C46-B4E6E80466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4182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1231904-CF14-E39A-CD9B-ED5429CFFFD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868D051-F456-B736-C0CD-8C863BA594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D0FFE0D-EB7F-BE1B-23F0-436C17EAAA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5020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C22222D-9B32-116E-5D47-22E9FC3B860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574EC5D-7C27-5091-8235-F31E79B2A5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8E0743D-560F-4044-8841-EC267583B3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275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9BE2249-E0F9-2569-63EC-5C3429D6880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9AD9A4C-2EDF-E1E5-93D0-71ED7E92CF5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EF731F9-8A34-57AF-73CA-AB67583A00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1251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BD41784-800D-00BB-5950-7EB83585BAC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D170E01-8EEC-07A7-FC10-E47EF877587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C4799F5-744D-FF96-DA5F-F6DA79FAA3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4052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7FE1489-5635-C339-D5A9-5BAEED636E5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035779F-87E2-E28B-4B04-12E8FF3CE4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7976F3F-4CD5-95AA-E714-9189651E4D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2986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A0586B8-A938-F4E9-727D-E36BED14BBE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3333943-B7D8-6D88-BE23-4E42120BFC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HttpClient } from '@angular/common/http';</a:t>
            </a:r>
          </a:p>
          <a:p>
            <a:r>
              <a:rPr lang="en-US" sz="1200" b="0" i="0" u="none" strike="noStrike" cap="none">
                <a:solidFill>
                  <a:schemeClr val="dk1"/>
                </a:solidFill>
                <a:effectLst/>
                <a:latin typeface="Calibri"/>
                <a:ea typeface="Calibri"/>
                <a:cs typeface="Calibri"/>
                <a:sym typeface="Calibri"/>
              </a:rPr>
              <a:t>import { Injectable, signal } from '@angular/core';</a:t>
            </a:r>
          </a:p>
          <a:p>
            <a:r>
              <a:rPr lang="en-US" sz="1200" b="0" i="0" u="none" strike="noStrike" cap="none">
                <a:solidFill>
                  <a:schemeClr val="dk1"/>
                </a:solidFill>
                <a:effectLst/>
                <a:latin typeface="Calibri"/>
                <a:ea typeface="Calibri"/>
                <a:cs typeface="Calibri"/>
                <a:sym typeface="Calibri"/>
              </a:rPr>
              <a:t>import { CookieService } from 'ngx-cookie-service';</a:t>
            </a:r>
          </a:p>
          <a:p>
            <a:r>
              <a:rPr lang="en-US" sz="1200" b="0" i="0" u="none" strike="noStrike" cap="none">
                <a:solidFill>
                  <a:schemeClr val="dk1"/>
                </a:solidFill>
                <a:effectLst/>
                <a:latin typeface="Calibri"/>
                <a:ea typeface="Calibri"/>
                <a:cs typeface="Calibri"/>
                <a:sym typeface="Calibri"/>
              </a:rPr>
              <a:t>import { Observable, tap } from 'rxjs';</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@Injectable({</a:t>
            </a:r>
          </a:p>
          <a:p>
            <a:r>
              <a:rPr lang="en-US" sz="1200" b="0" i="0" u="none" strike="noStrike" cap="none">
                <a:solidFill>
                  <a:schemeClr val="dk1"/>
                </a:solidFill>
                <a:effectLst/>
                <a:latin typeface="Calibri"/>
                <a:ea typeface="Calibri"/>
                <a:cs typeface="Calibri"/>
                <a:sym typeface="Calibri"/>
              </a:rPr>
              <a:t>  providedIn: 'root',</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AuthService {</a:t>
            </a:r>
          </a:p>
          <a:p>
            <a:r>
              <a:rPr lang="en-US" sz="1200" b="0" i="0" u="none" strike="noStrike" cap="none">
                <a:solidFill>
                  <a:schemeClr val="dk1"/>
                </a:solidFill>
                <a:effectLst/>
                <a:latin typeface="Calibri"/>
                <a:ea typeface="Calibri"/>
                <a:cs typeface="Calibri"/>
                <a:sym typeface="Calibri"/>
              </a:rPr>
              <a:t>  // Signal to store user state after successful login</a:t>
            </a:r>
          </a:p>
          <a:p>
            <a:r>
              <a:rPr lang="en-US" sz="1200" b="0" i="0" u="none" strike="noStrike" cap="none">
                <a:solidFill>
                  <a:schemeClr val="dk1"/>
                </a:solidFill>
                <a:effectLst/>
                <a:latin typeface="Calibri"/>
                <a:ea typeface="Calibri"/>
                <a:cs typeface="Calibri"/>
                <a:sym typeface="Calibri"/>
              </a:rPr>
              <a:t>  currentUser = signal&lt;any&gt;(null);</a:t>
            </a:r>
          </a:p>
          <a:p>
            <a:r>
              <a:rPr lang="en-US" sz="1200" b="0" i="0" u="none" strike="noStrike" cap="none">
                <a:solidFill>
                  <a:schemeClr val="dk1"/>
                </a:solidFill>
                <a:effectLst/>
                <a:latin typeface="Calibri"/>
                <a:ea typeface="Calibri"/>
                <a:cs typeface="Calibri"/>
                <a:sym typeface="Calibri"/>
              </a:rPr>
              <a:t>  constructor(</a:t>
            </a:r>
          </a:p>
          <a:p>
            <a:r>
              <a:rPr lang="en-US" sz="1200" b="0" i="0" u="none" strike="noStrike" cap="none">
                <a:solidFill>
                  <a:schemeClr val="dk1"/>
                </a:solidFill>
                <a:effectLst/>
                <a:latin typeface="Calibri"/>
                <a:ea typeface="Calibri"/>
                <a:cs typeface="Calibri"/>
                <a:sym typeface="Calibri"/>
              </a:rPr>
              <a:t>    private http: HttpClient,</a:t>
            </a:r>
          </a:p>
          <a:p>
            <a:r>
              <a:rPr lang="en-US" sz="1200" b="0" i="0" u="none" strike="noStrike" cap="none">
                <a:solidFill>
                  <a:schemeClr val="dk1"/>
                </a:solidFill>
                <a:effectLst/>
                <a:latin typeface="Calibri"/>
                <a:ea typeface="Calibri"/>
                <a:cs typeface="Calibri"/>
                <a:sym typeface="Calibri"/>
              </a:rPr>
              <a:t>    private cookieService: CookieService</a:t>
            </a:r>
          </a:p>
          <a:p>
            <a:r>
              <a:rPr lang="en-US" sz="1200" b="0" i="0" u="none" strike="noStrike" cap="none">
                <a:solidFill>
                  <a:schemeClr val="dk1"/>
                </a:solidFill>
                <a:effectLst/>
                <a:latin typeface="Calibri"/>
                <a:ea typeface="Calibri"/>
                <a:cs typeface="Calibri"/>
                <a:sym typeface="Calibri"/>
              </a:rPr>
              <a:t>  ) {}</a:t>
            </a:r>
          </a:p>
          <a:p>
            <a:r>
              <a:rPr lang="en-US" sz="1200" b="0" i="0" u="none" strike="noStrike" cap="none">
                <a:solidFill>
                  <a:schemeClr val="dk1"/>
                </a:solidFill>
                <a:effectLst/>
                <a:latin typeface="Calibri"/>
                <a:ea typeface="Calibri"/>
                <a:cs typeface="Calibri"/>
                <a:sym typeface="Calibri"/>
              </a:rPr>
              <a:t>  login(credentials: any): Observable&lt;any&gt; {</a:t>
            </a:r>
          </a:p>
          <a:p>
            <a:r>
              <a:rPr lang="en-US" sz="1200" b="0" i="0" u="none" strike="noStrike" cap="none">
                <a:solidFill>
                  <a:schemeClr val="dk1"/>
                </a:solidFill>
                <a:effectLst/>
                <a:latin typeface="Calibri"/>
                <a:ea typeface="Calibri"/>
                <a:cs typeface="Calibri"/>
                <a:sym typeface="Calibri"/>
              </a:rPr>
              <a:t>    return this.http.post("/user-login", credentials, { withCredentials: true }).pipe(</a:t>
            </a:r>
          </a:p>
          <a:p>
            <a:r>
              <a:rPr lang="en-US" sz="1200" b="0" i="0" u="none" strike="noStrike" cap="none">
                <a:solidFill>
                  <a:schemeClr val="dk1"/>
                </a:solidFill>
                <a:effectLst/>
                <a:latin typeface="Calibri"/>
                <a:ea typeface="Calibri"/>
                <a:cs typeface="Calibri"/>
                <a:sym typeface="Calibri"/>
              </a:rPr>
              <a:t>      tap((res: any) =&gt; {</a:t>
            </a:r>
          </a:p>
          <a:p>
            <a:r>
              <a:rPr lang="en-US" sz="1200" b="0" i="0" u="none" strike="noStrike" cap="none">
                <a:solidFill>
                  <a:schemeClr val="dk1"/>
                </a:solidFill>
                <a:effectLst/>
                <a:latin typeface="Calibri"/>
                <a:ea typeface="Calibri"/>
                <a:cs typeface="Calibri"/>
                <a:sym typeface="Calibri"/>
              </a:rPr>
              <a:t>        // 1. Save user info to Signal for global application use</a:t>
            </a:r>
          </a:p>
          <a:p>
            <a:r>
              <a:rPr lang="en-US" sz="1200" b="0" i="0" u="none" strike="noStrike" cap="none">
                <a:solidFill>
                  <a:schemeClr val="dk1"/>
                </a:solidFill>
                <a:effectLst/>
                <a:latin typeface="Calibri"/>
                <a:ea typeface="Calibri"/>
                <a:cs typeface="Calibri"/>
                <a:sym typeface="Calibri"/>
              </a:rPr>
              <a:t>        this.currentUser.set(res.user);</a:t>
            </a:r>
          </a:p>
          <a:p>
            <a:r>
              <a:rPr lang="en-US" sz="1200" b="0" i="0" u="none" strike="noStrike" cap="none">
                <a:solidFill>
                  <a:schemeClr val="dk1"/>
                </a:solidFill>
                <a:effectLst/>
                <a:latin typeface="Calibri"/>
                <a:ea typeface="Calibri"/>
                <a:cs typeface="Calibri"/>
                <a:sym typeface="Calibri"/>
              </a:rPr>
              <a:t>        // 2. If 'Remember Me' is checked, save the username to client-side Cookie</a:t>
            </a:r>
          </a:p>
          <a:p>
            <a:r>
              <a:rPr lang="en-US" sz="1200" b="0" i="0" u="none" strike="noStrike" cap="none">
                <a:solidFill>
                  <a:schemeClr val="dk1"/>
                </a:solidFill>
                <a:effectLst/>
                <a:latin typeface="Calibri"/>
                <a:ea typeface="Calibri"/>
                <a:cs typeface="Calibri"/>
                <a:sym typeface="Calibri"/>
              </a:rPr>
              <a:t>        if (credentials.rememberMe) {</a:t>
            </a:r>
          </a:p>
          <a:p>
            <a:r>
              <a:rPr lang="en-US" sz="1200" b="0" i="0" u="none" strike="noStrike" cap="none">
                <a:solidFill>
                  <a:schemeClr val="dk1"/>
                </a:solidFill>
                <a:effectLst/>
                <a:latin typeface="Calibri"/>
                <a:ea typeface="Calibri"/>
                <a:cs typeface="Calibri"/>
                <a:sym typeface="Calibri"/>
              </a:rPr>
              <a:t>          this.cookieService.set('remember_user', credentials.username, 30, '/');</a:t>
            </a:r>
          </a:p>
          <a:p>
            <a:r>
              <a:rPr lang="en-US" sz="1200" b="0" i="0" u="none" strike="noStrike" cap="none">
                <a:solidFill>
                  <a:schemeClr val="dk1"/>
                </a:solidFill>
                <a:effectLst/>
                <a:latin typeface="Calibri"/>
                <a:ea typeface="Calibri"/>
                <a:cs typeface="Calibri"/>
                <a:sym typeface="Calibri"/>
              </a:rPr>
              <a:t>        } else {</a:t>
            </a:r>
          </a:p>
          <a:p>
            <a:r>
              <a:rPr lang="en-US" sz="1200" b="0" i="0" u="none" strike="noStrike" cap="none">
                <a:solidFill>
                  <a:schemeClr val="dk1"/>
                </a:solidFill>
                <a:effectLst/>
                <a:latin typeface="Calibri"/>
                <a:ea typeface="Calibri"/>
                <a:cs typeface="Calibri"/>
                <a:sym typeface="Calibri"/>
              </a:rPr>
              <a:t>          // If not checked, remove the existing cookie</a:t>
            </a:r>
          </a:p>
          <a:p>
            <a:r>
              <a:rPr lang="en-US" sz="1200" b="0" i="0" u="none" strike="noStrike" cap="none">
                <a:solidFill>
                  <a:schemeClr val="dk1"/>
                </a:solidFill>
                <a:effectLst/>
                <a:latin typeface="Calibri"/>
                <a:ea typeface="Calibri"/>
                <a:cs typeface="Calibri"/>
                <a:sym typeface="Calibri"/>
              </a:rPr>
              <a:t>          this.cookieService.delete('remember_user');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Method to retrieve the remembered email/username for form initialization</a:t>
            </a:r>
          </a:p>
          <a:p>
            <a:r>
              <a:rPr lang="en-US" sz="1200" b="0" i="0" u="none" strike="noStrike" cap="none">
                <a:solidFill>
                  <a:schemeClr val="dk1"/>
                </a:solidFill>
                <a:effectLst/>
                <a:latin typeface="Calibri"/>
                <a:ea typeface="Calibri"/>
                <a:cs typeface="Calibri"/>
                <a:sym typeface="Calibri"/>
              </a:rPr>
              <a:t>  getRememberedEmail(): string {</a:t>
            </a:r>
          </a:p>
          <a:p>
            <a:r>
              <a:rPr lang="en-US" sz="1200" b="0" i="0" u="none" strike="noStrike" cap="none">
                <a:solidFill>
                  <a:schemeClr val="dk1"/>
                </a:solidFill>
                <a:effectLst/>
                <a:latin typeface="Calibri"/>
                <a:ea typeface="Calibri"/>
                <a:cs typeface="Calibri"/>
                <a:sym typeface="Calibri"/>
              </a:rPr>
              <a:t>    return this.cookieService.get('remember_user');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0581FB5-A0E8-2D8D-EA7C-E6699E4B90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95502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4A8DD9C-5551-02FC-D17B-70E69BD669C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F6DD769-2943-BA0A-F96A-0E7BE65C552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A4F56F0-B161-5CF2-0746-807F5521E7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00182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DFD95A4-0025-D113-2AE5-79DC5269FFA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C34D5C2-344F-BF17-6AC4-04DE4887899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8028038-0E3B-170D-8CAB-177AF11E7E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35399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0AC47C8-BDE3-1E18-E082-4F7B9DA91D0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5F4D903-BE13-8CE8-F648-8CF87FBBAC0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9AF3CA8-6E43-CAF3-46FD-191D4554AB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99580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54DDBC4-E37E-7338-628A-5D9BEFF12DD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430F20D-B03A-DF3A-FA48-F79CED96C2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Component, signal } from '@angular/core';</a:t>
            </a:r>
          </a:p>
          <a:p>
            <a:r>
              <a:rPr lang="en-US" sz="1200" b="0" i="0" u="none" strike="noStrike" cap="none">
                <a:solidFill>
                  <a:schemeClr val="dk1"/>
                </a:solidFill>
                <a:effectLst/>
                <a:latin typeface="Calibri"/>
                <a:ea typeface="Calibri"/>
                <a:cs typeface="Calibri"/>
                <a:sym typeface="Calibri"/>
              </a:rPr>
              <a:t>import { AuthService } from '../services/auth-service';</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@Component({</a:t>
            </a:r>
          </a:p>
          <a:p>
            <a:r>
              <a:rPr lang="en-US" sz="1200" b="0" i="0" u="none" strike="noStrike" cap="none">
                <a:solidFill>
                  <a:schemeClr val="dk1"/>
                </a:solidFill>
                <a:effectLst/>
                <a:latin typeface="Calibri"/>
                <a:ea typeface="Calibri"/>
                <a:cs typeface="Calibri"/>
                <a:sym typeface="Calibri"/>
              </a:rPr>
              <a:t>  selector: 'app-login-auth-component',</a:t>
            </a:r>
          </a:p>
          <a:p>
            <a:r>
              <a:rPr lang="en-US" sz="1200" b="0" i="0" u="none" strike="noStrike" cap="none">
                <a:solidFill>
                  <a:schemeClr val="dk1"/>
                </a:solidFill>
                <a:effectLst/>
                <a:latin typeface="Calibri"/>
                <a:ea typeface="Calibri"/>
                <a:cs typeface="Calibri"/>
                <a:sym typeface="Calibri"/>
              </a:rPr>
              <a:t>  standalone: false,</a:t>
            </a:r>
          </a:p>
          <a:p>
            <a:r>
              <a:rPr lang="en-US" sz="1200" b="0" i="0" u="none" strike="noStrike" cap="none">
                <a:solidFill>
                  <a:schemeClr val="dk1"/>
                </a:solidFill>
                <a:effectLst/>
                <a:latin typeface="Calibri"/>
                <a:ea typeface="Calibri"/>
                <a:cs typeface="Calibri"/>
                <a:sym typeface="Calibri"/>
              </a:rPr>
              <a:t>  templateUrl: './login-auth-component.html',</a:t>
            </a:r>
          </a:p>
          <a:p>
            <a:r>
              <a:rPr lang="en-US" sz="1200" b="0" i="0" u="none" strike="noStrike" cap="none">
                <a:solidFill>
                  <a:schemeClr val="dk1"/>
                </a:solidFill>
                <a:effectLst/>
                <a:latin typeface="Calibri"/>
                <a:ea typeface="Calibri"/>
                <a:cs typeface="Calibri"/>
                <a:sym typeface="Calibri"/>
              </a:rPr>
              <a:t>  styleUrl: './login-auth-component.css',</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LoginAuthComponent {</a:t>
            </a:r>
          </a:p>
          <a:p>
            <a:r>
              <a:rPr lang="en-US" sz="1200" b="0" i="0" u="none" strike="noStrike" cap="none">
                <a:solidFill>
                  <a:schemeClr val="dk1"/>
                </a:solidFill>
                <a:effectLst/>
                <a:latin typeface="Calibri"/>
                <a:ea typeface="Calibri"/>
                <a:cs typeface="Calibri"/>
                <a:sym typeface="Calibri"/>
              </a:rPr>
              <a:t>  email = signal('');</a:t>
            </a:r>
          </a:p>
          <a:p>
            <a:r>
              <a:rPr lang="en-US" sz="1200" b="0" i="0" u="none" strike="noStrike" cap="none">
                <a:solidFill>
                  <a:schemeClr val="dk1"/>
                </a:solidFill>
                <a:effectLst/>
                <a:latin typeface="Calibri"/>
                <a:ea typeface="Calibri"/>
                <a:cs typeface="Calibri"/>
                <a:sym typeface="Calibri"/>
              </a:rPr>
              <a:t>  password = signal('');</a:t>
            </a:r>
          </a:p>
          <a:p>
            <a:r>
              <a:rPr lang="en-US" sz="1200" b="0" i="0" u="none" strike="noStrike" cap="none">
                <a:solidFill>
                  <a:schemeClr val="dk1"/>
                </a:solidFill>
                <a:effectLst/>
                <a:latin typeface="Calibri"/>
                <a:ea typeface="Calibri"/>
                <a:cs typeface="Calibri"/>
                <a:sym typeface="Calibri"/>
              </a:rPr>
              <a:t>  rememberMe = signal(false);</a:t>
            </a:r>
          </a:p>
          <a:p>
            <a:r>
              <a:rPr lang="en-US" sz="1200" b="0" i="0" u="none" strike="noStrike" cap="none">
                <a:solidFill>
                  <a:schemeClr val="dk1"/>
                </a:solidFill>
                <a:effectLst/>
                <a:latin typeface="Calibri"/>
                <a:ea typeface="Calibri"/>
                <a:cs typeface="Calibri"/>
                <a:sym typeface="Calibri"/>
              </a:rPr>
              <a:t>  message = signal('');</a:t>
            </a:r>
          </a:p>
          <a:p>
            <a:r>
              <a:rPr lang="en-US" sz="1200" b="0" i="0" u="none" strike="noStrike" cap="none">
                <a:solidFill>
                  <a:schemeClr val="dk1"/>
                </a:solidFill>
                <a:effectLst/>
                <a:latin typeface="Calibri"/>
                <a:ea typeface="Calibri"/>
                <a:cs typeface="Calibri"/>
                <a:sym typeface="Calibri"/>
              </a:rPr>
              <a:t>  constructor(private authService: AuthService) {}</a:t>
            </a:r>
          </a:p>
          <a:p>
            <a:r>
              <a:rPr lang="en-US" sz="1200" b="0" i="0" u="none" strike="noStrike" cap="none">
                <a:solidFill>
                  <a:schemeClr val="dk1"/>
                </a:solidFill>
                <a:effectLst/>
                <a:latin typeface="Calibri"/>
                <a:ea typeface="Calibri"/>
                <a:cs typeface="Calibri"/>
                <a:sym typeface="Calibri"/>
              </a:rPr>
              <a:t>  ngOnInit() {</a:t>
            </a:r>
          </a:p>
          <a:p>
            <a:r>
              <a:rPr lang="en-US" sz="1200" b="0" i="0" u="none" strike="noStrike" cap="none">
                <a:solidFill>
                  <a:schemeClr val="dk1"/>
                </a:solidFill>
                <a:effectLst/>
                <a:latin typeface="Calibri"/>
                <a:ea typeface="Calibri"/>
                <a:cs typeface="Calibri"/>
                <a:sym typeface="Calibri"/>
              </a:rPr>
              <a:t>    // Automatically retrieve email from CookieService on page load</a:t>
            </a:r>
          </a:p>
          <a:p>
            <a:r>
              <a:rPr lang="en-US" sz="1200" b="0" i="0" u="none" strike="noStrike" cap="none">
                <a:solidFill>
                  <a:schemeClr val="dk1"/>
                </a:solidFill>
                <a:effectLst/>
                <a:latin typeface="Calibri"/>
                <a:ea typeface="Calibri"/>
                <a:cs typeface="Calibri"/>
                <a:sym typeface="Calibri"/>
              </a:rPr>
              <a:t>    const savedEmail = this.authService.getRememberedEmail();</a:t>
            </a:r>
          </a:p>
          <a:p>
            <a:r>
              <a:rPr lang="en-US" sz="1200" b="0" i="0" u="none" strike="noStrike" cap="none">
                <a:solidFill>
                  <a:schemeClr val="dk1"/>
                </a:solidFill>
                <a:effectLst/>
                <a:latin typeface="Calibri"/>
                <a:ea typeface="Calibri"/>
                <a:cs typeface="Calibri"/>
                <a:sym typeface="Calibri"/>
              </a:rPr>
              <a:t>    if (savedEmail) {</a:t>
            </a:r>
          </a:p>
          <a:p>
            <a:r>
              <a:rPr lang="en-US" sz="1200" b="0" i="0" u="none" strike="noStrike" cap="none">
                <a:solidFill>
                  <a:schemeClr val="dk1"/>
                </a:solidFill>
                <a:effectLst/>
                <a:latin typeface="Calibri"/>
                <a:ea typeface="Calibri"/>
                <a:cs typeface="Calibri"/>
                <a:sym typeface="Calibri"/>
              </a:rPr>
              <a:t>      this.email.set(savedEmail);</a:t>
            </a:r>
          </a:p>
          <a:p>
            <a:r>
              <a:rPr lang="en-US" sz="1200" b="0" i="0" u="none" strike="noStrike" cap="none">
                <a:solidFill>
                  <a:schemeClr val="dk1"/>
                </a:solidFill>
                <a:effectLst/>
                <a:latin typeface="Calibri"/>
                <a:ea typeface="Calibri"/>
                <a:cs typeface="Calibri"/>
                <a:sym typeface="Calibri"/>
              </a:rPr>
              <a:t>      this.rememberMe.set(true); // Pre-check the "Remember Me" box</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onLogin() {</a:t>
            </a:r>
          </a:p>
          <a:p>
            <a:r>
              <a:rPr lang="en-US" sz="1200" b="0" i="0" u="none" strike="noStrike" cap="none">
                <a:solidFill>
                  <a:schemeClr val="dk1"/>
                </a:solidFill>
                <a:effectLst/>
                <a:latin typeface="Calibri"/>
                <a:ea typeface="Calibri"/>
                <a:cs typeface="Calibri"/>
                <a:sym typeface="Calibri"/>
              </a:rPr>
              <a:t>    const payload = {</a:t>
            </a:r>
          </a:p>
          <a:p>
            <a:r>
              <a:rPr lang="en-US" sz="1200" b="0" i="0" u="none" strike="noStrike" cap="none">
                <a:solidFill>
                  <a:schemeClr val="dk1"/>
                </a:solidFill>
                <a:effectLst/>
                <a:latin typeface="Calibri"/>
                <a:ea typeface="Calibri"/>
                <a:cs typeface="Calibri"/>
                <a:sym typeface="Calibri"/>
              </a:rPr>
              <a:t>      username: this.email(),</a:t>
            </a:r>
          </a:p>
          <a:p>
            <a:r>
              <a:rPr lang="en-US" sz="1200" b="0" i="0" u="none" strike="noStrike" cap="none">
                <a:solidFill>
                  <a:schemeClr val="dk1"/>
                </a:solidFill>
                <a:effectLst/>
                <a:latin typeface="Calibri"/>
                <a:ea typeface="Calibri"/>
                <a:cs typeface="Calibri"/>
                <a:sym typeface="Calibri"/>
              </a:rPr>
              <a:t>      password: this.password(),</a:t>
            </a:r>
          </a:p>
          <a:p>
            <a:r>
              <a:rPr lang="en-US" sz="1200" b="0" i="0" u="none" strike="noStrike" cap="none">
                <a:solidFill>
                  <a:schemeClr val="dk1"/>
                </a:solidFill>
                <a:effectLst/>
                <a:latin typeface="Calibri"/>
                <a:ea typeface="Calibri"/>
                <a:cs typeface="Calibri"/>
                <a:sym typeface="Calibri"/>
              </a:rPr>
              <a:t>      rememberMe: this.rememberMe()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this.authService.login(payload).subscribe({</a:t>
            </a:r>
          </a:p>
          <a:p>
            <a:r>
              <a:rPr lang="en-US" sz="1200" b="0" i="0" u="none" strike="noStrike" cap="none">
                <a:solidFill>
                  <a:schemeClr val="dk1"/>
                </a:solidFill>
                <a:effectLst/>
                <a:latin typeface="Calibri"/>
                <a:ea typeface="Calibri"/>
                <a:cs typeface="Calibri"/>
                <a:sym typeface="Calibri"/>
              </a:rPr>
              <a:t>      next: (res) =&gt; {</a:t>
            </a:r>
          </a:p>
          <a:p>
            <a:r>
              <a:rPr lang="en-US" sz="1200" b="0" i="0" u="none" strike="noStrike" cap="none">
                <a:solidFill>
                  <a:schemeClr val="dk1"/>
                </a:solidFill>
                <a:effectLst/>
                <a:latin typeface="Calibri"/>
                <a:ea typeface="Calibri"/>
                <a:cs typeface="Calibri"/>
                <a:sym typeface="Calibri"/>
              </a:rPr>
              <a:t>        this.message.set('Login successful!');</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error: (err) =&gt; {</a:t>
            </a:r>
          </a:p>
          <a:p>
            <a:r>
              <a:rPr lang="en-US" sz="1200" b="0" i="0" u="none" strike="noStrike" cap="none">
                <a:solidFill>
                  <a:schemeClr val="dk1"/>
                </a:solidFill>
                <a:effectLst/>
                <a:latin typeface="Calibri"/>
                <a:ea typeface="Calibri"/>
                <a:cs typeface="Calibri"/>
                <a:sym typeface="Calibri"/>
              </a:rPr>
              <a:t>        this.message.set('Invalid username or password!');</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52C0011-5BDB-2CD6-BC6D-6EF95E9407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55978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EEDC01D-C337-551F-0FF2-5F81691E2AE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0249417-EB84-8B7C-297E-97F38606873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50E84ED-7CD7-BB42-F148-59DAE83DC6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15424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2728A32-5A34-E1FB-394F-383B5B84702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D88437A-FBE5-ED58-4A7B-C4D24133A87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&lt;div class="login-box"&gt;</a:t>
            </a:r>
          </a:p>
          <a:p>
            <a:r>
              <a:rPr lang="en-US" sz="1200" b="0" i="0" u="none" strike="noStrike" cap="none">
                <a:solidFill>
                  <a:schemeClr val="dk1"/>
                </a:solidFill>
                <a:effectLst/>
                <a:latin typeface="Calibri"/>
                <a:ea typeface="Calibri"/>
                <a:cs typeface="Calibri"/>
                <a:sym typeface="Calibri"/>
              </a:rPr>
              <a:t>  &lt;h3&gt;LOGIN SYSTEM&lt;/h3&gt;</a:t>
            </a:r>
          </a:p>
          <a:p>
            <a:r>
              <a:rPr lang="en-US" sz="1200" b="0" i="0" u="none" strike="noStrike" cap="none">
                <a:solidFill>
                  <a:schemeClr val="dk1"/>
                </a:solidFill>
                <a:effectLst/>
                <a:latin typeface="Calibri"/>
                <a:ea typeface="Calibri"/>
                <a:cs typeface="Calibri"/>
                <a:sym typeface="Calibri"/>
              </a:rPr>
              <a:t>  &lt;div class="form-group"&gt;</a:t>
            </a:r>
          </a:p>
          <a:p>
            <a:r>
              <a:rPr lang="en-US" sz="1200" b="0" i="0" u="none" strike="noStrike" cap="none">
                <a:solidFill>
                  <a:schemeClr val="dk1"/>
                </a:solidFill>
                <a:effectLst/>
                <a:latin typeface="Calibri"/>
                <a:ea typeface="Calibri"/>
                <a:cs typeface="Calibri"/>
                <a:sym typeface="Calibri"/>
              </a:rPr>
              <a:t>    &lt;label&gt;Tài khoản:&lt;/label&gt;</a:t>
            </a:r>
          </a:p>
          <a:p>
            <a:r>
              <a:rPr lang="en-US" sz="1200" b="0" i="0" u="none" strike="noStrike" cap="none">
                <a:solidFill>
                  <a:schemeClr val="dk1"/>
                </a:solidFill>
                <a:effectLst/>
                <a:latin typeface="Calibri"/>
                <a:ea typeface="Calibri"/>
                <a:cs typeface="Calibri"/>
                <a:sym typeface="Calibri"/>
              </a:rPr>
              <a:t>    &lt;input type="text"</a:t>
            </a:r>
          </a:p>
          <a:p>
            <a:r>
              <a:rPr lang="en-US" sz="1200" b="0" i="0" u="none" strike="noStrike" cap="none">
                <a:solidFill>
                  <a:schemeClr val="dk1"/>
                </a:solidFill>
                <a:effectLst/>
                <a:latin typeface="Calibri"/>
                <a:ea typeface="Calibri"/>
                <a:cs typeface="Calibri"/>
                <a:sym typeface="Calibri"/>
              </a:rPr>
              <a:t>           [value]="email()"</a:t>
            </a:r>
          </a:p>
          <a:p>
            <a:r>
              <a:rPr lang="en-US" sz="1200" b="0" i="0" u="none" strike="noStrike" cap="none">
                <a:solidFill>
                  <a:schemeClr val="dk1"/>
                </a:solidFill>
                <a:effectLst/>
                <a:latin typeface="Calibri"/>
                <a:ea typeface="Calibri"/>
                <a:cs typeface="Calibri"/>
                <a:sym typeface="Calibri"/>
              </a:rPr>
              <a:t>           (input)="email.set($any($event).target.value)"</a:t>
            </a:r>
          </a:p>
          <a:p>
            <a:r>
              <a:rPr lang="en-US" sz="1200" b="0" i="0" u="none" strike="noStrike" cap="none">
                <a:solidFill>
                  <a:schemeClr val="dk1"/>
                </a:solidFill>
                <a:effectLst/>
                <a:latin typeface="Calibri"/>
                <a:ea typeface="Calibri"/>
                <a:cs typeface="Calibri"/>
                <a:sym typeface="Calibri"/>
              </a:rPr>
              <a:t>           placeholder="Email"&gt;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&lt;div class="form-group"&gt;</a:t>
            </a:r>
          </a:p>
          <a:p>
            <a:r>
              <a:rPr lang="en-US" sz="1200" b="0" i="0" u="none" strike="noStrike" cap="none">
                <a:solidFill>
                  <a:schemeClr val="dk1"/>
                </a:solidFill>
                <a:effectLst/>
                <a:latin typeface="Calibri"/>
                <a:ea typeface="Calibri"/>
                <a:cs typeface="Calibri"/>
                <a:sym typeface="Calibri"/>
              </a:rPr>
              <a:t>    &lt;label&gt;Password:&lt;/label&gt;</a:t>
            </a:r>
          </a:p>
          <a:p>
            <a:r>
              <a:rPr lang="en-US" sz="1200" b="0" i="0" u="none" strike="noStrike" cap="none">
                <a:solidFill>
                  <a:schemeClr val="dk1"/>
                </a:solidFill>
                <a:effectLst/>
                <a:latin typeface="Calibri"/>
                <a:ea typeface="Calibri"/>
                <a:cs typeface="Calibri"/>
                <a:sym typeface="Calibri"/>
              </a:rPr>
              <a:t>    &lt;input type="password"</a:t>
            </a:r>
          </a:p>
          <a:p>
            <a:r>
              <a:rPr lang="en-US" sz="1200" b="0" i="0" u="none" strike="noStrike" cap="none">
                <a:solidFill>
                  <a:schemeClr val="dk1"/>
                </a:solidFill>
                <a:effectLst/>
                <a:latin typeface="Calibri"/>
                <a:ea typeface="Calibri"/>
                <a:cs typeface="Calibri"/>
                <a:sym typeface="Calibri"/>
              </a:rPr>
              <a:t>           [value]="password()"</a:t>
            </a:r>
          </a:p>
          <a:p>
            <a:r>
              <a:rPr lang="en-US" sz="1200" b="0" i="0" u="none" strike="noStrike" cap="none">
                <a:solidFill>
                  <a:schemeClr val="dk1"/>
                </a:solidFill>
                <a:effectLst/>
                <a:latin typeface="Calibri"/>
                <a:ea typeface="Calibri"/>
                <a:cs typeface="Calibri"/>
                <a:sym typeface="Calibri"/>
              </a:rPr>
              <a:t>           (input)="password.set($any($event).target.value)"</a:t>
            </a:r>
          </a:p>
          <a:p>
            <a:r>
              <a:rPr lang="en-US" sz="1200" b="0" i="0" u="none" strike="noStrike" cap="none">
                <a:solidFill>
                  <a:schemeClr val="dk1"/>
                </a:solidFill>
                <a:effectLst/>
                <a:latin typeface="Calibri"/>
                <a:ea typeface="Calibri"/>
                <a:cs typeface="Calibri"/>
                <a:sym typeface="Calibri"/>
              </a:rPr>
              <a:t>           placeholder="Password"&gt;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&lt;div class="form-group"&gt;</a:t>
            </a:r>
          </a:p>
          <a:p>
            <a:r>
              <a:rPr lang="en-US" sz="1200" b="0" i="0" u="none" strike="noStrike" cap="none">
                <a:solidFill>
                  <a:schemeClr val="dk1"/>
                </a:solidFill>
                <a:effectLst/>
                <a:latin typeface="Calibri"/>
                <a:ea typeface="Calibri"/>
                <a:cs typeface="Calibri"/>
                <a:sym typeface="Calibri"/>
              </a:rPr>
              <a:t>    &lt;label&gt;</a:t>
            </a:r>
          </a:p>
          <a:p>
            <a:r>
              <a:rPr lang="en-US" sz="1200" b="0" i="0" u="none" strike="noStrike" cap="none">
                <a:solidFill>
                  <a:schemeClr val="dk1"/>
                </a:solidFill>
                <a:effectLst/>
                <a:latin typeface="Calibri"/>
                <a:ea typeface="Calibri"/>
                <a:cs typeface="Calibri"/>
                <a:sym typeface="Calibri"/>
              </a:rPr>
              <a:t>      &lt;input type="checkbox"</a:t>
            </a:r>
          </a:p>
          <a:p>
            <a:r>
              <a:rPr lang="en-US" sz="1200" b="0" i="0" u="none" strike="noStrike" cap="none">
                <a:solidFill>
                  <a:schemeClr val="dk1"/>
                </a:solidFill>
                <a:effectLst/>
                <a:latin typeface="Calibri"/>
                <a:ea typeface="Calibri"/>
                <a:cs typeface="Calibri"/>
                <a:sym typeface="Calibri"/>
              </a:rPr>
              <a:t>             [checked]="rememberMe()"</a:t>
            </a:r>
          </a:p>
          <a:p>
            <a:r>
              <a:rPr lang="en-US" sz="1200" b="0" i="0" u="none" strike="noStrike" cap="none">
                <a:solidFill>
                  <a:schemeClr val="dk1"/>
                </a:solidFill>
                <a:effectLst/>
                <a:latin typeface="Calibri"/>
                <a:ea typeface="Calibri"/>
                <a:cs typeface="Calibri"/>
                <a:sym typeface="Calibri"/>
              </a:rPr>
              <a:t>             (change)="rememberMe.set(!rememberMe())"&gt;</a:t>
            </a:r>
          </a:p>
          <a:p>
            <a:r>
              <a:rPr lang="en-US" sz="1200" b="0" i="0" u="none" strike="noStrike" cap="none">
                <a:solidFill>
                  <a:schemeClr val="dk1"/>
                </a:solidFill>
                <a:effectLst/>
                <a:latin typeface="Calibri"/>
                <a:ea typeface="Calibri"/>
                <a:cs typeface="Calibri"/>
                <a:sym typeface="Calibri"/>
              </a:rPr>
              <a:t>      Remember me!!!</a:t>
            </a:r>
          </a:p>
          <a:p>
            <a:r>
              <a:rPr lang="en-US" sz="1200" b="0" i="0" u="none" strike="noStrike" cap="none">
                <a:solidFill>
                  <a:schemeClr val="dk1"/>
                </a:solidFill>
                <a:effectLst/>
                <a:latin typeface="Calibri"/>
                <a:ea typeface="Calibri"/>
                <a:cs typeface="Calibri"/>
                <a:sym typeface="Calibri"/>
              </a:rPr>
              <a:t>    &lt;/label&gt;</a:t>
            </a:r>
          </a:p>
          <a:p>
            <a:r>
              <a:rPr lang="en-US" sz="1200" b="0" i="0" u="none" strike="noStrike" cap="none">
                <a:solidFill>
                  <a:schemeClr val="dk1"/>
                </a:solidFill>
                <a:effectLst/>
                <a:latin typeface="Calibri"/>
                <a:ea typeface="Calibri"/>
                <a:cs typeface="Calibri"/>
                <a:sym typeface="Calibri"/>
              </a:rPr>
              <a:t>  &lt;/div&gt;</a:t>
            </a:r>
          </a:p>
          <a:p>
            <a:r>
              <a:rPr lang="en-US" sz="1200" b="0" i="0" u="none" strike="noStrike" cap="none">
                <a:solidFill>
                  <a:schemeClr val="dk1"/>
                </a:solidFill>
                <a:effectLst/>
                <a:latin typeface="Calibri"/>
                <a:ea typeface="Calibri"/>
                <a:cs typeface="Calibri"/>
                <a:sym typeface="Calibri"/>
              </a:rPr>
              <a:t>  &lt;button (click)="onLogin()"&gt;Login&lt;/button&gt;</a:t>
            </a:r>
          </a:p>
          <a:p>
            <a:r>
              <a:rPr lang="en-US" sz="1200" b="0" i="0" u="none" strike="noStrike" cap="none">
                <a:solidFill>
                  <a:schemeClr val="dk1"/>
                </a:solidFill>
                <a:effectLst/>
                <a:latin typeface="Calibri"/>
                <a:ea typeface="Calibri"/>
                <a:cs typeface="Calibri"/>
                <a:sym typeface="Calibri"/>
              </a:rPr>
              <a:t>  @if (message()) {</a:t>
            </a:r>
          </a:p>
          <a:p>
            <a:r>
              <a:rPr lang="en-US" sz="1200" b="0" i="0" u="none" strike="noStrike" cap="none">
                <a:solidFill>
                  <a:schemeClr val="dk1"/>
                </a:solidFill>
                <a:effectLst/>
                <a:latin typeface="Calibri"/>
                <a:ea typeface="Calibri"/>
                <a:cs typeface="Calibri"/>
                <a:sym typeface="Calibri"/>
              </a:rPr>
              <a:t>    &lt;p class="alert"&gt;{{ message() }}&lt;/p&gt;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&lt;/div&gt;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4D212B8-C495-F1DD-CA45-8B1204F123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75623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26D0493-E272-D5F1-50EE-A11889E49F9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88C9545-C2A0-FC6B-C168-B009D996A8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29BD3CB-D291-8ABE-61FF-FF8CBB1179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77634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264732A-18AF-99C1-2251-25115F85CD6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C41E0D3-7336-2B22-15ED-5ADD4645B86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205DA1B-2FF3-58B2-4C39-E7EA46E0FB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4178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0D52C82-868C-4C65-669A-D2A7EFAF3E5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4E4BD0B-6B9B-58AF-6F6B-2C9E6AC0079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6D4EC10-956F-6017-CDEC-12BA134948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26579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8455B23-8601-2BB9-1FC6-1284F8A1808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18F12A4-6094-CA68-D645-92F573EA24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3969054-4D2E-50BB-E4BA-F488F32186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59770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5D24AC6-F1B2-D7F1-5E4A-A5115ADFCC0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7D6501-E43F-D320-05E6-7FC69E91932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B401741-41FE-732D-0EDB-4E79D19EC0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86529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1028F5D-A60B-28FE-43CA-3FA08B5E553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5C4D160-420B-1F65-1779-489738FC82E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09C1AA4-C482-E780-679D-964AB1318E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39639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C2BD554-169F-7426-0E61-1C788860B17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532E296-65FF-4360-E8D7-7ACABF919A2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A2A10B9-DF73-2CBB-368D-0E7745157D6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35143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E581B01-0500-6E01-6931-9A25B4B06A1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F915957-4ACF-A69D-D948-2778820134F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E04C8A5-CDE6-C115-A347-4DE1305E8D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52911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31594A7-F9F0-5AA5-081F-01019997F7F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D035282-95C5-F959-1F12-A2AC6F8BB69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E9C7A35-1C80-745A-B511-F4D722F614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59875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8AAD82E-047B-4DCA-5421-A9970D473CC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ADF50AA-3073-2EFB-65FD-EA65C326B2D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1400721-3BAB-C076-F433-7AC7791A5D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64437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4340ED0-BBFA-D7CA-F906-7CDFA99B596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B269414-409C-0E4D-C6EB-0028B5A027D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A4BCB18-B19B-FE53-8817-F38A398DD9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01447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831671F-9D68-F6E0-0179-99C11BD50D1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8273010-F6F6-8FE8-77A1-67691FD6699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0A2D706-B4F8-0181-E0BD-BCB71DB931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72405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1ECDB6A-FDFF-A6B2-B9FC-5519F2FCD53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76DD8F8-2F07-A2AB-58D6-305AD979E24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5FEF817-DE87-E9BB-ED09-E2E064C1DB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89955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3DFB7D9-E2EA-3827-1655-2D0884603DB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FD92F67-AA86-2E7B-EC25-A560EB74BF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const session = require('express-session');</a:t>
            </a:r>
          </a:p>
          <a:p>
            <a:r>
              <a:rPr lang="en-US" sz="1200" b="0" i="0" u="none" strike="noStrike" cap="none">
                <a:solidFill>
                  <a:schemeClr val="dk1"/>
                </a:solidFill>
                <a:effectLst/>
                <a:latin typeface="Calibri"/>
                <a:ea typeface="Calibri"/>
                <a:cs typeface="Calibri"/>
                <a:sym typeface="Calibri"/>
              </a:rPr>
              <a:t>app.use(session({</a:t>
            </a:r>
          </a:p>
          <a:p>
            <a:r>
              <a:rPr lang="en-US" sz="1200" b="0" i="0" u="none" strike="noStrike" cap="none">
                <a:solidFill>
                  <a:schemeClr val="dk1"/>
                </a:solidFill>
                <a:effectLst/>
                <a:latin typeface="Calibri"/>
                <a:ea typeface="Calibri"/>
                <a:cs typeface="Calibri"/>
                <a:sym typeface="Calibri"/>
              </a:rPr>
              <a:t>    secret: 'fashion-store-secret',</a:t>
            </a:r>
          </a:p>
          <a:p>
            <a:r>
              <a:rPr lang="en-US" sz="1200" b="0" i="0" u="none" strike="noStrike" cap="none">
                <a:solidFill>
                  <a:schemeClr val="dk1"/>
                </a:solidFill>
                <a:effectLst/>
                <a:latin typeface="Calibri"/>
                <a:ea typeface="Calibri"/>
                <a:cs typeface="Calibri"/>
                <a:sym typeface="Calibri"/>
              </a:rPr>
              <a:t>    resave: false,</a:t>
            </a:r>
          </a:p>
          <a:p>
            <a:r>
              <a:rPr lang="en-US" sz="1200" b="0" i="0" u="none" strike="noStrike" cap="none">
                <a:solidFill>
                  <a:schemeClr val="dk1"/>
                </a:solidFill>
                <a:effectLst/>
                <a:latin typeface="Calibri"/>
                <a:ea typeface="Calibri"/>
                <a:cs typeface="Calibri"/>
                <a:sym typeface="Calibri"/>
              </a:rPr>
              <a:t>    saveUninitialized: true,</a:t>
            </a:r>
          </a:p>
          <a:p>
            <a:r>
              <a:rPr lang="en-US" sz="1200" b="0" i="0" u="none" strike="noStrike" cap="none">
                <a:solidFill>
                  <a:schemeClr val="dk1"/>
                </a:solidFill>
                <a:effectLst/>
                <a:latin typeface="Calibri"/>
                <a:ea typeface="Calibri"/>
                <a:cs typeface="Calibri"/>
                <a:sym typeface="Calibri"/>
              </a:rPr>
              <a:t>    cookie: { maxAge: 3600000 } // 1 hour</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E2C3841-1BD9-B0EB-EB5E-3FE35F26CD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94834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49106C4-8AF5-EB3A-BF97-7A4C134972E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F29DFAE-8A5F-1834-9BD8-DB859047021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app.post('/api/login', (req, res) =&gt; {</a:t>
            </a:r>
          </a:p>
          <a:p>
            <a:r>
              <a:rPr lang="en-US" sz="1200" b="0" i="0" u="none" strike="noStrike" cap="none">
                <a:solidFill>
                  <a:schemeClr val="dk1"/>
                </a:solidFill>
                <a:effectLst/>
                <a:latin typeface="Calibri"/>
                <a:ea typeface="Calibri"/>
                <a:cs typeface="Calibri"/>
                <a:sym typeface="Calibri"/>
              </a:rPr>
              <a:t>    // Assume authentication is successful</a:t>
            </a:r>
          </a:p>
          <a:p>
            <a:r>
              <a:rPr lang="en-US" sz="1200" b="0" i="0" u="none" strike="noStrike" cap="none">
                <a:solidFill>
                  <a:schemeClr val="dk1"/>
                </a:solidFill>
                <a:effectLst/>
                <a:latin typeface="Calibri"/>
                <a:ea typeface="Calibri"/>
                <a:cs typeface="Calibri"/>
                <a:sym typeface="Calibri"/>
              </a:rPr>
              <a:t>    // Save user information to Session</a:t>
            </a:r>
          </a:p>
          <a:p>
            <a:r>
              <a:rPr lang="en-US" sz="1200" b="0" i="0" u="none" strike="noStrike" cap="none">
                <a:solidFill>
                  <a:schemeClr val="dk1"/>
                </a:solidFill>
                <a:effectLst/>
                <a:latin typeface="Calibri"/>
                <a:ea typeface="Calibri"/>
                <a:cs typeface="Calibri"/>
                <a:sym typeface="Calibri"/>
              </a:rPr>
              <a:t>    req.session.user = {</a:t>
            </a:r>
          </a:p>
          <a:p>
            <a:r>
              <a:rPr lang="en-US" sz="1200" b="0" i="0" u="none" strike="noStrike" cap="none">
                <a:solidFill>
                  <a:schemeClr val="dk1"/>
                </a:solidFill>
                <a:effectLst/>
                <a:latin typeface="Calibri"/>
                <a:ea typeface="Calibri"/>
                <a:cs typeface="Calibri"/>
                <a:sym typeface="Calibri"/>
              </a:rPr>
              <a:t>        username: req.body.username,</a:t>
            </a:r>
          </a:p>
          <a:p>
            <a:r>
              <a:rPr lang="en-US" sz="1200" b="0" i="0" u="none" strike="noStrike" cap="none">
                <a:solidFill>
                  <a:schemeClr val="dk1"/>
                </a:solidFill>
                <a:effectLst/>
                <a:latin typeface="Calibri"/>
                <a:ea typeface="Calibri"/>
                <a:cs typeface="Calibri"/>
                <a:sym typeface="Calibri"/>
              </a:rPr>
              <a:t>        role: 'admin',</a:t>
            </a:r>
          </a:p>
          <a:p>
            <a:r>
              <a:rPr lang="en-US" sz="1200" b="0" i="0" u="none" strike="noStrike" cap="none">
                <a:solidFill>
                  <a:schemeClr val="dk1"/>
                </a:solidFill>
                <a:effectLst/>
                <a:latin typeface="Calibri"/>
                <a:ea typeface="Calibri"/>
                <a:cs typeface="Calibri"/>
                <a:sym typeface="Calibri"/>
              </a:rPr>
              <a:t>        loginTime: new Date()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res.send("Session has been created!");</a:t>
            </a:r>
          </a:p>
          <a:p>
            <a:r>
              <a:rPr lang="en-US" sz="1200" b="0" i="0" u="none" strike="noStrike" cap="none">
                <a:solidFill>
                  <a:schemeClr val="dk1"/>
                </a:solidFill>
                <a:effectLst/>
                <a:latin typeface="Calibri"/>
                <a:ea typeface="Calibri"/>
                <a:cs typeface="Calibri"/>
                <a:sym typeface="Calibri"/>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891DDE-8C0F-039F-0860-6C8178C3DA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09108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8F3D19A-5501-F5EC-EB6F-9B75CF898A1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98A3539-0531-C534-092C-70E9BCAD0F8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7354DEE-6EC5-9C5A-3F34-7E5A79D9C7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45307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E578A8A-297E-7F88-6B37-4D147E8FB1A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2990DFD-8E62-10DD-083A-AFB9FA7406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app.get('/api/profile', (req, res) =&gt; {</a:t>
            </a:r>
          </a:p>
          <a:p>
            <a:r>
              <a:rPr lang="en-US" sz="1200" b="0" i="0" u="none" strike="noStrike" cap="none">
                <a:solidFill>
                  <a:schemeClr val="dk1"/>
                </a:solidFill>
                <a:effectLst/>
                <a:latin typeface="Calibri"/>
                <a:ea typeface="Calibri"/>
                <a:cs typeface="Calibri"/>
                <a:sym typeface="Calibri"/>
              </a:rPr>
              <a:t>    if (req.session.user) {</a:t>
            </a:r>
          </a:p>
          <a:p>
            <a:r>
              <a:rPr lang="en-US" sz="1200" b="0" i="0" u="none" strike="noStrike" cap="none">
                <a:solidFill>
                  <a:schemeClr val="dk1"/>
                </a:solidFill>
                <a:effectLst/>
                <a:latin typeface="Calibri"/>
                <a:ea typeface="Calibri"/>
                <a:cs typeface="Calibri"/>
                <a:sym typeface="Calibri"/>
              </a:rPr>
              <a:t>        // If Session exists</a:t>
            </a:r>
          </a:p>
          <a:p>
            <a:r>
              <a:rPr lang="en-US" sz="1200" b="0" i="0" u="none" strike="noStrike" cap="none">
                <a:solidFill>
                  <a:schemeClr val="dk1"/>
                </a:solidFill>
                <a:effectLst/>
                <a:latin typeface="Calibri"/>
                <a:ea typeface="Calibri"/>
                <a:cs typeface="Calibri"/>
                <a:sym typeface="Calibri"/>
              </a:rPr>
              <a:t>        res.send(`Welcome back, ${req.session.user.username}`);</a:t>
            </a:r>
          </a:p>
          <a:p>
            <a:r>
              <a:rPr lang="en-US" sz="1200" b="0" i="0" u="none" strike="noStrike" cap="none">
                <a:solidFill>
                  <a:schemeClr val="dk1"/>
                </a:solidFill>
                <a:effectLst/>
                <a:latin typeface="Calibri"/>
                <a:ea typeface="Calibri"/>
                <a:cs typeface="Calibri"/>
                <a:sym typeface="Calibri"/>
              </a:rPr>
              <a:t>    } else {</a:t>
            </a:r>
          </a:p>
          <a:p>
            <a:r>
              <a:rPr lang="en-US" sz="1200" b="0" i="0" u="none" strike="noStrike" cap="none">
                <a:solidFill>
                  <a:schemeClr val="dk1"/>
                </a:solidFill>
                <a:effectLst/>
                <a:latin typeface="Calibri"/>
                <a:ea typeface="Calibri"/>
                <a:cs typeface="Calibri"/>
                <a:sym typeface="Calibri"/>
              </a:rPr>
              <a:t>        // If the session has expired or you are not logged in</a:t>
            </a:r>
          </a:p>
          <a:p>
            <a:r>
              <a:rPr lang="en-US" sz="1200" b="0" i="0" u="none" strike="noStrike" cap="none">
                <a:solidFill>
                  <a:schemeClr val="dk1"/>
                </a:solidFill>
                <a:effectLst/>
                <a:latin typeface="Calibri"/>
                <a:ea typeface="Calibri"/>
                <a:cs typeface="Calibri"/>
                <a:sym typeface="Calibri"/>
              </a:rPr>
              <a:t>        res.status(401).send("Please login first!");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43F1B0E-F043-9CE0-668B-3B26A4FC8C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4211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239A2BE-1153-5584-86A9-A511D0B27BD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4C9D429-1529-DBB9-EF8B-7FCB6FA3A49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B208D30-D2EC-1C83-B91C-12C224964E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416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C9CBDF9-49CA-1097-04A1-34371F38ECB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D670444-8142-7C44-66BD-4B671F83F79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app.post('/api/logout', (req, res) =&gt; {</a:t>
            </a:r>
          </a:p>
          <a:p>
            <a:r>
              <a:rPr lang="en-US" sz="1200" b="0" i="0" u="none" strike="noStrike" cap="none">
                <a:solidFill>
                  <a:schemeClr val="dk1"/>
                </a:solidFill>
                <a:effectLst/>
                <a:latin typeface="Calibri"/>
                <a:ea typeface="Calibri"/>
                <a:cs typeface="Calibri"/>
                <a:sym typeface="Calibri"/>
              </a:rPr>
              <a:t>    req.session.destroy((err) =&gt; {</a:t>
            </a:r>
          </a:p>
          <a:p>
            <a:r>
              <a:rPr lang="en-US" sz="1200" b="0" i="0" u="none" strike="noStrike" cap="none">
                <a:solidFill>
                  <a:schemeClr val="dk1"/>
                </a:solidFill>
                <a:effectLst/>
                <a:latin typeface="Calibri"/>
                <a:ea typeface="Calibri"/>
                <a:cs typeface="Calibri"/>
                <a:sym typeface="Calibri"/>
              </a:rPr>
              <a:t>        if(err) return res.send("Error logging out");</a:t>
            </a:r>
          </a:p>
          <a:p>
            <a:r>
              <a:rPr lang="en-US" sz="1200" b="0" i="0" u="none" strike="noStrike" cap="none">
                <a:solidFill>
                  <a:schemeClr val="dk1"/>
                </a:solidFill>
                <a:effectLst/>
                <a:latin typeface="Calibri"/>
                <a:ea typeface="Calibri"/>
                <a:cs typeface="Calibri"/>
                <a:sym typeface="Calibri"/>
              </a:rPr>
              <a:t>        // Delete the identifying cookie on the client</a:t>
            </a:r>
          </a:p>
          <a:p>
            <a:r>
              <a:rPr lang="en-US" sz="1200" b="0" i="0" u="none" strike="noStrike" cap="none">
                <a:solidFill>
                  <a:schemeClr val="dk1"/>
                </a:solidFill>
                <a:effectLst/>
                <a:latin typeface="Calibri"/>
                <a:ea typeface="Calibri"/>
                <a:cs typeface="Calibri"/>
                <a:sym typeface="Calibri"/>
              </a:rPr>
              <a:t>        res.clearCookie('connect.sid'); </a:t>
            </a:r>
          </a:p>
          <a:p>
            <a:r>
              <a:rPr lang="en-US" sz="1200" b="0" i="0" u="none" strike="noStrike" cap="none">
                <a:solidFill>
                  <a:schemeClr val="dk1"/>
                </a:solidFill>
                <a:effectLst/>
                <a:latin typeface="Calibri"/>
                <a:ea typeface="Calibri"/>
                <a:cs typeface="Calibri"/>
                <a:sym typeface="Calibri"/>
              </a:rPr>
              <a:t>        res.send("Logged out successfully");</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87D7972-98C3-2CF7-7CB1-DB52AFBC62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49169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FC9DB0C-E6EC-71AE-08C8-F5C975729D3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1CF3B59-61A4-8A03-F2BF-8CA8DD73BC2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3AB30A4-93E1-67DA-DB6A-4B271FBBE2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40406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42BE837-0E95-AB17-2195-78182079A8C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44E5E3B-F875-9601-94B8-AAAD1F1055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app.post('/cart/add', (req, res) =&gt; {</a:t>
            </a:r>
          </a:p>
          <a:p>
            <a:r>
              <a:rPr lang="en-US" sz="1200" b="0" i="0" u="none" strike="noStrike" cap="none">
                <a:solidFill>
                  <a:schemeClr val="dk1"/>
                </a:solidFill>
                <a:effectLst/>
                <a:latin typeface="Calibri"/>
                <a:ea typeface="Calibri"/>
                <a:cs typeface="Calibri"/>
                <a:sym typeface="Calibri"/>
              </a:rPr>
              <a:t>    const { fashionId, name, price } = req.body;</a:t>
            </a:r>
          </a:p>
          <a:p>
            <a:r>
              <a:rPr lang="en-US" sz="1200" b="0" i="0" u="none" strike="noStrike" cap="none">
                <a:solidFill>
                  <a:schemeClr val="dk1"/>
                </a:solidFill>
                <a:effectLst/>
                <a:latin typeface="Calibri"/>
                <a:ea typeface="Calibri"/>
                <a:cs typeface="Calibri"/>
                <a:sym typeface="Calibri"/>
              </a:rPr>
              <a:t>    // 1. Create a shopping cart if you don't already have one.</a:t>
            </a:r>
          </a:p>
          <a:p>
            <a:r>
              <a:rPr lang="en-US" sz="1200" b="0" i="0" u="none" strike="noStrike" cap="none">
                <a:solidFill>
                  <a:schemeClr val="dk1"/>
                </a:solidFill>
                <a:effectLst/>
                <a:latin typeface="Calibri"/>
                <a:ea typeface="Calibri"/>
                <a:cs typeface="Calibri"/>
                <a:sym typeface="Calibri"/>
              </a:rPr>
              <a:t>    if (!req.session.cart) {</a:t>
            </a:r>
          </a:p>
          <a:p>
            <a:r>
              <a:rPr lang="en-US" sz="1200" b="0" i="0" u="none" strike="noStrike" cap="none">
                <a:solidFill>
                  <a:schemeClr val="dk1"/>
                </a:solidFill>
                <a:effectLst/>
                <a:latin typeface="Calibri"/>
                <a:ea typeface="Calibri"/>
                <a:cs typeface="Calibri"/>
                <a:sym typeface="Calibri"/>
              </a:rPr>
              <a:t>        req.session.cart =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2. Add products to the session array</a:t>
            </a:r>
          </a:p>
          <a:p>
            <a:r>
              <a:rPr lang="en-US" sz="1200" b="0" i="0" u="none" strike="noStrike" cap="none">
                <a:solidFill>
                  <a:schemeClr val="dk1"/>
                </a:solidFill>
                <a:effectLst/>
                <a:latin typeface="Calibri"/>
                <a:ea typeface="Calibri"/>
                <a:cs typeface="Calibri"/>
                <a:sym typeface="Calibri"/>
              </a:rPr>
              <a:t>    req.session.cart.push({ fashionId, name, price, addedAt: new Date() });</a:t>
            </a:r>
          </a:p>
          <a:p>
            <a:r>
              <a:rPr lang="en-US" sz="1200" b="0" i="0" u="none" strike="noStrike" cap="none">
                <a:solidFill>
                  <a:schemeClr val="dk1"/>
                </a:solidFill>
                <a:effectLst/>
                <a:latin typeface="Calibri"/>
                <a:ea typeface="Calibri"/>
                <a:cs typeface="Calibri"/>
                <a:sym typeface="Calibri"/>
              </a:rPr>
              <a:t>    res.send({ </a:t>
            </a:r>
          </a:p>
          <a:p>
            <a:r>
              <a:rPr lang="en-US" sz="1200" b="0" i="0" u="none" strike="noStrike" cap="none">
                <a:solidFill>
                  <a:schemeClr val="dk1"/>
                </a:solidFill>
                <a:effectLst/>
                <a:latin typeface="Calibri"/>
                <a:ea typeface="Calibri"/>
                <a:cs typeface="Calibri"/>
                <a:sym typeface="Calibri"/>
              </a:rPr>
              <a:t>        message: "Added to temporary cart", </a:t>
            </a:r>
          </a:p>
          <a:p>
            <a:r>
              <a:rPr lang="en-US" sz="1200" b="0" i="0" u="none" strike="noStrike" cap="none">
                <a:solidFill>
                  <a:schemeClr val="dk1"/>
                </a:solidFill>
                <a:effectLst/>
                <a:latin typeface="Calibri"/>
                <a:ea typeface="Calibri"/>
                <a:cs typeface="Calibri"/>
                <a:sym typeface="Calibri"/>
              </a:rPr>
              <a:t>        cartCount: req.session.cart.length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BC2FEB9-A6D2-8479-1C38-F0A225C833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51238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EC56191-490C-857A-4B7E-08C824DF361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A2EAB0E-108C-A082-904F-73F89BAEFF7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app.get('/cart', (req, res) =&gt; {</a:t>
            </a:r>
          </a:p>
          <a:p>
            <a:r>
              <a:rPr lang="en-US" sz="1200" b="0" i="0" u="none" strike="noStrike" cap="none">
                <a:solidFill>
                  <a:schemeClr val="dk1"/>
                </a:solidFill>
                <a:effectLst/>
                <a:latin typeface="Calibri"/>
                <a:ea typeface="Calibri"/>
                <a:cs typeface="Calibri"/>
                <a:sym typeface="Calibri"/>
              </a:rPr>
              <a:t>    // Read data from Session</a:t>
            </a:r>
          </a:p>
          <a:p>
            <a:r>
              <a:rPr lang="en-US" sz="1200" b="0" i="0" u="none" strike="noStrike" cap="none">
                <a:solidFill>
                  <a:schemeClr val="dk1"/>
                </a:solidFill>
                <a:effectLst/>
                <a:latin typeface="Calibri"/>
                <a:ea typeface="Calibri"/>
                <a:cs typeface="Calibri"/>
                <a:sym typeface="Calibri"/>
              </a:rPr>
              <a:t>    const tempCart = req.session.cart || [];</a:t>
            </a:r>
          </a:p>
          <a:p>
            <a:r>
              <a:rPr lang="en-US" sz="1200" b="0" i="0" u="none" strike="noStrike" cap="none">
                <a:solidFill>
                  <a:schemeClr val="dk1"/>
                </a:solidFill>
                <a:effectLst/>
                <a:latin typeface="Calibri"/>
                <a:ea typeface="Calibri"/>
                <a:cs typeface="Calibri"/>
                <a:sym typeface="Calibri"/>
              </a:rPr>
              <a:t>    res.send(tempCart);</a:t>
            </a:r>
          </a:p>
          <a:p>
            <a:r>
              <a:rPr lang="en-US" sz="1200" b="0" i="0" u="none" strike="noStrike" cap="none">
                <a:solidFill>
                  <a:schemeClr val="dk1"/>
                </a:solidFill>
                <a:effectLst/>
                <a:latin typeface="Calibri"/>
                <a:ea typeface="Calibri"/>
                <a:cs typeface="Calibri"/>
                <a:sym typeface="Calibri"/>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06B9F82-1287-3039-EE41-17314868E2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25588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779CEBA-0205-9C93-BA27-EA4764D7AFD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3B9D66F-9808-2BBE-0D56-02C89B109C6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014F978-C92B-B4D2-0457-4A1980CE02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90469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A6115E2-0135-0B43-9279-5CFC20A92D2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6F18E3C-28DC-613D-1B76-AE9E074108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app.post('/cart/checkout', async (req, res) =&gt; {</a:t>
            </a:r>
          </a:p>
          <a:p>
            <a:r>
              <a:rPr lang="en-US" sz="1200" b="0" i="0" u="none" strike="noStrike" cap="none">
                <a:solidFill>
                  <a:schemeClr val="dk1"/>
                </a:solidFill>
                <a:effectLst/>
                <a:latin typeface="Calibri"/>
                <a:ea typeface="Calibri"/>
                <a:cs typeface="Calibri"/>
                <a:sym typeface="Calibri"/>
              </a:rPr>
              <a:t>    // 1. Authentication Check: Ensure the user is logged in</a:t>
            </a:r>
          </a:p>
          <a:p>
            <a:r>
              <a:rPr lang="en-US" sz="1200" b="0" i="0" u="none" strike="noStrike" cap="none">
                <a:solidFill>
                  <a:schemeClr val="dk1"/>
                </a:solidFill>
                <a:effectLst/>
                <a:latin typeface="Calibri"/>
                <a:ea typeface="Calibri"/>
                <a:cs typeface="Calibri"/>
                <a:sym typeface="Calibri"/>
              </a:rPr>
              <a:t>    if (!req.session.user) {</a:t>
            </a:r>
          </a:p>
          <a:p>
            <a:r>
              <a:rPr lang="en-US" sz="1200" b="0" i="0" u="none" strike="noStrike" cap="none">
                <a:solidFill>
                  <a:schemeClr val="dk1"/>
                </a:solidFill>
                <a:effectLst/>
                <a:latin typeface="Calibri"/>
                <a:ea typeface="Calibri"/>
                <a:cs typeface="Calibri"/>
                <a:sym typeface="Calibri"/>
              </a:rPr>
              <a:t>        return res.status(401).send("Please login to checkout!");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2. Session Cart Validation: Check if the cart exists and contains items</a:t>
            </a:r>
          </a:p>
          <a:p>
            <a:r>
              <a:rPr lang="en-US" sz="1200" b="0" i="0" u="none" strike="noStrike" cap="none">
                <a:solidFill>
                  <a:schemeClr val="dk1"/>
                </a:solidFill>
                <a:effectLst/>
                <a:latin typeface="Calibri"/>
                <a:ea typeface="Calibri"/>
                <a:cs typeface="Calibri"/>
                <a:sym typeface="Calibri"/>
              </a:rPr>
              <a:t>    const itemsToBuy = req.session.cart;</a:t>
            </a:r>
          </a:p>
          <a:p>
            <a:r>
              <a:rPr lang="en-US" sz="1200" b="0" i="0" u="none" strike="noStrike" cap="none">
                <a:solidFill>
                  <a:schemeClr val="dk1"/>
                </a:solidFill>
                <a:effectLst/>
                <a:latin typeface="Calibri"/>
                <a:ea typeface="Calibri"/>
                <a:cs typeface="Calibri"/>
                <a:sym typeface="Calibri"/>
              </a:rPr>
              <a:t>    if (!itemsToBuy || itemsToBuy.length === 0) {</a:t>
            </a:r>
          </a:p>
          <a:p>
            <a:r>
              <a:rPr lang="en-US" sz="1200" b="0" i="0" u="none" strike="noStrike" cap="none">
                <a:solidFill>
                  <a:schemeClr val="dk1"/>
                </a:solidFill>
                <a:effectLst/>
                <a:latin typeface="Calibri"/>
                <a:ea typeface="Calibri"/>
                <a:cs typeface="Calibri"/>
                <a:sym typeface="Calibri"/>
              </a:rPr>
              <a:t>        return res.send("Your cart is empty");</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try {</a:t>
            </a:r>
          </a:p>
          <a:p>
            <a:r>
              <a:rPr lang="en-US" sz="1200" b="0" i="0" u="none" strike="noStrike" cap="none">
                <a:solidFill>
                  <a:schemeClr val="dk1"/>
                </a:solidFill>
                <a:effectLst/>
                <a:latin typeface="Calibri"/>
                <a:ea typeface="Calibri"/>
                <a:cs typeface="Calibri"/>
                <a:sym typeface="Calibri"/>
              </a:rPr>
              <a:t>        // 3. Database Collection Access: </a:t>
            </a:r>
          </a:p>
          <a:p>
            <a:r>
              <a:rPr lang="en-US" sz="1200" b="0" i="0" u="none" strike="noStrike" cap="none">
                <a:solidFill>
                  <a:schemeClr val="dk1"/>
                </a:solidFill>
                <a:effectLst/>
                <a:latin typeface="Calibri"/>
                <a:ea typeface="Calibri"/>
                <a:cs typeface="Calibri"/>
                <a:sym typeface="Calibri"/>
              </a:rPr>
              <a:t>        // MongoDB driver automatically creates the collection upon the first insertion</a:t>
            </a:r>
          </a:p>
          <a:p>
            <a:r>
              <a:rPr lang="en-US" sz="1200" b="0" i="0" u="none" strike="noStrike" cap="none">
                <a:solidFill>
                  <a:schemeClr val="dk1"/>
                </a:solidFill>
                <a:effectLst/>
                <a:latin typeface="Calibri"/>
                <a:ea typeface="Calibri"/>
                <a:cs typeface="Calibri"/>
                <a:sym typeface="Calibri"/>
              </a:rPr>
              <a:t>        const OrderCollection = database.collection("Orders");</a:t>
            </a:r>
          </a:p>
          <a:p>
            <a:r>
              <a:rPr lang="en-US" sz="1200" b="0" i="0" u="none" strike="noStrike" cap="none">
                <a:solidFill>
                  <a:schemeClr val="dk1"/>
                </a:solidFill>
                <a:effectLst/>
                <a:latin typeface="Calibri"/>
                <a:ea typeface="Calibri"/>
                <a:cs typeface="Calibri"/>
                <a:sym typeface="Calibri"/>
              </a:rPr>
              <a:t>        // 4. Data Preparation: Create the order document with session data</a:t>
            </a:r>
          </a:p>
          <a:p>
            <a:r>
              <a:rPr lang="en-US" sz="1200" b="0" i="0" u="none" strike="noStrike" cap="none">
                <a:solidFill>
                  <a:schemeClr val="dk1"/>
                </a:solidFill>
                <a:effectLst/>
                <a:latin typeface="Calibri"/>
                <a:ea typeface="Calibri"/>
                <a:cs typeface="Calibri"/>
                <a:sym typeface="Calibri"/>
              </a:rPr>
              <a:t>        const newOrder = {</a:t>
            </a:r>
          </a:p>
          <a:p>
            <a:r>
              <a:rPr lang="en-US" sz="1200" b="0" i="0" u="none" strike="noStrike" cap="none">
                <a:solidFill>
                  <a:schemeClr val="dk1"/>
                </a:solidFill>
                <a:effectLst/>
                <a:latin typeface="Calibri"/>
                <a:ea typeface="Calibri"/>
                <a:cs typeface="Calibri"/>
                <a:sym typeface="Calibri"/>
              </a:rPr>
              <a:t>            userId: req.session.user.id, // Linked to the logged-in user's ID</a:t>
            </a:r>
          </a:p>
          <a:p>
            <a:r>
              <a:rPr lang="en-US" sz="1200" b="0" i="0" u="none" strike="noStrike" cap="none">
                <a:solidFill>
                  <a:schemeClr val="dk1"/>
                </a:solidFill>
                <a:effectLst/>
                <a:latin typeface="Calibri"/>
                <a:ea typeface="Calibri"/>
                <a:cs typeface="Calibri"/>
                <a:sym typeface="Calibri"/>
              </a:rPr>
              <a:t>            items: itemsToBuy,          // Temporary cart data from Session</a:t>
            </a:r>
          </a:p>
          <a:p>
            <a:r>
              <a:rPr lang="en-US" sz="1200" b="0" i="0" u="none" strike="noStrike" cap="none">
                <a:solidFill>
                  <a:schemeClr val="dk1"/>
                </a:solidFill>
                <a:effectLst/>
                <a:latin typeface="Calibri"/>
                <a:ea typeface="Calibri"/>
                <a:cs typeface="Calibri"/>
                <a:sym typeface="Calibri"/>
              </a:rPr>
              <a:t>            totalStatus: 'Pending',      // Default order status</a:t>
            </a:r>
          </a:p>
          <a:p>
            <a:r>
              <a:rPr lang="en-US" sz="1200" b="0" i="0" u="none" strike="noStrike" cap="none">
                <a:solidFill>
                  <a:schemeClr val="dk1"/>
                </a:solidFill>
                <a:effectLst/>
                <a:latin typeface="Calibri"/>
                <a:ea typeface="Calibri"/>
                <a:cs typeface="Calibri"/>
                <a:sym typeface="Calibri"/>
              </a:rPr>
              <a:t>            createdAt: new Date()        // Timestamp of purchase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5. Persistence: Save the order to MongoDB</a:t>
            </a:r>
          </a:p>
          <a:p>
            <a:r>
              <a:rPr lang="en-US" sz="1200" b="0" i="0" u="none" strike="noStrike" cap="none">
                <a:solidFill>
                  <a:schemeClr val="dk1"/>
                </a:solidFill>
                <a:effectLst/>
                <a:latin typeface="Calibri"/>
                <a:ea typeface="Calibri"/>
                <a:cs typeface="Calibri"/>
                <a:sym typeface="Calibri"/>
              </a:rPr>
              <a:t>        await OrderCollection.insertOne(newOrder);</a:t>
            </a:r>
          </a:p>
          <a:p>
            <a:r>
              <a:rPr lang="en-US" sz="1200" b="0" i="0" u="none" strike="noStrike" cap="none">
                <a:solidFill>
                  <a:schemeClr val="dk1"/>
                </a:solidFill>
                <a:effectLst/>
                <a:latin typeface="Calibri"/>
                <a:ea typeface="Calibri"/>
                <a:cs typeface="Calibri"/>
                <a:sym typeface="Calibri"/>
              </a:rPr>
              <a:t>        // 6. Cleanup: Clear the temporary session cart after successful database storage</a:t>
            </a:r>
          </a:p>
          <a:p>
            <a:r>
              <a:rPr lang="en-US" sz="1200" b="0" i="0" u="none" strike="noStrike" cap="none">
                <a:solidFill>
                  <a:schemeClr val="dk1"/>
                </a:solidFill>
                <a:effectLst/>
                <a:latin typeface="Calibri"/>
                <a:ea typeface="Calibri"/>
                <a:cs typeface="Calibri"/>
                <a:sym typeface="Calibri"/>
              </a:rPr>
              <a:t>        req.session.cart = [];         </a:t>
            </a:r>
          </a:p>
          <a:p>
            <a:r>
              <a:rPr lang="en-US" sz="1200" b="0" i="0" u="none" strike="noStrike" cap="none">
                <a:solidFill>
                  <a:schemeClr val="dk1"/>
                </a:solidFill>
                <a:effectLst/>
                <a:latin typeface="Calibri"/>
                <a:ea typeface="Calibri"/>
                <a:cs typeface="Calibri"/>
                <a:sym typeface="Calibri"/>
              </a:rPr>
              <a:t>        // 7. Response: Send success message and order details back to client</a:t>
            </a:r>
          </a:p>
          <a:p>
            <a:r>
              <a:rPr lang="en-US" sz="1200" b="0" i="0" u="none" strike="noStrike" cap="none">
                <a:solidFill>
                  <a:schemeClr val="dk1"/>
                </a:solidFill>
                <a:effectLst/>
                <a:latin typeface="Calibri"/>
                <a:ea typeface="Calibri"/>
                <a:cs typeface="Calibri"/>
                <a:sym typeface="Calibri"/>
              </a:rPr>
              <a:t>        res.status(200).send({ </a:t>
            </a:r>
          </a:p>
          <a:p>
            <a:r>
              <a:rPr lang="en-US" sz="1200" b="0" i="0" u="none" strike="noStrike" cap="none">
                <a:solidFill>
                  <a:schemeClr val="dk1"/>
                </a:solidFill>
                <a:effectLst/>
                <a:latin typeface="Calibri"/>
                <a:ea typeface="Calibri"/>
                <a:cs typeface="Calibri"/>
                <a:sym typeface="Calibri"/>
              </a:rPr>
              <a:t>            message: "Order placed successfully!", </a:t>
            </a:r>
          </a:p>
          <a:p>
            <a:r>
              <a:rPr lang="en-US" sz="1200" b="0" i="0" u="none" strike="noStrike" cap="none">
                <a:solidFill>
                  <a:schemeClr val="dk1"/>
                </a:solidFill>
                <a:effectLst/>
                <a:latin typeface="Calibri"/>
                <a:ea typeface="Calibri"/>
                <a:cs typeface="Calibri"/>
                <a:sym typeface="Calibri"/>
              </a:rPr>
              <a:t>            order: newOrder </a:t>
            </a:r>
          </a:p>
          <a:p>
            <a:r>
              <a:rPr lang="en-US" sz="1200" b="0" i="0" u="none" strike="noStrike" cap="none">
                <a:solidFill>
                  <a:schemeClr val="dk1"/>
                </a:solidFill>
                <a:effectLst/>
                <a:latin typeface="Calibri"/>
                <a:ea typeface="Calibri"/>
                <a:cs typeface="Calibri"/>
                <a:sym typeface="Calibri"/>
              </a:rPr>
              <a:t>        });</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    } catch (error) {</a:t>
            </a:r>
          </a:p>
          <a:p>
            <a:r>
              <a:rPr lang="en-US" sz="1200" b="0" i="0" u="none" strike="noStrike" cap="none">
                <a:solidFill>
                  <a:schemeClr val="dk1"/>
                </a:solidFill>
                <a:effectLst/>
                <a:latin typeface="Calibri"/>
                <a:ea typeface="Calibri"/>
                <a:cs typeface="Calibri"/>
                <a:sym typeface="Calibri"/>
              </a:rPr>
              <a:t>        // 8. Exception Handling: Catch and log database-related errors</a:t>
            </a:r>
          </a:p>
          <a:p>
            <a:r>
              <a:rPr lang="en-US" sz="1200" b="0" i="0" u="none" strike="noStrike" cap="none">
                <a:solidFill>
                  <a:schemeClr val="dk1"/>
                </a:solidFill>
                <a:effectLst/>
                <a:latin typeface="Calibri"/>
                <a:ea typeface="Calibri"/>
                <a:cs typeface="Calibri"/>
                <a:sym typeface="Calibri"/>
              </a:rPr>
              <a:t>        console.error("Checkout Error:", error);</a:t>
            </a:r>
          </a:p>
          <a:p>
            <a:r>
              <a:rPr lang="en-US" sz="1200" b="0" i="0" u="none" strike="noStrike" cap="none">
                <a:solidFill>
                  <a:schemeClr val="dk1"/>
                </a:solidFill>
                <a:effectLst/>
                <a:latin typeface="Calibri"/>
                <a:ea typeface="Calibri"/>
                <a:cs typeface="Calibri"/>
                <a:sym typeface="Calibri"/>
              </a:rPr>
              <a:t>        res.status(500).send("Database error occurred during checkout");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42DEFA1-D30A-6525-26B1-A419463EE1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3365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7" name="Google Shape;17;p10"/>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10"/>
          <p:cNvSpPr txBox="1"/>
          <p:nvPr/>
        </p:nvSpPr>
        <p:spPr>
          <a:xfrm>
            <a:off x="1795462" y="1047420"/>
            <a:ext cx="9144000" cy="778583"/>
          </a:xfrm>
          <a:prstGeom prst="rect">
            <a:avLst/>
          </a:prstGeom>
          <a:noFill/>
          <a:ln>
            <a:noFill/>
          </a:ln>
        </p:spPr>
        <p:txBody>
          <a:bodyPr spcFirstLastPara="1" wrap="square" lIns="91425" tIns="45700" rIns="91425" bIns="45700" anchor="b"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sz="2200" dirty="0">
              <a:latin typeface="Cambria" panose="02040503050406030204" pitchFamily="18" charset="0"/>
              <a:ea typeface="Cambria" panose="02040503050406030204" pitchFamily="18" charset="0"/>
            </a:endParaRPr>
          </a:p>
        </p:txBody>
      </p:sp>
      <p:pic>
        <p:nvPicPr>
          <p:cNvPr id="9" name="Picture 8" descr="A black background with orange and blue letters&#10;&#10;AI-generated content may be incorrect.">
            <a:extLst>
              <a:ext uri="{FF2B5EF4-FFF2-40B4-BE49-F238E27FC236}">
                <a16:creationId xmlns:a16="http://schemas.microsoft.com/office/drawing/2014/main" id="{50547913-6722-D6E7-E44D-4E515D7A8FF4}"/>
              </a:ext>
            </a:extLst>
          </p:cNvPr>
          <p:cNvPicPr>
            <a:picLocks noChangeAspect="1"/>
          </p:cNvPicPr>
          <p:nvPr userDrawn="1"/>
        </p:nvPicPr>
        <p:blipFill>
          <a:blip r:embed="rId3"/>
          <a:stretch>
            <a:fillRect/>
          </a:stretch>
        </p:blipFill>
        <p:spPr>
          <a:xfrm>
            <a:off x="4810125" y="157529"/>
            <a:ext cx="3114675" cy="837297"/>
          </a:xfrm>
          <a:prstGeom prst="rect">
            <a:avLst/>
          </a:prstGeom>
        </p:spPr>
      </p:pic>
      <p:pic>
        <p:nvPicPr>
          <p:cNvPr id="3" name="Picture 2" descr="A building with trees in the background&#10;&#10;AI-generated content may be incorrect.">
            <a:extLst>
              <a:ext uri="{FF2B5EF4-FFF2-40B4-BE49-F238E27FC236}">
                <a16:creationId xmlns:a16="http://schemas.microsoft.com/office/drawing/2014/main" id="{6DB4ADA3-8D58-FD0D-1C18-5213711602FE}"/>
              </a:ext>
            </a:extLst>
          </p:cNvPr>
          <p:cNvPicPr>
            <a:picLocks noChangeAspect="1"/>
          </p:cNvPicPr>
          <p:nvPr userDrawn="1"/>
        </p:nvPicPr>
        <p:blipFill>
          <a:blip r:embed="rId4"/>
          <a:stretch>
            <a:fillRect/>
          </a:stretch>
        </p:blipFill>
        <p:spPr>
          <a:xfrm>
            <a:off x="0" y="3378635"/>
            <a:ext cx="8673016" cy="34793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p:nvPr/>
        </p:nvSpPr>
        <p:spPr>
          <a:xfrm>
            <a:off x="2805445" y="1276338"/>
            <a:ext cx="6410498" cy="68841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dirty="0">
              <a:latin typeface="Cambria" panose="02040503050406030204" pitchFamily="18" charset="0"/>
              <a:ea typeface="Cambria" panose="02040503050406030204" pitchFamily="18" charset="0"/>
            </a:endParaRPr>
          </a:p>
        </p:txBody>
      </p:sp>
      <p:pic>
        <p:nvPicPr>
          <p:cNvPr id="2" name="Picture 1" descr="A black background with orange and blue letters&#10;&#10;AI-generated content may be incorrect.">
            <a:extLst>
              <a:ext uri="{FF2B5EF4-FFF2-40B4-BE49-F238E27FC236}">
                <a16:creationId xmlns:a16="http://schemas.microsoft.com/office/drawing/2014/main" id="{ED53AD9A-C69E-70AE-0C10-4BD9BD469474}"/>
              </a:ext>
            </a:extLst>
          </p:cNvPr>
          <p:cNvPicPr>
            <a:picLocks noChangeAspect="1"/>
          </p:cNvPicPr>
          <p:nvPr userDrawn="1"/>
        </p:nvPicPr>
        <p:blipFill>
          <a:blip r:embed="rId3"/>
          <a:stretch>
            <a:fillRect/>
          </a:stretch>
        </p:blipFill>
        <p:spPr>
          <a:xfrm>
            <a:off x="4810125" y="282112"/>
            <a:ext cx="3114675" cy="837297"/>
          </a:xfrm>
          <a:prstGeom prst="rect">
            <a:avLst/>
          </a:prstGeom>
        </p:spPr>
      </p:pic>
      <p:pic>
        <p:nvPicPr>
          <p:cNvPr id="4" name="Picture 3" descr="A building with many windows&#10;&#10;AI-generated content may be incorrect.">
            <a:extLst>
              <a:ext uri="{FF2B5EF4-FFF2-40B4-BE49-F238E27FC236}">
                <a16:creationId xmlns:a16="http://schemas.microsoft.com/office/drawing/2014/main" id="{EC1E6BDF-4BEB-2008-DF3B-361BBA44A129}"/>
              </a:ext>
            </a:extLst>
          </p:cNvPr>
          <p:cNvPicPr>
            <a:picLocks noChangeAspect="1"/>
          </p:cNvPicPr>
          <p:nvPr userDrawn="1"/>
        </p:nvPicPr>
        <p:blipFill>
          <a:blip r:embed="rId4"/>
          <a:stretch>
            <a:fillRect/>
          </a:stretch>
        </p:blipFill>
        <p:spPr>
          <a:xfrm>
            <a:off x="175386" y="4743155"/>
            <a:ext cx="11841227" cy="211484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6" r:id="rId3"/>
    <p:sldLayoutId id="2147483657"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localhost:4200/login-auth"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hyperlink" Target="http://localhost:4200/fashion-new"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hyperlink" Target="http://localhost:4200/login-auth" TargetMode="External"/><Relationship Id="rId5" Type="http://schemas.openxmlformats.org/officeDocument/2006/relationships/hyperlink" Target="http://localhost:4200/fashion-delete" TargetMode="External"/><Relationship Id="rId4" Type="http://schemas.openxmlformats.org/officeDocument/2006/relationships/hyperlink" Target="http://localhost:4200/fashion-update"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003449" y="2025748"/>
            <a:ext cx="8763000" cy="1512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lnSpc>
                <a:spcPct val="150000"/>
              </a:lnSpc>
              <a:defRPr/>
            </a:pPr>
            <a:r>
              <a:rPr lang="en-US" sz="2800" b="0" kern="0" dirty="0" err="1">
                <a:solidFill>
                  <a:srgbClr val="002060"/>
                </a:solidFill>
                <a:latin typeface="Times New Roman" panose="02020603050405020304" pitchFamily="18" charset="0"/>
                <a:cs typeface="Times New Roman" panose="02020603050405020304" pitchFamily="18" charset="0"/>
              </a:rPr>
              <a:t>Chương</a:t>
            </a:r>
            <a:r>
              <a:rPr lang="en-US" sz="2800" b="0" kern="0">
                <a:solidFill>
                  <a:srgbClr val="002060"/>
                </a:solidFill>
                <a:latin typeface="Times New Roman" panose="02020603050405020304" pitchFamily="18" charset="0"/>
                <a:cs typeface="Times New Roman" panose="02020603050405020304" pitchFamily="18" charset="0"/>
              </a:rPr>
              <a:t> VIII:</a:t>
            </a:r>
            <a:endParaRPr lang="en-US" sz="2800" u="sng" dirty="0">
              <a:solidFill>
                <a:srgbClr val="002060"/>
              </a:solidFill>
              <a:latin typeface="Times New Roman" panose="02020603050405020304" pitchFamily="18" charset="0"/>
              <a:cs typeface="Times New Roman" panose="02020603050405020304" pitchFamily="18" charset="0"/>
            </a:endParaRPr>
          </a:p>
          <a:p>
            <a:pPr>
              <a:lnSpc>
                <a:spcPct val="150000"/>
              </a:lnSpc>
              <a:defRPr/>
            </a:pPr>
            <a:r>
              <a:rPr lang="vi-VN" sz="2800" kern="0" dirty="0">
                <a:solidFill>
                  <a:srgbClr val="002060"/>
                </a:solidFill>
                <a:latin typeface="Times New Roman" panose="02020603050405020304" pitchFamily="18" charset="0"/>
                <a:cs typeface="Times New Roman" panose="02020603050405020304" pitchFamily="18" charset="0"/>
              </a:rPr>
              <a:t>Cookie và Session  </a:t>
            </a:r>
            <a:endParaRPr lang="en-US" sz="2800" kern="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9B20803-11F7-E1E5-2F3E-F97179298A37}"/>
              </a:ext>
            </a:extLst>
          </p:cNvPr>
          <p:cNvSpPr txBox="1"/>
          <p:nvPr/>
        </p:nvSpPr>
        <p:spPr>
          <a:xfrm>
            <a:off x="7720040" y="4262543"/>
            <a:ext cx="3852337" cy="178510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200" u="sng" dirty="0" err="1">
                <a:latin typeface="Times New Roman" panose="02020603050405020304" pitchFamily="18" charset="0"/>
                <a:cs typeface="Times New Roman" panose="02020603050405020304" pitchFamily="18" charset="0"/>
              </a:rPr>
              <a:t>Giảng</a:t>
            </a:r>
            <a:r>
              <a:rPr lang="en-US" sz="2200" u="sng" dirty="0">
                <a:latin typeface="Times New Roman" panose="02020603050405020304" pitchFamily="18" charset="0"/>
                <a:cs typeface="Times New Roman" panose="02020603050405020304" pitchFamily="18" charset="0"/>
              </a:rPr>
              <a:t> </a:t>
            </a:r>
            <a:r>
              <a:rPr lang="en-US" sz="2200" u="sng" dirty="0" err="1">
                <a:latin typeface="Times New Roman" panose="02020603050405020304" pitchFamily="18" charset="0"/>
                <a:cs typeface="Times New Roman" panose="02020603050405020304" pitchFamily="18" charset="0"/>
              </a:rPr>
              <a:t>viên</a:t>
            </a:r>
            <a:r>
              <a:rPr lang="en-US" sz="2200" u="sng" dirty="0">
                <a:latin typeface="Times New Roman" panose="02020603050405020304" pitchFamily="18" charset="0"/>
                <a:cs typeface="Times New Roman" panose="02020603050405020304" pitchFamily="18" charset="0"/>
              </a:rPr>
              <a:t>:</a:t>
            </a:r>
          </a:p>
          <a:p>
            <a:r>
              <a:rPr lang="en-US" sz="2200" b="1" dirty="0">
                <a:solidFill>
                  <a:srgbClr val="002060"/>
                </a:solidFill>
                <a:latin typeface="Times New Roman" panose="02020603050405020304" pitchFamily="18" charset="0"/>
                <a:cs typeface="Times New Roman" panose="02020603050405020304" pitchFamily="18" charset="0"/>
              </a:rPr>
              <a:t>TS. Trần Duy Thanh</a:t>
            </a:r>
          </a:p>
          <a:p>
            <a:r>
              <a:rPr lang="en-US" sz="2200" dirty="0">
                <a:latin typeface="Times New Roman" panose="02020603050405020304" pitchFamily="18" charset="0"/>
                <a:cs typeface="Times New Roman" panose="02020603050405020304" pitchFamily="18" charset="0"/>
              </a:rPr>
              <a:t>Email: </a:t>
            </a:r>
            <a:r>
              <a:rPr lang="en-US" sz="2200" dirty="0">
                <a:latin typeface="Times New Roman" panose="02020603050405020304" pitchFamily="18" charset="0"/>
                <a:cs typeface="Times New Roman" panose="02020603050405020304" pitchFamily="18" charset="0"/>
                <a:hlinkClick r:id="rId3"/>
              </a:rPr>
              <a:t>thanhtd@uel.edu.vn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Phone: 0987773061</a:t>
            </a:r>
          </a:p>
          <a:p>
            <a:r>
              <a:rPr lang="en-US" sz="2200" dirty="0">
                <a:latin typeface="Times New Roman" panose="02020603050405020304" pitchFamily="18" charset="0"/>
                <a:cs typeface="Times New Roman" panose="02020603050405020304" pitchFamily="18" charset="0"/>
              </a:rPr>
              <a:t>Blog: </a:t>
            </a:r>
            <a:r>
              <a:rPr lang="en-US" sz="2200" dirty="0">
                <a:latin typeface="Times New Roman" panose="02020603050405020304" pitchFamily="18" charset="0"/>
                <a:cs typeface="Times New Roman" panose="02020603050405020304" pitchFamily="18" charset="0"/>
                <a:hlinkClick r:id="rId4"/>
              </a:rPr>
              <a:t>https://tranduythanh.com</a:t>
            </a:r>
            <a:r>
              <a:rPr lang="en-US" sz="22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62128" y="261944"/>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của Chương VIII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381000" y="821802"/>
            <a:ext cx="11430000" cy="55038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Font typeface="Wingdings" panose="05000000000000000000" pitchFamily="2" charset="2"/>
              <a:buChar char="v"/>
            </a:pPr>
            <a:r>
              <a:rPr lang="vi-VN" sz="2400" dirty="0">
                <a:latin typeface="Cambria" panose="02040503050406030204" pitchFamily="18" charset="0"/>
              </a:rPr>
              <a:t>Sau khi hoàn tất Chương 8, sinh viên sẽ hiểu rõ bản chất và sự khác biệt giữa </a:t>
            </a:r>
            <a:r>
              <a:rPr lang="vi-VN" sz="2400" b="1" dirty="0">
                <a:latin typeface="Cambria" panose="02040503050406030204" pitchFamily="18" charset="0"/>
              </a:rPr>
              <a:t>Cookie</a:t>
            </a:r>
            <a:r>
              <a:rPr lang="vi-VN" sz="2400" dirty="0">
                <a:latin typeface="Cambria" panose="02040503050406030204" pitchFamily="18" charset="0"/>
              </a:rPr>
              <a:t> và </a:t>
            </a:r>
            <a:r>
              <a:rPr lang="vi-VN" sz="2400" b="1" dirty="0">
                <a:latin typeface="Cambria" panose="02040503050406030204" pitchFamily="18" charset="0"/>
              </a:rPr>
              <a:t>Session</a:t>
            </a:r>
            <a:r>
              <a:rPr lang="vi-VN" sz="2400" dirty="0">
                <a:latin typeface="Cambria" panose="02040503050406030204" pitchFamily="18" charset="0"/>
              </a:rPr>
              <a:t> trong việc quản lý trạng thái người dùng trên môi trường Web vốn có đặc tính không lưu vết (stateless). Sinh viên sẽ làm chủ kỹ năng cấu hình, khởi tạo và truy xuất dữ liệu từ Cookie phía trình duyệt cũng như quản lý phiên làm việc an toàn thông qua Session trên Server.</a:t>
            </a:r>
          </a:p>
          <a:p>
            <a:pPr algn="just">
              <a:lnSpc>
                <a:spcPct val="150000"/>
              </a:lnSpc>
              <a:buFont typeface="Wingdings" panose="05000000000000000000" pitchFamily="2" charset="2"/>
              <a:buChar char="v"/>
            </a:pPr>
            <a:r>
              <a:rPr lang="vi-VN" sz="2400" dirty="0">
                <a:latin typeface="Cambria" panose="02040503050406030204" pitchFamily="18" charset="0"/>
              </a:rPr>
              <a:t>Mục tiêu quan trọng là giúp người học có khả năng ứng dụng phối hợp cả hai cơ chế này để giải quyết các bài toán thực tế như ghi nhớ đăng nhập, lưu trữ giỏ hàng hoặc cá nhân hóa trải nghiệm người dùng. Kết thúc chương, sinh viên đủ năng lực thiết lập hệ thống lưu trữ tạm thời hiệu quả, đảm bảo tính liên tục và bảo mật cơ bản cho ứng dụng Web.</a:t>
            </a:r>
            <a:endParaRPr lang="en-US" sz="2400" dirty="0">
              <a:latin typeface="Cambria" panose="02040503050406030204" pitchFamily="18" charset="0"/>
            </a:endParaRPr>
          </a:p>
        </p:txBody>
      </p:sp>
    </p:spTree>
    <p:extLst>
      <p:ext uri="{BB962C8B-B14F-4D97-AF65-F5344CB8AC3E}">
        <p14:creationId xmlns:p14="http://schemas.microsoft.com/office/powerpoint/2010/main" val="2703459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62279" y="841012"/>
            <a:ext cx="11564547" cy="2241960"/>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8.1. Giới thiệu Cookie</a:t>
            </a:r>
          </a:p>
          <a:p>
            <a:pPr marL="457200" indent="-457200" algn="just">
              <a:lnSpc>
                <a:spcPct val="150000"/>
              </a:lnSpc>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8.2.</a:t>
            </a:r>
            <a:r>
              <a:rPr lang="en-US" sz="2400" b="1" dirty="0">
                <a:latin typeface="Times New Roman" panose="02020603050405020304" pitchFamily="18" charset="0"/>
                <a:cs typeface="Times New Roman" panose="02020603050405020304" pitchFamily="18" charset="0"/>
              </a:rPr>
              <a:t> </a:t>
            </a:r>
            <a:r>
              <a:rPr lang="vi-VN" sz="2400" b="1" dirty="0">
                <a:latin typeface="Times New Roman" panose="02020603050405020304" pitchFamily="18" charset="0"/>
                <a:cs typeface="Times New Roman" panose="02020603050405020304" pitchFamily="18" charset="0"/>
              </a:rPr>
              <a:t>Cách tạo và đọc Cookie</a:t>
            </a:r>
          </a:p>
          <a:p>
            <a:pPr marL="457200" indent="-457200" algn="just">
              <a:lnSpc>
                <a:spcPct val="150000"/>
              </a:lnSpc>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8.3.</a:t>
            </a:r>
            <a:r>
              <a:rPr lang="en-US" sz="2400" b="1" dirty="0">
                <a:latin typeface="Times New Roman" panose="02020603050405020304" pitchFamily="18" charset="0"/>
                <a:cs typeface="Times New Roman" panose="02020603050405020304" pitchFamily="18" charset="0"/>
              </a:rPr>
              <a:t> </a:t>
            </a:r>
            <a:r>
              <a:rPr lang="vi-VN" sz="2400" b="1" dirty="0">
                <a:latin typeface="Times New Roman" panose="02020603050405020304" pitchFamily="18" charset="0"/>
                <a:cs typeface="Times New Roman" panose="02020603050405020304" pitchFamily="18" charset="0"/>
              </a:rPr>
              <a:t>Giới thiệu Session</a:t>
            </a:r>
          </a:p>
          <a:p>
            <a:pPr marL="457200" indent="-457200" algn="just">
              <a:lnSpc>
                <a:spcPct val="150000"/>
              </a:lnSpc>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8.4.</a:t>
            </a:r>
            <a:r>
              <a:rPr lang="en-US" sz="2400" b="1" dirty="0">
                <a:latin typeface="Times New Roman" panose="02020603050405020304" pitchFamily="18" charset="0"/>
                <a:cs typeface="Times New Roman" panose="02020603050405020304" pitchFamily="18" charset="0"/>
              </a:rPr>
              <a:t> </a:t>
            </a:r>
            <a:r>
              <a:rPr lang="vi-VN" sz="2400" b="1" dirty="0">
                <a:latin typeface="Times New Roman" panose="02020603050405020304" pitchFamily="18" charset="0"/>
                <a:cs typeface="Times New Roman" panose="02020603050405020304" pitchFamily="18" charset="0"/>
              </a:rPr>
              <a:t>Cách tạo và </a:t>
            </a:r>
            <a:r>
              <a:rPr lang="vi-VN" sz="2400" b="1">
                <a:latin typeface="Times New Roman" panose="02020603050405020304" pitchFamily="18" charset="0"/>
                <a:cs typeface="Times New Roman" panose="02020603050405020304" pitchFamily="18" charset="0"/>
              </a:rPr>
              <a:t>đọc Sesion</a:t>
            </a:r>
            <a:endParaRPr lang="vi-V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62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E7899B6-EABD-305A-5866-CBF04501974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8153ECE-193F-CCFB-A770-50297C72E8C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A1FF876-F9B6-09B9-389F-6C67B666765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32E16909-BAB3-69BE-41E5-2DF5D6C33DAC}"/>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7C957712-37DD-B6BE-6EB0-6A1FC0B88A38}"/>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8.1. Giới thiệu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A3721CE-0773-0E83-F7BC-F2513F32C35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3B2E72D-ACC3-FD54-06FE-D20A4F45003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114EA06-9B3A-822A-8B99-7BD4A6DB278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C204317-4111-A272-F86C-0CF2BC07B8D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64E3D1F-458E-E43E-B8C4-9B0EE73D61E4}"/>
              </a:ext>
            </a:extLst>
          </p:cNvPr>
          <p:cNvSpPr txBox="1"/>
          <p:nvPr/>
        </p:nvSpPr>
        <p:spPr>
          <a:xfrm>
            <a:off x="462279" y="841012"/>
            <a:ext cx="11414471" cy="556594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8.1.1. Khái niệm:</a:t>
            </a:r>
          </a:p>
          <a:p>
            <a:pPr marL="457200" indent="-4572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Bản chất của giao thức HTTP là </a:t>
            </a:r>
            <a:r>
              <a:rPr lang="vi-VN" sz="2400" b="1">
                <a:latin typeface="Times New Roman" panose="02020603050405020304" pitchFamily="18" charset="0"/>
                <a:cs typeface="Times New Roman" panose="02020603050405020304" pitchFamily="18" charset="0"/>
              </a:rPr>
              <a:t>Stateless</a:t>
            </a:r>
            <a:r>
              <a:rPr lang="vi-VN" sz="2400">
                <a:latin typeface="Times New Roman" panose="02020603050405020304" pitchFamily="18" charset="0"/>
                <a:cs typeface="Times New Roman" panose="02020603050405020304" pitchFamily="18" charset="0"/>
              </a:rPr>
              <a:t> (Không lưu trạng thái). Nghĩa là mỗi lần Client gửi yêu cầu lên, Server đều coi đó là một </a:t>
            </a:r>
            <a:r>
              <a:rPr lang="en-US" sz="2400">
                <a:latin typeface="Times New Roman" panose="02020603050405020304" pitchFamily="18" charset="0"/>
                <a:cs typeface="Times New Roman" panose="02020603050405020304" pitchFamily="18" charset="0"/>
              </a:rPr>
              <a:t>người dùng mới </a:t>
            </a:r>
            <a:r>
              <a:rPr lang="vi-VN" sz="2400">
                <a:latin typeface="Times New Roman" panose="02020603050405020304" pitchFamily="18" charset="0"/>
                <a:cs typeface="Times New Roman" panose="02020603050405020304" pitchFamily="18" charset="0"/>
              </a:rPr>
              <a:t>hoàn toàn. Cookie và Session chính là "bộ nhớ" giúp Server nhận diện người dùng.</a:t>
            </a:r>
            <a:endParaRPr lang="en-US" sz="240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Điều này có nghĩa là mỗi cặp </a:t>
            </a:r>
            <a:r>
              <a:rPr lang="vi-VN" sz="2400" b="1">
                <a:latin typeface="Times New Roman" panose="02020603050405020304" pitchFamily="18" charset="0"/>
                <a:cs typeface="Times New Roman" panose="02020603050405020304" pitchFamily="18" charset="0"/>
              </a:rPr>
              <a:t>Request-Response</a:t>
            </a:r>
            <a:r>
              <a:rPr lang="vi-VN" sz="2400">
                <a:latin typeface="Times New Roman" panose="02020603050405020304" pitchFamily="18" charset="0"/>
                <a:cs typeface="Times New Roman" panose="02020603050405020304" pitchFamily="18" charset="0"/>
              </a:rPr>
              <a:t> giữa Client và Server được xử lý độc lập; Server không có khả năng tự thân nhận diện liệu hai yêu cầu khác nhau có đến từ cùng một người dùng hay không.</a:t>
            </a:r>
            <a:endParaRPr lang="en-US" sz="240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Để giải quyết vấn đề này, cơ chế </a:t>
            </a:r>
            <a:r>
              <a:rPr lang="vi-VN" sz="2400" b="1">
                <a:latin typeface="Times New Roman" panose="02020603050405020304" pitchFamily="18" charset="0"/>
                <a:cs typeface="Times New Roman" panose="02020603050405020304" pitchFamily="18" charset="0"/>
              </a:rPr>
              <a:t>Cookie</a:t>
            </a:r>
            <a:r>
              <a:rPr lang="vi-VN" sz="2400">
                <a:latin typeface="Times New Roman" panose="02020603050405020304" pitchFamily="18" charset="0"/>
                <a:cs typeface="Times New Roman" panose="02020603050405020304" pitchFamily="18" charset="0"/>
              </a:rPr>
              <a:t> đã được giới thiệu (theo đặc tả </a:t>
            </a:r>
            <a:r>
              <a:rPr lang="vi-VN" sz="2400" b="1">
                <a:latin typeface="Times New Roman" panose="02020603050405020304" pitchFamily="18" charset="0"/>
                <a:cs typeface="Times New Roman" panose="02020603050405020304" pitchFamily="18" charset="0"/>
              </a:rPr>
              <a:t>RFC 6265</a:t>
            </a:r>
            <a:r>
              <a:rPr lang="vi-VN" sz="2400">
                <a:latin typeface="Times New Roman" panose="02020603050405020304" pitchFamily="18" charset="0"/>
                <a:cs typeface="Times New Roman" panose="02020603050405020304" pitchFamily="18" charset="0"/>
              </a:rPr>
              <a:t>). Cookie là những tệp dữ liệu văn bản nhỏ (text files) được Server khởi tạo, gửi đến trình duyệt và được lưu trữ trực tiếp tại thiết bị của người dùng (Client-side).</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7169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7C29B69-A7E3-B6AE-AB71-BC0B7C85F2C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4CABA3B-8894-F571-AB8C-E794D401675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E1F5DF8-741A-BC85-A7D5-0D228FD9F69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D4AB04D2-278D-CF92-CE82-2C6B2605C77A}"/>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E64240B3-8366-EDC2-B4AF-F5E74E71A602}"/>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8.1. Giới thiệu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EE30AAB-18E5-16EE-C9B8-5356D6FDB3F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41E2CC8-ADA9-3910-9A09-33E1C1B14AA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97140F5-8300-6EFF-EE9B-A3307E76968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BEFA207-A745-30EE-F1FE-6E32FFFC245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008D2C6-A69F-941C-8AB8-B8768F091909}"/>
              </a:ext>
            </a:extLst>
          </p:cNvPr>
          <p:cNvSpPr txBox="1"/>
          <p:nvPr/>
        </p:nvSpPr>
        <p:spPr>
          <a:xfrm>
            <a:off x="462279" y="841012"/>
            <a:ext cx="11414471" cy="556594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8.1.2. </a:t>
            </a:r>
            <a:r>
              <a:rPr lang="vi-VN" sz="2400" b="1">
                <a:latin typeface="Times New Roman" panose="02020603050405020304" pitchFamily="18" charset="0"/>
                <a:cs typeface="Times New Roman" panose="02020603050405020304" pitchFamily="18" charset="0"/>
              </a:rPr>
              <a:t>Nguyên lý vận hành (Mechanism)</a:t>
            </a:r>
            <a:r>
              <a:rPr lang="en-US" sz="2400" b="1">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Quy trình hoạt động của Cookie trải qua 3 giai đoạn chính:</a:t>
            </a:r>
          </a:p>
          <a:p>
            <a:pPr marL="457200" indent="-457200" algn="just">
              <a:lnSpc>
                <a:spcPct val="150000"/>
              </a:lnSpc>
              <a:buFont typeface="Wingdings" panose="05000000000000000000" pitchFamily="2" charset="2"/>
              <a:buChar char="ü"/>
            </a:pPr>
            <a:r>
              <a:rPr lang="en-US" sz="2400" b="1">
                <a:latin typeface="Times New Roman" panose="02020603050405020304" pitchFamily="18" charset="0"/>
                <a:cs typeface="Times New Roman" panose="02020603050405020304" pitchFamily="18" charset="0"/>
              </a:rPr>
              <a:t>Step 1</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Khởi tạo (</a:t>
            </a:r>
            <a:r>
              <a:rPr lang="vi-VN" sz="2400" b="1">
                <a:latin typeface="Times New Roman" panose="02020603050405020304" pitchFamily="18" charset="0"/>
                <a:cs typeface="Times New Roman" panose="02020603050405020304" pitchFamily="18" charset="0"/>
              </a:rPr>
              <a:t>Identification</a:t>
            </a:r>
            <a:r>
              <a:rPr lang="vi-VN" sz="2400">
                <a:latin typeface="Times New Roman" panose="02020603050405020304" pitchFamily="18" charset="0"/>
                <a:cs typeface="Times New Roman" panose="02020603050405020304" pitchFamily="18" charset="0"/>
              </a:rPr>
              <a:t>): Khi Client gửi yêu cầu tới Server, Server sẽ xử lý và đính kèm tiêu đề (</a:t>
            </a:r>
            <a:r>
              <a:rPr lang="vi-VN" sz="2400" b="1">
                <a:latin typeface="Times New Roman" panose="02020603050405020304" pitchFamily="18" charset="0"/>
                <a:cs typeface="Times New Roman" panose="02020603050405020304" pitchFamily="18" charset="0"/>
              </a:rPr>
              <a:t>Header</a:t>
            </a:r>
            <a:r>
              <a:rPr lang="vi-VN" sz="2400">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Set-Cookie</a:t>
            </a:r>
            <a:r>
              <a:rPr lang="vi-VN" sz="2400">
                <a:latin typeface="Times New Roman" panose="02020603050405020304" pitchFamily="18" charset="0"/>
                <a:cs typeface="Times New Roman" panose="02020603050405020304" pitchFamily="18" charset="0"/>
              </a:rPr>
              <a:t> trong gói tin phản hồi. Tiêu đề này chứa cặp giá trị </a:t>
            </a:r>
            <a:r>
              <a:rPr lang="vi-VN" sz="2400" b="1">
                <a:latin typeface="Times New Roman" panose="02020603050405020304" pitchFamily="18" charset="0"/>
                <a:cs typeface="Times New Roman" panose="02020603050405020304" pitchFamily="18" charset="0"/>
              </a:rPr>
              <a:t>name=value </a:t>
            </a:r>
            <a:r>
              <a:rPr lang="vi-VN" sz="2400">
                <a:latin typeface="Times New Roman" panose="02020603050405020304" pitchFamily="18" charset="0"/>
                <a:cs typeface="Times New Roman" panose="02020603050405020304" pitchFamily="18" charset="0"/>
              </a:rPr>
              <a:t>cùng các thuộc tính đi kèm.</a:t>
            </a:r>
          </a:p>
          <a:p>
            <a:pPr marL="457200" indent="-457200" algn="just">
              <a:lnSpc>
                <a:spcPct val="150000"/>
              </a:lnSpc>
              <a:buFont typeface="Wingdings" panose="05000000000000000000" pitchFamily="2" charset="2"/>
              <a:buChar char="ü"/>
            </a:pPr>
            <a:r>
              <a:rPr lang="en-US" sz="2400" b="1">
                <a:latin typeface="Times New Roman" panose="02020603050405020304" pitchFamily="18" charset="0"/>
                <a:cs typeface="Times New Roman" panose="02020603050405020304" pitchFamily="18" charset="0"/>
              </a:rPr>
              <a:t>Step 2</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Lưu trữ (</a:t>
            </a:r>
            <a:r>
              <a:rPr lang="vi-VN" sz="2400" b="1">
                <a:latin typeface="Times New Roman" panose="02020603050405020304" pitchFamily="18" charset="0"/>
                <a:cs typeface="Times New Roman" panose="02020603050405020304" pitchFamily="18" charset="0"/>
              </a:rPr>
              <a:t>Storage</a:t>
            </a:r>
            <a:r>
              <a:rPr lang="vi-VN" sz="2400">
                <a:latin typeface="Times New Roman" panose="02020603050405020304" pitchFamily="18" charset="0"/>
                <a:cs typeface="Times New Roman" panose="02020603050405020304" pitchFamily="18" charset="0"/>
              </a:rPr>
              <a:t>): Trình duyệt nhận phản hồi, trích xuất dữ liệu từ </a:t>
            </a:r>
            <a:r>
              <a:rPr lang="vi-VN" sz="2400" b="1">
                <a:latin typeface="Times New Roman" panose="02020603050405020304" pitchFamily="18" charset="0"/>
                <a:cs typeface="Times New Roman" panose="02020603050405020304" pitchFamily="18" charset="0"/>
              </a:rPr>
              <a:t>Set-Cookie</a:t>
            </a:r>
            <a:r>
              <a:rPr lang="vi-VN" sz="2400">
                <a:latin typeface="Times New Roman" panose="02020603050405020304" pitchFamily="18" charset="0"/>
                <a:cs typeface="Times New Roman" panose="02020603050405020304" pitchFamily="18" charset="0"/>
              </a:rPr>
              <a:t> và lưu trữ vào bộ nhớ cục bộ của hệ điều hành hoặc trình duyệt.</a:t>
            </a:r>
          </a:p>
          <a:p>
            <a:pPr marL="457200" indent="-457200" algn="just">
              <a:lnSpc>
                <a:spcPct val="150000"/>
              </a:lnSpc>
              <a:buFont typeface="Wingdings" panose="05000000000000000000" pitchFamily="2" charset="2"/>
              <a:buChar char="ü"/>
            </a:pPr>
            <a:r>
              <a:rPr lang="en-US" sz="2400" b="1">
                <a:latin typeface="Times New Roman" panose="02020603050405020304" pitchFamily="18" charset="0"/>
                <a:cs typeface="Times New Roman" panose="02020603050405020304" pitchFamily="18" charset="0"/>
              </a:rPr>
              <a:t>Step 3: </a:t>
            </a:r>
            <a:r>
              <a:rPr lang="vi-VN" sz="2400">
                <a:latin typeface="Times New Roman" panose="02020603050405020304" pitchFamily="18" charset="0"/>
                <a:cs typeface="Times New Roman" panose="02020603050405020304" pitchFamily="18" charset="0"/>
              </a:rPr>
              <a:t>Truy hồi (</a:t>
            </a:r>
            <a:r>
              <a:rPr lang="vi-VN" sz="2400" b="1">
                <a:latin typeface="Times New Roman" panose="02020603050405020304" pitchFamily="18" charset="0"/>
                <a:cs typeface="Times New Roman" panose="02020603050405020304" pitchFamily="18" charset="0"/>
              </a:rPr>
              <a:t>Transmission</a:t>
            </a:r>
            <a:r>
              <a:rPr lang="vi-VN" sz="2400">
                <a:latin typeface="Times New Roman" panose="02020603050405020304" pitchFamily="18" charset="0"/>
                <a:cs typeface="Times New Roman" panose="02020603050405020304" pitchFamily="18" charset="0"/>
              </a:rPr>
              <a:t>): Trong các yêu cầu kế tiếp tới cùng một Domain (tên miền), trình duyệt sẽ tự động đính kèm tiêu đề Cookie chứa dữ liệu đã lưu vào gói tin Request. Server đọc thông tin này để nhận diện và duy trì ngữ cảnh người dùng.</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3414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8D63642-9A86-B674-25DF-9D077BB174B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6128C48-C052-0AF2-7330-E702A8C82A8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972D9A1-D6AD-F1CA-72A8-195D55B4A79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2" name="Group 1">
            <a:extLst>
              <a:ext uri="{FF2B5EF4-FFF2-40B4-BE49-F238E27FC236}">
                <a16:creationId xmlns:a16="http://schemas.microsoft.com/office/drawing/2014/main" id="{B6E01490-03F5-E342-2DD9-E85B72EF4C86}"/>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40F4F235-0E09-6493-8443-0AD460A53D02}"/>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8.1. Giới thiệu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55BAC5A-6D81-FDD6-2F60-24A615C9F52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EED5EDA-4960-5675-224F-C4A268741DC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85869F8-45EC-BEB7-91DC-EEE39905DCB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CE2BB9D-7235-D229-228E-8B6DAB817A4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D16B432-AFE2-3AAB-DCE8-4DD9D1CF16D1}"/>
              </a:ext>
            </a:extLst>
          </p:cNvPr>
          <p:cNvSpPr txBox="1"/>
          <p:nvPr/>
        </p:nvSpPr>
        <p:spPr>
          <a:xfrm>
            <a:off x="462279" y="778877"/>
            <a:ext cx="11414471"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8.1.3. </a:t>
            </a:r>
            <a:r>
              <a:rPr lang="vi-VN" sz="2400" b="1">
                <a:latin typeface="Times New Roman" panose="02020603050405020304" pitchFamily="18" charset="0"/>
                <a:cs typeface="Times New Roman" panose="02020603050405020304" pitchFamily="18" charset="0"/>
              </a:rPr>
              <a:t>Các thuộc tính kỹ thuật của Cookie </a:t>
            </a:r>
            <a:r>
              <a:rPr lang="en-US" sz="2400" b="1">
                <a:latin typeface="Times New Roman" panose="02020603050405020304" pitchFamily="18" charset="0"/>
                <a:cs typeface="Times New Roman" panose="02020603050405020304" pitchFamily="18" charset="0"/>
              </a:rPr>
              <a:t>:</a:t>
            </a:r>
            <a:endParaRPr lang="vi-VN" sz="240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935F2CB6-9ED6-3324-FE0F-3CC0B04D6A4A}"/>
              </a:ext>
            </a:extLst>
          </p:cNvPr>
          <p:cNvSpPr>
            <a:spLocks noChangeArrowheads="1"/>
          </p:cNvSpPr>
          <p:nvPr/>
        </p:nvSpPr>
        <p:spPr bwMode="auto">
          <a:xfrm>
            <a:off x="388797" y="1363483"/>
            <a:ext cx="11487953"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Một Cookie tiêu chuẩn bao gồm các tham số cấu hình quan trọng sau:</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Name=Value: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Cặp khóa - giá trị lưu trữ thông tin thực tế.</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Expires / Max-Age: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Xác định vòng đời của Cookie.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Session Cookie: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Không có thuộc tính này, sẽ mất khi đóng trình duyệt.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Persistent Cookie: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Tồn tại cho đến khi hết hạn hoặc bị xóa thủ công.</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Domain &amp; Path:</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Xác định phạm vi (phạm vi tên miền và đường dẫn thư mục) mà Cookie được phép gửi đi.</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Secure: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Chỉ cho phép truyền tải Cookie qua giao thức bảo mật HTTPS.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HttpOnly:</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Ngăn chặn các kịch bản phía Client (như JavaScript) truy cập vào Cookie, giúp giảm thiểu rủi ro tấn công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XSS (Cross-Site Scripting)</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SameSite: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Kiểm soát việc gửi Cookie trong các yêu cầu đa miền (Cross-site), ngăn chặn tấn công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CSRF (Cross-Site Request Forgery)</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Các giá trị phổ biến bao gồm Strict, Lax, và None.</a:t>
            </a:r>
          </a:p>
        </p:txBody>
      </p:sp>
    </p:spTree>
    <p:extLst>
      <p:ext uri="{BB962C8B-B14F-4D97-AF65-F5344CB8AC3E}">
        <p14:creationId xmlns:p14="http://schemas.microsoft.com/office/powerpoint/2010/main" val="4122706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6452432-96C6-0109-660B-4CD902B3589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CE35C72-D09C-4CED-12C5-BAF994B0927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92B5DDC-2FD6-9992-2439-2132CF80A3A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2" name="Group 1">
            <a:extLst>
              <a:ext uri="{FF2B5EF4-FFF2-40B4-BE49-F238E27FC236}">
                <a16:creationId xmlns:a16="http://schemas.microsoft.com/office/drawing/2014/main" id="{CBBDB361-B37D-0EBE-0B1A-3BE97B5BBBBB}"/>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EC79297C-0099-F406-7258-09097ACB79A3}"/>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8.1. Giới thiệu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87BBD85-D44C-9597-ADB4-65C7E064D72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8ECBB06-74DC-DF98-51E5-B9B1865C4CC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9E6FFC6-09EE-F380-DD99-DFF53C14336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4ED6305-18C1-B484-A76C-2C238EB61ED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C435326-BE5F-F217-5B32-81D4AE75E80F}"/>
              </a:ext>
            </a:extLst>
          </p:cNvPr>
          <p:cNvSpPr txBox="1"/>
          <p:nvPr/>
        </p:nvSpPr>
        <p:spPr>
          <a:xfrm>
            <a:off x="462279" y="778877"/>
            <a:ext cx="11414471"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8.1.4. </a:t>
            </a:r>
            <a:r>
              <a:rPr lang="vi-VN" sz="2400" b="1">
                <a:latin typeface="Times New Roman" panose="02020603050405020304" pitchFamily="18" charset="0"/>
                <a:cs typeface="Times New Roman" panose="02020603050405020304" pitchFamily="18" charset="0"/>
              </a:rPr>
              <a:t>Phân loại Cookie (Classification)</a:t>
            </a:r>
            <a:r>
              <a:rPr lang="en-US" sz="2400" b="1">
                <a:latin typeface="Times New Roman" panose="02020603050405020304" pitchFamily="18" charset="0"/>
                <a:cs typeface="Times New Roman" panose="02020603050405020304" pitchFamily="18" charset="0"/>
              </a:rPr>
              <a:t>:</a:t>
            </a:r>
            <a:endParaRPr lang="vi-VN"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F02CF0A-4BA2-F44C-FD0A-BFFABE66A45B}"/>
              </a:ext>
            </a:extLst>
          </p:cNvPr>
          <p:cNvSpPr txBox="1"/>
          <p:nvPr/>
        </p:nvSpPr>
        <p:spPr>
          <a:xfrm>
            <a:off x="564685" y="1326642"/>
            <a:ext cx="11165035" cy="3349956"/>
          </a:xfrm>
          <a:prstGeom prst="rect">
            <a:avLst/>
          </a:prstGeom>
          <a:noFill/>
        </p:spPr>
        <p:txBody>
          <a:bodyPr wrap="square">
            <a:spAutoFit/>
          </a:bodyPr>
          <a:lstStyle/>
          <a:p>
            <a:pPr algn="just">
              <a:lnSpc>
                <a:spcPct val="150000"/>
              </a:lnSpc>
              <a:buNone/>
            </a:pPr>
            <a:r>
              <a:rPr lang="vi-VN" sz="2400">
                <a:latin typeface="Times New Roman" panose="02020603050405020304" pitchFamily="18" charset="0"/>
                <a:cs typeface="Times New Roman" panose="02020603050405020304" pitchFamily="18" charset="0"/>
              </a:rPr>
              <a:t>Dựa trên mục đích và nguồn gốc, Cookie được chia làm hai loại chính:</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First-party Cookie:</a:t>
            </a:r>
            <a:r>
              <a:rPr lang="vi-VN" sz="2400">
                <a:latin typeface="Times New Roman" panose="02020603050405020304" pitchFamily="18" charset="0"/>
                <a:cs typeface="Times New Roman" panose="02020603050405020304" pitchFamily="18" charset="0"/>
              </a:rPr>
              <a:t> Do chính trang web mà người dùng đang truy cập tạo ra. Dùng để duy trì phiên đăng nhập, giỏ hàng hoặc tùy chọn giao diện.</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Third-party Cookie:</a:t>
            </a:r>
            <a:r>
              <a:rPr lang="vi-VN" sz="2400">
                <a:latin typeface="Times New Roman" panose="02020603050405020304" pitchFamily="18" charset="0"/>
                <a:cs typeface="Times New Roman" panose="02020603050405020304" pitchFamily="18" charset="0"/>
              </a:rPr>
              <a:t> Do các tên miền khác (thường là các dịch vụ quảng cáo hoặc theo dõi) tạo ra thông qua các script nhúng trên trang hiện tại. Dùng để xây dựng hồ sơ hành vi người dùng trên nhiều website khác nhau.</a:t>
            </a:r>
          </a:p>
        </p:txBody>
      </p:sp>
    </p:spTree>
    <p:extLst>
      <p:ext uri="{BB962C8B-B14F-4D97-AF65-F5344CB8AC3E}">
        <p14:creationId xmlns:p14="http://schemas.microsoft.com/office/powerpoint/2010/main" val="2221105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CE37756-5C69-AF90-5EFA-35FA32521F5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5226728-8D20-2C86-782D-1A0D56A1A92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FDCCAF2-1A53-2B0C-A246-728542DDCD7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2" name="Group 1">
            <a:extLst>
              <a:ext uri="{FF2B5EF4-FFF2-40B4-BE49-F238E27FC236}">
                <a16:creationId xmlns:a16="http://schemas.microsoft.com/office/drawing/2014/main" id="{D00404DC-C858-9E8A-F601-0B55B2568D19}"/>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D4BADBC5-C6F0-C23E-204F-427B62AE6495}"/>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8.1. Giới thiệu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04C5948-1934-7940-B101-190BD479F4D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DD7D0F3-67DB-ADA2-E8E0-E51F47057E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41AB9C7-687A-94A2-865B-79811277268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276ED6C-6977-E0AC-933F-6A42A08C2E1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7F60F1D-D210-2FA2-AB0B-F201C238F36C}"/>
              </a:ext>
            </a:extLst>
          </p:cNvPr>
          <p:cNvSpPr txBox="1"/>
          <p:nvPr/>
        </p:nvSpPr>
        <p:spPr>
          <a:xfrm>
            <a:off x="462279" y="778877"/>
            <a:ext cx="11414471"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8.1.5. </a:t>
            </a:r>
            <a:r>
              <a:rPr lang="vi-VN" sz="2400" b="1">
                <a:latin typeface="Times New Roman" panose="02020603050405020304" pitchFamily="18" charset="0"/>
                <a:cs typeface="Times New Roman" panose="02020603050405020304" pitchFamily="18" charset="0"/>
              </a:rPr>
              <a:t>Ứng dụng thực tiễn </a:t>
            </a:r>
            <a:r>
              <a:rPr lang="en-US" sz="2400" b="1">
                <a:latin typeface="Times New Roman" panose="02020603050405020304" pitchFamily="18" charset="0"/>
                <a:cs typeface="Times New Roman" panose="02020603050405020304" pitchFamily="18" charset="0"/>
              </a:rPr>
              <a:t>(Applications):</a:t>
            </a:r>
            <a:endParaRPr lang="vi-VN" sz="2400">
              <a:latin typeface="Times New Roman" panose="02020603050405020304" pitchFamily="18" charset="0"/>
              <a:cs typeface="Times New Roman" panose="02020603050405020304" pitchFamily="18" charset="0"/>
            </a:endParaRPr>
          </a:p>
        </p:txBody>
      </p:sp>
      <p:sp>
        <p:nvSpPr>
          <p:cNvPr id="12" name="Rectangle 1">
            <a:extLst>
              <a:ext uri="{FF2B5EF4-FFF2-40B4-BE49-F238E27FC236}">
                <a16:creationId xmlns:a16="http://schemas.microsoft.com/office/drawing/2014/main" id="{0A9630B2-478A-9A6A-559B-5817EF5744DB}"/>
              </a:ext>
            </a:extLst>
          </p:cNvPr>
          <p:cNvSpPr>
            <a:spLocks noChangeArrowheads="1"/>
          </p:cNvSpPr>
          <p:nvPr/>
        </p:nvSpPr>
        <p:spPr bwMode="auto">
          <a:xfrm>
            <a:off x="388797" y="1410702"/>
            <a:ext cx="11595610"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Trong phát triển ứng dụng Web hiện đại, Cookie đóng vai trò trọng yếu trong:</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Quản lý phiên (Session Management):</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Lưu trữ Session ID để liên kết trình duyệt với dữ liệu phiên làm việc trên Server.</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Cá nhân hóa (Personalization):</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Lưu trữ tùy chọn ngôn ngữ, chủ đề (Dark/Light mode), hoặc cấu hình bộ lọc của người dùng.</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Theo dõi (Tracking):</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Phân tích luồng hành vi của người dùng để cải thiện trải nghiệm hoặc thực hiện tiếp thị hướng đối tượng.</a:t>
            </a:r>
          </a:p>
        </p:txBody>
      </p:sp>
    </p:spTree>
    <p:extLst>
      <p:ext uri="{BB962C8B-B14F-4D97-AF65-F5344CB8AC3E}">
        <p14:creationId xmlns:p14="http://schemas.microsoft.com/office/powerpoint/2010/main" val="3897963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F548373-4ED0-D894-4462-94EC07A3E75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EFF0E3C-60BC-8ADB-B564-A0D18B5BACD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71312E9-B95C-3416-9C25-5E51FD1A5AC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2" name="Group 1">
            <a:extLst>
              <a:ext uri="{FF2B5EF4-FFF2-40B4-BE49-F238E27FC236}">
                <a16:creationId xmlns:a16="http://schemas.microsoft.com/office/drawing/2014/main" id="{BE00ABD3-AF2C-A0FF-458D-9610A0682126}"/>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DEE101D8-9A15-DC38-5CBE-909B7BA4454F}"/>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8.1. Giới thiệu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99DB1DD-2AF3-2938-71D2-DB12747CC72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D0DCC46-371B-2343-1AB5-46FE6121129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BC1100E-BA3C-662A-A62D-9AAE0D803BF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90D90C7-1A76-953F-A16E-C471A7A248C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2DED095-BF2F-08DB-FC0C-36B13D9653A2}"/>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8</a:t>
            </a:r>
            <a:r>
              <a:rPr lang="en-US" sz="2400" b="1">
                <a:latin typeface="Times New Roman" panose="02020603050405020304" pitchFamily="18" charset="0"/>
                <a:cs typeface="Times New Roman" panose="02020603050405020304" pitchFamily="18" charset="0"/>
              </a:rPr>
              <a:t>.1.6</a:t>
            </a:r>
            <a:r>
              <a:rPr lang="vi-VN" sz="2400" b="1">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Hạn chế và Thách thức (Constraints)</a:t>
            </a:r>
            <a:endParaRPr lang="vi-VN" sz="2400" b="1"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9B004DD9-6240-07A2-DAA3-0F8DC1E96383}"/>
              </a:ext>
            </a:extLst>
          </p:cNvPr>
          <p:cNvSpPr>
            <a:spLocks noChangeArrowheads="1"/>
          </p:cNvSpPr>
          <p:nvPr/>
        </p:nvSpPr>
        <p:spPr bwMode="auto">
          <a:xfrm>
            <a:off x="624438" y="1354535"/>
            <a:ext cx="11240228" cy="22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Dung lượng:</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Giới hạn khoảng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4KB</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cho mỗi Cookie.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Số lượng:</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Hầu hết trình duyệt giới hạn khoảng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20-50 Cookie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trên mỗi tên miền.</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Bảo mật:</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Do lưu trữ tại Client, Cookie dễ bị can thiệp hoặc đánh cắp nếu không được cấu hình các thuộc tính bảo mật (HttpOnly, Secure) một cách chặt chẽ.</a:t>
            </a:r>
          </a:p>
        </p:txBody>
      </p:sp>
    </p:spTree>
    <p:extLst>
      <p:ext uri="{BB962C8B-B14F-4D97-AF65-F5344CB8AC3E}">
        <p14:creationId xmlns:p14="http://schemas.microsoft.com/office/powerpoint/2010/main" val="416101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3C78632-9958-70D0-FE8E-DA0B880100A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C55B981-7BD0-770A-4CFA-A0F0F0CA9AB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8AE3A5C-49A1-0E9F-D1CE-3EB934ECDB7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 name="Group 1">
            <a:extLst>
              <a:ext uri="{FF2B5EF4-FFF2-40B4-BE49-F238E27FC236}">
                <a16:creationId xmlns:a16="http://schemas.microsoft.com/office/drawing/2014/main" id="{3F7A23FE-EAC6-9F46-46FA-019161EBEFA4}"/>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48D0A46E-9A72-35FC-3F9D-8489A47F6480}"/>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99401E4-F72B-902E-408B-0F63E856888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EA2C4A4-11C2-F2E8-B670-2D04B5EF976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61969FB-E39A-5A69-8AD5-B524470DEBD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395A867-2373-E609-D621-D2DFE122C39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4" name="TextBox 13">
            <a:extLst>
              <a:ext uri="{FF2B5EF4-FFF2-40B4-BE49-F238E27FC236}">
                <a16:creationId xmlns:a16="http://schemas.microsoft.com/office/drawing/2014/main" id="{71C79726-AA10-6F8F-F174-EE6E9A0CA4CE}"/>
              </a:ext>
            </a:extLst>
          </p:cNvPr>
          <p:cNvSpPr txBox="1"/>
          <p:nvPr/>
        </p:nvSpPr>
        <p:spPr>
          <a:xfrm>
            <a:off x="542786" y="841012"/>
            <a:ext cx="11277376" cy="3349956"/>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Trong </a:t>
            </a:r>
            <a:r>
              <a:rPr lang="en-US" sz="2400">
                <a:latin typeface="Times New Roman" panose="02020603050405020304" pitchFamily="18" charset="0"/>
                <a:cs typeface="Times New Roman" panose="02020603050405020304" pitchFamily="18" charset="0"/>
              </a:rPr>
              <a:t>Angular và NodeJS</a:t>
            </a:r>
            <a:r>
              <a:rPr lang="vi-VN" sz="2400">
                <a:latin typeface="Times New Roman" panose="02020603050405020304" pitchFamily="18" charset="0"/>
                <a:cs typeface="Times New Roman" panose="02020603050405020304" pitchFamily="18" charset="0"/>
              </a:rPr>
              <a:t>, việc quản lý Cookie diễn ra ở cả hai phía, nhưng </a:t>
            </a:r>
            <a:r>
              <a:rPr lang="vi-VN" sz="2400" b="1">
                <a:latin typeface="Times New Roman" panose="02020603050405020304" pitchFamily="18" charset="0"/>
                <a:cs typeface="Times New Roman" panose="02020603050405020304" pitchFamily="18" charset="0"/>
              </a:rPr>
              <a:t>Server (NodeJS)</a:t>
            </a:r>
            <a:r>
              <a:rPr lang="vi-VN" sz="2400">
                <a:latin typeface="Times New Roman" panose="02020603050405020304" pitchFamily="18" charset="0"/>
                <a:cs typeface="Times New Roman" panose="02020603050405020304" pitchFamily="18" charset="0"/>
              </a:rPr>
              <a:t> đóng vai trò chủ đạo trong việc ra lệnh lưu trữ (ghi) và </a:t>
            </a:r>
            <a:r>
              <a:rPr lang="vi-VN" sz="2400" b="1">
                <a:latin typeface="Times New Roman" panose="02020603050405020304" pitchFamily="18" charset="0"/>
                <a:cs typeface="Times New Roman" panose="02020603050405020304" pitchFamily="18" charset="0"/>
              </a:rPr>
              <a:t>Trình duyệt</a:t>
            </a:r>
            <a:r>
              <a:rPr lang="vi-VN" sz="2400">
                <a:latin typeface="Times New Roman" panose="02020603050405020304" pitchFamily="18" charset="0"/>
                <a:cs typeface="Times New Roman" panose="02020603050405020304" pitchFamily="18" charset="0"/>
              </a:rPr>
              <a:t> đóng vai trò tự động hóa (gửi).</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Tại Server:</a:t>
            </a:r>
            <a:r>
              <a:rPr lang="vi-VN" sz="2400">
                <a:latin typeface="Times New Roman" panose="02020603050405020304" pitchFamily="18" charset="0"/>
                <a:cs typeface="Times New Roman" panose="02020603050405020304" pitchFamily="18" charset="0"/>
              </a:rPr>
              <a:t> Sử dụng tiêu đề Set-Cookie trong HTTP Response.</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Tại Client (Angular):</a:t>
            </a:r>
            <a:r>
              <a:rPr lang="vi-VN" sz="2400">
                <a:latin typeface="Times New Roman" panose="02020603050405020304" pitchFamily="18" charset="0"/>
                <a:cs typeface="Times New Roman" panose="02020603050405020304" pitchFamily="18" charset="0"/>
              </a:rPr>
              <a:t> Tự động lưu trữ và đính kèm vào tiêu đề Cookie trong mọi Request kế tiếp (nếu được cấu hình withCredentials).</a:t>
            </a:r>
          </a:p>
        </p:txBody>
      </p:sp>
    </p:spTree>
    <p:extLst>
      <p:ext uri="{BB962C8B-B14F-4D97-AF65-F5344CB8AC3E}">
        <p14:creationId xmlns:p14="http://schemas.microsoft.com/office/powerpoint/2010/main" val="3877796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3BA789E-F96F-D734-9C0F-78FC60EDA24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5D0D1CB-F615-20E0-F2D5-8CAC4B7DCB2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81C3571-4022-AC9C-6A6E-B4ABF9C06BD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 name="Group 1">
            <a:extLst>
              <a:ext uri="{FF2B5EF4-FFF2-40B4-BE49-F238E27FC236}">
                <a16:creationId xmlns:a16="http://schemas.microsoft.com/office/drawing/2014/main" id="{E74DC7D0-409E-D3D2-FCFA-D4DBCD5271B1}"/>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7118F14D-5783-D1F7-514C-AF644A03A444}"/>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9497D08-4A1E-F12B-5C06-77713AAF583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026DD88-F2D0-43B0-D9AD-28D2D2CB6BC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3869F74-F7EF-B774-9793-1F9C703F16E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5786A38-AFB9-C888-1EFE-57CFFB991CA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95BCE65-77D1-273E-3D86-22E855D3A34F}"/>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1: Bổ sung collection User, và nhập mẫu dữ liệu</a:t>
            </a:r>
            <a:endParaRPr lang="en-US" sz="2400" b="1" kern="0">
              <a:solidFill>
                <a:srgbClr val="000000"/>
              </a:solidFill>
              <a:latin typeface="Cambria" panose="02040503050406030204" pitchFamily="18" charset="0"/>
            </a:endParaRPr>
          </a:p>
        </p:txBody>
      </p:sp>
      <p:pic>
        <p:nvPicPr>
          <p:cNvPr id="12" name="Picture 11">
            <a:extLst>
              <a:ext uri="{FF2B5EF4-FFF2-40B4-BE49-F238E27FC236}">
                <a16:creationId xmlns:a16="http://schemas.microsoft.com/office/drawing/2014/main" id="{1B9109BE-BB7E-85F9-4473-14D0100D51D0}"/>
              </a:ext>
            </a:extLst>
          </p:cNvPr>
          <p:cNvPicPr>
            <a:picLocks noChangeAspect="1"/>
          </p:cNvPicPr>
          <p:nvPr/>
        </p:nvPicPr>
        <p:blipFill>
          <a:blip r:embed="rId3"/>
          <a:stretch>
            <a:fillRect/>
          </a:stretch>
        </p:blipFill>
        <p:spPr>
          <a:xfrm>
            <a:off x="542786" y="1406614"/>
            <a:ext cx="9838273" cy="3917019"/>
          </a:xfrm>
          <a:prstGeom prst="rect">
            <a:avLst/>
          </a:prstGeom>
        </p:spPr>
      </p:pic>
    </p:spTree>
    <p:extLst>
      <p:ext uri="{BB962C8B-B14F-4D97-AF65-F5344CB8AC3E}">
        <p14:creationId xmlns:p14="http://schemas.microsoft.com/office/powerpoint/2010/main" val="688752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10D8973-A648-E69F-A8EA-6323FBF6865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6E5BD01-A24A-1C13-CCEE-5307E9895DE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594A5D0-AE79-505C-1A33-0971D5B8230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 name="Group 1">
            <a:extLst>
              <a:ext uri="{FF2B5EF4-FFF2-40B4-BE49-F238E27FC236}">
                <a16:creationId xmlns:a16="http://schemas.microsoft.com/office/drawing/2014/main" id="{3EDA6E17-6FC4-7116-0324-00BDE03F5E18}"/>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88DC9BD7-8DA6-8FAA-02B6-02DD0C89D2D9}"/>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5E8D7D9-E02F-430C-B89E-7486592A642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1D6D127-D609-418C-F15E-3AE4AEE8DC2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3D42263-3C6F-219E-C405-00045C8F65F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737CD46-AD53-F193-E899-990D4C23504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0F0AC40-D186-615A-4BAA-87075ECEF5F2}"/>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2: </a:t>
            </a:r>
            <a:r>
              <a:rPr lang="en-US" sz="2400">
                <a:latin typeface="Times New Roman" panose="02020603050405020304" pitchFamily="18" charset="0"/>
                <a:cs typeface="Times New Roman" panose="02020603050405020304" pitchFamily="18" charset="0"/>
              </a:rPr>
              <a:t>Trong</a:t>
            </a:r>
            <a:r>
              <a:rPr lang="en-US" sz="2400" b="1">
                <a:latin typeface="Times New Roman" panose="02020603050405020304" pitchFamily="18" charset="0"/>
                <a:cs typeface="Times New Roman" panose="02020603050405020304" pitchFamily="18" charset="0"/>
              </a:rPr>
              <a:t> “my-server-mongodb”</a:t>
            </a:r>
            <a:r>
              <a:rPr lang="en-US" sz="2400">
                <a:latin typeface="Times New Roman" panose="02020603050405020304" pitchFamily="18" charset="0"/>
                <a:cs typeface="Times New Roman" panose="02020603050405020304" pitchFamily="18" charset="0"/>
              </a:rPr>
              <a:t> cài đặt cookie-parser nếu chưa cài</a:t>
            </a:r>
            <a:endParaRPr lang="en-US" sz="2400" kern="0">
              <a:solidFill>
                <a:srgbClr val="000000"/>
              </a:solidFill>
              <a:latin typeface="Cambria" panose="02040503050406030204" pitchFamily="18" charset="0"/>
            </a:endParaRPr>
          </a:p>
        </p:txBody>
      </p:sp>
      <p:sp>
        <p:nvSpPr>
          <p:cNvPr id="10" name="TextBox 9">
            <a:extLst>
              <a:ext uri="{FF2B5EF4-FFF2-40B4-BE49-F238E27FC236}">
                <a16:creationId xmlns:a16="http://schemas.microsoft.com/office/drawing/2014/main" id="{9D8615C7-F942-9B8A-8BF0-8F21B5DBAEBC}"/>
              </a:ext>
            </a:extLst>
          </p:cNvPr>
          <p:cNvSpPr txBox="1"/>
          <p:nvPr/>
        </p:nvSpPr>
        <p:spPr>
          <a:xfrm>
            <a:off x="2538133" y="1268699"/>
            <a:ext cx="6297930" cy="461665"/>
          </a:xfrm>
          <a:prstGeom prst="rect">
            <a:avLst/>
          </a:prstGeom>
          <a:noFill/>
          <a:ln>
            <a:solidFill>
              <a:schemeClr val="accent1"/>
            </a:solidFill>
          </a:ln>
        </p:spPr>
        <p:txBody>
          <a:bodyPr wrap="square">
            <a:spAutoFit/>
          </a:bodyPr>
          <a:lstStyle/>
          <a:p>
            <a:pPr algn="ctr"/>
            <a:r>
              <a:rPr lang="en-US" sz="2400">
                <a:latin typeface="Times New Roman" panose="02020603050405020304" pitchFamily="18" charset="0"/>
                <a:cs typeface="Times New Roman" panose="02020603050405020304" pitchFamily="18" charset="0"/>
              </a:rPr>
              <a:t>npm install cookie-parser</a:t>
            </a:r>
          </a:p>
        </p:txBody>
      </p:sp>
      <p:pic>
        <p:nvPicPr>
          <p:cNvPr id="12" name="Picture 11">
            <a:extLst>
              <a:ext uri="{FF2B5EF4-FFF2-40B4-BE49-F238E27FC236}">
                <a16:creationId xmlns:a16="http://schemas.microsoft.com/office/drawing/2014/main" id="{EF108638-8E7E-839E-988E-87345EA5828F}"/>
              </a:ext>
            </a:extLst>
          </p:cNvPr>
          <p:cNvPicPr>
            <a:picLocks noChangeAspect="1"/>
          </p:cNvPicPr>
          <p:nvPr/>
        </p:nvPicPr>
        <p:blipFill>
          <a:blip r:embed="rId3"/>
          <a:stretch>
            <a:fillRect/>
          </a:stretch>
        </p:blipFill>
        <p:spPr>
          <a:xfrm>
            <a:off x="388797" y="1782222"/>
            <a:ext cx="3558848" cy="2621507"/>
          </a:xfrm>
          <a:prstGeom prst="rect">
            <a:avLst/>
          </a:prstGeom>
        </p:spPr>
      </p:pic>
      <p:pic>
        <p:nvPicPr>
          <p:cNvPr id="17" name="Picture 16">
            <a:extLst>
              <a:ext uri="{FF2B5EF4-FFF2-40B4-BE49-F238E27FC236}">
                <a16:creationId xmlns:a16="http://schemas.microsoft.com/office/drawing/2014/main" id="{D4851C07-34CA-4ACE-A430-C92C562B5B94}"/>
              </a:ext>
            </a:extLst>
          </p:cNvPr>
          <p:cNvPicPr>
            <a:picLocks noChangeAspect="1"/>
          </p:cNvPicPr>
          <p:nvPr/>
        </p:nvPicPr>
        <p:blipFill>
          <a:blip r:embed="rId4"/>
          <a:stretch>
            <a:fillRect/>
          </a:stretch>
        </p:blipFill>
        <p:spPr>
          <a:xfrm>
            <a:off x="5101296" y="2158051"/>
            <a:ext cx="6774767" cy="3467400"/>
          </a:xfrm>
          <a:prstGeom prst="rect">
            <a:avLst/>
          </a:prstGeom>
        </p:spPr>
      </p:pic>
      <p:cxnSp>
        <p:nvCxnSpPr>
          <p:cNvPr id="19" name="Straight Arrow Connector 18">
            <a:extLst>
              <a:ext uri="{FF2B5EF4-FFF2-40B4-BE49-F238E27FC236}">
                <a16:creationId xmlns:a16="http://schemas.microsoft.com/office/drawing/2014/main" id="{81E343EB-C44A-349B-8423-5F723FC9DE7F}"/>
              </a:ext>
            </a:extLst>
          </p:cNvPr>
          <p:cNvCxnSpPr/>
          <p:nvPr/>
        </p:nvCxnSpPr>
        <p:spPr>
          <a:xfrm>
            <a:off x="4008120" y="4213860"/>
            <a:ext cx="1066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1016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B742096-D902-D1FC-ADBA-CF94EE8665E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727ABDC-1EA0-B463-AF60-4A511E4233C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66F72C5-14F7-B8F6-C2C2-A83DDB2B859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2" name="Group 1">
            <a:extLst>
              <a:ext uri="{FF2B5EF4-FFF2-40B4-BE49-F238E27FC236}">
                <a16:creationId xmlns:a16="http://schemas.microsoft.com/office/drawing/2014/main" id="{2B989D02-2E01-B2BF-234F-5B187BACF40F}"/>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B0E286B6-CA23-2804-8386-A94F4F4A8B85}"/>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0906205-8BF0-89F4-EDFB-B577E3B3BC8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E1B5DB7-E42F-9907-39A7-960070746D2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CBA4604-9580-BB3C-1FF8-C70772EB02B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C5B245E-9ED3-C208-D391-222B46DE81C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02B7126-DF97-3782-A112-A198FFE26AD8}"/>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3: </a:t>
            </a:r>
            <a:r>
              <a:rPr lang="en-US" sz="2400">
                <a:latin typeface="Times New Roman" panose="02020603050405020304" pitchFamily="18" charset="0"/>
                <a:cs typeface="Times New Roman" panose="02020603050405020304" pitchFamily="18" charset="0"/>
              </a:rPr>
              <a:t>Chỉnh sửa và thêm coding</a:t>
            </a:r>
            <a:r>
              <a:rPr lang="en-US" sz="2400" b="1">
                <a:latin typeface="Times New Roman" panose="02020603050405020304" pitchFamily="18" charset="0"/>
                <a:cs typeface="Times New Roman" panose="02020603050405020304" pitchFamily="18" charset="0"/>
              </a:rPr>
              <a:t> “my-server-mongodb”. </a:t>
            </a:r>
            <a:r>
              <a:rPr lang="en-US" sz="2400">
                <a:latin typeface="Times New Roman" panose="02020603050405020304" pitchFamily="18" charset="0"/>
                <a:cs typeface="Times New Roman" panose="02020603050405020304" pitchFamily="18" charset="0"/>
              </a:rPr>
              <a:t>Nhớ chỉnh khai báo dòng 18</a:t>
            </a:r>
            <a:endParaRPr lang="en-US" sz="2400" kern="0">
              <a:solidFill>
                <a:srgbClr val="000000"/>
              </a:solidFill>
              <a:latin typeface="Cambria" panose="02040503050406030204" pitchFamily="18" charset="0"/>
            </a:endParaRPr>
          </a:p>
        </p:txBody>
      </p:sp>
      <p:pic>
        <p:nvPicPr>
          <p:cNvPr id="11" name="Picture 10">
            <a:extLst>
              <a:ext uri="{FF2B5EF4-FFF2-40B4-BE49-F238E27FC236}">
                <a16:creationId xmlns:a16="http://schemas.microsoft.com/office/drawing/2014/main" id="{83073A13-3B07-CFEF-C7FF-2087A5C847AC}"/>
              </a:ext>
            </a:extLst>
          </p:cNvPr>
          <p:cNvPicPr>
            <a:picLocks noChangeAspect="1"/>
          </p:cNvPicPr>
          <p:nvPr/>
        </p:nvPicPr>
        <p:blipFill>
          <a:blip r:embed="rId3"/>
          <a:srcRect/>
          <a:stretch/>
        </p:blipFill>
        <p:spPr>
          <a:xfrm>
            <a:off x="739514" y="1312356"/>
            <a:ext cx="9791781" cy="5159187"/>
          </a:xfrm>
          <a:prstGeom prst="rect">
            <a:avLst/>
          </a:prstGeom>
        </p:spPr>
      </p:pic>
      <p:sp>
        <p:nvSpPr>
          <p:cNvPr id="13" name="Rectangle 12">
            <a:extLst>
              <a:ext uri="{FF2B5EF4-FFF2-40B4-BE49-F238E27FC236}">
                <a16:creationId xmlns:a16="http://schemas.microsoft.com/office/drawing/2014/main" id="{38DABB24-3AAE-A2BF-4C57-3C4B68005FE0}"/>
              </a:ext>
            </a:extLst>
          </p:cNvPr>
          <p:cNvSpPr/>
          <p:nvPr/>
        </p:nvSpPr>
        <p:spPr>
          <a:xfrm>
            <a:off x="967740" y="3291840"/>
            <a:ext cx="8061960" cy="19354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4538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09E155A-E6A1-868F-BF1F-2BCCD860466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CD1D8BA-BD56-5734-78D9-0BD5438D531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1CCB819-3E8F-8EBE-7A90-E749E4F6F2B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 name="Group 1">
            <a:extLst>
              <a:ext uri="{FF2B5EF4-FFF2-40B4-BE49-F238E27FC236}">
                <a16:creationId xmlns:a16="http://schemas.microsoft.com/office/drawing/2014/main" id="{47A50E24-264F-1931-4C0C-FD136A8BD884}"/>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34ED7CFD-1676-B135-5CEE-CCB58B37F4DA}"/>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EC4FB51-C7F1-984D-3CA1-4616ED973E5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6E90EF2-B2ED-AFD5-EE5B-30C15596C0C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602ECEA-EC65-E0DD-2DE0-19E6888D949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8A98FF3-DBC7-12AE-3D74-8089829BC40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137F083-F822-5EE6-5DD1-0C1C169C6209}"/>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4: </a:t>
            </a:r>
            <a:r>
              <a:rPr lang="en-US" sz="2400">
                <a:latin typeface="Times New Roman" panose="02020603050405020304" pitchFamily="18" charset="0"/>
                <a:cs typeface="Times New Roman" panose="02020603050405020304" pitchFamily="18" charset="0"/>
              </a:rPr>
              <a:t>Trong</a:t>
            </a:r>
            <a:r>
              <a:rPr lang="en-US" sz="2400" b="1">
                <a:latin typeface="Times New Roman" panose="02020603050405020304" pitchFamily="18" charset="0"/>
                <a:cs typeface="Times New Roman" panose="02020603050405020304" pitchFamily="18" charset="0"/>
              </a:rPr>
              <a:t> “my-server-mongodb”</a:t>
            </a:r>
            <a:r>
              <a:rPr lang="en-US" sz="2400">
                <a:latin typeface="Times New Roman" panose="02020603050405020304" pitchFamily="18" charset="0"/>
                <a:cs typeface="Times New Roman" panose="02020603050405020304" pitchFamily="18" charset="0"/>
              </a:rPr>
              <a:t> bổ sung API đăng nhập cho User</a:t>
            </a:r>
            <a:endParaRPr lang="en-US" sz="2400" kern="0">
              <a:solidFill>
                <a:srgbClr val="000000"/>
              </a:solidFill>
              <a:latin typeface="Cambria" panose="02040503050406030204" pitchFamily="18" charset="0"/>
            </a:endParaRPr>
          </a:p>
        </p:txBody>
      </p:sp>
      <p:pic>
        <p:nvPicPr>
          <p:cNvPr id="10" name="Picture 9">
            <a:extLst>
              <a:ext uri="{FF2B5EF4-FFF2-40B4-BE49-F238E27FC236}">
                <a16:creationId xmlns:a16="http://schemas.microsoft.com/office/drawing/2014/main" id="{F335CE4E-E667-BE49-3720-64590A75235F}"/>
              </a:ext>
            </a:extLst>
          </p:cNvPr>
          <p:cNvPicPr>
            <a:picLocks noChangeAspect="1"/>
          </p:cNvPicPr>
          <p:nvPr/>
        </p:nvPicPr>
        <p:blipFill>
          <a:blip r:embed="rId3"/>
          <a:srcRect/>
          <a:stretch/>
        </p:blipFill>
        <p:spPr>
          <a:xfrm>
            <a:off x="303912" y="1339866"/>
            <a:ext cx="6820788" cy="5415937"/>
          </a:xfrm>
          <a:prstGeom prst="rect">
            <a:avLst/>
          </a:prstGeom>
        </p:spPr>
      </p:pic>
    </p:spTree>
    <p:extLst>
      <p:ext uri="{BB962C8B-B14F-4D97-AF65-F5344CB8AC3E}">
        <p14:creationId xmlns:p14="http://schemas.microsoft.com/office/powerpoint/2010/main" val="3990765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F7612C2-AE32-2FB0-52C5-4AE50FAFF28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020A588-CAB0-B29E-BE46-CDBB4C57F16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0EC640D-D109-AAC3-F89C-693976248DA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2" name="Group 1">
            <a:extLst>
              <a:ext uri="{FF2B5EF4-FFF2-40B4-BE49-F238E27FC236}">
                <a16:creationId xmlns:a16="http://schemas.microsoft.com/office/drawing/2014/main" id="{56EF3751-334B-1B86-6334-87C02B1DFFE6}"/>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B0F94E87-DF6D-E759-69BA-A68D64C5C8CC}"/>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DBA997D-6263-5E69-86C2-93C73431F36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CA947CC-4C30-A752-EF0B-663BFB81AB1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1EB0678-9849-84C2-E169-9D69750F1DA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6670A65-BCDA-E033-014B-792B4494902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85AB4AC-9924-530A-F3BC-F91B03690C9A}"/>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5: </a:t>
            </a:r>
            <a:r>
              <a:rPr lang="en-US" sz="2400">
                <a:latin typeface="Times New Roman" panose="02020603050405020304" pitchFamily="18" charset="0"/>
                <a:cs typeface="Times New Roman" panose="02020603050405020304" pitchFamily="18" charset="0"/>
              </a:rPr>
              <a:t>Kiểm thử API trong Postman</a:t>
            </a:r>
            <a:endParaRPr lang="en-US" sz="2400" kern="0">
              <a:solidFill>
                <a:srgbClr val="000000"/>
              </a:solidFill>
              <a:latin typeface="Cambria" panose="02040503050406030204" pitchFamily="18" charset="0"/>
            </a:endParaRPr>
          </a:p>
        </p:txBody>
      </p:sp>
      <p:pic>
        <p:nvPicPr>
          <p:cNvPr id="11" name="Picture 10">
            <a:extLst>
              <a:ext uri="{FF2B5EF4-FFF2-40B4-BE49-F238E27FC236}">
                <a16:creationId xmlns:a16="http://schemas.microsoft.com/office/drawing/2014/main" id="{3227228A-076B-68DC-3CF9-4CE78B9E9DCA}"/>
              </a:ext>
            </a:extLst>
          </p:cNvPr>
          <p:cNvPicPr>
            <a:picLocks noChangeAspect="1"/>
          </p:cNvPicPr>
          <p:nvPr/>
        </p:nvPicPr>
        <p:blipFill>
          <a:blip r:embed="rId3"/>
          <a:srcRect/>
          <a:stretch/>
        </p:blipFill>
        <p:spPr>
          <a:xfrm>
            <a:off x="301683" y="1302622"/>
            <a:ext cx="7964153" cy="5555377"/>
          </a:xfrm>
          <a:prstGeom prst="rect">
            <a:avLst/>
          </a:prstGeom>
        </p:spPr>
      </p:pic>
    </p:spTree>
    <p:extLst>
      <p:ext uri="{BB962C8B-B14F-4D97-AF65-F5344CB8AC3E}">
        <p14:creationId xmlns:p14="http://schemas.microsoft.com/office/powerpoint/2010/main" val="3854499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48357ED-DE17-12D0-050D-3E3310014F5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5389610-594D-1A24-E558-5732C7182FC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B7A9FAA-CE94-8A94-F8D7-A9626BE6C5A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2" name="Group 1">
            <a:extLst>
              <a:ext uri="{FF2B5EF4-FFF2-40B4-BE49-F238E27FC236}">
                <a16:creationId xmlns:a16="http://schemas.microsoft.com/office/drawing/2014/main" id="{EEC3165B-8178-B94F-86E5-E5B28C182C1A}"/>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DEB72D55-6186-DB5B-C007-649FDDF96D6F}"/>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365E80C-7FFF-9D5B-B137-8ACDA9A12AB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789C60E-40DE-EA33-94EF-F463AA168D6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A28D868-E2C0-0D5B-B27A-B57ADBA8B85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BEA66D2-D480-127F-9305-D8E2DEAFFEF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479A2D2-65C5-BF27-EABD-34541A64762E}"/>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5: </a:t>
            </a:r>
            <a:r>
              <a:rPr lang="en-US" sz="2400">
                <a:latin typeface="Times New Roman" panose="02020603050405020304" pitchFamily="18" charset="0"/>
                <a:cs typeface="Times New Roman" panose="02020603050405020304" pitchFamily="18" charset="0"/>
              </a:rPr>
              <a:t>Kiểm thử API trong Postman</a:t>
            </a:r>
            <a:endParaRPr lang="en-US" sz="2400" kern="0">
              <a:solidFill>
                <a:srgbClr val="000000"/>
              </a:solidFill>
              <a:latin typeface="Cambria" panose="02040503050406030204" pitchFamily="18" charset="0"/>
            </a:endParaRPr>
          </a:p>
        </p:txBody>
      </p:sp>
      <p:pic>
        <p:nvPicPr>
          <p:cNvPr id="10" name="Picture 9">
            <a:extLst>
              <a:ext uri="{FF2B5EF4-FFF2-40B4-BE49-F238E27FC236}">
                <a16:creationId xmlns:a16="http://schemas.microsoft.com/office/drawing/2014/main" id="{A35B9CF0-D5D4-4777-DAEF-3A52AB8E0442}"/>
              </a:ext>
            </a:extLst>
          </p:cNvPr>
          <p:cNvPicPr>
            <a:picLocks noChangeAspect="1"/>
          </p:cNvPicPr>
          <p:nvPr/>
        </p:nvPicPr>
        <p:blipFill>
          <a:blip r:embed="rId3"/>
          <a:srcRect/>
          <a:stretch/>
        </p:blipFill>
        <p:spPr>
          <a:xfrm>
            <a:off x="316923" y="1302622"/>
            <a:ext cx="7964153" cy="5555377"/>
          </a:xfrm>
          <a:prstGeom prst="rect">
            <a:avLst/>
          </a:prstGeom>
        </p:spPr>
      </p:pic>
    </p:spTree>
    <p:extLst>
      <p:ext uri="{BB962C8B-B14F-4D97-AF65-F5344CB8AC3E}">
        <p14:creationId xmlns:p14="http://schemas.microsoft.com/office/powerpoint/2010/main" val="1545230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B6C3C3C-24E3-72AD-64BD-6FE4F521657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3C55675-5D72-82C0-656F-3463A7AD77A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57F8625-A3E8-0106-6310-985B65392A5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2" name="Group 1">
            <a:extLst>
              <a:ext uri="{FF2B5EF4-FFF2-40B4-BE49-F238E27FC236}">
                <a16:creationId xmlns:a16="http://schemas.microsoft.com/office/drawing/2014/main" id="{12122E42-5FBA-1D07-E383-B96FBBA6D5F0}"/>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A7F1E600-4C4D-C6A6-0FD1-E031160F82AE}"/>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3D4265C-5E00-FB08-2E3B-A79A278B32C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91784BE-0EFD-CB91-24F6-11CADDFB1AC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258A809-7EDB-8553-4B3C-84C09DA5689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01AC714-9AF9-071F-0686-CD80DE68718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4199D48-012D-B3CB-49BB-9ECC3653508E}"/>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5: </a:t>
            </a:r>
            <a:r>
              <a:rPr lang="en-US" sz="2400">
                <a:latin typeface="Times New Roman" panose="02020603050405020304" pitchFamily="18" charset="0"/>
                <a:cs typeface="Times New Roman" panose="02020603050405020304" pitchFamily="18" charset="0"/>
              </a:rPr>
              <a:t>Kiểm thử API trong Postman</a:t>
            </a:r>
            <a:endParaRPr lang="en-US" sz="2400" kern="0">
              <a:solidFill>
                <a:srgbClr val="000000"/>
              </a:solidFill>
              <a:latin typeface="Cambria" panose="02040503050406030204" pitchFamily="18" charset="0"/>
            </a:endParaRPr>
          </a:p>
        </p:txBody>
      </p:sp>
      <p:pic>
        <p:nvPicPr>
          <p:cNvPr id="11" name="Picture 10">
            <a:extLst>
              <a:ext uri="{FF2B5EF4-FFF2-40B4-BE49-F238E27FC236}">
                <a16:creationId xmlns:a16="http://schemas.microsoft.com/office/drawing/2014/main" id="{4B2DC05E-28DE-FE48-34E0-E09E302D4D8F}"/>
              </a:ext>
            </a:extLst>
          </p:cNvPr>
          <p:cNvPicPr>
            <a:picLocks noChangeAspect="1"/>
          </p:cNvPicPr>
          <p:nvPr/>
        </p:nvPicPr>
        <p:blipFill>
          <a:blip r:embed="rId3"/>
          <a:srcRect/>
          <a:stretch/>
        </p:blipFill>
        <p:spPr>
          <a:xfrm>
            <a:off x="331991" y="1302677"/>
            <a:ext cx="7819717" cy="5454626"/>
          </a:xfrm>
          <a:prstGeom prst="rect">
            <a:avLst/>
          </a:prstGeom>
        </p:spPr>
      </p:pic>
    </p:spTree>
    <p:extLst>
      <p:ext uri="{BB962C8B-B14F-4D97-AF65-F5344CB8AC3E}">
        <p14:creationId xmlns:p14="http://schemas.microsoft.com/office/powerpoint/2010/main" val="2380501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690B509-1943-706E-0F48-3BE2F29130E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F381BDE-18F9-E8A9-E841-BBEDE053A54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CA886ED-365E-89D0-C3E6-81FE1928A74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2" name="Group 1">
            <a:extLst>
              <a:ext uri="{FF2B5EF4-FFF2-40B4-BE49-F238E27FC236}">
                <a16:creationId xmlns:a16="http://schemas.microsoft.com/office/drawing/2014/main" id="{D185AB59-EF92-F34C-E498-D3F8A85728BC}"/>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1478277E-FC45-6478-E251-48BB216E6E60}"/>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D1AFD4D-C996-C2D7-A75F-D57E00A53C3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7EA4703-F691-A5FA-E28A-C1DC451F08D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B5674C2-261A-5FD0-A469-B5CDB7C0744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C906E21-8616-C2DD-AAF1-8997E44913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C3BE0A0-CF82-A988-D80B-6F6F74BD8819}"/>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6: </a:t>
            </a:r>
            <a:r>
              <a:rPr lang="en-US" sz="2400">
                <a:latin typeface="Times New Roman" panose="02020603050405020304" pitchFamily="18" charset="0"/>
                <a:cs typeface="Times New Roman" panose="02020603050405020304" pitchFamily="18" charset="0"/>
              </a:rPr>
              <a:t>“my-app”, cài đặt proxy.conf.json cho user</a:t>
            </a:r>
            <a:endParaRPr lang="en-US" sz="2400" b="1" kern="0">
              <a:solidFill>
                <a:srgbClr val="000000"/>
              </a:solidFill>
              <a:latin typeface="Cambria" panose="02040503050406030204" pitchFamily="18" charset="0"/>
            </a:endParaRPr>
          </a:p>
        </p:txBody>
      </p:sp>
      <p:pic>
        <p:nvPicPr>
          <p:cNvPr id="14" name="Picture 13">
            <a:extLst>
              <a:ext uri="{FF2B5EF4-FFF2-40B4-BE49-F238E27FC236}">
                <a16:creationId xmlns:a16="http://schemas.microsoft.com/office/drawing/2014/main" id="{D87647AE-4C12-B1DF-29D1-AEF129D52492}"/>
              </a:ext>
            </a:extLst>
          </p:cNvPr>
          <p:cNvPicPr>
            <a:picLocks noChangeAspect="1"/>
          </p:cNvPicPr>
          <p:nvPr/>
        </p:nvPicPr>
        <p:blipFill>
          <a:blip r:embed="rId3"/>
          <a:stretch>
            <a:fillRect/>
          </a:stretch>
        </p:blipFill>
        <p:spPr>
          <a:xfrm>
            <a:off x="564686" y="1441919"/>
            <a:ext cx="8763759" cy="3444538"/>
          </a:xfrm>
          <a:prstGeom prst="rect">
            <a:avLst/>
          </a:prstGeom>
        </p:spPr>
      </p:pic>
    </p:spTree>
    <p:extLst>
      <p:ext uri="{BB962C8B-B14F-4D97-AF65-F5344CB8AC3E}">
        <p14:creationId xmlns:p14="http://schemas.microsoft.com/office/powerpoint/2010/main" val="344301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134E9E6-660F-9AFE-0340-2DA04480BCA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6BDDBAD-40F1-330E-97C1-B89835CA1F4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5D46B8B-A3E5-B96C-B265-00D0573CB09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2" name="Group 1">
            <a:extLst>
              <a:ext uri="{FF2B5EF4-FFF2-40B4-BE49-F238E27FC236}">
                <a16:creationId xmlns:a16="http://schemas.microsoft.com/office/drawing/2014/main" id="{B0DE92DD-1945-70FD-491F-C4FC36CD1BBC}"/>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C49D32C4-B84E-B97D-7FA6-F7E57310B83C}"/>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B5ECED5-2EA0-2A15-2B52-F966FC0B9EA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CB8DD33-DBDF-D60D-BB78-C8808D7BE8D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47EB806-1D62-8194-49D8-7F351850FA3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927F733-72F1-7967-7D7E-AAD8A79E2CA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75B54DE-E6F1-9FDE-3800-7F17C8D4DD3A}"/>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7: </a:t>
            </a:r>
            <a:r>
              <a:rPr lang="en-US" sz="2400">
                <a:latin typeface="Times New Roman" panose="02020603050405020304" pitchFamily="18" charset="0"/>
                <a:cs typeface="Times New Roman" panose="02020603050405020304" pitchFamily="18" charset="0"/>
              </a:rPr>
              <a:t>“my-app”, cài đặt thư viện </a:t>
            </a:r>
            <a:r>
              <a:rPr lang="en-US" sz="2400" b="1">
                <a:latin typeface="Times New Roman" panose="02020603050405020304" pitchFamily="18" charset="0"/>
                <a:cs typeface="Times New Roman" panose="02020603050405020304" pitchFamily="18" charset="0"/>
              </a:rPr>
              <a:t>ngx-cookie-service</a:t>
            </a:r>
            <a:endParaRPr lang="en-US" sz="2400" b="1" kern="0">
              <a:solidFill>
                <a:srgbClr val="000000"/>
              </a:solidFill>
              <a:latin typeface="Cambria" panose="02040503050406030204" pitchFamily="18" charset="0"/>
            </a:endParaRPr>
          </a:p>
        </p:txBody>
      </p:sp>
      <p:sp>
        <p:nvSpPr>
          <p:cNvPr id="10" name="TextBox 9">
            <a:extLst>
              <a:ext uri="{FF2B5EF4-FFF2-40B4-BE49-F238E27FC236}">
                <a16:creationId xmlns:a16="http://schemas.microsoft.com/office/drawing/2014/main" id="{377C1669-A6BC-FDA1-4551-EB5D7F6B5C7E}"/>
              </a:ext>
            </a:extLst>
          </p:cNvPr>
          <p:cNvSpPr txBox="1"/>
          <p:nvPr/>
        </p:nvSpPr>
        <p:spPr>
          <a:xfrm>
            <a:off x="2204085" y="1433646"/>
            <a:ext cx="6297930" cy="461665"/>
          </a:xfrm>
          <a:prstGeom prst="rect">
            <a:avLst/>
          </a:prstGeom>
          <a:noFill/>
          <a:ln>
            <a:solidFill>
              <a:schemeClr val="accent1"/>
            </a:solidFill>
          </a:ln>
        </p:spPr>
        <p:txBody>
          <a:bodyPr wrap="square">
            <a:spAutoFit/>
          </a:bodyPr>
          <a:lstStyle/>
          <a:p>
            <a:pPr algn="ctr"/>
            <a:r>
              <a:rPr lang="en-US" sz="2400">
                <a:latin typeface="Times New Roman" panose="02020603050405020304" pitchFamily="18" charset="0"/>
                <a:cs typeface="Times New Roman" panose="02020603050405020304" pitchFamily="18" charset="0"/>
              </a:rPr>
              <a:t>npm install ngx-cookie-service</a:t>
            </a:r>
          </a:p>
        </p:txBody>
      </p:sp>
      <p:pic>
        <p:nvPicPr>
          <p:cNvPr id="12" name="Picture 11">
            <a:extLst>
              <a:ext uri="{FF2B5EF4-FFF2-40B4-BE49-F238E27FC236}">
                <a16:creationId xmlns:a16="http://schemas.microsoft.com/office/drawing/2014/main" id="{58A4573F-43C4-7D1F-D5A4-F4AAFBB0D03B}"/>
              </a:ext>
            </a:extLst>
          </p:cNvPr>
          <p:cNvPicPr>
            <a:picLocks noChangeAspect="1"/>
          </p:cNvPicPr>
          <p:nvPr/>
        </p:nvPicPr>
        <p:blipFill>
          <a:blip r:embed="rId3"/>
          <a:stretch>
            <a:fillRect/>
          </a:stretch>
        </p:blipFill>
        <p:spPr>
          <a:xfrm>
            <a:off x="1913465" y="2251916"/>
            <a:ext cx="6881456" cy="3368332"/>
          </a:xfrm>
          <a:prstGeom prst="rect">
            <a:avLst/>
          </a:prstGeom>
        </p:spPr>
      </p:pic>
    </p:spTree>
    <p:extLst>
      <p:ext uri="{BB962C8B-B14F-4D97-AF65-F5344CB8AC3E}">
        <p14:creationId xmlns:p14="http://schemas.microsoft.com/office/powerpoint/2010/main" val="3133937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50D8D8E-EACE-32D0-01A8-83175D95C43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E63A9F8-30F6-0257-7A0B-0975C77730E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6DB31DB-49C8-FACC-112E-278F0481B8C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2" name="Group 1">
            <a:extLst>
              <a:ext uri="{FF2B5EF4-FFF2-40B4-BE49-F238E27FC236}">
                <a16:creationId xmlns:a16="http://schemas.microsoft.com/office/drawing/2014/main" id="{49E95043-349B-4901-507C-486F7F6FC71E}"/>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C8053742-45B0-1A52-CC33-E5C3CE1FC399}"/>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EC9ACFC-EC9C-61A7-BA8D-B8E867C4742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773F22E-B114-6595-F24C-2A52DE1DE4C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E70568A-F08F-B6BA-5040-4B9E1300AA8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F75490D-F9F6-9604-4F91-593D8F1571A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D2C2617-E5ED-FF0A-73EA-C00641812433}"/>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8: </a:t>
            </a:r>
            <a:r>
              <a:rPr lang="en-US" sz="2400">
                <a:latin typeface="Times New Roman" panose="02020603050405020304" pitchFamily="18" charset="0"/>
                <a:cs typeface="Times New Roman" panose="02020603050405020304" pitchFamily="18" charset="0"/>
              </a:rPr>
              <a:t>“my-app”, tạo </a:t>
            </a:r>
            <a:r>
              <a:rPr lang="en-US" sz="2400" b="1">
                <a:latin typeface="Times New Roman" panose="02020603050405020304" pitchFamily="18" charset="0"/>
                <a:cs typeface="Times New Roman" panose="02020603050405020304" pitchFamily="18" charset="0"/>
              </a:rPr>
              <a:t>AuthService </a:t>
            </a:r>
            <a:r>
              <a:rPr lang="en-US" sz="2400">
                <a:latin typeface="Times New Roman" panose="02020603050405020304" pitchFamily="18" charset="0"/>
                <a:cs typeface="Times New Roman" panose="02020603050405020304" pitchFamily="18" charset="0"/>
              </a:rPr>
              <a:t>trong services.</a:t>
            </a:r>
            <a:endParaRPr lang="en-US" sz="2400" b="1" kern="0">
              <a:solidFill>
                <a:srgbClr val="000000"/>
              </a:solidFill>
              <a:latin typeface="Cambria" panose="02040503050406030204" pitchFamily="18" charset="0"/>
            </a:endParaRPr>
          </a:p>
        </p:txBody>
      </p:sp>
      <p:pic>
        <p:nvPicPr>
          <p:cNvPr id="11" name="Picture 10">
            <a:extLst>
              <a:ext uri="{FF2B5EF4-FFF2-40B4-BE49-F238E27FC236}">
                <a16:creationId xmlns:a16="http://schemas.microsoft.com/office/drawing/2014/main" id="{495DF721-CC29-450C-C092-548E0D2B4ED0}"/>
              </a:ext>
            </a:extLst>
          </p:cNvPr>
          <p:cNvPicPr>
            <a:picLocks noChangeAspect="1"/>
          </p:cNvPicPr>
          <p:nvPr/>
        </p:nvPicPr>
        <p:blipFill>
          <a:blip r:embed="rId3"/>
          <a:stretch>
            <a:fillRect/>
          </a:stretch>
        </p:blipFill>
        <p:spPr>
          <a:xfrm>
            <a:off x="5795432" y="4329939"/>
            <a:ext cx="6325148" cy="1859441"/>
          </a:xfrm>
          <a:prstGeom prst="rect">
            <a:avLst/>
          </a:prstGeom>
        </p:spPr>
      </p:pic>
      <p:pic>
        <p:nvPicPr>
          <p:cNvPr id="14" name="Picture 13">
            <a:extLst>
              <a:ext uri="{FF2B5EF4-FFF2-40B4-BE49-F238E27FC236}">
                <a16:creationId xmlns:a16="http://schemas.microsoft.com/office/drawing/2014/main" id="{2F90920B-FA9C-E4FE-6142-FE85D5112C61}"/>
              </a:ext>
            </a:extLst>
          </p:cNvPr>
          <p:cNvPicPr>
            <a:picLocks noChangeAspect="1"/>
          </p:cNvPicPr>
          <p:nvPr/>
        </p:nvPicPr>
        <p:blipFill>
          <a:blip r:embed="rId4"/>
          <a:stretch>
            <a:fillRect/>
          </a:stretch>
        </p:blipFill>
        <p:spPr>
          <a:xfrm>
            <a:off x="494368" y="1379017"/>
            <a:ext cx="3429297" cy="2804403"/>
          </a:xfrm>
          <a:prstGeom prst="rect">
            <a:avLst/>
          </a:prstGeom>
        </p:spPr>
      </p:pic>
      <p:pic>
        <p:nvPicPr>
          <p:cNvPr id="16" name="Picture 15">
            <a:extLst>
              <a:ext uri="{FF2B5EF4-FFF2-40B4-BE49-F238E27FC236}">
                <a16:creationId xmlns:a16="http://schemas.microsoft.com/office/drawing/2014/main" id="{681B8507-C6CC-A494-07B5-AD65CFAB30BA}"/>
              </a:ext>
            </a:extLst>
          </p:cNvPr>
          <p:cNvPicPr>
            <a:picLocks noChangeAspect="1"/>
          </p:cNvPicPr>
          <p:nvPr/>
        </p:nvPicPr>
        <p:blipFill>
          <a:blip r:embed="rId5"/>
          <a:stretch>
            <a:fillRect/>
          </a:stretch>
        </p:blipFill>
        <p:spPr>
          <a:xfrm>
            <a:off x="4987014" y="1959449"/>
            <a:ext cx="6363251" cy="662997"/>
          </a:xfrm>
          <a:prstGeom prst="rect">
            <a:avLst/>
          </a:prstGeom>
        </p:spPr>
      </p:pic>
      <p:pic>
        <p:nvPicPr>
          <p:cNvPr id="18" name="Picture 17">
            <a:extLst>
              <a:ext uri="{FF2B5EF4-FFF2-40B4-BE49-F238E27FC236}">
                <a16:creationId xmlns:a16="http://schemas.microsoft.com/office/drawing/2014/main" id="{A3A5258E-3958-3095-D61A-A98C6DC332AE}"/>
              </a:ext>
            </a:extLst>
          </p:cNvPr>
          <p:cNvPicPr>
            <a:picLocks noChangeAspect="1"/>
          </p:cNvPicPr>
          <p:nvPr/>
        </p:nvPicPr>
        <p:blipFill>
          <a:blip r:embed="rId6"/>
          <a:stretch>
            <a:fillRect/>
          </a:stretch>
        </p:blipFill>
        <p:spPr>
          <a:xfrm>
            <a:off x="481751" y="4726213"/>
            <a:ext cx="3193057" cy="1463167"/>
          </a:xfrm>
          <a:prstGeom prst="rect">
            <a:avLst/>
          </a:prstGeom>
        </p:spPr>
      </p:pic>
      <p:cxnSp>
        <p:nvCxnSpPr>
          <p:cNvPr id="19" name="Connector: Elbow 18">
            <a:extLst>
              <a:ext uri="{FF2B5EF4-FFF2-40B4-BE49-F238E27FC236}">
                <a16:creationId xmlns:a16="http://schemas.microsoft.com/office/drawing/2014/main" id="{3B8FEB31-D94E-B043-E410-FE059EC5739C}"/>
              </a:ext>
            </a:extLst>
          </p:cNvPr>
          <p:cNvCxnSpPr/>
          <p:nvPr/>
        </p:nvCxnSpPr>
        <p:spPr>
          <a:xfrm flipV="1">
            <a:off x="3718575" y="2823108"/>
            <a:ext cx="5051953" cy="1159650"/>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E01588F-5FB2-CF47-6432-468F6570699D}"/>
              </a:ext>
            </a:extLst>
          </p:cNvPr>
          <p:cNvCxnSpPr>
            <a:cxnSpLocks/>
          </p:cNvCxnSpPr>
          <p:nvPr/>
        </p:nvCxnSpPr>
        <p:spPr>
          <a:xfrm>
            <a:off x="10087926" y="2715547"/>
            <a:ext cx="0" cy="16143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38585B90-AAF0-551B-F54D-06C63CADC066}"/>
              </a:ext>
            </a:extLst>
          </p:cNvPr>
          <p:cNvCxnSpPr>
            <a:cxnSpLocks/>
          </p:cNvCxnSpPr>
          <p:nvPr/>
        </p:nvCxnSpPr>
        <p:spPr>
          <a:xfrm rot="10800000">
            <a:off x="3028600" y="5086068"/>
            <a:ext cx="2405064" cy="1"/>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9569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5871355-3CDA-17E1-8458-0EFFF77BBE3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41D0EB2-BA68-3005-E3B8-9F39B2A3409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D604FE0-4ECF-C8D8-407F-A689F32BFE0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2" name="Group 1">
            <a:extLst>
              <a:ext uri="{FF2B5EF4-FFF2-40B4-BE49-F238E27FC236}">
                <a16:creationId xmlns:a16="http://schemas.microsoft.com/office/drawing/2014/main" id="{25EBCFD4-057A-D523-84E1-F7E85AAB183D}"/>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99B3D3A2-947E-EED6-02FC-2ED82432E8B2}"/>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C71E4A7-A102-507D-6253-98BC6DEA48D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2B71E67-3965-9160-74BD-F77C81F8386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A1400B4-0C97-38F0-E330-0F3BA6A4FC8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0CBF623-5189-E312-016F-3DCE07D2550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1B1B52C-8EA7-2243-0311-099A515A0139}"/>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9: </a:t>
            </a:r>
            <a:r>
              <a:rPr lang="en-US" sz="2400">
                <a:latin typeface="Times New Roman" panose="02020603050405020304" pitchFamily="18" charset="0"/>
                <a:cs typeface="Times New Roman" panose="02020603050405020304" pitchFamily="18" charset="0"/>
              </a:rPr>
              <a:t>auth-service.ts</a:t>
            </a:r>
            <a:endParaRPr lang="en-US" sz="2400" b="1" kern="0">
              <a:solidFill>
                <a:srgbClr val="000000"/>
              </a:solidFill>
              <a:latin typeface="Cambria" panose="02040503050406030204" pitchFamily="18" charset="0"/>
            </a:endParaRPr>
          </a:p>
        </p:txBody>
      </p:sp>
      <p:pic>
        <p:nvPicPr>
          <p:cNvPr id="10" name="Picture 9">
            <a:extLst>
              <a:ext uri="{FF2B5EF4-FFF2-40B4-BE49-F238E27FC236}">
                <a16:creationId xmlns:a16="http://schemas.microsoft.com/office/drawing/2014/main" id="{AC56AAF2-309D-D16D-7F17-DE2B69788ABC}"/>
              </a:ext>
            </a:extLst>
          </p:cNvPr>
          <p:cNvPicPr>
            <a:picLocks noChangeAspect="1"/>
          </p:cNvPicPr>
          <p:nvPr/>
        </p:nvPicPr>
        <p:blipFill>
          <a:blip r:embed="rId3"/>
          <a:stretch>
            <a:fillRect/>
          </a:stretch>
        </p:blipFill>
        <p:spPr>
          <a:xfrm>
            <a:off x="0" y="1418187"/>
            <a:ext cx="12192000" cy="5324443"/>
          </a:xfrm>
          <a:prstGeom prst="rect">
            <a:avLst/>
          </a:prstGeom>
        </p:spPr>
      </p:pic>
    </p:spTree>
    <p:extLst>
      <p:ext uri="{BB962C8B-B14F-4D97-AF65-F5344CB8AC3E}">
        <p14:creationId xmlns:p14="http://schemas.microsoft.com/office/powerpoint/2010/main" val="531801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459D64C-7C4E-F74E-2FB2-7886DBCB985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DB67F43-C753-D0ED-2E74-2FF4B6E6B39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750B677-EB0C-EAF1-1B47-4760680F684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2" name="Group 1">
            <a:extLst>
              <a:ext uri="{FF2B5EF4-FFF2-40B4-BE49-F238E27FC236}">
                <a16:creationId xmlns:a16="http://schemas.microsoft.com/office/drawing/2014/main" id="{A4D89469-6D72-67F3-41F7-65FD8CE8D70E}"/>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686DDB9E-91E2-3467-6BD1-AA4D3894C2A1}"/>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D74C8EA-BC66-F6D0-2E63-843EC8F7E34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C755E00-4E7F-8D9C-604F-E69C60E462F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FEFBEC6-8180-FE9A-DF99-16B040AEC29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01294BC-F201-E1AB-41FE-CB98B54A401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0090DE26-8C86-00A0-AA0D-FAA856EE5E82}"/>
              </a:ext>
            </a:extLst>
          </p:cNvPr>
          <p:cNvPicPr>
            <a:picLocks noChangeAspect="1"/>
          </p:cNvPicPr>
          <p:nvPr/>
        </p:nvPicPr>
        <p:blipFill>
          <a:blip r:embed="rId3"/>
          <a:stretch>
            <a:fillRect/>
          </a:stretch>
        </p:blipFill>
        <p:spPr>
          <a:xfrm>
            <a:off x="0" y="777714"/>
            <a:ext cx="11463868" cy="5991568"/>
          </a:xfrm>
          <a:prstGeom prst="rect">
            <a:avLst/>
          </a:prstGeom>
        </p:spPr>
      </p:pic>
    </p:spTree>
    <p:extLst>
      <p:ext uri="{BB962C8B-B14F-4D97-AF65-F5344CB8AC3E}">
        <p14:creationId xmlns:p14="http://schemas.microsoft.com/office/powerpoint/2010/main" val="1633398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C296DF9-6B27-3A69-3B4A-9F24758C5F2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BFD3963-3CBC-26AD-6E4F-2C3DCDE5C01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30DC111-FB73-B82A-2455-F538A71AACA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2" name="Group 1">
            <a:extLst>
              <a:ext uri="{FF2B5EF4-FFF2-40B4-BE49-F238E27FC236}">
                <a16:creationId xmlns:a16="http://schemas.microsoft.com/office/drawing/2014/main" id="{BA4FB9E8-C61B-55CB-5846-DAD050E6D2FE}"/>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FB8C656B-B0DB-81A8-72F6-B0A1821696E7}"/>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7E068B3-6FDD-1377-D282-F3B0FD8B31D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7ABCCB4-BB21-B78B-D2D2-855FE2B1824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8C1D165-5FE3-4452-122E-FEB539A320E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18D07DE-74DF-9E6E-1639-B04B9BBB6C7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16D3720-EC6F-0580-FD86-4A20DEB58A5A}"/>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10: </a:t>
            </a:r>
            <a:r>
              <a:rPr lang="en-US" sz="2400">
                <a:latin typeface="Times New Roman" panose="02020603050405020304" pitchFamily="18" charset="0"/>
                <a:cs typeface="Times New Roman" panose="02020603050405020304" pitchFamily="18" charset="0"/>
              </a:rPr>
              <a:t>Tạo </a:t>
            </a:r>
            <a:r>
              <a:rPr lang="en-US" sz="2400" b="1">
                <a:latin typeface="Times New Roman" panose="02020603050405020304" pitchFamily="18" charset="0"/>
                <a:cs typeface="Times New Roman" panose="02020603050405020304" pitchFamily="18" charset="0"/>
              </a:rPr>
              <a:t>LoginAuthComponent</a:t>
            </a:r>
            <a:r>
              <a:rPr lang="en-US" sz="2400">
                <a:latin typeface="Times New Roman" panose="02020603050405020304" pitchFamily="18" charset="0"/>
                <a:cs typeface="Times New Roman" panose="02020603050405020304" pitchFamily="18" charset="0"/>
              </a:rPr>
              <a:t> (không sử dụng Login ở bài học trước để dễ ôn tập)</a:t>
            </a:r>
            <a:endParaRPr lang="en-US" sz="2400" b="1" kern="0">
              <a:solidFill>
                <a:srgbClr val="000000"/>
              </a:solidFill>
              <a:latin typeface="Cambria" panose="02040503050406030204" pitchFamily="18" charset="0"/>
            </a:endParaRPr>
          </a:p>
        </p:txBody>
      </p:sp>
      <p:pic>
        <p:nvPicPr>
          <p:cNvPr id="10" name="Picture 9">
            <a:extLst>
              <a:ext uri="{FF2B5EF4-FFF2-40B4-BE49-F238E27FC236}">
                <a16:creationId xmlns:a16="http://schemas.microsoft.com/office/drawing/2014/main" id="{695E87F3-628B-0953-6975-2C07CEC6EF9A}"/>
              </a:ext>
            </a:extLst>
          </p:cNvPr>
          <p:cNvPicPr>
            <a:picLocks noChangeAspect="1"/>
          </p:cNvPicPr>
          <p:nvPr/>
        </p:nvPicPr>
        <p:blipFill>
          <a:blip r:embed="rId3"/>
          <a:stretch>
            <a:fillRect/>
          </a:stretch>
        </p:blipFill>
        <p:spPr>
          <a:xfrm>
            <a:off x="5142571" y="3885549"/>
            <a:ext cx="6782388" cy="2491956"/>
          </a:xfrm>
          <a:prstGeom prst="rect">
            <a:avLst/>
          </a:prstGeom>
        </p:spPr>
      </p:pic>
      <p:pic>
        <p:nvPicPr>
          <p:cNvPr id="12" name="Picture 11">
            <a:extLst>
              <a:ext uri="{FF2B5EF4-FFF2-40B4-BE49-F238E27FC236}">
                <a16:creationId xmlns:a16="http://schemas.microsoft.com/office/drawing/2014/main" id="{07489321-197E-991C-33C6-BBBB4F2B6D2A}"/>
              </a:ext>
            </a:extLst>
          </p:cNvPr>
          <p:cNvPicPr>
            <a:picLocks noChangeAspect="1"/>
          </p:cNvPicPr>
          <p:nvPr/>
        </p:nvPicPr>
        <p:blipFill>
          <a:blip r:embed="rId4"/>
          <a:stretch>
            <a:fillRect/>
          </a:stretch>
        </p:blipFill>
        <p:spPr>
          <a:xfrm>
            <a:off x="462279" y="1406614"/>
            <a:ext cx="3330229" cy="2088061"/>
          </a:xfrm>
          <a:prstGeom prst="rect">
            <a:avLst/>
          </a:prstGeom>
        </p:spPr>
      </p:pic>
      <p:pic>
        <p:nvPicPr>
          <p:cNvPr id="14" name="Picture 13">
            <a:extLst>
              <a:ext uri="{FF2B5EF4-FFF2-40B4-BE49-F238E27FC236}">
                <a16:creationId xmlns:a16="http://schemas.microsoft.com/office/drawing/2014/main" id="{47E1DA71-BCDA-9687-1AC6-E7D0737A39C0}"/>
              </a:ext>
            </a:extLst>
          </p:cNvPr>
          <p:cNvPicPr>
            <a:picLocks noChangeAspect="1"/>
          </p:cNvPicPr>
          <p:nvPr/>
        </p:nvPicPr>
        <p:blipFill>
          <a:blip r:embed="rId5"/>
          <a:stretch>
            <a:fillRect/>
          </a:stretch>
        </p:blipFill>
        <p:spPr>
          <a:xfrm>
            <a:off x="5870967" y="1477154"/>
            <a:ext cx="5601185" cy="731583"/>
          </a:xfrm>
          <a:prstGeom prst="rect">
            <a:avLst/>
          </a:prstGeom>
        </p:spPr>
      </p:pic>
      <p:pic>
        <p:nvPicPr>
          <p:cNvPr id="16" name="Picture 15">
            <a:extLst>
              <a:ext uri="{FF2B5EF4-FFF2-40B4-BE49-F238E27FC236}">
                <a16:creationId xmlns:a16="http://schemas.microsoft.com/office/drawing/2014/main" id="{5B7F112C-5FCE-E11D-EF23-0F4BFF190632}"/>
              </a:ext>
            </a:extLst>
          </p:cNvPr>
          <p:cNvPicPr>
            <a:picLocks noChangeAspect="1"/>
          </p:cNvPicPr>
          <p:nvPr/>
        </p:nvPicPr>
        <p:blipFill>
          <a:blip r:embed="rId6"/>
          <a:stretch>
            <a:fillRect/>
          </a:stretch>
        </p:blipFill>
        <p:spPr>
          <a:xfrm>
            <a:off x="462279" y="4185507"/>
            <a:ext cx="3116850" cy="2042337"/>
          </a:xfrm>
          <a:prstGeom prst="rect">
            <a:avLst/>
          </a:prstGeom>
        </p:spPr>
      </p:pic>
      <p:cxnSp>
        <p:nvCxnSpPr>
          <p:cNvPr id="17" name="Connector: Elbow 16">
            <a:extLst>
              <a:ext uri="{FF2B5EF4-FFF2-40B4-BE49-F238E27FC236}">
                <a16:creationId xmlns:a16="http://schemas.microsoft.com/office/drawing/2014/main" id="{941E4299-CC26-63F6-7207-BEE553326322}"/>
              </a:ext>
            </a:extLst>
          </p:cNvPr>
          <p:cNvCxnSpPr/>
          <p:nvPr/>
        </p:nvCxnSpPr>
        <p:spPr>
          <a:xfrm flipV="1">
            <a:off x="3496732" y="2178949"/>
            <a:ext cx="5051953" cy="1159650"/>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EDC7582-C2D9-989A-E881-3F9547572F67}"/>
              </a:ext>
            </a:extLst>
          </p:cNvPr>
          <p:cNvCxnSpPr>
            <a:cxnSpLocks/>
          </p:cNvCxnSpPr>
          <p:nvPr/>
        </p:nvCxnSpPr>
        <p:spPr>
          <a:xfrm>
            <a:off x="10049826" y="2239947"/>
            <a:ext cx="0" cy="16143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23DDF989-ADB9-6F87-AC32-0109B7CB67E2}"/>
              </a:ext>
            </a:extLst>
          </p:cNvPr>
          <p:cNvCxnSpPr>
            <a:cxnSpLocks/>
          </p:cNvCxnSpPr>
          <p:nvPr/>
        </p:nvCxnSpPr>
        <p:spPr>
          <a:xfrm rot="10800000">
            <a:off x="3028600" y="5086068"/>
            <a:ext cx="2405064" cy="1"/>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73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DEF9AF8-F404-8359-7161-7DFCC619B48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3256909-0F5A-E064-7142-4EBEC381615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0947EE9-5687-F18E-2794-219A434BC21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2" name="Group 1">
            <a:extLst>
              <a:ext uri="{FF2B5EF4-FFF2-40B4-BE49-F238E27FC236}">
                <a16:creationId xmlns:a16="http://schemas.microsoft.com/office/drawing/2014/main" id="{FFD48480-DD09-0CDE-AFA3-57C2B8E8917B}"/>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AF857B66-3427-CF4E-F125-B1D767A515A6}"/>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56A749E-E78F-B205-A8BA-A879C2C5C2D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F084D38-6EB7-F4FA-D0B4-55FAA910587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56E82E8-7F2E-E6D5-2318-627432AC10C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00CCB32-B393-9A1F-5730-4E5E6F302F8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4AFCC5B-F7FA-F6F8-789E-BC766577775D}"/>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11: </a:t>
            </a:r>
            <a:r>
              <a:rPr lang="en-US" sz="2400">
                <a:latin typeface="Times New Roman" panose="02020603050405020304" pitchFamily="18" charset="0"/>
                <a:cs typeface="Times New Roman" panose="02020603050405020304" pitchFamily="18" charset="0"/>
              </a:rPr>
              <a:t>login-auth-component.ts</a:t>
            </a:r>
            <a:endParaRPr lang="en-US" sz="2400" b="1" kern="0">
              <a:solidFill>
                <a:srgbClr val="000000"/>
              </a:solidFill>
              <a:latin typeface="Cambria" panose="02040503050406030204" pitchFamily="18" charset="0"/>
            </a:endParaRPr>
          </a:p>
        </p:txBody>
      </p:sp>
      <p:pic>
        <p:nvPicPr>
          <p:cNvPr id="10" name="Picture 9">
            <a:extLst>
              <a:ext uri="{FF2B5EF4-FFF2-40B4-BE49-F238E27FC236}">
                <a16:creationId xmlns:a16="http://schemas.microsoft.com/office/drawing/2014/main" id="{1FF6CA8E-28E4-47A7-2060-47027BC9C01A}"/>
              </a:ext>
            </a:extLst>
          </p:cNvPr>
          <p:cNvPicPr>
            <a:picLocks noChangeAspect="1"/>
          </p:cNvPicPr>
          <p:nvPr/>
        </p:nvPicPr>
        <p:blipFill>
          <a:blip r:embed="rId3"/>
          <a:stretch>
            <a:fillRect/>
          </a:stretch>
        </p:blipFill>
        <p:spPr>
          <a:xfrm>
            <a:off x="380504" y="1296233"/>
            <a:ext cx="11430991" cy="3703641"/>
          </a:xfrm>
          <a:prstGeom prst="rect">
            <a:avLst/>
          </a:prstGeom>
        </p:spPr>
      </p:pic>
    </p:spTree>
    <p:extLst>
      <p:ext uri="{BB962C8B-B14F-4D97-AF65-F5344CB8AC3E}">
        <p14:creationId xmlns:p14="http://schemas.microsoft.com/office/powerpoint/2010/main" val="758341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14DEB5A-6233-BCC8-D1DE-62576AC05FC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D9F3BFD-2A49-4785-F5DC-275480561BB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39F7FCF-CB58-205A-8E34-01B089FC00F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2" name="Group 1">
            <a:extLst>
              <a:ext uri="{FF2B5EF4-FFF2-40B4-BE49-F238E27FC236}">
                <a16:creationId xmlns:a16="http://schemas.microsoft.com/office/drawing/2014/main" id="{5F7D8D9F-A062-D18A-CABC-1CC2B8DE582D}"/>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C6A58E92-E6B8-237A-0EEF-55442A65B1D1}"/>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3A35887-0A77-1384-56EF-9E14EB81E6D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2D807AC-34FD-0640-377D-05DB29A11DF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C922CBA-9DCF-D68F-1073-9B2FCEE2812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27DC813-B148-D79D-6249-66ED285C333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12D14BB2-41D9-5D2C-CE4B-293B92BE0635}"/>
              </a:ext>
            </a:extLst>
          </p:cNvPr>
          <p:cNvPicPr>
            <a:picLocks noChangeAspect="1"/>
          </p:cNvPicPr>
          <p:nvPr/>
        </p:nvPicPr>
        <p:blipFill>
          <a:blip r:embed="rId3"/>
          <a:stretch>
            <a:fillRect/>
          </a:stretch>
        </p:blipFill>
        <p:spPr>
          <a:xfrm>
            <a:off x="0" y="841012"/>
            <a:ext cx="12192000" cy="4396657"/>
          </a:xfrm>
          <a:prstGeom prst="rect">
            <a:avLst/>
          </a:prstGeom>
        </p:spPr>
      </p:pic>
    </p:spTree>
    <p:extLst>
      <p:ext uri="{BB962C8B-B14F-4D97-AF65-F5344CB8AC3E}">
        <p14:creationId xmlns:p14="http://schemas.microsoft.com/office/powerpoint/2010/main" val="3854450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20AE6EC-F1A8-F614-2D20-E9584E62F51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EA92EF3-9494-036F-609D-3E9A4ACEB93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A5B0402-7E6B-2758-46BA-49B61D6DD95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2" name="Group 1">
            <a:extLst>
              <a:ext uri="{FF2B5EF4-FFF2-40B4-BE49-F238E27FC236}">
                <a16:creationId xmlns:a16="http://schemas.microsoft.com/office/drawing/2014/main" id="{0B927D65-219F-A895-5873-C974187537AC}"/>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C2AE62DB-53FC-9C58-BFC9-C3B5F5A93747}"/>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01D9800-7995-605F-184B-474DEA0F7D9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71CB946-B8C1-F332-FD75-DA9794BDC84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7EC7502-A7F3-4B32-9223-0674890F7F0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396EFAD-A00C-71C4-15FF-E0B834D6577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9EE6254E-9B77-5F57-2BE9-66CCB6951904}"/>
              </a:ext>
            </a:extLst>
          </p:cNvPr>
          <p:cNvPicPr>
            <a:picLocks noChangeAspect="1"/>
          </p:cNvPicPr>
          <p:nvPr/>
        </p:nvPicPr>
        <p:blipFill>
          <a:blip r:embed="rId3"/>
          <a:stretch>
            <a:fillRect/>
          </a:stretch>
        </p:blipFill>
        <p:spPr>
          <a:xfrm>
            <a:off x="76200" y="841012"/>
            <a:ext cx="12192000" cy="4592042"/>
          </a:xfrm>
          <a:prstGeom prst="rect">
            <a:avLst/>
          </a:prstGeom>
        </p:spPr>
      </p:pic>
    </p:spTree>
    <p:extLst>
      <p:ext uri="{BB962C8B-B14F-4D97-AF65-F5344CB8AC3E}">
        <p14:creationId xmlns:p14="http://schemas.microsoft.com/office/powerpoint/2010/main" val="3943575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18A0B6D-E4CF-FF22-E89A-4944D83F1A9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90964B8-CAE2-15A0-F9ED-6838A3C2714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A047178-484E-2C71-DC85-740DB148713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2" name="Group 1">
            <a:extLst>
              <a:ext uri="{FF2B5EF4-FFF2-40B4-BE49-F238E27FC236}">
                <a16:creationId xmlns:a16="http://schemas.microsoft.com/office/drawing/2014/main" id="{5EA717B9-9EB4-FA7C-47BC-BC84E0743927}"/>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26EC6CD4-131A-2C90-0FC4-EAB4790CD57E}"/>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BBA9600-7910-924D-A130-782E0327774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E6C99E2-3727-7D3B-4F59-AC2D4FF7996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D854917-8AA2-FD8A-A004-E97B77901C0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296D7DC-1A3D-ABA3-0E42-3EE5E9A1CAB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6831853-E12E-A717-51E9-F420204E5B02}"/>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12: </a:t>
            </a:r>
            <a:r>
              <a:rPr lang="en-US" sz="2400">
                <a:latin typeface="Times New Roman" panose="02020603050405020304" pitchFamily="18" charset="0"/>
                <a:cs typeface="Times New Roman" panose="02020603050405020304" pitchFamily="18" charset="0"/>
              </a:rPr>
              <a:t>login-auth-component.html</a:t>
            </a:r>
            <a:endParaRPr lang="en-US" sz="2400" b="1" kern="0">
              <a:solidFill>
                <a:srgbClr val="000000"/>
              </a:solidFill>
              <a:latin typeface="Cambria" panose="02040503050406030204" pitchFamily="18" charset="0"/>
            </a:endParaRPr>
          </a:p>
        </p:txBody>
      </p:sp>
      <p:pic>
        <p:nvPicPr>
          <p:cNvPr id="10" name="Picture 9">
            <a:extLst>
              <a:ext uri="{FF2B5EF4-FFF2-40B4-BE49-F238E27FC236}">
                <a16:creationId xmlns:a16="http://schemas.microsoft.com/office/drawing/2014/main" id="{BBFCA9CF-E14F-1A80-105F-2607F36D0DC1}"/>
              </a:ext>
            </a:extLst>
          </p:cNvPr>
          <p:cNvPicPr>
            <a:picLocks noChangeAspect="1"/>
          </p:cNvPicPr>
          <p:nvPr/>
        </p:nvPicPr>
        <p:blipFill>
          <a:blip r:embed="rId3"/>
          <a:stretch>
            <a:fillRect/>
          </a:stretch>
        </p:blipFill>
        <p:spPr>
          <a:xfrm>
            <a:off x="79489" y="1285452"/>
            <a:ext cx="10588512" cy="5572548"/>
          </a:xfrm>
          <a:prstGeom prst="rect">
            <a:avLst/>
          </a:prstGeom>
        </p:spPr>
      </p:pic>
    </p:spTree>
    <p:extLst>
      <p:ext uri="{BB962C8B-B14F-4D97-AF65-F5344CB8AC3E}">
        <p14:creationId xmlns:p14="http://schemas.microsoft.com/office/powerpoint/2010/main" val="2932105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B56505C-F4A3-2FCC-3071-258131F9B9E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7408320-735F-3D11-3DD0-32ACF00460F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B739A37-77C7-39AF-A74B-678F2457D28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2" name="Group 1">
            <a:extLst>
              <a:ext uri="{FF2B5EF4-FFF2-40B4-BE49-F238E27FC236}">
                <a16:creationId xmlns:a16="http://schemas.microsoft.com/office/drawing/2014/main" id="{0FB8AF02-B4A8-D027-23E3-8FC1B5D1FC99}"/>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A077DAF4-4C69-A433-5969-3558DDD72370}"/>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A5AB505-BB64-E23B-156F-6094BC4FE69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D4174A6-2B20-B35B-EA62-5F379725391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09527A6-B3A7-DAEE-BA89-2AC86A19DAC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F5A81BA-35DD-CAF8-FFF4-CC488CEA77B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F0C53ECB-529A-752F-CDA8-2FF46BAEB940}"/>
              </a:ext>
            </a:extLst>
          </p:cNvPr>
          <p:cNvPicPr>
            <a:picLocks noChangeAspect="1"/>
          </p:cNvPicPr>
          <p:nvPr/>
        </p:nvPicPr>
        <p:blipFill>
          <a:blip r:embed="rId3"/>
          <a:stretch>
            <a:fillRect/>
          </a:stretch>
        </p:blipFill>
        <p:spPr>
          <a:xfrm>
            <a:off x="0" y="1426664"/>
            <a:ext cx="12192000" cy="4004671"/>
          </a:xfrm>
          <a:prstGeom prst="rect">
            <a:avLst/>
          </a:prstGeom>
        </p:spPr>
      </p:pic>
      <p:sp>
        <p:nvSpPr>
          <p:cNvPr id="12" name="TextBox 11">
            <a:extLst>
              <a:ext uri="{FF2B5EF4-FFF2-40B4-BE49-F238E27FC236}">
                <a16:creationId xmlns:a16="http://schemas.microsoft.com/office/drawing/2014/main" id="{4DF66832-D00B-0ACF-68D2-57DF7D541304}"/>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12: </a:t>
            </a:r>
            <a:r>
              <a:rPr lang="en-US" sz="2400">
                <a:latin typeface="Times New Roman" panose="02020603050405020304" pitchFamily="18" charset="0"/>
                <a:cs typeface="Times New Roman" panose="02020603050405020304" pitchFamily="18" charset="0"/>
              </a:rPr>
              <a:t>login-auth-component.html</a:t>
            </a:r>
            <a:endParaRPr lang="en-US" sz="2400" b="1" kern="0">
              <a:solidFill>
                <a:srgbClr val="000000"/>
              </a:solidFill>
              <a:latin typeface="Cambria" panose="02040503050406030204" pitchFamily="18" charset="0"/>
            </a:endParaRPr>
          </a:p>
        </p:txBody>
      </p:sp>
    </p:spTree>
    <p:extLst>
      <p:ext uri="{BB962C8B-B14F-4D97-AF65-F5344CB8AC3E}">
        <p14:creationId xmlns:p14="http://schemas.microsoft.com/office/powerpoint/2010/main" val="299626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65273F3-0870-74C9-D57F-8DBBE8A4A7C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8B3CDB8-4A39-2521-655C-1201062C266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993233F-9E40-FF8F-4704-E5BB7D9FB21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2" name="Group 1">
            <a:extLst>
              <a:ext uri="{FF2B5EF4-FFF2-40B4-BE49-F238E27FC236}">
                <a16:creationId xmlns:a16="http://schemas.microsoft.com/office/drawing/2014/main" id="{059B4742-1AA5-6BC8-9E0D-F332C5D26129}"/>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B8FE297A-4BFA-7783-EFB6-D20F65B33CD7}"/>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D53CF90-E0C5-03D0-E02F-0E67DE63829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0DB362A-67D8-7B2F-00D2-1E886C1250E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A315314-FD18-6103-928B-B69045163D3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5776F4-D015-A187-DFD0-1CB31C6AAAD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C87BC45-8FE9-E82F-6139-F02CCBA00A7D}"/>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13: </a:t>
            </a:r>
            <a:r>
              <a:rPr lang="en-US" sz="2400">
                <a:latin typeface="Times New Roman" panose="02020603050405020304" pitchFamily="18" charset="0"/>
                <a:cs typeface="Times New Roman" panose="02020603050405020304" pitchFamily="18" charset="0"/>
              </a:rPr>
              <a:t>Cấu hình Routing app-routing-module.ts</a:t>
            </a:r>
            <a:endParaRPr lang="en-US" sz="2400" b="1" kern="0">
              <a:solidFill>
                <a:srgbClr val="000000"/>
              </a:solidFill>
              <a:latin typeface="Cambria" panose="02040503050406030204" pitchFamily="18" charset="0"/>
            </a:endParaRPr>
          </a:p>
        </p:txBody>
      </p:sp>
      <p:pic>
        <p:nvPicPr>
          <p:cNvPr id="10" name="Picture 9">
            <a:extLst>
              <a:ext uri="{FF2B5EF4-FFF2-40B4-BE49-F238E27FC236}">
                <a16:creationId xmlns:a16="http://schemas.microsoft.com/office/drawing/2014/main" id="{25C2EC04-C7EE-351B-73BF-0882BC8B1A2F}"/>
              </a:ext>
            </a:extLst>
          </p:cNvPr>
          <p:cNvPicPr>
            <a:picLocks noChangeAspect="1"/>
          </p:cNvPicPr>
          <p:nvPr/>
        </p:nvPicPr>
        <p:blipFill>
          <a:blip r:embed="rId3"/>
          <a:stretch>
            <a:fillRect/>
          </a:stretch>
        </p:blipFill>
        <p:spPr>
          <a:xfrm>
            <a:off x="564686" y="1476677"/>
            <a:ext cx="9632515" cy="3284505"/>
          </a:xfrm>
          <a:prstGeom prst="rect">
            <a:avLst/>
          </a:prstGeom>
        </p:spPr>
      </p:pic>
    </p:spTree>
    <p:extLst>
      <p:ext uri="{BB962C8B-B14F-4D97-AF65-F5344CB8AC3E}">
        <p14:creationId xmlns:p14="http://schemas.microsoft.com/office/powerpoint/2010/main" val="1050537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E2F0E27-038D-010D-FF09-73A26BAD183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E64EEFD-BB00-58A5-E6FF-BE927A789B3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E023780-9AC5-38DF-F22D-FE2B57B2FDD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2" name="Group 1">
            <a:extLst>
              <a:ext uri="{FF2B5EF4-FFF2-40B4-BE49-F238E27FC236}">
                <a16:creationId xmlns:a16="http://schemas.microsoft.com/office/drawing/2014/main" id="{33A8A152-71C1-7EDB-B237-5AD073425A1E}"/>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1138A12C-F9BE-3622-B005-FEAC36B88080}"/>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DF35291-7AD9-5AFE-3657-7F0843A5C31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BBCB65F-A5FB-B7F8-193D-E93472D08E1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FEFAF6C-B3A3-82BC-6AA4-85669EF03F6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3D5D550-13D9-332C-4B4C-A7407E06444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1B12F75-5E23-C451-E6C7-507FCEA510D9}"/>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14: </a:t>
            </a:r>
            <a:r>
              <a:rPr lang="en-US" sz="2400">
                <a:latin typeface="Times New Roman" panose="02020603050405020304" pitchFamily="18" charset="0"/>
                <a:cs typeface="Times New Roman" panose="02020603050405020304" pitchFamily="18" charset="0"/>
              </a:rPr>
              <a:t>app.html</a:t>
            </a:r>
            <a:endParaRPr lang="en-US" sz="2400" b="1" kern="0">
              <a:solidFill>
                <a:srgbClr val="000000"/>
              </a:solidFill>
              <a:latin typeface="Cambria" panose="02040503050406030204" pitchFamily="18" charset="0"/>
            </a:endParaRPr>
          </a:p>
        </p:txBody>
      </p:sp>
      <p:pic>
        <p:nvPicPr>
          <p:cNvPr id="11" name="Picture 10">
            <a:extLst>
              <a:ext uri="{FF2B5EF4-FFF2-40B4-BE49-F238E27FC236}">
                <a16:creationId xmlns:a16="http://schemas.microsoft.com/office/drawing/2014/main" id="{52A7E6F2-F765-FC16-0ADA-D3EB1D834CD7}"/>
              </a:ext>
            </a:extLst>
          </p:cNvPr>
          <p:cNvPicPr>
            <a:picLocks noChangeAspect="1"/>
          </p:cNvPicPr>
          <p:nvPr/>
        </p:nvPicPr>
        <p:blipFill>
          <a:blip r:embed="rId3"/>
          <a:stretch>
            <a:fillRect/>
          </a:stretch>
        </p:blipFill>
        <p:spPr>
          <a:xfrm>
            <a:off x="639686" y="1354535"/>
            <a:ext cx="9099068" cy="4153260"/>
          </a:xfrm>
          <a:prstGeom prst="rect">
            <a:avLst/>
          </a:prstGeom>
        </p:spPr>
      </p:pic>
    </p:spTree>
    <p:extLst>
      <p:ext uri="{BB962C8B-B14F-4D97-AF65-F5344CB8AC3E}">
        <p14:creationId xmlns:p14="http://schemas.microsoft.com/office/powerpoint/2010/main" val="263345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26B4F2F-05DC-2D97-ECBB-91A1CC22A84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671F562-356E-5C56-647A-23BD4D55395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1398BF6-464C-F078-8887-D1AFE374E69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2" name="Group 1">
            <a:extLst>
              <a:ext uri="{FF2B5EF4-FFF2-40B4-BE49-F238E27FC236}">
                <a16:creationId xmlns:a16="http://schemas.microsoft.com/office/drawing/2014/main" id="{6193C554-25E1-547E-E36F-02D02AD456D0}"/>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4D62F819-A5B2-7849-2951-95CAB65C47C7}"/>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3BBD473-4A4F-4AB9-C407-F063C6AD19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25C6029-6F4B-73AC-331E-308922B586A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4774C13-DC3D-A184-CAA8-F2C4165315B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214F859-F422-AE59-8AB2-88238B19978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44ECDD3-F757-43E9-4499-79E2B055F4E0}"/>
              </a:ext>
            </a:extLst>
          </p:cNvPr>
          <p:cNvSpPr txBox="1"/>
          <p:nvPr/>
        </p:nvSpPr>
        <p:spPr>
          <a:xfrm>
            <a:off x="462279" y="841012"/>
            <a:ext cx="11564547" cy="461665"/>
          </a:xfrm>
          <a:prstGeom prst="rect">
            <a:avLst/>
          </a:prstGeom>
          <a:noFill/>
        </p:spPr>
        <p:txBody>
          <a:bodyPr wrap="square">
            <a:spAutoFit/>
          </a:bodyPr>
          <a:lstStyle/>
          <a:p>
            <a:pPr marL="342900" indent="-342900" eaLnBrk="0" fontAlgn="base" hangingPunct="0">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Step 15: </a:t>
            </a:r>
            <a:r>
              <a:rPr lang="en-US" sz="2400">
                <a:latin typeface="Times New Roman" panose="02020603050405020304" pitchFamily="18" charset="0"/>
                <a:cs typeface="Times New Roman" panose="02020603050405020304" pitchFamily="18" charset="0"/>
              </a:rPr>
              <a:t>Chạy chức năng </a:t>
            </a:r>
            <a:r>
              <a:rPr lang="en-US" sz="2400">
                <a:latin typeface="Times New Roman" panose="02020603050405020304" pitchFamily="18" charset="0"/>
                <a:cs typeface="Times New Roman" panose="02020603050405020304" pitchFamily="18" charset="0"/>
                <a:hlinkClick r:id="rId3"/>
              </a:rPr>
              <a:t>http://localhost:4200/login-auth</a:t>
            </a:r>
            <a:r>
              <a:rPr lang="en-US" sz="2400">
                <a:latin typeface="Times New Roman" panose="02020603050405020304" pitchFamily="18" charset="0"/>
                <a:cs typeface="Times New Roman" panose="02020603050405020304" pitchFamily="18" charset="0"/>
              </a:rPr>
              <a:t> </a:t>
            </a:r>
            <a:endParaRPr lang="en-US" sz="2400" b="1" kern="0">
              <a:solidFill>
                <a:srgbClr val="000000"/>
              </a:solidFill>
              <a:latin typeface="Cambria" panose="02040503050406030204" pitchFamily="18" charset="0"/>
            </a:endParaRPr>
          </a:p>
        </p:txBody>
      </p:sp>
      <p:pic>
        <p:nvPicPr>
          <p:cNvPr id="13" name="Picture 12">
            <a:extLst>
              <a:ext uri="{FF2B5EF4-FFF2-40B4-BE49-F238E27FC236}">
                <a16:creationId xmlns:a16="http://schemas.microsoft.com/office/drawing/2014/main" id="{7FEF765A-82FC-42DB-6229-7B7B29ADCA50}"/>
              </a:ext>
            </a:extLst>
          </p:cNvPr>
          <p:cNvPicPr>
            <a:picLocks noChangeAspect="1"/>
          </p:cNvPicPr>
          <p:nvPr/>
        </p:nvPicPr>
        <p:blipFill>
          <a:blip r:embed="rId4"/>
          <a:stretch>
            <a:fillRect/>
          </a:stretch>
        </p:blipFill>
        <p:spPr>
          <a:xfrm>
            <a:off x="564686" y="1348397"/>
            <a:ext cx="10394590" cy="5080966"/>
          </a:xfrm>
          <a:prstGeom prst="rect">
            <a:avLst/>
          </a:prstGeom>
        </p:spPr>
      </p:pic>
    </p:spTree>
    <p:extLst>
      <p:ext uri="{BB962C8B-B14F-4D97-AF65-F5344CB8AC3E}">
        <p14:creationId xmlns:p14="http://schemas.microsoft.com/office/powerpoint/2010/main" val="24055385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608D819-E150-8030-BCD7-C5390BEA4CE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E97123D-22B0-AF6A-304A-04DB1DD42ED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3998527-8B2A-BB32-7DB7-C96B0040BF7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grpSp>
        <p:nvGrpSpPr>
          <p:cNvPr id="2" name="Group 1">
            <a:extLst>
              <a:ext uri="{FF2B5EF4-FFF2-40B4-BE49-F238E27FC236}">
                <a16:creationId xmlns:a16="http://schemas.microsoft.com/office/drawing/2014/main" id="{73F5D79D-DBD2-1C2C-BC6F-EB5AFCF60C6B}"/>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7C7F28A8-39DA-52B8-0B3C-A9D00702E608}"/>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Cookie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6BAAB81-8E8B-522F-8C09-16A9AE40549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08A8DB0-2884-C2CE-3201-A181410209B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9CCB1E8-0CF5-7B7B-715F-1FE35262CEF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EA6EE68-2BB6-F572-72D5-D8FD2C4BFBB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CA424B3-3B16-178E-449E-C70EE2191ACA}"/>
              </a:ext>
            </a:extLst>
          </p:cNvPr>
          <p:cNvSpPr txBox="1"/>
          <p:nvPr/>
        </p:nvSpPr>
        <p:spPr>
          <a:xfrm>
            <a:off x="462279" y="841012"/>
            <a:ext cx="11564547" cy="4455772"/>
          </a:xfrm>
          <a:prstGeom prst="rect">
            <a:avLst/>
          </a:prstGeom>
          <a:noFill/>
        </p:spPr>
        <p:txBody>
          <a:bodyPr wrap="square">
            <a:spAutoFit/>
          </a:bodyPr>
          <a:lstStyle/>
          <a:p>
            <a:pPr marL="342900" indent="-342900" eaLnBrk="0" fontAlgn="base" hangingPunct="0">
              <a:lnSpc>
                <a:spcPct val="150000"/>
              </a:lnSpc>
              <a:spcBef>
                <a:spcPct val="0"/>
              </a:spcBef>
              <a:spcAft>
                <a:spcPct val="0"/>
              </a:spcAf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Mở rộng Cookie</a:t>
            </a:r>
          </a:p>
          <a:p>
            <a:pPr eaLnBrk="0" fontAlgn="base" hangingPunct="0">
              <a:lnSpc>
                <a:spcPct val="150000"/>
              </a:lnSpc>
              <a:spcBef>
                <a:spcPct val="0"/>
              </a:spcBef>
              <a:spcAft>
                <a:spcPct val="0"/>
              </a:spcAft>
            </a:pPr>
            <a:r>
              <a:rPr lang="en-US" sz="2400">
                <a:latin typeface="Times New Roman" panose="02020603050405020304" pitchFamily="18" charset="0"/>
                <a:cs typeface="Times New Roman" panose="02020603050405020304" pitchFamily="18" charset="0"/>
              </a:rPr>
              <a:t>Nếu chưa đăng nhập mà vào:</a:t>
            </a:r>
          </a:p>
          <a:p>
            <a:pPr eaLnBrk="0" fontAlgn="base" hangingPunct="0">
              <a:lnSpc>
                <a:spcPct val="150000"/>
              </a:lnSpc>
              <a:spcBef>
                <a:spcPct val="0"/>
              </a:spcBef>
              <a:spcAft>
                <a:spcPct val="0"/>
              </a:spcAft>
            </a:pPr>
            <a:r>
              <a:rPr lang="en-US" sz="2400">
                <a:latin typeface="Times New Roman" panose="02020603050405020304" pitchFamily="18" charset="0"/>
                <a:cs typeface="Times New Roman" panose="02020603050405020304" pitchFamily="18" charset="0"/>
                <a:hlinkClick r:id="rId3"/>
              </a:rPr>
              <a:t>http://localhost:4200/fashion-new</a:t>
            </a:r>
            <a:endParaRPr lang="en-US" sz="2400">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lang="en-US" sz="2400">
                <a:latin typeface="Times New Roman" panose="02020603050405020304" pitchFamily="18" charset="0"/>
                <a:cs typeface="Times New Roman" panose="02020603050405020304" pitchFamily="18" charset="0"/>
                <a:hlinkClick r:id="rId4"/>
              </a:rPr>
              <a:t>http://localhost:4200/fashion-update</a:t>
            </a:r>
            <a:endParaRPr lang="en-US" sz="2400">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lang="en-US" sz="2400">
                <a:latin typeface="Times New Roman" panose="02020603050405020304" pitchFamily="18" charset="0"/>
                <a:cs typeface="Times New Roman" panose="02020603050405020304" pitchFamily="18" charset="0"/>
                <a:hlinkClick r:id="rId5"/>
              </a:rPr>
              <a:t>http://localhost:4200/fashion-delete</a:t>
            </a:r>
            <a:r>
              <a:rPr lang="en-US" sz="2400">
                <a:latin typeface="Times New Roman" panose="02020603050405020304" pitchFamily="18" charset="0"/>
                <a:cs typeface="Times New Roman" panose="02020603050405020304" pitchFamily="18" charset="0"/>
              </a:rPr>
              <a:t>  </a:t>
            </a:r>
          </a:p>
          <a:p>
            <a:pPr eaLnBrk="0" fontAlgn="base" hangingPunct="0">
              <a:lnSpc>
                <a:spcPct val="150000"/>
              </a:lnSpc>
              <a:spcBef>
                <a:spcPct val="0"/>
              </a:spcBef>
              <a:spcAft>
                <a:spcPct val="0"/>
              </a:spcAft>
            </a:pPr>
            <a:r>
              <a:rPr lang="en-US" sz="2400">
                <a:latin typeface="Times New Roman" panose="02020603050405020304" pitchFamily="18" charset="0"/>
                <a:cs typeface="Times New Roman" panose="02020603050405020304" pitchFamily="18" charset="0"/>
                <a:sym typeface="Wingdings" panose="05000000000000000000" pitchFamily="2" charset="2"/>
              </a:rPr>
              <a:t></a:t>
            </a:r>
            <a:r>
              <a:rPr lang="en-US" sz="2400">
                <a:latin typeface="Times New Roman" panose="02020603050405020304" pitchFamily="18" charset="0"/>
                <a:cs typeface="Times New Roman" panose="02020603050405020304" pitchFamily="18" charset="0"/>
              </a:rPr>
              <a:t>Thì chuyển qua </a:t>
            </a:r>
            <a:r>
              <a:rPr lang="en-US" sz="2400">
                <a:latin typeface="Times New Roman" panose="02020603050405020304" pitchFamily="18" charset="0"/>
                <a:cs typeface="Times New Roman" panose="02020603050405020304" pitchFamily="18" charset="0"/>
                <a:hlinkClick r:id="rId6"/>
              </a:rPr>
              <a:t>http://localhost:4200/login-auth</a:t>
            </a:r>
            <a:endParaRPr lang="en-US" sz="2400">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lang="en-US" sz="2400" kern="0">
                <a:solidFill>
                  <a:srgbClr val="000000"/>
                </a:solidFill>
                <a:latin typeface="Times New Roman" panose="02020603050405020304" pitchFamily="18" charset="0"/>
                <a:cs typeface="Times New Roman" panose="02020603050405020304" pitchFamily="18" charset="0"/>
              </a:rPr>
              <a:t>Nếu đăng nhập thành công thì cho phép thực hiện NEW, UPDATE, DELETE</a:t>
            </a:r>
          </a:p>
          <a:p>
            <a:pPr marL="342900" indent="-342900" eaLnBrk="0" fontAlgn="base" hangingPunct="0">
              <a:lnSpc>
                <a:spcPct val="150000"/>
              </a:lnSpc>
              <a:spcBef>
                <a:spcPct val="0"/>
              </a:spcBef>
              <a:spcAft>
                <a:spcPct val="0"/>
              </a:spcAf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Bổ sung lưu mật khẩu nhưng cần mã hóa</a:t>
            </a:r>
            <a:endParaRPr lang="en-US" sz="2400" kern="0">
              <a:solidFill>
                <a:srgbClr val="000000"/>
              </a:solidFill>
              <a:latin typeface="Cambria" panose="02040503050406030204" pitchFamily="18" charset="0"/>
            </a:endParaRPr>
          </a:p>
        </p:txBody>
      </p:sp>
    </p:spTree>
    <p:extLst>
      <p:ext uri="{BB962C8B-B14F-4D97-AF65-F5344CB8AC3E}">
        <p14:creationId xmlns:p14="http://schemas.microsoft.com/office/powerpoint/2010/main" val="4884102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29176E6-8CD7-BFB7-9BBC-5F098A1435C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30C3990-FB65-25D5-86E5-61C61D84D41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1C8565E-A046-63BA-F541-09395443410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grpSp>
        <p:nvGrpSpPr>
          <p:cNvPr id="2" name="Group 1">
            <a:extLst>
              <a:ext uri="{FF2B5EF4-FFF2-40B4-BE49-F238E27FC236}">
                <a16:creationId xmlns:a16="http://schemas.microsoft.com/office/drawing/2014/main" id="{74B316BD-F640-642E-472C-3ED5817329CF}"/>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7BEA7437-E626-CBAC-47AB-E66CD90D82B1}"/>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Giới thiệu Session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78F32C5-7068-1335-E744-22F5681BFC6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DD9F080-FC81-5BAD-E3C3-4196AD46F20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8300591-CD67-4D9D-A31F-D3F29B7EECB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750A510-7665-8113-9ADE-8C2FE399615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117ABAB-D5B1-A86F-CFB5-DB2F0F4E4F91}"/>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8.3</a:t>
            </a:r>
            <a:r>
              <a:rPr lang="en-US" sz="2400" b="1">
                <a:latin typeface="Times New Roman" panose="02020603050405020304" pitchFamily="18" charset="0"/>
                <a:cs typeface="Times New Roman" panose="02020603050405020304" pitchFamily="18" charset="0"/>
              </a:rPr>
              <a:t>.1</a:t>
            </a:r>
            <a:r>
              <a:rPr lang="vi-VN" sz="2400" b="1">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Khái niệm</a:t>
            </a:r>
            <a:endParaRPr lang="vi-V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F3C4678-996C-9EDE-62A1-93C27E1566AD}"/>
              </a:ext>
            </a:extLst>
          </p:cNvPr>
          <p:cNvSpPr txBox="1"/>
          <p:nvPr/>
        </p:nvSpPr>
        <p:spPr>
          <a:xfrm>
            <a:off x="564686" y="1354535"/>
            <a:ext cx="11231074" cy="2795958"/>
          </a:xfrm>
          <a:prstGeom prst="rect">
            <a:avLst/>
          </a:prstGeom>
          <a:noFill/>
        </p:spPr>
        <p:txBody>
          <a:bodyPr wrap="square">
            <a:spAutoFit/>
          </a:bodyPr>
          <a:lstStyle/>
          <a:p>
            <a:pPr algn="just">
              <a:lnSpc>
                <a:spcPct val="150000"/>
              </a:lnSpc>
              <a:buNone/>
            </a:pPr>
            <a:r>
              <a:rPr lang="vi-VN" sz="2400" b="1">
                <a:latin typeface="Times New Roman" panose="02020603050405020304" pitchFamily="18" charset="0"/>
                <a:cs typeface="Times New Roman" panose="02020603050405020304" pitchFamily="18" charset="0"/>
              </a:rPr>
              <a:t>Session</a:t>
            </a:r>
            <a:r>
              <a:rPr lang="vi-VN" sz="2400">
                <a:latin typeface="Times New Roman" panose="02020603050405020304" pitchFamily="18" charset="0"/>
                <a:cs typeface="Times New Roman" panose="02020603050405020304" pitchFamily="18" charset="0"/>
              </a:rPr>
              <a:t> (Phiên làm việc) là một phương pháp lưu trữ thông tin của người dùng trên </a:t>
            </a:r>
            <a:r>
              <a:rPr lang="vi-VN" sz="2400" b="1">
                <a:latin typeface="Times New Roman" panose="02020603050405020304" pitchFamily="18" charset="0"/>
                <a:cs typeface="Times New Roman" panose="02020603050405020304" pitchFamily="18" charset="0"/>
              </a:rPr>
              <a:t>Server</a:t>
            </a:r>
            <a:r>
              <a:rPr lang="vi-VN" sz="2400">
                <a:latin typeface="Times New Roman" panose="02020603050405020304" pitchFamily="18" charset="0"/>
                <a:cs typeface="Times New Roman" panose="02020603050405020304" pitchFamily="18" charset="0"/>
              </a:rPr>
              <a:t> (máy chủ) để sử dụng xuyên suốt các trang web khác nhau trong một khoảng thời gian nhất định.</a:t>
            </a:r>
          </a:p>
          <a:p>
            <a:pPr algn="just">
              <a:lnSpc>
                <a:spcPct val="150000"/>
              </a:lnSpc>
              <a:buNone/>
            </a:pPr>
            <a:r>
              <a:rPr lang="vi-VN" sz="2400">
                <a:latin typeface="Times New Roman" panose="02020603050405020304" pitchFamily="18" charset="0"/>
                <a:cs typeface="Times New Roman" panose="02020603050405020304" pitchFamily="18" charset="0"/>
              </a:rPr>
              <a:t>Khác với Cookie lưu tại Client, Session tập trung dữ liệu tại Server, giúp bảo mật các thông tin nhạy cảm.</a:t>
            </a:r>
          </a:p>
        </p:txBody>
      </p:sp>
    </p:spTree>
    <p:extLst>
      <p:ext uri="{BB962C8B-B14F-4D97-AF65-F5344CB8AC3E}">
        <p14:creationId xmlns:p14="http://schemas.microsoft.com/office/powerpoint/2010/main" val="39680725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17DE5D7-892B-13D3-DBD3-967A9E4D50C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9A4130E-8589-A136-3FEC-CE6F2120475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9643158-1F64-478D-ECA4-ACCCBA3F45C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grpSp>
        <p:nvGrpSpPr>
          <p:cNvPr id="2" name="Group 1">
            <a:extLst>
              <a:ext uri="{FF2B5EF4-FFF2-40B4-BE49-F238E27FC236}">
                <a16:creationId xmlns:a16="http://schemas.microsoft.com/office/drawing/2014/main" id="{1175D292-D425-9677-4EB9-DA6C5582B9EE}"/>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B2445B02-9C94-5B06-C322-FD0E72625112}"/>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Giới thiệu Session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807B41C-BBBF-DBEE-12F0-6CE9B3A046A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972ACAB-218E-975A-9D5F-9B3D3FDB48A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CA3CA62-F313-4238-AB55-7A6F6D24462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9560D33-E428-66BC-FDE3-F8846F325F3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92B5E4D-21E8-529C-E066-6F8F220928B3}"/>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8.3</a:t>
            </a:r>
            <a:r>
              <a:rPr lang="en-US" sz="2400" b="1">
                <a:latin typeface="Times New Roman" panose="02020603050405020304" pitchFamily="18" charset="0"/>
                <a:cs typeface="Times New Roman" panose="02020603050405020304" pitchFamily="18" charset="0"/>
              </a:rPr>
              <a:t>.2</a:t>
            </a:r>
            <a:r>
              <a:rPr lang="vi-VN" sz="2400" b="1">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Cơ chế hoạt động</a:t>
            </a:r>
            <a:endParaRPr lang="vi-V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5C97A1F-2566-48D5-9EE9-10B8EBC8065F}"/>
              </a:ext>
            </a:extLst>
          </p:cNvPr>
          <p:cNvSpPr txBox="1"/>
          <p:nvPr/>
        </p:nvSpPr>
        <p:spPr>
          <a:xfrm>
            <a:off x="468168" y="1232238"/>
            <a:ext cx="11261553" cy="5011949"/>
          </a:xfrm>
          <a:prstGeom prst="rect">
            <a:avLst/>
          </a:prstGeom>
          <a:noFill/>
        </p:spPr>
        <p:txBody>
          <a:bodyPr wrap="square">
            <a:spAutoFit/>
          </a:bodyPr>
          <a:lstStyle/>
          <a:p>
            <a:pPr algn="just">
              <a:lnSpc>
                <a:spcPct val="150000"/>
              </a:lnSpc>
              <a:buNone/>
            </a:pPr>
            <a:r>
              <a:rPr lang="vi-VN" sz="2400">
                <a:latin typeface="Times New Roman" panose="02020603050405020304" pitchFamily="18" charset="0"/>
                <a:cs typeface="Times New Roman" panose="02020603050405020304" pitchFamily="18" charset="0"/>
              </a:rPr>
              <a:t>Quá trình quản lý Session diễn ra qua 4 bước chính:</a:t>
            </a:r>
          </a:p>
          <a:p>
            <a:pPr algn="just">
              <a:lnSpc>
                <a:spcPct val="150000"/>
              </a:lnSpc>
            </a:pPr>
            <a:r>
              <a:rPr lang="en-US" sz="2400" b="1">
                <a:latin typeface="Times New Roman" panose="02020603050405020304" pitchFamily="18" charset="0"/>
                <a:cs typeface="Times New Roman" panose="02020603050405020304" pitchFamily="18" charset="0"/>
              </a:rPr>
              <a:t>Step 1:  </a:t>
            </a:r>
            <a:r>
              <a:rPr lang="vi-VN" sz="2400" b="1">
                <a:latin typeface="Times New Roman" panose="02020603050405020304" pitchFamily="18" charset="0"/>
                <a:cs typeface="Times New Roman" panose="02020603050405020304" pitchFamily="18" charset="0"/>
              </a:rPr>
              <a:t>Khởi tạo:</a:t>
            </a:r>
            <a:r>
              <a:rPr lang="vi-VN" sz="2400">
                <a:latin typeface="Times New Roman" panose="02020603050405020304" pitchFamily="18" charset="0"/>
                <a:cs typeface="Times New Roman" panose="02020603050405020304" pitchFamily="18" charset="0"/>
              </a:rPr>
              <a:t> Khi người dùng truy cập web, Server tạo ra một mã định danh duy nhất gọi là </a:t>
            </a:r>
            <a:r>
              <a:rPr lang="vi-VN" sz="2400" b="1">
                <a:latin typeface="Times New Roman" panose="02020603050405020304" pitchFamily="18" charset="0"/>
                <a:cs typeface="Times New Roman" panose="02020603050405020304" pitchFamily="18" charset="0"/>
              </a:rPr>
              <a:t>Session ID</a:t>
            </a:r>
            <a:r>
              <a:rPr lang="vi-VN" sz="2400">
                <a:latin typeface="Times New Roman" panose="02020603050405020304" pitchFamily="18" charset="0"/>
                <a:cs typeface="Times New Roman" panose="02020603050405020304" pitchFamily="18" charset="0"/>
              </a:rPr>
              <a:t>.</a:t>
            </a:r>
          </a:p>
          <a:p>
            <a:pPr algn="just">
              <a:lnSpc>
                <a:spcPct val="150000"/>
              </a:lnSpc>
            </a:pPr>
            <a:r>
              <a:rPr lang="en-US" sz="2400" b="1">
                <a:latin typeface="Times New Roman" panose="02020603050405020304" pitchFamily="18" charset="0"/>
                <a:cs typeface="Times New Roman" panose="02020603050405020304" pitchFamily="18" charset="0"/>
              </a:rPr>
              <a:t>Step 2: </a:t>
            </a:r>
            <a:r>
              <a:rPr lang="vi-VN" sz="2400" b="1">
                <a:latin typeface="Times New Roman" panose="02020603050405020304" pitchFamily="18" charset="0"/>
                <a:cs typeface="Times New Roman" panose="02020603050405020304" pitchFamily="18" charset="0"/>
              </a:rPr>
              <a:t>Lưu trữ mã:</a:t>
            </a:r>
            <a:r>
              <a:rPr lang="vi-VN" sz="2400">
                <a:latin typeface="Times New Roman" panose="02020603050405020304" pitchFamily="18" charset="0"/>
                <a:cs typeface="Times New Roman" panose="02020603050405020304" pitchFamily="18" charset="0"/>
              </a:rPr>
              <a:t> Server gửi Session ID về Client thông qua một Cookie (thường tên là connect.sid).</a:t>
            </a:r>
          </a:p>
          <a:p>
            <a:pPr algn="just">
              <a:lnSpc>
                <a:spcPct val="150000"/>
              </a:lnSpc>
            </a:pPr>
            <a:r>
              <a:rPr lang="en-US" sz="2400" b="1">
                <a:latin typeface="Times New Roman" panose="02020603050405020304" pitchFamily="18" charset="0"/>
                <a:cs typeface="Times New Roman" panose="02020603050405020304" pitchFamily="18" charset="0"/>
              </a:rPr>
              <a:t>Step 3: </a:t>
            </a:r>
            <a:r>
              <a:rPr lang="vi-VN" sz="2400" b="1">
                <a:latin typeface="Times New Roman" panose="02020603050405020304" pitchFamily="18" charset="0"/>
                <a:cs typeface="Times New Roman" panose="02020603050405020304" pitchFamily="18" charset="0"/>
              </a:rPr>
              <a:t>Đối chiếu:</a:t>
            </a:r>
            <a:r>
              <a:rPr lang="vi-VN" sz="2400">
                <a:latin typeface="Times New Roman" panose="02020603050405020304" pitchFamily="18" charset="0"/>
                <a:cs typeface="Times New Roman" panose="02020603050405020304" pitchFamily="18" charset="0"/>
              </a:rPr>
              <a:t> Với mỗi Request tiếp theo, Client gửi Cookie chứa Session ID ngược lại cho Server.</a:t>
            </a:r>
          </a:p>
          <a:p>
            <a:pPr algn="just">
              <a:lnSpc>
                <a:spcPct val="150000"/>
              </a:lnSpc>
            </a:pPr>
            <a:r>
              <a:rPr lang="en-US" sz="2400" b="1">
                <a:latin typeface="Times New Roman" panose="02020603050405020304" pitchFamily="18" charset="0"/>
                <a:cs typeface="Times New Roman" panose="02020603050405020304" pitchFamily="18" charset="0"/>
              </a:rPr>
              <a:t>Step 4: </a:t>
            </a:r>
            <a:r>
              <a:rPr lang="vi-VN" sz="2400" b="1">
                <a:latin typeface="Times New Roman" panose="02020603050405020304" pitchFamily="18" charset="0"/>
                <a:cs typeface="Times New Roman" panose="02020603050405020304" pitchFamily="18" charset="0"/>
              </a:rPr>
              <a:t>Truy xuất:</a:t>
            </a:r>
            <a:r>
              <a:rPr lang="vi-VN" sz="2400">
                <a:latin typeface="Times New Roman" panose="02020603050405020304" pitchFamily="18" charset="0"/>
                <a:cs typeface="Times New Roman" panose="02020603050405020304" pitchFamily="18" charset="0"/>
              </a:rPr>
              <a:t> Server dùng ID này để tìm đúng dữ liệu (Session Data) tương ứng trong bộ nhớ của nó.</a:t>
            </a:r>
          </a:p>
        </p:txBody>
      </p:sp>
    </p:spTree>
    <p:extLst>
      <p:ext uri="{BB962C8B-B14F-4D97-AF65-F5344CB8AC3E}">
        <p14:creationId xmlns:p14="http://schemas.microsoft.com/office/powerpoint/2010/main" val="6049098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0E57D80-5760-3AA5-1B64-AFF24EB1472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73AA86D-7B8A-A29B-DC7B-45324948596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AF7DFF7-3F53-CC89-AA30-6D7EEBF7FF6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grpSp>
        <p:nvGrpSpPr>
          <p:cNvPr id="2" name="Group 1">
            <a:extLst>
              <a:ext uri="{FF2B5EF4-FFF2-40B4-BE49-F238E27FC236}">
                <a16:creationId xmlns:a16="http://schemas.microsoft.com/office/drawing/2014/main" id="{1E897151-16A2-AC71-C3F0-01EF90C5C7B3}"/>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8B9695E3-B4E2-2A73-AF6D-CBF176C119CE}"/>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Giới thiệu Session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53D4A90-92F4-CBDB-5E33-31776DEF2DE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0347909-E6A1-3680-5799-CAEB41B9EE1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7A6F959-D102-497D-48C8-A5434BE5D9D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2221AA1-D80F-4C72-203B-1BDF9AB392C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29AB8CF-6662-3067-A938-87901A79A02E}"/>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8.3</a:t>
            </a:r>
            <a:r>
              <a:rPr lang="en-US" sz="2400" b="1">
                <a:latin typeface="Times New Roman" panose="02020603050405020304" pitchFamily="18" charset="0"/>
                <a:cs typeface="Times New Roman" panose="02020603050405020304" pitchFamily="18" charset="0"/>
              </a:rPr>
              <a:t>.3</a:t>
            </a:r>
            <a:r>
              <a:rPr lang="vi-VN" sz="2400" b="1">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Các thành phần cốt lõi của đối tượng Session</a:t>
            </a:r>
            <a:endParaRPr lang="vi-V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F86DEB7-EC52-9576-8D9B-DF82FFE9951C}"/>
              </a:ext>
            </a:extLst>
          </p:cNvPr>
          <p:cNvSpPr txBox="1"/>
          <p:nvPr/>
        </p:nvSpPr>
        <p:spPr>
          <a:xfrm>
            <a:off x="542786" y="1269015"/>
            <a:ext cx="11345374" cy="1687963"/>
          </a:xfrm>
          <a:prstGeom prst="rect">
            <a:avLst/>
          </a:prstGeom>
          <a:noFill/>
        </p:spPr>
        <p:txBody>
          <a:bodyPr wrap="square">
            <a:spAutoFit/>
          </a:bodyPr>
          <a:lstStyle/>
          <a:p>
            <a:pPr algn="just">
              <a:lnSpc>
                <a:spcPct val="150000"/>
              </a:lnSpc>
            </a:pPr>
            <a:r>
              <a:rPr lang="vi-VN" sz="2400">
                <a:latin typeface="Times New Roman" panose="02020603050405020304" pitchFamily="18" charset="0"/>
                <a:cs typeface="Times New Roman" panose="02020603050405020304" pitchFamily="18" charset="0"/>
              </a:rPr>
              <a:t>Trong Express, mọi tương tác với phiên làm việc đều thông qua đối tượng req.session. Đây là một đối tượng dạng </a:t>
            </a:r>
            <a:r>
              <a:rPr lang="vi-VN" sz="2400" b="1">
                <a:latin typeface="Times New Roman" panose="02020603050405020304" pitchFamily="18" charset="0"/>
                <a:cs typeface="Times New Roman" panose="02020603050405020304" pitchFamily="18" charset="0"/>
              </a:rPr>
              <a:t>Key-Value</a:t>
            </a:r>
            <a:r>
              <a:rPr lang="vi-VN" sz="2400">
                <a:latin typeface="Times New Roman" panose="02020603050405020304" pitchFamily="18" charset="0"/>
                <a:cs typeface="Times New Roman" panose="02020603050405020304" pitchFamily="18" charset="0"/>
              </a:rPr>
              <a:t>, cho phép ta lưu trữ bất kỳ kiểu dữ liệu nào (Object, Array, String, Number).</a:t>
            </a:r>
            <a:endParaRPr lang="en-US" sz="24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C41C511-DF70-4874-52C4-E2605C4FF7F0}"/>
              </a:ext>
            </a:extLst>
          </p:cNvPr>
          <p:cNvSpPr txBox="1"/>
          <p:nvPr/>
        </p:nvSpPr>
        <p:spPr>
          <a:xfrm>
            <a:off x="542786" y="3071652"/>
            <a:ext cx="11484040" cy="3139321"/>
          </a:xfrm>
          <a:prstGeom prst="rect">
            <a:avLst/>
          </a:prstGeom>
          <a:noFill/>
        </p:spPr>
        <p:txBody>
          <a:bodyPr wrap="square">
            <a:spAutoFit/>
          </a:bodyPr>
          <a:lstStyle/>
          <a:p>
            <a:pPr>
              <a:buNone/>
            </a:pPr>
            <a:r>
              <a:rPr lang="vi-VN" sz="2200" b="1">
                <a:latin typeface="Times New Roman" panose="02020603050405020304" pitchFamily="18" charset="0"/>
                <a:cs typeface="Times New Roman" panose="02020603050405020304" pitchFamily="18" charset="0"/>
              </a:rPr>
              <a:t>1. Nhóm hàm Quản lý dữ liệu (Data Management)</a:t>
            </a:r>
          </a:p>
          <a:p>
            <a:pPr>
              <a:buNone/>
            </a:pPr>
            <a:r>
              <a:rPr lang="vi-VN" sz="2200">
                <a:latin typeface="Times New Roman" panose="02020603050405020304" pitchFamily="18" charset="0"/>
                <a:cs typeface="Times New Roman" panose="02020603050405020304" pitchFamily="18" charset="0"/>
              </a:rPr>
              <a:t>Đây là những thao tác cơ bản nhất mà sinh viên sẽ thực hiện hàng ngày:</a:t>
            </a:r>
          </a:p>
          <a:p>
            <a:pPr marL="342900" indent="-342900">
              <a:buFont typeface="Wingdings" panose="05000000000000000000" pitchFamily="2" charset="2"/>
              <a:buChar char="ü"/>
            </a:pPr>
            <a:r>
              <a:rPr lang="vi-VN" sz="2200" b="1">
                <a:latin typeface="Times New Roman" panose="02020603050405020304" pitchFamily="18" charset="0"/>
                <a:cs typeface="Times New Roman" panose="02020603050405020304" pitchFamily="18" charset="0"/>
              </a:rPr>
              <a:t>Ghi dữ liệu (Writing):</a:t>
            </a:r>
            <a:r>
              <a:rPr lang="vi-VN" sz="2200">
                <a:latin typeface="Times New Roman" panose="02020603050405020304" pitchFamily="18" charset="0"/>
                <a:cs typeface="Times New Roman" panose="02020603050405020304" pitchFamily="18" charset="0"/>
              </a:rPr>
              <a:t> Không cần hàm cụ thể, chỉ cần gán giá trị cho một Key tự định nghĩa.</a:t>
            </a:r>
          </a:p>
          <a:p>
            <a:pPr marL="742950" lvl="1" indent="-285750">
              <a:buFont typeface="Arial" panose="020B0604020202020204" pitchFamily="34" charset="0"/>
              <a:buChar char="•"/>
            </a:pPr>
            <a:r>
              <a:rPr lang="vi-VN" sz="2200" i="1">
                <a:latin typeface="Times New Roman" panose="02020603050405020304" pitchFamily="18" charset="0"/>
                <a:cs typeface="Times New Roman" panose="02020603050405020304" pitchFamily="18" charset="0"/>
              </a:rPr>
              <a:t>Cú pháp:</a:t>
            </a:r>
            <a:r>
              <a:rPr lang="vi-VN" sz="2200">
                <a:latin typeface="Times New Roman" panose="02020603050405020304" pitchFamily="18" charset="0"/>
                <a:cs typeface="Times New Roman" panose="02020603050405020304" pitchFamily="18" charset="0"/>
              </a:rPr>
              <a:t> req.session.key = value;</a:t>
            </a:r>
          </a:p>
          <a:p>
            <a:pPr marL="742950" lvl="1" indent="-285750">
              <a:buFont typeface="Arial" panose="020B0604020202020204" pitchFamily="34" charset="0"/>
              <a:buChar char="•"/>
            </a:pPr>
            <a:r>
              <a:rPr lang="vi-VN" sz="2200" i="1">
                <a:latin typeface="Times New Roman" panose="02020603050405020304" pitchFamily="18" charset="0"/>
                <a:cs typeface="Times New Roman" panose="02020603050405020304" pitchFamily="18" charset="0"/>
              </a:rPr>
              <a:t>Ví dụ:</a:t>
            </a:r>
            <a:r>
              <a:rPr lang="vi-VN" sz="2200">
                <a:latin typeface="Times New Roman" panose="02020603050405020304" pitchFamily="18" charset="0"/>
                <a:cs typeface="Times New Roman" panose="02020603050405020304" pitchFamily="18" charset="0"/>
              </a:rPr>
              <a:t> req.session.cart = [];</a:t>
            </a:r>
          </a:p>
          <a:p>
            <a:pPr marL="342900" indent="-342900">
              <a:buFont typeface="Wingdings" panose="05000000000000000000" pitchFamily="2" charset="2"/>
              <a:buChar char="ü"/>
            </a:pPr>
            <a:r>
              <a:rPr lang="vi-VN" sz="2200" b="1">
                <a:latin typeface="Times New Roman" panose="02020603050405020304" pitchFamily="18" charset="0"/>
                <a:cs typeface="Times New Roman" panose="02020603050405020304" pitchFamily="18" charset="0"/>
              </a:rPr>
              <a:t>Đọc dữ liệu (Reading):</a:t>
            </a:r>
            <a:r>
              <a:rPr lang="vi-VN" sz="2200">
                <a:latin typeface="Times New Roman" panose="02020603050405020304" pitchFamily="18" charset="0"/>
                <a:cs typeface="Times New Roman" panose="02020603050405020304" pitchFamily="18" charset="0"/>
              </a:rPr>
              <a:t> Truy cập trực tiếp qua Key.</a:t>
            </a:r>
          </a:p>
          <a:p>
            <a:pPr marL="742950" lvl="1" indent="-285750">
              <a:buFont typeface="Arial" panose="020B0604020202020204" pitchFamily="34" charset="0"/>
              <a:buChar char="•"/>
            </a:pPr>
            <a:r>
              <a:rPr lang="vi-VN" sz="2200" i="1">
                <a:latin typeface="Times New Roman" panose="02020603050405020304" pitchFamily="18" charset="0"/>
                <a:cs typeface="Times New Roman" panose="02020603050405020304" pitchFamily="18" charset="0"/>
              </a:rPr>
              <a:t>Cú pháp:</a:t>
            </a:r>
            <a:r>
              <a:rPr lang="vi-VN" sz="2200">
                <a:latin typeface="Times New Roman" panose="02020603050405020304" pitchFamily="18" charset="0"/>
                <a:cs typeface="Times New Roman" panose="02020603050405020304" pitchFamily="18" charset="0"/>
              </a:rPr>
              <a:t> let data = req.session.key;</a:t>
            </a:r>
          </a:p>
          <a:p>
            <a:pPr marL="342900" indent="-342900">
              <a:buFont typeface="Wingdings" panose="05000000000000000000" pitchFamily="2" charset="2"/>
              <a:buChar char="ü"/>
            </a:pPr>
            <a:r>
              <a:rPr lang="vi-VN" sz="2200" b="1">
                <a:latin typeface="Times New Roman" panose="02020603050405020304" pitchFamily="18" charset="0"/>
                <a:cs typeface="Times New Roman" panose="02020603050405020304" pitchFamily="18" charset="0"/>
              </a:rPr>
              <a:t>Xóa một phần dữ liệu (Deleting a key):</a:t>
            </a:r>
            <a:r>
              <a:rPr lang="vi-VN" sz="2200">
                <a:latin typeface="Times New Roman" panose="02020603050405020304" pitchFamily="18" charset="0"/>
                <a:cs typeface="Times New Roman" panose="02020603050405020304" pitchFamily="18" charset="0"/>
              </a:rPr>
              <a:t> Sử dụng từ khóa delete của JavaScript.</a:t>
            </a:r>
          </a:p>
          <a:p>
            <a:pPr marL="742950" lvl="1" indent="-285750">
              <a:buFont typeface="Arial" panose="020B0604020202020204" pitchFamily="34" charset="0"/>
              <a:buChar char="•"/>
            </a:pPr>
            <a:r>
              <a:rPr lang="vi-VN" sz="2200" i="1">
                <a:latin typeface="Times New Roman" panose="02020603050405020304" pitchFamily="18" charset="0"/>
                <a:cs typeface="Times New Roman" panose="02020603050405020304" pitchFamily="18" charset="0"/>
              </a:rPr>
              <a:t>Cú pháp:</a:t>
            </a:r>
            <a:r>
              <a:rPr lang="vi-VN" sz="2200">
                <a:latin typeface="Times New Roman" panose="02020603050405020304" pitchFamily="18" charset="0"/>
                <a:cs typeface="Times New Roman" panose="02020603050405020304" pitchFamily="18" charset="0"/>
              </a:rPr>
              <a:t> delete req.session.cart;</a:t>
            </a:r>
          </a:p>
        </p:txBody>
      </p:sp>
    </p:spTree>
    <p:extLst>
      <p:ext uri="{BB962C8B-B14F-4D97-AF65-F5344CB8AC3E}">
        <p14:creationId xmlns:p14="http://schemas.microsoft.com/office/powerpoint/2010/main" val="1895403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3F79216-CCE8-2C4B-56DE-05D84ED213F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6B4DB0F-D35B-9D45-B056-2F5843DA099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31132FE-2843-960A-16D1-C83EB63A0E7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grpSp>
        <p:nvGrpSpPr>
          <p:cNvPr id="2" name="Group 1">
            <a:extLst>
              <a:ext uri="{FF2B5EF4-FFF2-40B4-BE49-F238E27FC236}">
                <a16:creationId xmlns:a16="http://schemas.microsoft.com/office/drawing/2014/main" id="{45B282CC-DA0F-58B5-C642-98C278F200C6}"/>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1AB25136-3521-E7F8-A7F0-9AAB740A9ACA}"/>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Giới thiệu Session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2C7FD50-67D2-D9B0-907C-5B29E9A72D8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B2E7255-8809-E5FD-FE52-C22A29908DE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9841B83-2FD3-9D81-8FC7-C0F6356C826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5584388-D602-9F73-2F61-E0C1BA1066E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015DBF6E-8D36-5B39-3771-C701F8B2A5C4}"/>
              </a:ext>
            </a:extLst>
          </p:cNvPr>
          <p:cNvSpPr txBox="1"/>
          <p:nvPr/>
        </p:nvSpPr>
        <p:spPr>
          <a:xfrm>
            <a:off x="234808" y="1283858"/>
            <a:ext cx="10926274" cy="830997"/>
          </a:xfrm>
          <a:prstGeom prst="rect">
            <a:avLst/>
          </a:prstGeom>
          <a:noFill/>
        </p:spPr>
        <p:txBody>
          <a:bodyPr wrap="square">
            <a:spAutoFit/>
          </a:bodyPr>
          <a:lstStyle/>
          <a:p>
            <a:pPr>
              <a:buNone/>
            </a:pPr>
            <a:r>
              <a:rPr lang="vi-VN" sz="2400" b="1">
                <a:latin typeface="Times New Roman" panose="02020603050405020304" pitchFamily="18" charset="0"/>
                <a:cs typeface="Times New Roman" panose="02020603050405020304" pitchFamily="18" charset="0"/>
              </a:rPr>
              <a:t>2. Nhóm hàm Điều khiển phiên (Session Control Methods)</a:t>
            </a:r>
          </a:p>
          <a:p>
            <a:pPr>
              <a:buNone/>
            </a:pPr>
            <a:r>
              <a:rPr lang="vi-VN" sz="2400">
                <a:latin typeface="Times New Roman" panose="02020603050405020304" pitchFamily="18" charset="0"/>
                <a:cs typeface="Times New Roman" panose="02020603050405020304" pitchFamily="18" charset="0"/>
              </a:rPr>
              <a:t>Đây là các hàm chức năng tích hợp sẵn của thư viện để quản lý vòng đời của Session:</a:t>
            </a:r>
          </a:p>
        </p:txBody>
      </p:sp>
      <p:graphicFrame>
        <p:nvGraphicFramePr>
          <p:cNvPr id="12" name="Table 11">
            <a:extLst>
              <a:ext uri="{FF2B5EF4-FFF2-40B4-BE49-F238E27FC236}">
                <a16:creationId xmlns:a16="http://schemas.microsoft.com/office/drawing/2014/main" id="{6C637812-25B8-FB23-9517-88D4F978AA0E}"/>
              </a:ext>
            </a:extLst>
          </p:cNvPr>
          <p:cNvGraphicFramePr>
            <a:graphicFrameLocks noGrp="1"/>
          </p:cNvGraphicFramePr>
          <p:nvPr>
            <p:extLst>
              <p:ext uri="{D42A27DB-BD31-4B8C-83A1-F6EECF244321}">
                <p14:modId xmlns:p14="http://schemas.microsoft.com/office/powerpoint/2010/main" val="3034553376"/>
              </p:ext>
            </p:extLst>
          </p:nvPr>
        </p:nvGraphicFramePr>
        <p:xfrm>
          <a:off x="234808" y="2166714"/>
          <a:ext cx="11764362" cy="4236720"/>
        </p:xfrm>
        <a:graphic>
          <a:graphicData uri="http://schemas.openxmlformats.org/drawingml/2006/table">
            <a:tbl>
              <a:tblPr/>
              <a:tblGrid>
                <a:gridCol w="4062872">
                  <a:extLst>
                    <a:ext uri="{9D8B030D-6E8A-4147-A177-3AD203B41FA5}">
                      <a16:colId xmlns:a16="http://schemas.microsoft.com/office/drawing/2014/main" val="1157324525"/>
                    </a:ext>
                  </a:extLst>
                </a:gridCol>
                <a:gridCol w="3960072">
                  <a:extLst>
                    <a:ext uri="{9D8B030D-6E8A-4147-A177-3AD203B41FA5}">
                      <a16:colId xmlns:a16="http://schemas.microsoft.com/office/drawing/2014/main" val="276200031"/>
                    </a:ext>
                  </a:extLst>
                </a:gridCol>
                <a:gridCol w="3741418">
                  <a:extLst>
                    <a:ext uri="{9D8B030D-6E8A-4147-A177-3AD203B41FA5}">
                      <a16:colId xmlns:a16="http://schemas.microsoft.com/office/drawing/2014/main" val="4045610962"/>
                    </a:ext>
                  </a:extLst>
                </a:gridCol>
              </a:tblGrid>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Tên hàm</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Mô tả chức năng</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Ngữ cảnh sử dụng</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770281720"/>
                  </a:ext>
                </a:extLst>
              </a:tr>
              <a:tr h="0">
                <a:tc>
                  <a:txBody>
                    <a:bodyPr/>
                    <a:lstStyle/>
                    <a:p>
                      <a:pPr rtl="0">
                        <a:buNone/>
                      </a:pPr>
                      <a:r>
                        <a:rPr lang="en-US" sz="2200" b="1">
                          <a:solidFill>
                            <a:srgbClr val="444746"/>
                          </a:solidFill>
                          <a:effectLst/>
                          <a:latin typeface="Times New Roman" panose="02020603050405020304" pitchFamily="18" charset="0"/>
                          <a:cs typeface="Times New Roman" panose="02020603050405020304" pitchFamily="18" charset="0"/>
                        </a:rPr>
                        <a:t>req.session.destroy(callback)</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Hủy bỏ hoàn toàn Session trên Server và giải phóng bộ nhớ.</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Chức năng </a:t>
                      </a:r>
                      <a:r>
                        <a:rPr lang="en-US" sz="2200" b="1">
                          <a:solidFill>
                            <a:srgbClr val="1F1F1F"/>
                          </a:solidFill>
                          <a:effectLst/>
                          <a:latin typeface="Times New Roman" panose="02020603050405020304" pitchFamily="18" charset="0"/>
                          <a:cs typeface="Times New Roman" panose="02020603050405020304" pitchFamily="18" charset="0"/>
                        </a:rPr>
                        <a:t>Logout (Đăng xuất)</a:t>
                      </a:r>
                      <a:r>
                        <a:rPr lang="en-US" sz="2200">
                          <a:solidFill>
                            <a:srgbClr val="1F1F1F"/>
                          </a:solidFill>
                          <a:effectLst/>
                          <a:latin typeface="Times New Roman" panose="02020603050405020304" pitchFamily="18" charset="0"/>
                          <a:cs typeface="Times New Roman" panose="02020603050405020304" pitchFamily="18" charset="0"/>
                        </a:rPr>
                        <a:t>.</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1772905"/>
                  </a:ext>
                </a:extLst>
              </a:tr>
              <a:tr h="0">
                <a:tc>
                  <a:txBody>
                    <a:bodyPr/>
                    <a:lstStyle/>
                    <a:p>
                      <a:pPr rtl="0">
                        <a:buNone/>
                      </a:pPr>
                      <a:r>
                        <a:rPr lang="en-US" sz="2200" b="1">
                          <a:solidFill>
                            <a:srgbClr val="444746"/>
                          </a:solidFill>
                          <a:effectLst/>
                          <a:latin typeface="Times New Roman" panose="02020603050405020304" pitchFamily="18" charset="0"/>
                          <a:cs typeface="Times New Roman" panose="02020603050405020304" pitchFamily="18" charset="0"/>
                        </a:rPr>
                        <a:t>req.session.save(callback)</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Ép Server lưu dữ liệu vào kho lưu trữ ngay lập tức.</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Đảm bảo dữ liệu được lưu trước khi thực hiện </a:t>
                      </a:r>
                      <a:r>
                        <a:rPr lang="vi-VN" sz="2200">
                          <a:solidFill>
                            <a:srgbClr val="444746"/>
                          </a:solidFill>
                          <a:effectLst/>
                          <a:latin typeface="Times New Roman" panose="02020603050405020304" pitchFamily="18" charset="0"/>
                          <a:cs typeface="Times New Roman" panose="02020603050405020304" pitchFamily="18" charset="0"/>
                        </a:rPr>
                        <a:t>redirect</a:t>
                      </a:r>
                      <a:r>
                        <a:rPr lang="vi-VN" sz="2200">
                          <a:solidFill>
                            <a:srgbClr val="1F1F1F"/>
                          </a:solidFill>
                          <a:effectLst/>
                          <a:latin typeface="Times New Roman" panose="02020603050405020304" pitchFamily="18" charset="0"/>
                          <a:cs typeface="Times New Roman" panose="02020603050405020304" pitchFamily="18" charset="0"/>
                        </a:rPr>
                        <a:t>.</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6148096"/>
                  </a:ext>
                </a:extLst>
              </a:tr>
              <a:tr h="0">
                <a:tc>
                  <a:txBody>
                    <a:bodyPr/>
                    <a:lstStyle/>
                    <a:p>
                      <a:pPr rtl="0">
                        <a:buNone/>
                      </a:pPr>
                      <a:r>
                        <a:rPr lang="en-US" sz="2200" b="1">
                          <a:solidFill>
                            <a:srgbClr val="444746"/>
                          </a:solidFill>
                          <a:effectLst/>
                          <a:latin typeface="Times New Roman" panose="02020603050405020304" pitchFamily="18" charset="0"/>
                          <a:cs typeface="Times New Roman" panose="02020603050405020304" pitchFamily="18" charset="0"/>
                        </a:rPr>
                        <a:t>req.session.regenerate(callback)</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Xóa Session cũ và tạo một Session ID hoàn toàn mới.</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Ngăn chặn tấn công </a:t>
                      </a:r>
                      <a:r>
                        <a:rPr lang="en-US" sz="2200" b="1">
                          <a:solidFill>
                            <a:srgbClr val="1F1F1F"/>
                          </a:solidFill>
                          <a:effectLst/>
                          <a:latin typeface="Times New Roman" panose="02020603050405020304" pitchFamily="18" charset="0"/>
                          <a:cs typeface="Times New Roman" panose="02020603050405020304" pitchFamily="18" charset="0"/>
                        </a:rPr>
                        <a:t>Session Fixation</a:t>
                      </a:r>
                      <a:r>
                        <a:rPr lang="en-US" sz="2200">
                          <a:solidFill>
                            <a:srgbClr val="1F1F1F"/>
                          </a:solidFill>
                          <a:effectLst/>
                          <a:latin typeface="Times New Roman" panose="02020603050405020304" pitchFamily="18" charset="0"/>
                          <a:cs typeface="Times New Roman" panose="02020603050405020304" pitchFamily="18" charset="0"/>
                        </a:rPr>
                        <a:t> khi đăng nhập.</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0501812"/>
                  </a:ext>
                </a:extLst>
              </a:tr>
              <a:tr h="0">
                <a:tc>
                  <a:txBody>
                    <a:bodyPr/>
                    <a:lstStyle/>
                    <a:p>
                      <a:pPr rtl="0">
                        <a:buNone/>
                      </a:pPr>
                      <a:r>
                        <a:rPr lang="en-US" sz="2200" b="1">
                          <a:solidFill>
                            <a:srgbClr val="444746"/>
                          </a:solidFill>
                          <a:effectLst/>
                          <a:latin typeface="Times New Roman" panose="02020603050405020304" pitchFamily="18" charset="0"/>
                          <a:cs typeface="Times New Roman" panose="02020603050405020304" pitchFamily="18" charset="0"/>
                        </a:rPr>
                        <a:t>req.session.reload(callback)</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Tải lại dữ liệu Session từ kho lưu trữ (Store).</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Làm mới dữ liệu nếu có tiến trình khác thay đổi Session.</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0214910"/>
                  </a:ext>
                </a:extLst>
              </a:tr>
            </a:tbl>
          </a:graphicData>
        </a:graphic>
      </p:graphicFrame>
      <p:sp>
        <p:nvSpPr>
          <p:cNvPr id="14" name="TextBox 13">
            <a:extLst>
              <a:ext uri="{FF2B5EF4-FFF2-40B4-BE49-F238E27FC236}">
                <a16:creationId xmlns:a16="http://schemas.microsoft.com/office/drawing/2014/main" id="{626E48DB-A1D1-D751-81E5-68A0462B0FE8}"/>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8.3</a:t>
            </a:r>
            <a:r>
              <a:rPr lang="en-US" sz="2400" b="1">
                <a:latin typeface="Times New Roman" panose="02020603050405020304" pitchFamily="18" charset="0"/>
                <a:cs typeface="Times New Roman" panose="02020603050405020304" pitchFamily="18" charset="0"/>
              </a:rPr>
              <a:t>.3</a:t>
            </a:r>
            <a:r>
              <a:rPr lang="vi-VN" sz="2400" b="1">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Các thành phần cốt lõi của đối tượng Session</a:t>
            </a:r>
            <a:endParaRPr lang="vi-V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97173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DB6D1E0-7EEA-5AF3-8390-A45245C57D6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B30A274-DA15-9681-1E43-146FF5C6293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930AA93-856B-C023-FFBA-E116EE6EDDA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grpSp>
        <p:nvGrpSpPr>
          <p:cNvPr id="2" name="Group 1">
            <a:extLst>
              <a:ext uri="{FF2B5EF4-FFF2-40B4-BE49-F238E27FC236}">
                <a16:creationId xmlns:a16="http://schemas.microsoft.com/office/drawing/2014/main" id="{A1DC9C56-59B3-CED3-47FC-6707DB51AE8E}"/>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495EE660-1B59-C31A-0218-5EC5A7C664C1}"/>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Giới thiệu Session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B00A1A5-B234-777A-3DE9-671A3C4E5E8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C62CB07-E9C6-10B7-1143-135A362B6D4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314BEEA-BF1E-05ED-E99C-B71C50E6D1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7018755-41B2-1B0B-6F0A-30E557F1F46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0FB38AE-9D9D-29AA-97FA-2B5965BA0CB9}"/>
              </a:ext>
            </a:extLst>
          </p:cNvPr>
          <p:cNvSpPr txBox="1"/>
          <p:nvPr/>
        </p:nvSpPr>
        <p:spPr>
          <a:xfrm>
            <a:off x="469513" y="1200024"/>
            <a:ext cx="11252974" cy="4457952"/>
          </a:xfrm>
          <a:prstGeom prst="rect">
            <a:avLst/>
          </a:prstGeom>
          <a:noFill/>
        </p:spPr>
        <p:txBody>
          <a:bodyPr wrap="square">
            <a:spAutoFit/>
          </a:bodyPr>
          <a:lstStyle/>
          <a:p>
            <a:pPr algn="just">
              <a:lnSpc>
                <a:spcPct val="150000"/>
              </a:lnSpc>
              <a:buNone/>
            </a:pPr>
            <a:r>
              <a:rPr lang="en-US" sz="2400" b="1">
                <a:latin typeface="Times New Roman" panose="02020603050405020304" pitchFamily="18" charset="0"/>
                <a:cs typeface="Times New Roman" panose="02020603050405020304" pitchFamily="18" charset="0"/>
              </a:rPr>
              <a:t>3. Nhóm thuộc tính cấu hình Cookie (Session Cookie Properties)</a:t>
            </a:r>
          </a:p>
          <a:p>
            <a:pPr algn="just">
              <a:lnSpc>
                <a:spcPct val="150000"/>
              </a:lnSpc>
              <a:buNone/>
            </a:pPr>
            <a:r>
              <a:rPr lang="en-US" sz="2400">
                <a:latin typeface="Times New Roman" panose="02020603050405020304" pitchFamily="18" charset="0"/>
                <a:cs typeface="Times New Roman" panose="02020603050405020304" pitchFamily="18" charset="0"/>
              </a:rPr>
              <a:t>Server quản lý Session dựa trên một Cookie định danh ở Client. Ta có thể can thiệp vào Cookie này thông qua req.session.cookie:</a:t>
            </a:r>
          </a:p>
          <a:p>
            <a:pPr marL="342900" indent="-342900" algn="just">
              <a:lnSpc>
                <a:spcPct val="150000"/>
              </a:lnSpc>
              <a:buFont typeface="Wingdings" panose="05000000000000000000" pitchFamily="2" charset="2"/>
              <a:buChar char="ü"/>
            </a:pPr>
            <a:r>
              <a:rPr lang="en-US" sz="2400" b="1">
                <a:latin typeface="Times New Roman" panose="02020603050405020304" pitchFamily="18" charset="0"/>
                <a:cs typeface="Times New Roman" panose="02020603050405020304" pitchFamily="18" charset="0"/>
              </a:rPr>
              <a:t>req.session.cookie.maxAge</a:t>
            </a:r>
            <a:r>
              <a:rPr lang="en-US" sz="2400">
                <a:latin typeface="Times New Roman" panose="02020603050405020304" pitchFamily="18" charset="0"/>
                <a:cs typeface="Times New Roman" panose="02020603050405020304" pitchFamily="18" charset="0"/>
              </a:rPr>
              <a:t>: Lấy hoặc thiết lập thời gian sống còn lại của Session (tính bằng miliseconds).</a:t>
            </a:r>
          </a:p>
          <a:p>
            <a:pPr marL="342900" indent="-342900" algn="just">
              <a:lnSpc>
                <a:spcPct val="150000"/>
              </a:lnSpc>
              <a:buFont typeface="Wingdings" panose="05000000000000000000" pitchFamily="2" charset="2"/>
              <a:buChar char="ü"/>
            </a:pPr>
            <a:r>
              <a:rPr lang="en-US" sz="2400" b="1">
                <a:latin typeface="Times New Roman" panose="02020603050405020304" pitchFamily="18" charset="0"/>
                <a:cs typeface="Times New Roman" panose="02020603050405020304" pitchFamily="18" charset="0"/>
              </a:rPr>
              <a:t>req.session.cookie.expires</a:t>
            </a:r>
            <a:r>
              <a:rPr lang="en-US" sz="2400">
                <a:latin typeface="Times New Roman" panose="02020603050405020304" pitchFamily="18" charset="0"/>
                <a:cs typeface="Times New Roman" panose="02020603050405020304" pitchFamily="18" charset="0"/>
              </a:rPr>
              <a:t>: Ngày giờ cụ thể mà Session sẽ hết hạn.</a:t>
            </a:r>
          </a:p>
          <a:p>
            <a:pPr marL="342900" indent="-342900" algn="just">
              <a:lnSpc>
                <a:spcPct val="150000"/>
              </a:lnSpc>
              <a:buFont typeface="Wingdings" panose="05000000000000000000" pitchFamily="2" charset="2"/>
              <a:buChar char="ü"/>
            </a:pPr>
            <a:r>
              <a:rPr lang="en-US" sz="2400" b="1">
                <a:latin typeface="Times New Roman" panose="02020603050405020304" pitchFamily="18" charset="0"/>
                <a:cs typeface="Times New Roman" panose="02020603050405020304" pitchFamily="18" charset="0"/>
              </a:rPr>
              <a:t>req.session.id</a:t>
            </a:r>
            <a:r>
              <a:rPr lang="en-US" sz="2400">
                <a:latin typeface="Times New Roman" panose="02020603050405020304" pitchFamily="18" charset="0"/>
                <a:cs typeface="Times New Roman" panose="02020603050405020304" pitchFamily="18" charset="0"/>
              </a:rPr>
              <a:t>: Trả về mã định danh (ID) duy nhất của phiên làm việc hiện tại (dùng để debug hoặc log hệ thống).</a:t>
            </a:r>
          </a:p>
        </p:txBody>
      </p:sp>
      <p:sp>
        <p:nvSpPr>
          <p:cNvPr id="10" name="TextBox 9">
            <a:extLst>
              <a:ext uri="{FF2B5EF4-FFF2-40B4-BE49-F238E27FC236}">
                <a16:creationId xmlns:a16="http://schemas.microsoft.com/office/drawing/2014/main" id="{7DB04BA0-90ED-4635-BA20-02A6B939E200}"/>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8.3</a:t>
            </a:r>
            <a:r>
              <a:rPr lang="en-US" sz="2400" b="1">
                <a:latin typeface="Times New Roman" panose="02020603050405020304" pitchFamily="18" charset="0"/>
                <a:cs typeface="Times New Roman" panose="02020603050405020304" pitchFamily="18" charset="0"/>
              </a:rPr>
              <a:t>.3</a:t>
            </a:r>
            <a:r>
              <a:rPr lang="vi-VN" sz="2400" b="1">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Các thành phần cốt lõi của đối tượng Session</a:t>
            </a:r>
            <a:endParaRPr lang="vi-V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9637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C8B141-762F-FACF-DAAE-6E59B20500D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B927204-623A-40E7-BAAB-AF26F02C310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5BD6111-87A9-D782-3D46-8B76E86595C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grpSp>
        <p:nvGrpSpPr>
          <p:cNvPr id="2" name="Group 1">
            <a:extLst>
              <a:ext uri="{FF2B5EF4-FFF2-40B4-BE49-F238E27FC236}">
                <a16:creationId xmlns:a16="http://schemas.microsoft.com/office/drawing/2014/main" id="{06AAB08C-5E41-5A08-16CC-39CA28D62006}"/>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085ED1AA-B16F-FD12-0603-5BE80B1C2B65}"/>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Giới thiệu Session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3498A15-333A-5181-1507-C864D271A95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69DBDA7-C313-06AF-0FD6-A193BDF2952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A8BCCCD-0AFB-749A-9814-56D67D4E922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C26FF24-DC3A-81A6-A741-BC8C809845B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DD89CA9-E162-6C4C-C836-1C0DB1CA589F}"/>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8.3</a:t>
            </a:r>
            <a:r>
              <a:rPr lang="en-US" sz="2400" b="1">
                <a:latin typeface="Times New Roman" panose="02020603050405020304" pitchFamily="18" charset="0"/>
                <a:cs typeface="Times New Roman" panose="02020603050405020304" pitchFamily="18" charset="0"/>
              </a:rPr>
              <a:t>.4</a:t>
            </a:r>
            <a:r>
              <a:rPr lang="vi-VN" sz="2400" b="1">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So sánh Cookie và Session</a:t>
            </a:r>
            <a:endParaRPr lang="vi-VN" sz="2400" b="1"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017781E8-689A-CEE0-6F1D-2DA9574B5300}"/>
              </a:ext>
            </a:extLst>
          </p:cNvPr>
          <p:cNvGraphicFramePr>
            <a:graphicFrameLocks noGrp="1"/>
          </p:cNvGraphicFramePr>
          <p:nvPr>
            <p:extLst>
              <p:ext uri="{D42A27DB-BD31-4B8C-83A1-F6EECF244321}">
                <p14:modId xmlns:p14="http://schemas.microsoft.com/office/powerpoint/2010/main" val="1368816704"/>
              </p:ext>
            </p:extLst>
          </p:nvPr>
        </p:nvGraphicFramePr>
        <p:xfrm>
          <a:off x="564686" y="1406614"/>
          <a:ext cx="11238693" cy="3779520"/>
        </p:xfrm>
        <a:graphic>
          <a:graphicData uri="http://schemas.openxmlformats.org/drawingml/2006/table">
            <a:tbl>
              <a:tblPr/>
              <a:tblGrid>
                <a:gridCol w="2765254">
                  <a:extLst>
                    <a:ext uri="{9D8B030D-6E8A-4147-A177-3AD203B41FA5}">
                      <a16:colId xmlns:a16="http://schemas.microsoft.com/office/drawing/2014/main" val="4290840229"/>
                    </a:ext>
                  </a:extLst>
                </a:gridCol>
                <a:gridCol w="4251960">
                  <a:extLst>
                    <a:ext uri="{9D8B030D-6E8A-4147-A177-3AD203B41FA5}">
                      <a16:colId xmlns:a16="http://schemas.microsoft.com/office/drawing/2014/main" val="515479100"/>
                    </a:ext>
                  </a:extLst>
                </a:gridCol>
                <a:gridCol w="4221479">
                  <a:extLst>
                    <a:ext uri="{9D8B030D-6E8A-4147-A177-3AD203B41FA5}">
                      <a16:colId xmlns:a16="http://schemas.microsoft.com/office/drawing/2014/main" val="239576858"/>
                    </a:ext>
                  </a:extLst>
                </a:gridCol>
              </a:tblGrid>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Đặc điểm</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Cookie</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Session</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70243208"/>
                  </a:ext>
                </a:extLst>
              </a:tr>
              <a:tr h="0">
                <a:tc>
                  <a:txBody>
                    <a:bodyPr/>
                    <a:lstStyle/>
                    <a:p>
                      <a:pPr rtl="0">
                        <a:buNone/>
                      </a:pPr>
                      <a:r>
                        <a:rPr lang="vi-VN" sz="2400" b="1">
                          <a:solidFill>
                            <a:srgbClr val="1F1F1F"/>
                          </a:solidFill>
                          <a:effectLst/>
                          <a:latin typeface="Times New Roman" panose="02020603050405020304" pitchFamily="18" charset="0"/>
                          <a:cs typeface="Times New Roman" panose="02020603050405020304" pitchFamily="18" charset="0"/>
                        </a:rPr>
                        <a:t>Vị trí lưu trữ</a:t>
                      </a:r>
                      <a:endParaRPr lang="vi-VN"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Browser (Client-side)</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Server-side</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0985183"/>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Tính bảo mật</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Thấp (Dễ bị can thiệp)</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Cao (Client không thấy dữ liệu)</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0633363"/>
                  </a:ext>
                </a:extLst>
              </a:tr>
              <a:tr h="0">
                <a:tc>
                  <a:txBody>
                    <a:bodyPr/>
                    <a:lstStyle/>
                    <a:p>
                      <a:pPr rtl="0">
                        <a:buNone/>
                      </a:pPr>
                      <a:r>
                        <a:rPr lang="vi-VN" sz="2400" b="1">
                          <a:solidFill>
                            <a:srgbClr val="1F1F1F"/>
                          </a:solidFill>
                          <a:effectLst/>
                          <a:latin typeface="Times New Roman" panose="02020603050405020304" pitchFamily="18" charset="0"/>
                          <a:cs typeface="Times New Roman" panose="02020603050405020304" pitchFamily="18" charset="0"/>
                        </a:rPr>
                        <a:t>Dung lượng</a:t>
                      </a:r>
                      <a:endParaRPr lang="vi-VN"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2400">
                          <a:solidFill>
                            <a:srgbClr val="1F1F1F"/>
                          </a:solidFill>
                          <a:effectLst/>
                          <a:latin typeface="Times New Roman" panose="02020603050405020304" pitchFamily="18" charset="0"/>
                          <a:cs typeface="Times New Roman" panose="02020603050405020304" pitchFamily="18" charset="0"/>
                        </a:rPr>
                        <a:t>Hạn chế (Thường &lt; 4KB)</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Rất lớn (Tùy thuộc bộ nhớ Server)</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4517534"/>
                  </a:ext>
                </a:extLst>
              </a:tr>
              <a:tr h="0">
                <a:tc>
                  <a:txBody>
                    <a:bodyPr/>
                    <a:lstStyle/>
                    <a:p>
                      <a:pPr rtl="0">
                        <a:buNone/>
                      </a:pPr>
                      <a:r>
                        <a:rPr lang="en-US" sz="2400" b="1">
                          <a:solidFill>
                            <a:srgbClr val="1F1F1F"/>
                          </a:solidFill>
                          <a:effectLst/>
                          <a:latin typeface="Times New Roman" panose="02020603050405020304" pitchFamily="18" charset="0"/>
                          <a:cs typeface="Times New Roman" panose="02020603050405020304" pitchFamily="18" charset="0"/>
                        </a:rPr>
                        <a:t>Hiệu năng</a:t>
                      </a:r>
                      <a:endParaRPr lang="en-US" sz="2400">
                        <a:solidFill>
                          <a:srgbClr val="1F1F1F"/>
                        </a:solidFill>
                        <a:effectLst/>
                        <a:latin typeface="Times New Roman" panose="02020603050405020304" pitchFamily="18" charset="0"/>
                        <a:cs typeface="Times New Roman" panose="02020603050405020304" pitchFamily="18"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Không tốn tài nguyên Server</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400">
                          <a:solidFill>
                            <a:srgbClr val="1F1F1F"/>
                          </a:solidFill>
                          <a:effectLst/>
                          <a:latin typeface="Times New Roman" panose="02020603050405020304" pitchFamily="18" charset="0"/>
                          <a:cs typeface="Times New Roman" panose="02020603050405020304" pitchFamily="18" charset="0"/>
                        </a:rPr>
                        <a:t>Chiếm tài nguyên bộ nhớ Server (RAM)</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8473871"/>
                  </a:ext>
                </a:extLst>
              </a:tr>
            </a:tbl>
          </a:graphicData>
        </a:graphic>
      </p:graphicFrame>
    </p:spTree>
    <p:extLst>
      <p:ext uri="{BB962C8B-B14F-4D97-AF65-F5344CB8AC3E}">
        <p14:creationId xmlns:p14="http://schemas.microsoft.com/office/powerpoint/2010/main" val="23711460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93AB2CC-87B2-3412-5635-F701BF68BA5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B11A7BB-5534-82BD-082D-D44548B3A2B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7E8D871-326D-7BDB-AEEF-E6772F364C3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grpSp>
        <p:nvGrpSpPr>
          <p:cNvPr id="2" name="Group 1">
            <a:extLst>
              <a:ext uri="{FF2B5EF4-FFF2-40B4-BE49-F238E27FC236}">
                <a16:creationId xmlns:a16="http://schemas.microsoft.com/office/drawing/2014/main" id="{4171B7CF-94C0-A546-B82A-58B784DD7DE6}"/>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D9A83053-3E89-3E41-939C-1495533B48B6}"/>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22D60DF-C7B1-4802-7161-0FE233233FD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69E8FB3-6A72-EBAF-E36A-5120FB5A392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9DAB80E-5A66-9B45-B352-B8D19C686FF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2DD99AF-4678-C284-93A0-13AB45BD903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E0967C5-ED9B-F8DD-B0CA-1FCB3DA0B189}"/>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Ta xử lý Kịch bản sau: L</a:t>
            </a:r>
            <a:r>
              <a:rPr lang="vi-VN" sz="2400">
                <a:latin typeface="Times New Roman" panose="02020603050405020304" pitchFamily="18" charset="0"/>
                <a:cs typeface="Times New Roman" panose="02020603050405020304" pitchFamily="18" charset="0"/>
              </a:rPr>
              <a:t>ựa chọn sản phẩm lưu giỏ hàng tạm bằng </a:t>
            </a:r>
            <a:r>
              <a:rPr lang="vi-VN" sz="2400" b="1">
                <a:latin typeface="Times New Roman" panose="02020603050405020304" pitchFamily="18" charset="0"/>
                <a:cs typeface="Times New Roman" panose="02020603050405020304" pitchFamily="18" charset="0"/>
              </a:rPr>
              <a:t>session</a:t>
            </a:r>
            <a:r>
              <a:rPr lang="vi-VN" sz="2400">
                <a:latin typeface="Times New Roman" panose="02020603050405020304" pitchFamily="18" charset="0"/>
                <a:cs typeface="Times New Roman" panose="02020603050405020304" pitchFamily="18" charset="0"/>
              </a:rPr>
              <a:t>, khi nào xác thực mới lưu nó vào </a:t>
            </a:r>
            <a:r>
              <a:rPr lang="vi-VN" sz="2400" b="1">
                <a:latin typeface="Times New Roman" panose="02020603050405020304" pitchFamily="18" charset="0"/>
                <a:cs typeface="Times New Roman" panose="02020603050405020304" pitchFamily="18" charset="0"/>
              </a:rPr>
              <a:t>MongoDB</a:t>
            </a:r>
            <a:endParaRPr lang="vi-V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4E88D2E-70FB-8CFF-7C43-D5BA95246FD8}"/>
              </a:ext>
            </a:extLst>
          </p:cNvPr>
          <p:cNvSpPr txBox="1"/>
          <p:nvPr/>
        </p:nvSpPr>
        <p:spPr>
          <a:xfrm>
            <a:off x="946784" y="1775946"/>
            <a:ext cx="10856595" cy="1687963"/>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Dữ liệu tạm thời (Volatility):</a:t>
            </a:r>
            <a:r>
              <a:rPr lang="vi-VN" sz="2400">
                <a:latin typeface="Times New Roman" panose="02020603050405020304" pitchFamily="18" charset="0"/>
                <a:cs typeface="Times New Roman" panose="02020603050405020304" pitchFamily="18" charset="0"/>
              </a:rPr>
              <a:t> Giỏ hàng nằm trong Session (RAM) – nhanh, linh hoạt, tự mất khi hết phiên.</a:t>
            </a:r>
          </a:p>
          <a:p>
            <a:pPr marL="342900" indent="-342900">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Dữ liệu bền vững (Persistence):</a:t>
            </a:r>
            <a:r>
              <a:rPr lang="vi-VN" sz="2400">
                <a:latin typeface="Times New Roman" panose="02020603050405020304" pitchFamily="18" charset="0"/>
                <a:cs typeface="Times New Roman" panose="02020603050405020304" pitchFamily="18" charset="0"/>
              </a:rPr>
              <a:t> Đơn hàng lưu trong MongoDB – an toàn, lâu dài.</a:t>
            </a:r>
          </a:p>
        </p:txBody>
      </p:sp>
    </p:spTree>
    <p:extLst>
      <p:ext uri="{BB962C8B-B14F-4D97-AF65-F5344CB8AC3E}">
        <p14:creationId xmlns:p14="http://schemas.microsoft.com/office/powerpoint/2010/main" val="18938503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2CA9FD4-C8F3-1DA7-C31A-97CCD80DCCB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B00A7AF-490A-6BEF-DBCB-5F0039F3F2A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6E85CE1-634C-8459-9868-A42921916C8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grpSp>
        <p:nvGrpSpPr>
          <p:cNvPr id="2" name="Group 1">
            <a:extLst>
              <a:ext uri="{FF2B5EF4-FFF2-40B4-BE49-F238E27FC236}">
                <a16:creationId xmlns:a16="http://schemas.microsoft.com/office/drawing/2014/main" id="{184E73C9-C9DB-92EC-F1EE-E68F6C5BA9D9}"/>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02AB5063-1CD4-77E3-AE21-1B802B8A4DD1}"/>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8A19E56-4F2C-642B-DEA5-4C8CC9B3C4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C84D181-CB02-D154-6B47-9B2CE99D9C4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5793652-017E-2290-62FD-F8B9B76912E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31C3ECA-CCB6-4621-9E3F-0EEA5AEEBB4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0618428-B5ED-8608-E75D-DA2834D64D8F}"/>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8.4.1. Kịch bản nghiệp vụ (Business Scenario)</a:t>
            </a:r>
            <a:endParaRPr lang="vi-V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31BC901-A1B7-C9B8-CAA8-A9077458FEE6}"/>
              </a:ext>
            </a:extLst>
          </p:cNvPr>
          <p:cNvSpPr txBox="1"/>
          <p:nvPr/>
        </p:nvSpPr>
        <p:spPr>
          <a:xfrm>
            <a:off x="542786" y="1406614"/>
            <a:ext cx="11075248" cy="2795958"/>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Bước 1:</a:t>
            </a:r>
            <a:r>
              <a:rPr lang="vi-VN" sz="2400">
                <a:latin typeface="Times New Roman" panose="02020603050405020304" pitchFamily="18" charset="0"/>
                <a:cs typeface="Times New Roman" panose="02020603050405020304" pitchFamily="18" charset="0"/>
              </a:rPr>
              <a:t> Khách hàng (chưa đăng nhập) chọn các mẫu thời trang. Sản phẩm được lưu tạm vào </a:t>
            </a:r>
            <a:r>
              <a:rPr lang="vi-VN" sz="2400" b="1">
                <a:latin typeface="Times New Roman" panose="02020603050405020304" pitchFamily="18" charset="0"/>
                <a:cs typeface="Times New Roman" panose="02020603050405020304" pitchFamily="18" charset="0"/>
              </a:rPr>
              <a:t>req.session.cart</a:t>
            </a:r>
            <a:r>
              <a:rPr lang="vi-VN" sz="240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Bước 2:</a:t>
            </a:r>
            <a:r>
              <a:rPr lang="vi-VN" sz="2400">
                <a:latin typeface="Times New Roman" panose="02020603050405020304" pitchFamily="18" charset="0"/>
                <a:cs typeface="Times New Roman" panose="02020603050405020304" pitchFamily="18" charset="0"/>
              </a:rPr>
              <a:t> Khách hàng có thể thêm/bớt sản phẩm, Session tự cập nhật.</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Bước 3:</a:t>
            </a:r>
            <a:r>
              <a:rPr lang="vi-VN" sz="2400">
                <a:latin typeface="Times New Roman" panose="02020603050405020304" pitchFamily="18" charset="0"/>
                <a:cs typeface="Times New Roman" panose="02020603050405020304" pitchFamily="18" charset="0"/>
              </a:rPr>
              <a:t> Khi khách hàng bấm "Thanh toán" và Đăng nhập thành công, hệ thống mới lấy dữ liệu từ Session để ghi vào MongoDB.</a:t>
            </a:r>
          </a:p>
        </p:txBody>
      </p:sp>
    </p:spTree>
    <p:extLst>
      <p:ext uri="{BB962C8B-B14F-4D97-AF65-F5344CB8AC3E}">
        <p14:creationId xmlns:p14="http://schemas.microsoft.com/office/powerpoint/2010/main" val="11113645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5F113A5-34A1-B441-26C6-EF0E4D1CC58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47FF0F5-2180-0FAC-C307-0F84BED2E08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0F46515-4546-A497-B0D5-35BF00B407A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grpSp>
        <p:nvGrpSpPr>
          <p:cNvPr id="2" name="Group 1">
            <a:extLst>
              <a:ext uri="{FF2B5EF4-FFF2-40B4-BE49-F238E27FC236}">
                <a16:creationId xmlns:a16="http://schemas.microsoft.com/office/drawing/2014/main" id="{D2ABCAFC-4FDC-E43B-878B-494C5E34077B}"/>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CF3E0CC0-8D38-AD18-D365-E2C52ED659BB}"/>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C583974-220C-0C6C-1D05-E489A84B1E8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4940EDC-AB9D-94C3-C227-C69F58ADE2A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ECC5E22-C402-BB2B-5FEC-CCF92A24BAB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20D57B1-6D6A-61D6-BA8E-CE81FB0FC1C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6D10BC-25A2-2927-B7C4-81E209D475FB}"/>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8.4.2. Triển khai Code tại Server (NodeJS) – “my-server-mongodb”</a:t>
            </a:r>
          </a:p>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1: </a:t>
            </a:r>
            <a:r>
              <a:rPr lang="en-US" sz="2400">
                <a:latin typeface="Times New Roman" panose="02020603050405020304" pitchFamily="18" charset="0"/>
                <a:cs typeface="Times New Roman" panose="02020603050405020304" pitchFamily="18" charset="0"/>
              </a:rPr>
              <a:t>Cài đặt </a:t>
            </a:r>
            <a:r>
              <a:rPr lang="en-US" sz="2400" b="1">
                <a:latin typeface="Times New Roman" panose="02020603050405020304" pitchFamily="18" charset="0"/>
                <a:cs typeface="Times New Roman" panose="02020603050405020304" pitchFamily="18" charset="0"/>
              </a:rPr>
              <a:t>npm install express-session</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45E2FA9-4E8E-A9FB-A637-28A67E23C633}"/>
              </a:ext>
            </a:extLst>
          </p:cNvPr>
          <p:cNvPicPr>
            <a:picLocks noChangeAspect="1"/>
          </p:cNvPicPr>
          <p:nvPr/>
        </p:nvPicPr>
        <p:blipFill>
          <a:blip r:embed="rId3"/>
          <a:stretch>
            <a:fillRect/>
          </a:stretch>
        </p:blipFill>
        <p:spPr>
          <a:xfrm>
            <a:off x="647550" y="1901076"/>
            <a:ext cx="3459780" cy="2613887"/>
          </a:xfrm>
          <a:prstGeom prst="rect">
            <a:avLst/>
          </a:prstGeom>
        </p:spPr>
      </p:pic>
      <p:pic>
        <p:nvPicPr>
          <p:cNvPr id="15" name="Picture 14">
            <a:extLst>
              <a:ext uri="{FF2B5EF4-FFF2-40B4-BE49-F238E27FC236}">
                <a16:creationId xmlns:a16="http://schemas.microsoft.com/office/drawing/2014/main" id="{140B4216-6B1B-FFD5-C2F7-043F6C6AB0A2}"/>
              </a:ext>
            </a:extLst>
          </p:cNvPr>
          <p:cNvPicPr>
            <a:picLocks noChangeAspect="1"/>
          </p:cNvPicPr>
          <p:nvPr/>
        </p:nvPicPr>
        <p:blipFill>
          <a:blip r:embed="rId4"/>
          <a:stretch>
            <a:fillRect/>
          </a:stretch>
        </p:blipFill>
        <p:spPr>
          <a:xfrm>
            <a:off x="4845562" y="1775946"/>
            <a:ext cx="7011008" cy="3535986"/>
          </a:xfrm>
          <a:prstGeom prst="rect">
            <a:avLst/>
          </a:prstGeom>
        </p:spPr>
      </p:pic>
      <p:cxnSp>
        <p:nvCxnSpPr>
          <p:cNvPr id="17" name="Connector: Elbow 16">
            <a:extLst>
              <a:ext uri="{FF2B5EF4-FFF2-40B4-BE49-F238E27FC236}">
                <a16:creationId xmlns:a16="http://schemas.microsoft.com/office/drawing/2014/main" id="{65A40948-FE2F-286B-0099-9ADE2D89970D}"/>
              </a:ext>
            </a:extLst>
          </p:cNvPr>
          <p:cNvCxnSpPr>
            <a:endCxn id="15" idx="1"/>
          </p:cNvCxnSpPr>
          <p:nvPr/>
        </p:nvCxnSpPr>
        <p:spPr>
          <a:xfrm flipV="1">
            <a:off x="3923665" y="3543939"/>
            <a:ext cx="921897" cy="738501"/>
          </a:xfrm>
          <a:prstGeom prst="bent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08636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A5E1FC6-4812-1797-0697-6FDF9522EE6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7F57A35-B4AF-336D-91DB-BC6CC17643F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EFF1A91-EEC8-5B6D-6D38-D1660804687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grpSp>
        <p:nvGrpSpPr>
          <p:cNvPr id="2" name="Group 1">
            <a:extLst>
              <a:ext uri="{FF2B5EF4-FFF2-40B4-BE49-F238E27FC236}">
                <a16:creationId xmlns:a16="http://schemas.microsoft.com/office/drawing/2014/main" id="{15199913-DABA-6A52-BD3F-94BC46EC8F88}"/>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E933A16B-E2C6-4E14-61EC-F4D180398476}"/>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963B0A3-AFA8-F9F8-67DE-F3A9FC42817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2DF4ABA-C668-0BF8-6DAC-626B00E3176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4C62AEF-A95C-6876-F5DA-C50C3C82C43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4CD2EEB-C582-FF72-CA6C-F825F9C7953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0F5B8BF-2A15-8812-150D-DB0C58C62BD0}"/>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2: </a:t>
            </a:r>
            <a:r>
              <a:rPr lang="en-US" sz="2400">
                <a:latin typeface="Times New Roman" panose="02020603050405020304" pitchFamily="18" charset="0"/>
                <a:cs typeface="Times New Roman" panose="02020603050405020304" pitchFamily="18" charset="0"/>
              </a:rPr>
              <a:t>Cấu hình session</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9468B2F-26C9-EADD-6251-827B482CA5D5}"/>
              </a:ext>
            </a:extLst>
          </p:cNvPr>
          <p:cNvPicPr>
            <a:picLocks noChangeAspect="1"/>
          </p:cNvPicPr>
          <p:nvPr/>
        </p:nvPicPr>
        <p:blipFill>
          <a:blip r:embed="rId3"/>
          <a:stretch>
            <a:fillRect/>
          </a:stretch>
        </p:blipFill>
        <p:spPr>
          <a:xfrm>
            <a:off x="564686" y="1334113"/>
            <a:ext cx="8329382" cy="4991533"/>
          </a:xfrm>
          <a:prstGeom prst="rect">
            <a:avLst/>
          </a:prstGeom>
        </p:spPr>
      </p:pic>
      <p:sp>
        <p:nvSpPr>
          <p:cNvPr id="12" name="Rectangle 11">
            <a:extLst>
              <a:ext uri="{FF2B5EF4-FFF2-40B4-BE49-F238E27FC236}">
                <a16:creationId xmlns:a16="http://schemas.microsoft.com/office/drawing/2014/main" id="{FEDDACA5-BC19-650A-8AB3-0204278A6558}"/>
              </a:ext>
            </a:extLst>
          </p:cNvPr>
          <p:cNvSpPr/>
          <p:nvPr/>
        </p:nvSpPr>
        <p:spPr>
          <a:xfrm>
            <a:off x="830580" y="3909060"/>
            <a:ext cx="7612380" cy="24165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28148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64D6493-00BD-C4DC-D8CA-E2D419E1F4E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A5D561D-4836-EF71-EBF8-AD51D2AE51F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267CB79-74B8-15A3-A409-FD81AECABE3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grpSp>
        <p:nvGrpSpPr>
          <p:cNvPr id="2" name="Group 1">
            <a:extLst>
              <a:ext uri="{FF2B5EF4-FFF2-40B4-BE49-F238E27FC236}">
                <a16:creationId xmlns:a16="http://schemas.microsoft.com/office/drawing/2014/main" id="{9211740C-BA06-D32E-C4F5-82C0FCA5BC9E}"/>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283A8313-CDF8-BE4B-C540-47BBC36465C4}"/>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A792166-0064-4542-7CD9-D1EF0F299A7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F951766-4F38-86A1-C52B-31BE17C0899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3717221-6189-2F74-D5DD-035CE58795A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B0F63D9-CB24-DA7E-E7D3-DFA9DB8902D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E8AF49E-03E0-A2E7-7814-37B4CF3A55F2}"/>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3: Session: </a:t>
            </a:r>
            <a:r>
              <a:rPr lang="en-US" sz="2400">
                <a:latin typeface="Times New Roman" panose="02020603050405020304" pitchFamily="18" charset="0"/>
                <a:cs typeface="Times New Roman" panose="02020603050405020304" pitchFamily="18" charset="0"/>
              </a:rPr>
              <a:t>api/login</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697C846-8E65-264C-9231-879F76DBA663}"/>
              </a:ext>
            </a:extLst>
          </p:cNvPr>
          <p:cNvPicPr>
            <a:picLocks noChangeAspect="1"/>
          </p:cNvPicPr>
          <p:nvPr/>
        </p:nvPicPr>
        <p:blipFill>
          <a:blip r:embed="rId3"/>
          <a:stretch>
            <a:fillRect/>
          </a:stretch>
        </p:blipFill>
        <p:spPr>
          <a:xfrm>
            <a:off x="564686" y="1452934"/>
            <a:ext cx="10021168" cy="4206605"/>
          </a:xfrm>
          <a:prstGeom prst="rect">
            <a:avLst/>
          </a:prstGeom>
        </p:spPr>
      </p:pic>
    </p:spTree>
    <p:extLst>
      <p:ext uri="{BB962C8B-B14F-4D97-AF65-F5344CB8AC3E}">
        <p14:creationId xmlns:p14="http://schemas.microsoft.com/office/powerpoint/2010/main" val="5494162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C0300CB-9A34-B94F-6992-C88C4D1A1BB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3971B53-D9D0-5344-0D00-3E1F5B27604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D1252FC-6D6F-D4F6-230F-8B9BB06E9E2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grpSp>
        <p:nvGrpSpPr>
          <p:cNvPr id="2" name="Group 1">
            <a:extLst>
              <a:ext uri="{FF2B5EF4-FFF2-40B4-BE49-F238E27FC236}">
                <a16:creationId xmlns:a16="http://schemas.microsoft.com/office/drawing/2014/main" id="{795F64E0-A05B-4145-FC4E-A42EE699099D}"/>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21145DFC-C10C-972A-11B7-73BAD203CA20}"/>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89F65F6-F736-53AD-22E0-0FF4B3F35AB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FB533F7-FF05-ACDB-62B7-56F4CA4FD84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E36C39C-CE53-F8E2-7F60-12CC265E9E1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F7EBBB9-D77E-6479-FA95-DFC1268F1C5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E4FA24-E14F-E8AF-366D-8BCAC47F702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3: Kiểm thư Postman </a:t>
            </a:r>
            <a:r>
              <a:rPr lang="en-US" sz="2400">
                <a:latin typeface="Times New Roman" panose="02020603050405020304" pitchFamily="18" charset="0"/>
                <a:cs typeface="Times New Roman" panose="02020603050405020304" pitchFamily="18" charset="0"/>
              </a:rPr>
              <a:t>Session</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api/login</a:t>
            </a:r>
            <a:endParaRPr lang="vi-VN" sz="24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442AE914-98D6-F545-9584-C95E42F8EC9B}"/>
              </a:ext>
            </a:extLst>
          </p:cNvPr>
          <p:cNvPicPr>
            <a:picLocks noChangeAspect="1"/>
          </p:cNvPicPr>
          <p:nvPr/>
        </p:nvPicPr>
        <p:blipFill>
          <a:blip r:embed="rId3"/>
          <a:stretch>
            <a:fillRect/>
          </a:stretch>
        </p:blipFill>
        <p:spPr>
          <a:xfrm>
            <a:off x="728132" y="1349498"/>
            <a:ext cx="8498841" cy="4929328"/>
          </a:xfrm>
          <a:prstGeom prst="rect">
            <a:avLst/>
          </a:prstGeom>
        </p:spPr>
      </p:pic>
    </p:spTree>
    <p:extLst>
      <p:ext uri="{BB962C8B-B14F-4D97-AF65-F5344CB8AC3E}">
        <p14:creationId xmlns:p14="http://schemas.microsoft.com/office/powerpoint/2010/main" val="23649399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0A5DF23-A86B-3993-09F0-E58FA68F9E6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2EC5BC7-74AA-3900-9620-E5AAAB63C52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81B669F-616F-65FB-6417-57744B216BE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grpSp>
        <p:nvGrpSpPr>
          <p:cNvPr id="2" name="Group 1">
            <a:extLst>
              <a:ext uri="{FF2B5EF4-FFF2-40B4-BE49-F238E27FC236}">
                <a16:creationId xmlns:a16="http://schemas.microsoft.com/office/drawing/2014/main" id="{FD97FBD3-8F43-8C66-839F-96FEF96D138B}"/>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B6F4455B-BD14-5434-4C65-ABBA93764E9A}"/>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3CB472C-49C6-696A-F174-ECA40B3A427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EBECF3F-30A0-97F6-25A5-8D86F205DC7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9B9BCE4-C239-ED86-136C-4806A0F5CD6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05FB761-C571-F20F-E6AA-C8DF451A65B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08725B2-B407-8C8D-F00C-DD87D0B01F32}"/>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4: </a:t>
            </a:r>
            <a:r>
              <a:rPr lang="en-US" sz="2400">
                <a:latin typeface="Times New Roman" panose="02020603050405020304" pitchFamily="18" charset="0"/>
                <a:cs typeface="Times New Roman" panose="02020603050405020304" pitchFamily="18" charset="0"/>
              </a:rPr>
              <a:t>Session</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/api/profile</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7C8D29D-90D6-E50B-9853-33EB28D1F293}"/>
              </a:ext>
            </a:extLst>
          </p:cNvPr>
          <p:cNvPicPr>
            <a:picLocks noChangeAspect="1"/>
          </p:cNvPicPr>
          <p:nvPr/>
        </p:nvPicPr>
        <p:blipFill>
          <a:blip r:embed="rId3"/>
          <a:stretch>
            <a:fillRect/>
          </a:stretch>
        </p:blipFill>
        <p:spPr>
          <a:xfrm>
            <a:off x="462279" y="1342651"/>
            <a:ext cx="10432684" cy="3863675"/>
          </a:xfrm>
          <a:prstGeom prst="rect">
            <a:avLst/>
          </a:prstGeom>
        </p:spPr>
      </p:pic>
    </p:spTree>
    <p:extLst>
      <p:ext uri="{BB962C8B-B14F-4D97-AF65-F5344CB8AC3E}">
        <p14:creationId xmlns:p14="http://schemas.microsoft.com/office/powerpoint/2010/main" val="32605875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D7B911C-7CF6-E117-E30C-1D385EA4455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D5292FA-8FB2-A226-6AF6-E2CECA55025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FF24920-3D2F-DC8B-C11F-DF8BE43CE52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grpSp>
        <p:nvGrpSpPr>
          <p:cNvPr id="2" name="Group 1">
            <a:extLst>
              <a:ext uri="{FF2B5EF4-FFF2-40B4-BE49-F238E27FC236}">
                <a16:creationId xmlns:a16="http://schemas.microsoft.com/office/drawing/2014/main" id="{04A53AD9-4D78-FDEE-2569-35CDF86266B5}"/>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D8286FC5-1B7A-CEEC-AC5E-6CFF25F4E6C4}"/>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AC67D64-28D1-4687-6394-670D2477378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77333D9-BDC0-4A50-F981-31203304D55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03E086F-CDA4-5D49-CD68-CC8AD52E2EC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C3C54BA-E5B3-E1FE-06B9-9BAF83A0C1B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030CCBE-08CB-4B4E-BA61-39D9B5FE03C4}"/>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4: Kiểm thử </a:t>
            </a:r>
            <a:r>
              <a:rPr lang="en-US" sz="2400">
                <a:latin typeface="Times New Roman" panose="02020603050405020304" pitchFamily="18" charset="0"/>
                <a:cs typeface="Times New Roman" panose="02020603050405020304" pitchFamily="18" charset="0"/>
              </a:rPr>
              <a:t>Session</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/api/profile</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D1460C5-D25C-AF0D-BC4D-88730935FA52}"/>
              </a:ext>
            </a:extLst>
          </p:cNvPr>
          <p:cNvPicPr>
            <a:picLocks noChangeAspect="1"/>
          </p:cNvPicPr>
          <p:nvPr/>
        </p:nvPicPr>
        <p:blipFill>
          <a:blip r:embed="rId3"/>
          <a:stretch>
            <a:fillRect/>
          </a:stretch>
        </p:blipFill>
        <p:spPr>
          <a:xfrm>
            <a:off x="542786" y="1366470"/>
            <a:ext cx="8646934" cy="5015222"/>
          </a:xfrm>
          <a:prstGeom prst="rect">
            <a:avLst/>
          </a:prstGeom>
        </p:spPr>
      </p:pic>
      <p:sp>
        <p:nvSpPr>
          <p:cNvPr id="11" name="TextBox 10">
            <a:extLst>
              <a:ext uri="{FF2B5EF4-FFF2-40B4-BE49-F238E27FC236}">
                <a16:creationId xmlns:a16="http://schemas.microsoft.com/office/drawing/2014/main" id="{0121BD69-FD6A-4FE7-7DF2-F8EF3DE3C6BA}"/>
              </a:ext>
            </a:extLst>
          </p:cNvPr>
          <p:cNvSpPr txBox="1"/>
          <p:nvPr/>
        </p:nvSpPr>
        <p:spPr>
          <a:xfrm>
            <a:off x="6096000" y="737075"/>
            <a:ext cx="5930826" cy="707886"/>
          </a:xfrm>
          <a:prstGeom prst="rect">
            <a:avLst/>
          </a:prstGeom>
          <a:noFill/>
        </p:spPr>
        <p:txBody>
          <a:bodyPr wrap="square" rtlCol="0">
            <a:spAutoFit/>
          </a:bodyPr>
          <a:lstStyle/>
          <a:p>
            <a:r>
              <a:rPr lang="en-US" sz="2000">
                <a:latin typeface="Times New Roman" panose="02020603050405020304" pitchFamily="18" charset="0"/>
                <a:cs typeface="Times New Roman" panose="02020603050405020304" pitchFamily="18" charset="0"/>
              </a:rPr>
              <a:t>Nhớ đăng nhập lại (api/login) sau đó mới gọi api/profile vì khi coding mới Server sẽ restart</a:t>
            </a:r>
          </a:p>
        </p:txBody>
      </p:sp>
    </p:spTree>
    <p:extLst>
      <p:ext uri="{BB962C8B-B14F-4D97-AF65-F5344CB8AC3E}">
        <p14:creationId xmlns:p14="http://schemas.microsoft.com/office/powerpoint/2010/main" val="25545236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7562576-DF25-4DA7-53A4-F31495724F7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559BAA2-C1C1-2ED5-7452-433B19B19B1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5DDC129-8461-E664-F981-11B705B8422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grpSp>
        <p:nvGrpSpPr>
          <p:cNvPr id="2" name="Group 1">
            <a:extLst>
              <a:ext uri="{FF2B5EF4-FFF2-40B4-BE49-F238E27FC236}">
                <a16:creationId xmlns:a16="http://schemas.microsoft.com/office/drawing/2014/main" id="{E9D21317-465C-B11E-7F54-B16BFC3953DB}"/>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BCD87C0C-0973-B785-66B4-F05930891EF6}"/>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AC6BE7F-1C44-9768-1EFB-889571E0878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0018AD4-AFE5-9D25-2FA2-0141E1956DE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112FBA9-1554-9088-B5D9-86F94A83263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4691FC4-0161-7EB8-51E1-2CE21E1D686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AE3EE9C-DF71-54C3-EB97-C52DA02C218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5: </a:t>
            </a:r>
            <a:r>
              <a:rPr lang="en-US" sz="2400">
                <a:latin typeface="Times New Roman" panose="02020603050405020304" pitchFamily="18" charset="0"/>
                <a:cs typeface="Times New Roman" panose="02020603050405020304" pitchFamily="18" charset="0"/>
              </a:rPr>
              <a:t>Session</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/api/logout</a:t>
            </a:r>
            <a:endParaRPr lang="vi-VN" sz="2400"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B89646AC-4D85-CF6C-4AA4-D3291BC2ABE3}"/>
              </a:ext>
            </a:extLst>
          </p:cNvPr>
          <p:cNvPicPr>
            <a:picLocks noChangeAspect="1"/>
          </p:cNvPicPr>
          <p:nvPr/>
        </p:nvPicPr>
        <p:blipFill>
          <a:blip r:embed="rId3"/>
          <a:stretch>
            <a:fillRect/>
          </a:stretch>
        </p:blipFill>
        <p:spPr>
          <a:xfrm>
            <a:off x="818746" y="1354535"/>
            <a:ext cx="9320068" cy="3467400"/>
          </a:xfrm>
          <a:prstGeom prst="rect">
            <a:avLst/>
          </a:prstGeom>
        </p:spPr>
      </p:pic>
    </p:spTree>
    <p:extLst>
      <p:ext uri="{BB962C8B-B14F-4D97-AF65-F5344CB8AC3E}">
        <p14:creationId xmlns:p14="http://schemas.microsoft.com/office/powerpoint/2010/main" val="28732538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4A95F8A-BFC4-646A-83B4-158233A0154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C92D42C-92B5-3141-CC63-C0C2541AA9B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5ED9486-4E6A-82D5-0CA6-C73CB79E6CF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grpSp>
        <p:nvGrpSpPr>
          <p:cNvPr id="2" name="Group 1">
            <a:extLst>
              <a:ext uri="{FF2B5EF4-FFF2-40B4-BE49-F238E27FC236}">
                <a16:creationId xmlns:a16="http://schemas.microsoft.com/office/drawing/2014/main" id="{D6203E38-16A7-DE5B-91D4-91DE1A55DCE2}"/>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C7128688-4EBB-EDE9-A947-E5D99AEEB71D}"/>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6AF636F-130C-18E1-C559-01510E3225A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A7C1F2D-B164-6125-8AB8-10C3FC480DE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22C48A3-ACE2-8597-7C33-AA5FEDFAF9C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E962EB5-667C-64AA-A62D-E13FDB7927C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DFF444D-5F7E-2673-108C-F1DC5E395A9F}"/>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5: Kiểm thử </a:t>
            </a:r>
            <a:r>
              <a:rPr lang="en-US" sz="2400">
                <a:latin typeface="Times New Roman" panose="02020603050405020304" pitchFamily="18" charset="0"/>
                <a:cs typeface="Times New Roman" panose="02020603050405020304" pitchFamily="18" charset="0"/>
              </a:rPr>
              <a:t>Session</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/api/logout</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6CB7DB3-1706-1E5C-F16B-322050AF8632}"/>
              </a:ext>
            </a:extLst>
          </p:cNvPr>
          <p:cNvPicPr>
            <a:picLocks noChangeAspect="1"/>
          </p:cNvPicPr>
          <p:nvPr/>
        </p:nvPicPr>
        <p:blipFill>
          <a:blip r:embed="rId3"/>
          <a:stretch>
            <a:fillRect/>
          </a:stretch>
        </p:blipFill>
        <p:spPr>
          <a:xfrm>
            <a:off x="661823" y="1326749"/>
            <a:ext cx="8577288" cy="4974827"/>
          </a:xfrm>
          <a:prstGeom prst="rect">
            <a:avLst/>
          </a:prstGeom>
        </p:spPr>
      </p:pic>
    </p:spTree>
    <p:extLst>
      <p:ext uri="{BB962C8B-B14F-4D97-AF65-F5344CB8AC3E}">
        <p14:creationId xmlns:p14="http://schemas.microsoft.com/office/powerpoint/2010/main" val="20015668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DC57A4-688E-42EE-59FD-D7DB54BD1BE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E52B100-646C-2E59-8FA5-6EC2BE88417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336DBDA-60AC-9700-FE1D-0643A7249C1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grpSp>
        <p:nvGrpSpPr>
          <p:cNvPr id="2" name="Group 1">
            <a:extLst>
              <a:ext uri="{FF2B5EF4-FFF2-40B4-BE49-F238E27FC236}">
                <a16:creationId xmlns:a16="http://schemas.microsoft.com/office/drawing/2014/main" id="{214C3F99-1CC3-8263-574D-00B8943B0ED9}"/>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7A41F2EE-744D-2C6D-A729-D893F4C595DD}"/>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E736B07-939F-F808-2BA4-4CA84685337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3A42D81-2AC6-B0A4-03CB-6FE65DEC51E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0A9FA69-D7B4-6989-63BB-4ABFB10432D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8AC4671-3591-B8C8-EC1E-7D84A0BE6BE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B6625F2-85A8-F1FE-7955-B1491344597F}"/>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6: </a:t>
            </a:r>
            <a:r>
              <a:rPr lang="en-US" sz="2400">
                <a:latin typeface="Times New Roman" panose="02020603050405020304" pitchFamily="18" charset="0"/>
                <a:cs typeface="Times New Roman" panose="02020603050405020304" pitchFamily="18" charset="0"/>
              </a:rPr>
              <a:t>Thêm sản phẩm vào Giỏ hàng (Session)</a:t>
            </a:r>
            <a:endParaRPr lang="vi-VN" sz="2400"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92534C86-1BF8-9221-9D87-4D9F1692C799}"/>
              </a:ext>
            </a:extLst>
          </p:cNvPr>
          <p:cNvPicPr>
            <a:picLocks noChangeAspect="1"/>
          </p:cNvPicPr>
          <p:nvPr/>
        </p:nvPicPr>
        <p:blipFill>
          <a:blip r:embed="rId3"/>
          <a:stretch>
            <a:fillRect/>
          </a:stretch>
        </p:blipFill>
        <p:spPr>
          <a:xfrm>
            <a:off x="341873" y="1331407"/>
            <a:ext cx="11850127" cy="5121084"/>
          </a:xfrm>
          <a:prstGeom prst="rect">
            <a:avLst/>
          </a:prstGeom>
        </p:spPr>
      </p:pic>
    </p:spTree>
    <p:extLst>
      <p:ext uri="{BB962C8B-B14F-4D97-AF65-F5344CB8AC3E}">
        <p14:creationId xmlns:p14="http://schemas.microsoft.com/office/powerpoint/2010/main" val="4539649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7961B0B-9ED7-7B7E-34DE-57FA7C70F04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5C33E22-4D2A-51A2-8299-95142A9AC76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7DDFE4C-4194-9D9D-7005-34F45FF8478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grpSp>
        <p:nvGrpSpPr>
          <p:cNvPr id="2" name="Group 1">
            <a:extLst>
              <a:ext uri="{FF2B5EF4-FFF2-40B4-BE49-F238E27FC236}">
                <a16:creationId xmlns:a16="http://schemas.microsoft.com/office/drawing/2014/main" id="{D2852250-B7DF-4AD2-5256-3ACCFC64B692}"/>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94741C5B-A0FF-E748-97C7-12B842D66DED}"/>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B02C2B8-5D6E-F9D1-87F2-A0B5F7B15EB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C5B9B3B-00A4-10CF-BF6C-735D7779DD7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8BBA87F-DD43-3767-C7AA-18336A1D346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EC4E4D6-35CA-B7C5-3ACC-6916FF36D52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A2E5AC4-EC65-4DE1-7D4C-0A4AEF440482}"/>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7: </a:t>
            </a:r>
            <a:r>
              <a:rPr lang="en-US" sz="2400">
                <a:latin typeface="Times New Roman" panose="02020603050405020304" pitchFamily="18" charset="0"/>
                <a:cs typeface="Times New Roman" panose="02020603050405020304" pitchFamily="18" charset="0"/>
              </a:rPr>
              <a:t>Xem giỏ hàng tạm thời</a:t>
            </a:r>
            <a:endParaRPr lang="vi-VN" sz="24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86E57E93-7976-F7D9-C178-B81A4459A4FA}"/>
              </a:ext>
            </a:extLst>
          </p:cNvPr>
          <p:cNvPicPr>
            <a:picLocks noChangeAspect="1"/>
          </p:cNvPicPr>
          <p:nvPr/>
        </p:nvPicPr>
        <p:blipFill>
          <a:blip r:embed="rId3"/>
          <a:stretch>
            <a:fillRect/>
          </a:stretch>
        </p:blipFill>
        <p:spPr>
          <a:xfrm>
            <a:off x="728132" y="1354535"/>
            <a:ext cx="9182896" cy="2370025"/>
          </a:xfrm>
          <a:prstGeom prst="rect">
            <a:avLst/>
          </a:prstGeom>
        </p:spPr>
      </p:pic>
    </p:spTree>
    <p:extLst>
      <p:ext uri="{BB962C8B-B14F-4D97-AF65-F5344CB8AC3E}">
        <p14:creationId xmlns:p14="http://schemas.microsoft.com/office/powerpoint/2010/main" val="4226151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DB7E5A9-58EF-5AFD-054E-4CB5ABB1C39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AD46A17-7FEF-9464-BD06-E80218FE091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8005E63-0442-8FE8-2988-69E604427F0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grpSp>
        <p:nvGrpSpPr>
          <p:cNvPr id="2" name="Group 1">
            <a:extLst>
              <a:ext uri="{FF2B5EF4-FFF2-40B4-BE49-F238E27FC236}">
                <a16:creationId xmlns:a16="http://schemas.microsoft.com/office/drawing/2014/main" id="{13F2DF3D-2060-5D1E-A7D4-94D7A6843BB5}"/>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FADE0548-8757-8BAB-73F7-0E2D847549DB}"/>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2A5B357-69CE-7159-91D4-823E1734000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2FEBC48-0FD0-3FC5-20B6-768FFA5B84C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18E84FB-1D15-0388-46FB-49A8BE06850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8FEAFFA-A1DA-3EEE-A6BA-7F8DD520450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1EC019E-4697-60D4-5161-007CDC4069DD}"/>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Step 8: </a:t>
            </a:r>
            <a:r>
              <a:rPr lang="en-US" sz="2400">
                <a:latin typeface="Times New Roman" panose="02020603050405020304" pitchFamily="18" charset="0"/>
                <a:cs typeface="Times New Roman" panose="02020603050405020304" pitchFamily="18" charset="0"/>
              </a:rPr>
              <a:t>Xác thực và Lưu vào MongoDB (Persistence)</a:t>
            </a:r>
            <a:endParaRPr lang="vi-VN" sz="24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EAD9C541-27B9-A84D-8215-A670203BC930}"/>
              </a:ext>
            </a:extLst>
          </p:cNvPr>
          <p:cNvPicPr>
            <a:picLocks noChangeAspect="1"/>
          </p:cNvPicPr>
          <p:nvPr/>
        </p:nvPicPr>
        <p:blipFill>
          <a:blip r:embed="rId3"/>
          <a:stretch>
            <a:fillRect/>
          </a:stretch>
        </p:blipFill>
        <p:spPr>
          <a:xfrm>
            <a:off x="165174" y="1354535"/>
            <a:ext cx="12192000" cy="4753269"/>
          </a:xfrm>
          <a:prstGeom prst="rect">
            <a:avLst/>
          </a:prstGeom>
        </p:spPr>
      </p:pic>
    </p:spTree>
    <p:extLst>
      <p:ext uri="{BB962C8B-B14F-4D97-AF65-F5344CB8AC3E}">
        <p14:creationId xmlns:p14="http://schemas.microsoft.com/office/powerpoint/2010/main" val="12037662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FE475BA-5904-25B4-BC58-375EDDD608A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9424638-46C6-9299-B535-C44CEEA811E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CCC2D46-DDC6-5CC3-EE78-997689C88D5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grpSp>
        <p:nvGrpSpPr>
          <p:cNvPr id="2" name="Group 1">
            <a:extLst>
              <a:ext uri="{FF2B5EF4-FFF2-40B4-BE49-F238E27FC236}">
                <a16:creationId xmlns:a16="http://schemas.microsoft.com/office/drawing/2014/main" id="{3C4A2DAC-BC20-40B2-01F8-2AC19368BAF6}"/>
              </a:ext>
            </a:extLst>
          </p:cNvPr>
          <p:cNvGrpSpPr/>
          <p:nvPr/>
        </p:nvGrpSpPr>
        <p:grpSpPr>
          <a:xfrm>
            <a:off x="214276" y="229075"/>
            <a:ext cx="7217802" cy="508000"/>
            <a:chOff x="789624" y="1191463"/>
            <a:chExt cx="7217802" cy="508000"/>
          </a:xfrm>
        </p:grpSpPr>
        <p:sp>
          <p:nvSpPr>
            <p:cNvPr id="3" name="AutoShape 52">
              <a:extLst>
                <a:ext uri="{FF2B5EF4-FFF2-40B4-BE49-F238E27FC236}">
                  <a16:creationId xmlns:a16="http://schemas.microsoft.com/office/drawing/2014/main" id="{9164B634-0450-9E33-FE52-B5779AD27BEB}"/>
                </a:ext>
              </a:extLst>
            </p:cNvPr>
            <p:cNvSpPr>
              <a:spLocks noChangeArrowheads="1"/>
            </p:cNvSpPr>
            <p:nvPr/>
          </p:nvSpPr>
          <p:spPr bwMode="gray">
            <a:xfrm>
              <a:off x="990600" y="1191463"/>
              <a:ext cx="70168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8.4.</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đọc Sesion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94A5E8B-5297-E625-C1A7-2DD5630B8DF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223E553-85D4-BFF1-F975-99BCE727DDF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F827C63-E61F-C501-71DC-C397CC4A816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B4C7D8E-490C-C37A-6050-074AE47A62B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8536DE14-35B6-A0BA-DEDA-1D556859BEC1}"/>
              </a:ext>
            </a:extLst>
          </p:cNvPr>
          <p:cNvPicPr>
            <a:picLocks noChangeAspect="1"/>
          </p:cNvPicPr>
          <p:nvPr/>
        </p:nvPicPr>
        <p:blipFill>
          <a:blip r:embed="rId3"/>
          <a:stretch>
            <a:fillRect/>
          </a:stretch>
        </p:blipFill>
        <p:spPr>
          <a:xfrm>
            <a:off x="78828" y="792950"/>
            <a:ext cx="10838793" cy="6065050"/>
          </a:xfrm>
          <a:prstGeom prst="rect">
            <a:avLst/>
          </a:prstGeom>
        </p:spPr>
      </p:pic>
    </p:spTree>
    <p:extLst>
      <p:ext uri="{BB962C8B-B14F-4D97-AF65-F5344CB8AC3E}">
        <p14:creationId xmlns:p14="http://schemas.microsoft.com/office/powerpoint/2010/main" val="31968076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dirty="0"/>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1220</TotalTime>
  <Words>6192</Words>
  <Application>Microsoft Office PowerPoint</Application>
  <PresentationFormat>Widescreen</PresentationFormat>
  <Paragraphs>723</Paragraphs>
  <Slides>53</Slides>
  <Notes>53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Cambria</vt:lpstr>
      <vt:lpstr>Lato</vt:lpstr>
      <vt:lpstr>Wingdings</vt:lpstr>
      <vt:lpstr>Arial</vt:lpstr>
      <vt:lpstr>Times New Roman</vt:lpstr>
      <vt:lpstr>Lato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 Trần</cp:lastModifiedBy>
  <cp:revision>656</cp:revision>
  <dcterms:created xsi:type="dcterms:W3CDTF">2022-12-02T04:21:00Z</dcterms:created>
  <dcterms:modified xsi:type="dcterms:W3CDTF">2026-05-21T18:40:23Z</dcterms:modified>
</cp:coreProperties>
</file>