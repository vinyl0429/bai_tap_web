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7"/>
  </p:notesMasterIdLst>
  <p:sldIdLst>
    <p:sldId id="256" r:id="rId2"/>
    <p:sldId id="274" r:id="rId3"/>
    <p:sldId id="268" r:id="rId4"/>
    <p:sldId id="278" r:id="rId5"/>
    <p:sldId id="282" r:id="rId6"/>
    <p:sldId id="284" r:id="rId7"/>
    <p:sldId id="288" r:id="rId8"/>
    <p:sldId id="289" r:id="rId9"/>
    <p:sldId id="290" r:id="rId10"/>
    <p:sldId id="291" r:id="rId11"/>
    <p:sldId id="287" r:id="rId12"/>
    <p:sldId id="285" r:id="rId13"/>
    <p:sldId id="297" r:id="rId14"/>
    <p:sldId id="298" r:id="rId15"/>
    <p:sldId id="292" r:id="rId16"/>
    <p:sldId id="293" r:id="rId17"/>
    <p:sldId id="294" r:id="rId18"/>
    <p:sldId id="295" r:id="rId19"/>
    <p:sldId id="296" r:id="rId20"/>
    <p:sldId id="283" r:id="rId21"/>
    <p:sldId id="279" r:id="rId22"/>
    <p:sldId id="300" r:id="rId23"/>
    <p:sldId id="301" r:id="rId24"/>
    <p:sldId id="299" r:id="rId25"/>
    <p:sldId id="302" r:id="rId26"/>
    <p:sldId id="303" r:id="rId27"/>
    <p:sldId id="304" r:id="rId28"/>
    <p:sldId id="305" r:id="rId29"/>
    <p:sldId id="280" r:id="rId30"/>
    <p:sldId id="306" r:id="rId31"/>
    <p:sldId id="307" r:id="rId32"/>
    <p:sldId id="308" r:id="rId33"/>
    <p:sldId id="309" r:id="rId34"/>
    <p:sldId id="312" r:id="rId35"/>
    <p:sldId id="310" r:id="rId36"/>
    <p:sldId id="311" r:id="rId37"/>
    <p:sldId id="313" r:id="rId38"/>
    <p:sldId id="281" r:id="rId39"/>
    <p:sldId id="314" r:id="rId40"/>
    <p:sldId id="318" r:id="rId41"/>
    <p:sldId id="320" r:id="rId42"/>
    <p:sldId id="319" r:id="rId43"/>
    <p:sldId id="321" r:id="rId44"/>
    <p:sldId id="323" r:id="rId45"/>
    <p:sldId id="322" r:id="rId46"/>
    <p:sldId id="324" r:id="rId47"/>
    <p:sldId id="325" r:id="rId48"/>
    <p:sldId id="326" r:id="rId49"/>
    <p:sldId id="327" r:id="rId50"/>
    <p:sldId id="328" r:id="rId51"/>
    <p:sldId id="329" r:id="rId52"/>
    <p:sldId id="330" r:id="rId53"/>
    <p:sldId id="331" r:id="rId54"/>
    <p:sldId id="332" r:id="rId55"/>
    <p:sldId id="333" r:id="rId56"/>
    <p:sldId id="334" r:id="rId57"/>
    <p:sldId id="335" r:id="rId58"/>
    <p:sldId id="336" r:id="rId59"/>
    <p:sldId id="338" r:id="rId60"/>
    <p:sldId id="337" r:id="rId61"/>
    <p:sldId id="342" r:id="rId62"/>
    <p:sldId id="340" r:id="rId63"/>
    <p:sldId id="341" r:id="rId64"/>
    <p:sldId id="339" r:id="rId65"/>
    <p:sldId id="343" r:id="rId66"/>
    <p:sldId id="315" r:id="rId67"/>
    <p:sldId id="344" r:id="rId68"/>
    <p:sldId id="345" r:id="rId69"/>
    <p:sldId id="346" r:id="rId70"/>
    <p:sldId id="347" r:id="rId71"/>
    <p:sldId id="348" r:id="rId72"/>
    <p:sldId id="349" r:id="rId73"/>
    <p:sldId id="350" r:id="rId74"/>
    <p:sldId id="352" r:id="rId75"/>
    <p:sldId id="351" r:id="rId76"/>
    <p:sldId id="355" r:id="rId77"/>
    <p:sldId id="356" r:id="rId78"/>
    <p:sldId id="354" r:id="rId79"/>
    <p:sldId id="357" r:id="rId80"/>
    <p:sldId id="353" r:id="rId81"/>
    <p:sldId id="316" r:id="rId82"/>
    <p:sldId id="358" r:id="rId83"/>
    <p:sldId id="359" r:id="rId84"/>
    <p:sldId id="360" r:id="rId85"/>
    <p:sldId id="361" r:id="rId86"/>
    <p:sldId id="362" r:id="rId87"/>
    <p:sldId id="365" r:id="rId88"/>
    <p:sldId id="367" r:id="rId89"/>
    <p:sldId id="368" r:id="rId90"/>
    <p:sldId id="366" r:id="rId91"/>
    <p:sldId id="369" r:id="rId92"/>
    <p:sldId id="363" r:id="rId93"/>
    <p:sldId id="317" r:id="rId94"/>
    <p:sldId id="370" r:id="rId95"/>
    <p:sldId id="371" r:id="rId96"/>
    <p:sldId id="372" r:id="rId97"/>
    <p:sldId id="373" r:id="rId98"/>
    <p:sldId id="374" r:id="rId99"/>
    <p:sldId id="375" r:id="rId100"/>
    <p:sldId id="376" r:id="rId101"/>
    <p:sldId id="377" r:id="rId102"/>
    <p:sldId id="378" r:id="rId103"/>
    <p:sldId id="379" r:id="rId104"/>
    <p:sldId id="277" r:id="rId105"/>
    <p:sldId id="263" r:id="rId106"/>
  </p:sldIdLst>
  <p:sldSz cx="12192000" cy="6858000"/>
  <p:notesSz cx="6858000" cy="9144000"/>
  <p:embeddedFontLst>
    <p:embeddedFont>
      <p:font typeface="Cambria" panose="02040503050406030204" pitchFamily="18" charset="0"/>
      <p:regular r:id="rId108"/>
      <p:bold r:id="rId109"/>
      <p:italic r:id="rId110"/>
      <p:boldItalic r:id="rId111"/>
    </p:embeddedFont>
    <p:embeddedFont>
      <p:font typeface="Consolas" panose="020B0609020204030204" pitchFamily="49" charset="0"/>
      <p:regular r:id="rId112"/>
      <p:bold r:id="rId113"/>
      <p:italic r:id="rId114"/>
      <p:boldItalic r:id="rId115"/>
    </p:embeddedFont>
    <p:embeddedFont>
      <p:font typeface="Lato" panose="020F0502020204030203" pitchFamily="34" charset="0"/>
      <p:regular r:id="rId116"/>
      <p:bold r:id="rId117"/>
      <p:italic r:id="rId118"/>
      <p:boldItalic r:id="rId119"/>
    </p:embeddedFont>
    <p:embeddedFont>
      <p:font typeface="Lato Black" panose="020F0502020204030203" pitchFamily="34" charset="0"/>
      <p:bold r:id="rId120"/>
      <p:boldItalic r:id="rId1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2"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83" autoAdjust="0"/>
    <p:restoredTop sz="81939" autoAdjust="0"/>
  </p:normalViewPr>
  <p:slideViewPr>
    <p:cSldViewPr snapToGrid="0">
      <p:cViewPr varScale="1">
        <p:scale>
          <a:sx n="96" d="100"/>
          <a:sy n="96" d="100"/>
        </p:scale>
        <p:origin x="974" y="67"/>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10.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5.fntdata"/><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6.fntdata"/><Relationship Id="rId118" Type="http://schemas.openxmlformats.org/officeDocument/2006/relationships/font" Target="fonts/font11.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font" Target="fonts/font1.fntdata"/><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7.fntdata"/><Relationship Id="rId119" Type="http://schemas.openxmlformats.org/officeDocument/2006/relationships/font" Target="fonts/font12.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2.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13.fntdata"/><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3.fntdata"/><Relationship Id="rId115" Type="http://schemas.openxmlformats.org/officeDocument/2006/relationships/font" Target="fonts/font8.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4.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581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33CF6DD-ACA9-11F9-F5BE-D3C5E510A3F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8986811-FF3A-9BC0-1133-7BACF3971B7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D1D6E41-34A3-AD2F-61AE-94343FE168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9915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CE27AF7-E88E-F965-2392-16C51760B75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98CFCAB-F4A2-0516-B8EB-387E2C38B1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4BCDBCF-E122-7E48-CDD1-8ED16EEE3F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9104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91C2CA4-80B9-1880-1344-4E2F830E52A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D462379-2493-1AFD-6927-D533E1FE68B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C74F9C2-6F94-9ABE-4EBD-2C5974D48F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8776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04EC502-B8CF-EC94-91CA-5651884F758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072AD7E-F071-4BAD-B5E1-B25CB92046F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79F473D-954C-ABC1-4B2E-DBEA52EEAC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7446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6DB699B-121E-12E3-1BCF-F373F5E5B2E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1127DE6-7322-9B7E-16F0-4AF8004762A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D5DF134-1305-48D2-A705-7686ED5E18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9717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E70AA19-187F-59EC-F050-EC491CBF576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B54985C-9D8B-DE2E-B1F2-690569A9354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D93C347-2499-DA9D-ACCA-2F60D06C89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7468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CDFC8B3-2AA6-D280-4152-59F9F1963D3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32E97B7-F94C-E0BC-6270-30D74AE782C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6D7B8FF-CAC6-F55B-7B40-0E361D560B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495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A8D6919-CC1E-2737-1533-71AB6EF1FCC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F136125-C2AE-3759-EF40-082E9F32679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2E6A4AE-604C-8778-1289-1B68BF4BB2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1071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A85FFCA-A3C7-92F5-754E-5DF26B8EC34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B31FD2A-0AD4-0924-F24D-5469A1C7316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F388785-6C57-096F-F380-EFD99D3279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2003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ED5CBCD-D30D-819D-9FFF-4C264EC8CF5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0DD4025-5C95-261A-A985-C0EA4B61B3D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3175F50-66D0-7022-E7F5-197E0146FA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1353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6384A4D-7E34-5940-DEF7-4AA575367B0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B791CF8-AD43-340C-6A40-88363C3D142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AAC6213-1D02-BD99-6C1B-7693BD207F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5474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8FA6F7C-6B4A-8D67-8893-FC453673B08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22922E4-9581-7097-489E-1D3848C2FFA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5050DFE-55CD-9528-4C03-6746443F4E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21778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30729E7-BD50-911E-B695-F7B2AA61E8E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1181029-3589-23CE-4ED7-DE3E1E75F56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96D8F9C-36A8-1122-8CD1-1CC6E675EA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689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500FA7F-29B3-6FBC-BB7F-0452559121C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D753306-EE76-6346-0C52-4C26DFA177D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DA2DDF2-E1CA-22C5-D449-3E0E91228C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6998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A6B2284-97C6-B621-EB93-0FB2304FED9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2A527EE-0532-6DA2-E4AE-234330B4764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D486B74-77B8-9AA0-5F2A-E2B5058CF5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48054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EB92E26-5A4C-66CF-9A91-BC747AA2954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2F9777C-C53F-6261-A8AA-DC144E80D15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5B57F8A-E975-5D42-80FB-574F9EFCCE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19836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276961D-6DC8-F709-2F5B-003418C7904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E914DB0-88AC-880F-3889-416447487C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887C9DD-20A4-125A-04C7-C1EEEDF31A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99261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CA5FB42-349C-75CA-F6B0-6A47EB8B139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FA5B588-68F4-38CE-60EB-4B9F77CA3EF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15F4025-1BCA-451D-B181-4EE0A70FCE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00839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3484F9C-A559-596E-0E8B-974F8032B56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91C35E4-CBDE-D4E6-FC36-41FBD3D669E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812FA92-5535-F1C3-28F2-942A713754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9389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AADCCCF-1C1E-ACE7-8737-7F401C7A9BA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8784F9B-7408-2F1C-9BAD-BE8040E0A5E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416B205-BB0F-A20A-B162-60F107DB5C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8946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52572BF-FA63-5453-3C06-9837EC04631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788352E-ABB4-02EF-99AA-993168868A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76C0766-43DD-4F6B-C440-8CEFE81F33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25156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583EA5B-64A3-C3B3-3C4E-145D3417F03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55ADA26-DE9D-1765-796C-504F9C8D7A4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7BF132E-CCB5-5E91-120B-56203807A4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9299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09C2278-ED6C-97A6-C5FC-164C1E3E397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3135699-BE02-03AE-CC6F-EA058F3D351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752F440-236D-1546-C27C-A78A396DBF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55905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D1E6527-686A-ECC5-ACEE-BEC7CD9714A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AB8733E-68F7-0640-72B4-38655D9944E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319B00E-1E05-1EDF-7BF9-6B91A64CC7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81124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DFCB342-5B14-73EE-6765-7F5FE38FCFC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3239208-E232-726B-CA9B-B9466218F68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CC16C39-4E6D-BF2A-973B-F68904D45D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47203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F47A2D1-12FE-0850-7623-52A410C058F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8E67459-517C-C1B9-B63F-9EE9654DD4A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F1E896C-D30A-5ADB-D3F1-926428FC15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67165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7C8AA5B-1950-F1D8-01CE-448627D02D6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E74611C-5B76-7DC6-3127-9E06485E02B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E0FCC2F-5B9A-A952-2509-3FDA1CFFD9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66903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BF7E4F8-15D4-324A-67B6-DE36229BE35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C12D816-7AFA-04A5-4EC5-D986E056D86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1C690F2-BCF5-DFF6-6224-5E2E8E6D71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80979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D2EED95-03C1-13FB-8DF7-EF4194A89F7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9C1D254-9FEA-2E39-1BAA-8D01E067D7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2F49E85-EF96-E9D7-28C6-EF8B64C9B4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42548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AF8EDCC-4BEC-2C05-DEB7-119A6F19A8A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79C181E-D488-7084-D8B7-CF15C2EA299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16312B5-7994-59F2-DA4B-D2BF21EEB5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38821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052E467-9966-753E-4162-ECECC4AF5EC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2F8AD35-9FD5-0AF8-07F1-B64AA8F6CC0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AA01E7F-D700-9FD4-6926-7B0E630368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59801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88A4E1A-74FC-0A31-0123-A753DA5A978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FF73DB9-EA13-DDF2-F846-DC85B6967F2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0C732AE-4C9A-125E-9DEE-7B85083A5F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42715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943EC58-66D6-F7BE-60CB-E265E383322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247043A-DDA5-C76E-60FB-D1CE27C66B5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express = require(</a:t>
            </a:r>
            <a:r>
              <a:rPr lang="en-US" b="0">
                <a:solidFill>
                  <a:srgbClr val="A31515"/>
                </a:solidFill>
                <a:effectLst/>
                <a:latin typeface="Consolas" panose="020B0609020204030204" pitchFamily="49" charset="0"/>
              </a:rPr>
              <a:t>'express'</a:t>
            </a:r>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app = express();</a:t>
            </a:r>
          </a:p>
          <a:p>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port = </a:t>
            </a:r>
            <a:r>
              <a:rPr lang="en-US" b="0">
                <a:solidFill>
                  <a:srgbClr val="098658"/>
                </a:solidFill>
                <a:effectLst/>
                <a:latin typeface="Consolas" panose="020B0609020204030204" pitchFamily="49" charset="0"/>
              </a:rPr>
              <a:t>3002</a:t>
            </a:r>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morgan=require(</a:t>
            </a:r>
            <a:r>
              <a:rPr lang="en-US" b="0">
                <a:solidFill>
                  <a:srgbClr val="A31515"/>
                </a:solidFill>
                <a:effectLst/>
                <a:latin typeface="Consolas" panose="020B0609020204030204" pitchFamily="49" charset="0"/>
              </a:rPr>
              <a:t>"morgan"</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app.use(morgan(</a:t>
            </a:r>
            <a:r>
              <a:rPr lang="en-US" b="0">
                <a:solidFill>
                  <a:srgbClr val="A31515"/>
                </a:solidFill>
                <a:effectLst/>
                <a:latin typeface="Consolas" panose="020B0609020204030204" pitchFamily="49" charset="0"/>
              </a:rPr>
              <a:t>"combined"</a:t>
            </a:r>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path=require(</a:t>
            </a:r>
            <a:r>
              <a:rPr lang="en-US" b="0">
                <a:solidFill>
                  <a:srgbClr val="A31515"/>
                </a:solidFill>
                <a:effectLst/>
                <a:latin typeface="Consolas" panose="020B0609020204030204" pitchFamily="49" charset="0"/>
              </a:rPr>
              <a:t>"path"</a:t>
            </a:r>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fs = require(</a:t>
            </a:r>
            <a:r>
              <a:rPr lang="en-US" b="0">
                <a:solidFill>
                  <a:srgbClr val="A31515"/>
                </a:solidFill>
                <a:effectLst/>
                <a:latin typeface="Consolas" panose="020B0609020204030204" pitchFamily="49" charset="0"/>
              </a:rPr>
              <a:t>'fs'</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app.use(express.static(path.join(__dirname,</a:t>
            </a:r>
            <a:r>
              <a:rPr lang="en-US" b="0">
                <a:solidFill>
                  <a:srgbClr val="A31515"/>
                </a:solidFill>
                <a:effectLst/>
                <a:latin typeface="Consolas" panose="020B0609020204030204" pitchFamily="49" charset="0"/>
              </a:rPr>
              <a:t>"public"</a:t>
            </a:r>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cors=require(</a:t>
            </a:r>
            <a:r>
              <a:rPr lang="en-US" b="0">
                <a:solidFill>
                  <a:srgbClr val="A31515"/>
                </a:solidFill>
                <a:effectLst/>
                <a:latin typeface="Consolas" panose="020B0609020204030204" pitchFamily="49" charset="0"/>
              </a:rPr>
              <a:t>"cors"</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app.use(cors())</a:t>
            </a:r>
          </a:p>
          <a:p>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bodyParser=require(</a:t>
            </a:r>
            <a:r>
              <a:rPr lang="en-US" b="0">
                <a:solidFill>
                  <a:srgbClr val="A31515"/>
                </a:solidFill>
                <a:effectLst/>
                <a:latin typeface="Consolas" panose="020B0609020204030204" pitchFamily="49" charset="0"/>
              </a:rPr>
              <a:t>"body-parser"</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app.use(bodyParser.json({ limit: </a:t>
            </a:r>
            <a:r>
              <a:rPr lang="en-US" b="0">
                <a:solidFill>
                  <a:srgbClr val="A31515"/>
                </a:solidFill>
                <a:effectLst/>
                <a:latin typeface="Consolas" panose="020B0609020204030204" pitchFamily="49" charset="0"/>
              </a:rPr>
              <a:t>'50mb'</a:t>
            </a:r>
            <a:r>
              <a:rPr lang="en-US" b="0">
                <a:solidFill>
                  <a:srgbClr val="000000"/>
                </a:solidFill>
                <a:effectLst/>
                <a:latin typeface="Consolas" panose="020B0609020204030204" pitchFamily="49" charset="0"/>
              </a:rPr>
              <a:t> })); </a:t>
            </a:r>
          </a:p>
          <a:p>
            <a:r>
              <a:rPr lang="en-US" b="0">
                <a:solidFill>
                  <a:srgbClr val="000000"/>
                </a:solidFill>
                <a:effectLst/>
                <a:latin typeface="Consolas" panose="020B0609020204030204" pitchFamily="49" charset="0"/>
              </a:rPr>
              <a:t>app.use(bodyParser.urlencoded({ limit: </a:t>
            </a:r>
            <a:r>
              <a:rPr lang="en-US" b="0">
                <a:solidFill>
                  <a:srgbClr val="A31515"/>
                </a:solidFill>
                <a:effectLst/>
                <a:latin typeface="Consolas" panose="020B0609020204030204" pitchFamily="49" charset="0"/>
              </a:rPr>
              <a:t>'50mb'</a:t>
            </a:r>
            <a:r>
              <a:rPr lang="en-US" b="0">
                <a:solidFill>
                  <a:srgbClr val="000000"/>
                </a:solidFill>
                <a:effectLst/>
                <a:latin typeface="Consolas" panose="020B0609020204030204" pitchFamily="49" charset="0"/>
              </a:rPr>
              <a:t>, extended: </a:t>
            </a:r>
            <a:r>
              <a:rPr lang="en-US" b="0">
                <a:solidFill>
                  <a:srgbClr val="0000FF"/>
                </a:solidFill>
                <a:effectLst/>
                <a:latin typeface="Consolas" panose="020B0609020204030204" pitchFamily="49" charset="0"/>
              </a:rPr>
              <a:t>true</a:t>
            </a:r>
            <a:r>
              <a:rPr lang="en-US" b="0">
                <a:solidFill>
                  <a:srgbClr val="000000"/>
                </a:solidFill>
                <a:effectLst/>
                <a:latin typeface="Consolas" panose="020B0609020204030204" pitchFamily="49" charset="0"/>
              </a:rPr>
              <a:t> }));</a:t>
            </a:r>
          </a:p>
          <a:p>
            <a:br>
              <a:rPr lang="en-US" b="0">
                <a:solidFill>
                  <a:srgbClr val="000000"/>
                </a:solidFill>
                <a:effectLst/>
                <a:latin typeface="Consolas" panose="020B0609020204030204" pitchFamily="49" charset="0"/>
              </a:rPr>
            </a:br>
            <a:r>
              <a:rPr lang="en-US" b="0">
                <a:solidFill>
                  <a:srgbClr val="000000"/>
                </a:solidFill>
                <a:effectLst/>
                <a:latin typeface="Consolas" panose="020B0609020204030204" pitchFamily="49" charset="0"/>
              </a:rPr>
              <a:t>app.listen(port,()</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console.log(</a:t>
            </a:r>
            <a:r>
              <a:rPr lang="en-US" b="0">
                <a:solidFill>
                  <a:srgbClr val="A31515"/>
                </a:solidFill>
                <a:effectLst/>
                <a:latin typeface="Consolas" panose="020B0609020204030204" pitchFamily="49" charset="0"/>
              </a:rPr>
              <a:t>`My Server listening on port </a:t>
            </a:r>
            <a:r>
              <a:rPr lang="en-US" b="0">
                <a:solidFill>
                  <a:srgbClr val="0000FF"/>
                </a:solidFill>
                <a:effectLst/>
                <a:latin typeface="Consolas" panose="020B0609020204030204" pitchFamily="49" charset="0"/>
              </a:rPr>
              <a:t>${</a:t>
            </a:r>
            <a:r>
              <a:rPr lang="en-US" b="0">
                <a:solidFill>
                  <a:srgbClr val="000000"/>
                </a:solidFill>
                <a:effectLst/>
                <a:latin typeface="Consolas" panose="020B0609020204030204" pitchFamily="49" charset="0"/>
              </a:rPr>
              <a:t>port</a:t>
            </a:r>
            <a:r>
              <a:rPr lang="en-US" b="0">
                <a:solidFill>
                  <a:srgbClr val="0000FF"/>
                </a:solidFill>
                <a:effectLst/>
                <a:latin typeface="Consolas" panose="020B0609020204030204" pitchFamily="49" charset="0"/>
              </a:rPr>
              <a:t>}</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a:solidFill>
                  <a:srgbClr val="000000"/>
                </a:solidFill>
                <a:effectLst/>
                <a:latin typeface="Consolas" panose="020B0609020204030204" pitchFamily="49" charset="0"/>
              </a:rPr>
              <a:t>app.get(</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,(req,res)</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res.send(</a:t>
            </a:r>
            <a:r>
              <a:rPr lang="en-US" b="0">
                <a:solidFill>
                  <a:srgbClr val="A31515"/>
                </a:solidFill>
                <a:effectLst/>
                <a:latin typeface="Consolas" panose="020B0609020204030204" pitchFamily="49" charset="0"/>
              </a:rPr>
              <a:t>"This Web server is processed for MongoDB"</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0FDEC93-BBAB-B1AC-447C-FEA587F770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29183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E16C88A-311E-2981-2D9D-288D59B0FDC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8B9A4B5-B450-9B82-181D-A982E107DB2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5974E04-29FB-4451-29C1-0667C772A8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97502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3EA0D1C-42BA-98E4-C173-69B2393201D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851943-D27F-C94A-5C67-3907425EC38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53B5A43-5F6A-AA51-C049-48AF466D9C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59480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86F9C56-711C-52D4-2585-ED75C2C5F90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FBE702F-14B0-3519-AE60-CB4543A92CC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C202107-0E3D-1279-6FE8-08BBE31245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73135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2C98391-B011-ECF7-C85A-5BCE5D4500F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3AFB9C5-18BC-55E7-B822-140C2BFD9A3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85A3286-4AF0-FE8E-97BC-2A6A4C6DD5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28092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C55D9A0-337E-EA7D-28DA-FA1D9A12C3A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2848DDC-8154-319E-E56E-C371F0A262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nSpc>
                <a:spcPts val="2250"/>
              </a:lnSpc>
              <a:buNone/>
            </a:pP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express = require(</a:t>
            </a:r>
            <a:r>
              <a:rPr lang="en-US" b="0">
                <a:solidFill>
                  <a:srgbClr val="A31515"/>
                </a:solidFill>
                <a:effectLst/>
                <a:latin typeface="Consolas" panose="020B0609020204030204" pitchFamily="49" charset="0"/>
              </a:rPr>
              <a:t>'express'</a:t>
            </a:r>
            <a:r>
              <a:rPr lang="en-US" b="0">
                <a:solidFill>
                  <a:srgbClr val="000000"/>
                </a:solidFill>
                <a:effectLst/>
                <a:latin typeface="Consolas" panose="020B0609020204030204" pitchFamily="49" charset="0"/>
              </a:rPr>
              <a:t>);</a:t>
            </a:r>
          </a:p>
          <a:p>
            <a:pPr>
              <a:lnSpc>
                <a:spcPts val="2250"/>
              </a:lnSpc>
              <a:buNone/>
            </a:pP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app = express();</a:t>
            </a:r>
          </a:p>
          <a:p>
            <a:pPr>
              <a:lnSpc>
                <a:spcPts val="2250"/>
              </a:lnSpc>
              <a:buNone/>
            </a:pP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port = </a:t>
            </a:r>
            <a:r>
              <a:rPr lang="en-US" b="0">
                <a:solidFill>
                  <a:srgbClr val="098658"/>
                </a:solidFill>
                <a:effectLst/>
                <a:latin typeface="Consolas" panose="020B0609020204030204" pitchFamily="49" charset="0"/>
              </a:rPr>
              <a:t>3002</a:t>
            </a:r>
            <a:r>
              <a:rPr lang="en-US" b="0">
                <a:solidFill>
                  <a:srgbClr val="000000"/>
                </a:solidFill>
                <a:effectLst/>
                <a:latin typeface="Consolas" panose="020B0609020204030204" pitchFamily="49" charset="0"/>
              </a:rPr>
              <a:t>;</a:t>
            </a:r>
          </a:p>
          <a:p>
            <a:pPr>
              <a:lnSpc>
                <a:spcPts val="2250"/>
              </a:lnSpc>
              <a:buNone/>
            </a:pPr>
            <a:br>
              <a:rPr lang="en-US" b="0">
                <a:solidFill>
                  <a:srgbClr val="000000"/>
                </a:solidFill>
                <a:effectLst/>
                <a:latin typeface="Consolas" panose="020B0609020204030204" pitchFamily="49" charset="0"/>
              </a:rPr>
            </a:b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morgan=require(</a:t>
            </a:r>
            <a:r>
              <a:rPr lang="en-US" b="0">
                <a:solidFill>
                  <a:srgbClr val="A31515"/>
                </a:solidFill>
                <a:effectLst/>
                <a:latin typeface="Consolas" panose="020B0609020204030204" pitchFamily="49" charset="0"/>
              </a:rPr>
              <a:t>"morgan"</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app.use(morgan(</a:t>
            </a:r>
            <a:r>
              <a:rPr lang="en-US" b="0">
                <a:solidFill>
                  <a:srgbClr val="A31515"/>
                </a:solidFill>
                <a:effectLst/>
                <a:latin typeface="Consolas" panose="020B0609020204030204" pitchFamily="49" charset="0"/>
              </a:rPr>
              <a:t>"combined"</a:t>
            </a:r>
            <a:r>
              <a:rPr lang="en-US" b="0">
                <a:solidFill>
                  <a:srgbClr val="000000"/>
                </a:solidFill>
                <a:effectLst/>
                <a:latin typeface="Consolas" panose="020B0609020204030204" pitchFamily="49" charset="0"/>
              </a:rPr>
              <a:t>))</a:t>
            </a:r>
          </a:p>
          <a:p>
            <a:pPr>
              <a:lnSpc>
                <a:spcPts val="2250"/>
              </a:lnSpc>
              <a:buNone/>
            </a:pPr>
            <a:br>
              <a:rPr lang="en-US" b="0">
                <a:solidFill>
                  <a:srgbClr val="000000"/>
                </a:solidFill>
                <a:effectLst/>
                <a:latin typeface="Consolas" panose="020B0609020204030204" pitchFamily="49" charset="0"/>
              </a:rPr>
            </a:b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path=require(</a:t>
            </a:r>
            <a:r>
              <a:rPr lang="en-US" b="0">
                <a:solidFill>
                  <a:srgbClr val="A31515"/>
                </a:solidFill>
                <a:effectLst/>
                <a:latin typeface="Consolas" panose="020B0609020204030204" pitchFamily="49" charset="0"/>
              </a:rPr>
              <a:t>"path"</a:t>
            </a:r>
            <a:r>
              <a:rPr lang="en-US" b="0">
                <a:solidFill>
                  <a:srgbClr val="000000"/>
                </a:solidFill>
                <a:effectLst/>
                <a:latin typeface="Consolas" panose="020B0609020204030204" pitchFamily="49" charset="0"/>
              </a:rPr>
              <a:t>)</a:t>
            </a:r>
          </a:p>
          <a:p>
            <a:pPr>
              <a:lnSpc>
                <a:spcPts val="2250"/>
              </a:lnSpc>
              <a:buNone/>
            </a:pP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fs = require(</a:t>
            </a:r>
            <a:r>
              <a:rPr lang="en-US" b="0">
                <a:solidFill>
                  <a:srgbClr val="A31515"/>
                </a:solidFill>
                <a:effectLst/>
                <a:latin typeface="Consolas" panose="020B0609020204030204" pitchFamily="49" charset="0"/>
              </a:rPr>
              <a:t>'fs'</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app.use(express.static(path.join(__dirname,</a:t>
            </a:r>
            <a:r>
              <a:rPr lang="en-US" b="0">
                <a:solidFill>
                  <a:srgbClr val="A31515"/>
                </a:solidFill>
                <a:effectLst/>
                <a:latin typeface="Consolas" panose="020B0609020204030204" pitchFamily="49" charset="0"/>
              </a:rPr>
              <a:t>"public"</a:t>
            </a:r>
            <a:r>
              <a:rPr lang="en-US" b="0">
                <a:solidFill>
                  <a:srgbClr val="000000"/>
                </a:solidFill>
                <a:effectLst/>
                <a:latin typeface="Consolas" panose="020B0609020204030204" pitchFamily="49" charset="0"/>
              </a:rPr>
              <a:t>)))</a:t>
            </a:r>
          </a:p>
          <a:p>
            <a:pPr>
              <a:lnSpc>
                <a:spcPts val="2250"/>
              </a:lnSpc>
              <a:buNone/>
            </a:pPr>
            <a:br>
              <a:rPr lang="en-US" b="0">
                <a:solidFill>
                  <a:srgbClr val="000000"/>
                </a:solidFill>
                <a:effectLst/>
                <a:latin typeface="Consolas" panose="020B0609020204030204" pitchFamily="49" charset="0"/>
              </a:rPr>
            </a:b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cors=require(</a:t>
            </a:r>
            <a:r>
              <a:rPr lang="en-US" b="0">
                <a:solidFill>
                  <a:srgbClr val="A31515"/>
                </a:solidFill>
                <a:effectLst/>
                <a:latin typeface="Consolas" panose="020B0609020204030204" pitchFamily="49" charset="0"/>
              </a:rPr>
              <a:t>"cors"</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app.use(cors())</a:t>
            </a:r>
          </a:p>
          <a:p>
            <a:pPr>
              <a:lnSpc>
                <a:spcPts val="2250"/>
              </a:lnSpc>
              <a:buNone/>
            </a:pP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bodyParser=require(</a:t>
            </a:r>
            <a:r>
              <a:rPr lang="en-US" b="0">
                <a:solidFill>
                  <a:srgbClr val="A31515"/>
                </a:solidFill>
                <a:effectLst/>
                <a:latin typeface="Consolas" panose="020B0609020204030204" pitchFamily="49" charset="0"/>
              </a:rPr>
              <a:t>"body-parser"</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app.use(bodyParser.json({ limit: </a:t>
            </a:r>
            <a:r>
              <a:rPr lang="en-US" b="0">
                <a:solidFill>
                  <a:srgbClr val="A31515"/>
                </a:solidFill>
                <a:effectLst/>
                <a:latin typeface="Consolas" panose="020B0609020204030204" pitchFamily="49" charset="0"/>
              </a:rPr>
              <a:t>'50mb'</a:t>
            </a:r>
            <a:r>
              <a:rPr lang="en-US" b="0">
                <a:solidFill>
                  <a:srgbClr val="000000"/>
                </a:solidFill>
                <a:effectLst/>
                <a:latin typeface="Consolas" panose="020B0609020204030204" pitchFamily="49" charset="0"/>
              </a:rPr>
              <a:t> })); </a:t>
            </a:r>
          </a:p>
          <a:p>
            <a:pPr>
              <a:lnSpc>
                <a:spcPts val="2250"/>
              </a:lnSpc>
              <a:buNone/>
            </a:pPr>
            <a:r>
              <a:rPr lang="en-US" b="0">
                <a:solidFill>
                  <a:srgbClr val="000000"/>
                </a:solidFill>
                <a:effectLst/>
                <a:latin typeface="Consolas" panose="020B0609020204030204" pitchFamily="49" charset="0"/>
              </a:rPr>
              <a:t>app.use(bodyParser.urlencoded({ limit: </a:t>
            </a:r>
            <a:r>
              <a:rPr lang="en-US" b="0">
                <a:solidFill>
                  <a:srgbClr val="A31515"/>
                </a:solidFill>
                <a:effectLst/>
                <a:latin typeface="Consolas" panose="020B0609020204030204" pitchFamily="49" charset="0"/>
              </a:rPr>
              <a:t>'50mb'</a:t>
            </a:r>
            <a:r>
              <a:rPr lang="en-US" b="0">
                <a:solidFill>
                  <a:srgbClr val="000000"/>
                </a:solidFill>
                <a:effectLst/>
                <a:latin typeface="Consolas" panose="020B0609020204030204" pitchFamily="49" charset="0"/>
              </a:rPr>
              <a:t>, extended: </a:t>
            </a:r>
            <a:r>
              <a:rPr lang="en-US" b="0">
                <a:solidFill>
                  <a:srgbClr val="0000FF"/>
                </a:solidFill>
                <a:effectLst/>
                <a:latin typeface="Consolas" panose="020B0609020204030204" pitchFamily="49" charset="0"/>
              </a:rPr>
              <a:t>true</a:t>
            </a:r>
            <a:r>
              <a:rPr lang="en-US" b="0">
                <a:solidFill>
                  <a:srgbClr val="000000"/>
                </a:solidFill>
                <a:effectLst/>
                <a:latin typeface="Consolas" panose="020B0609020204030204" pitchFamily="49" charset="0"/>
              </a:rPr>
              <a:t> }));</a:t>
            </a:r>
          </a:p>
          <a:p>
            <a:pPr>
              <a:lnSpc>
                <a:spcPts val="2250"/>
              </a:lnSpc>
              <a:buNone/>
            </a:pPr>
            <a:br>
              <a:rPr lang="en-US" b="0">
                <a:solidFill>
                  <a:srgbClr val="000000"/>
                </a:solidFill>
                <a:effectLst/>
                <a:latin typeface="Consolas" panose="020B0609020204030204" pitchFamily="49" charset="0"/>
              </a:rPr>
            </a:br>
            <a:r>
              <a:rPr lang="en-US" b="0">
                <a:solidFill>
                  <a:srgbClr val="000000"/>
                </a:solidFill>
                <a:effectLst/>
                <a:latin typeface="Consolas" panose="020B0609020204030204" pitchFamily="49" charset="0"/>
              </a:rPr>
              <a:t>app.listen(port,()</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console.log(</a:t>
            </a:r>
            <a:r>
              <a:rPr lang="en-US" b="0">
                <a:solidFill>
                  <a:srgbClr val="A31515"/>
                </a:solidFill>
                <a:effectLst/>
                <a:latin typeface="Consolas" panose="020B0609020204030204" pitchFamily="49" charset="0"/>
              </a:rPr>
              <a:t>`My Server listening on port </a:t>
            </a:r>
            <a:r>
              <a:rPr lang="en-US" b="0">
                <a:solidFill>
                  <a:srgbClr val="0000FF"/>
                </a:solidFill>
                <a:effectLst/>
                <a:latin typeface="Consolas" panose="020B0609020204030204" pitchFamily="49" charset="0"/>
              </a:rPr>
              <a:t>${</a:t>
            </a:r>
            <a:r>
              <a:rPr lang="en-US" b="0">
                <a:solidFill>
                  <a:srgbClr val="000000"/>
                </a:solidFill>
                <a:effectLst/>
                <a:latin typeface="Consolas" panose="020B0609020204030204" pitchFamily="49" charset="0"/>
              </a:rPr>
              <a:t>port</a:t>
            </a:r>
            <a:r>
              <a:rPr lang="en-US" b="0">
                <a:solidFill>
                  <a:srgbClr val="0000FF"/>
                </a:solidFill>
                <a:effectLst/>
                <a:latin typeface="Consolas" panose="020B0609020204030204" pitchFamily="49" charset="0"/>
              </a:rPr>
              <a:t>}</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a:t>
            </a:r>
          </a:p>
          <a:p>
            <a:pPr>
              <a:lnSpc>
                <a:spcPts val="2250"/>
              </a:lnSpc>
              <a:buNone/>
            </a:pPr>
            <a:br>
              <a:rPr lang="en-US" b="0">
                <a:solidFill>
                  <a:srgbClr val="000000"/>
                </a:solidFill>
                <a:effectLst/>
                <a:latin typeface="Consolas" panose="020B0609020204030204" pitchFamily="49" charset="0"/>
              </a:rPr>
            </a:br>
            <a:r>
              <a:rPr lang="en-US" b="0">
                <a:solidFill>
                  <a:srgbClr val="000000"/>
                </a:solidFill>
                <a:effectLst/>
                <a:latin typeface="Consolas" panose="020B0609020204030204" pitchFamily="49" charset="0"/>
              </a:rPr>
              <a:t>app.get(</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,(req,res)</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res.send(</a:t>
            </a:r>
            <a:r>
              <a:rPr lang="en-US" b="0">
                <a:solidFill>
                  <a:srgbClr val="A31515"/>
                </a:solidFill>
                <a:effectLst/>
                <a:latin typeface="Consolas" panose="020B0609020204030204" pitchFamily="49" charset="0"/>
              </a:rPr>
              <a:t>"This Web server is processed for MongoDB"</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a:t>
            </a:r>
          </a:p>
          <a:p>
            <a:pPr>
              <a:lnSpc>
                <a:spcPts val="2250"/>
              </a:lnSpc>
              <a:buNone/>
            </a:pP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 MongoClient, ObjectId } = require(</a:t>
            </a:r>
            <a:r>
              <a:rPr lang="en-US" b="0">
                <a:solidFill>
                  <a:srgbClr val="A31515"/>
                </a:solidFill>
                <a:effectLst/>
                <a:latin typeface="Consolas" panose="020B0609020204030204" pitchFamily="49" charset="0"/>
              </a:rPr>
              <a:t>'mongodb'</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client = </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MongoClient(</a:t>
            </a:r>
            <a:r>
              <a:rPr lang="en-US" b="0">
                <a:solidFill>
                  <a:srgbClr val="A31515"/>
                </a:solidFill>
                <a:effectLst/>
                <a:latin typeface="Consolas" panose="020B0609020204030204" pitchFamily="49" charset="0"/>
              </a:rPr>
              <a:t>"mongodb://127.0.0.1:27017"</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client.connect();</a:t>
            </a:r>
          </a:p>
          <a:p>
            <a:pPr>
              <a:lnSpc>
                <a:spcPts val="2250"/>
              </a:lnSpc>
              <a:buNone/>
            </a:pPr>
            <a:r>
              <a:rPr lang="en-US" b="0">
                <a:solidFill>
                  <a:srgbClr val="000000"/>
                </a:solidFill>
                <a:effectLst/>
                <a:latin typeface="Consolas" panose="020B0609020204030204" pitchFamily="49" charset="0"/>
              </a:rPr>
              <a:t>database = client.db(</a:t>
            </a:r>
            <a:r>
              <a:rPr lang="en-US" b="0">
                <a:solidFill>
                  <a:srgbClr val="A31515"/>
                </a:solidFill>
                <a:effectLst/>
                <a:latin typeface="Consolas" panose="020B0609020204030204" pitchFamily="49" charset="0"/>
              </a:rPr>
              <a:t>"FashionData"</a:t>
            </a:r>
            <a:r>
              <a:rPr lang="en-US" b="0">
                <a:solidFill>
                  <a:srgbClr val="000000"/>
                </a:solidFill>
                <a:effectLst/>
                <a:latin typeface="Consolas" panose="020B0609020204030204" pitchFamily="49" charset="0"/>
              </a:rPr>
              <a:t>);      </a:t>
            </a:r>
          </a:p>
          <a:p>
            <a:pPr>
              <a:lnSpc>
                <a:spcPts val="2250"/>
              </a:lnSpc>
              <a:buNone/>
            </a:pPr>
            <a:r>
              <a:rPr lang="en-US" b="0">
                <a:solidFill>
                  <a:srgbClr val="000000"/>
                </a:solidFill>
                <a:effectLst/>
                <a:latin typeface="Consolas" panose="020B0609020204030204" pitchFamily="49" charset="0"/>
              </a:rPr>
              <a:t>fashionCollection = database.collection(</a:t>
            </a:r>
            <a:r>
              <a:rPr lang="en-US" b="0">
                <a:solidFill>
                  <a:srgbClr val="A31515"/>
                </a:solidFill>
                <a:effectLst/>
                <a:latin typeface="Consolas" panose="020B0609020204030204" pitchFamily="49" charset="0"/>
              </a:rPr>
              <a:t>"Fashion"</a:t>
            </a:r>
            <a:r>
              <a:rPr lang="en-US" b="0">
                <a:solidFill>
                  <a:srgbClr val="000000"/>
                </a:solidFill>
                <a:effectLst/>
                <a:latin typeface="Consolas" panose="020B0609020204030204" pitchFamily="49" charset="0"/>
              </a:rPr>
              <a:t>);</a:t>
            </a:r>
          </a:p>
          <a:p>
            <a:pPr>
              <a:lnSpc>
                <a:spcPts val="2250"/>
              </a:lnSpc>
              <a:buNone/>
            </a:pPr>
            <a:br>
              <a:rPr lang="en-US" b="0">
                <a:solidFill>
                  <a:srgbClr val="000000"/>
                </a:solidFill>
                <a:effectLst/>
                <a:latin typeface="Consolas" panose="020B0609020204030204" pitchFamily="49" charset="0"/>
              </a:rPr>
            </a:br>
            <a:r>
              <a:rPr lang="en-US" b="0">
                <a:solidFill>
                  <a:srgbClr val="000000"/>
                </a:solidFill>
                <a:effectLst/>
                <a:latin typeface="Consolas" panose="020B0609020204030204" pitchFamily="49" charset="0"/>
              </a:rPr>
              <a:t>app.get(</a:t>
            </a:r>
            <a:r>
              <a:rPr lang="en-US" b="0">
                <a:solidFill>
                  <a:srgbClr val="A31515"/>
                </a:solidFill>
                <a:effectLst/>
                <a:latin typeface="Consolas" panose="020B0609020204030204" pitchFamily="49" charset="0"/>
              </a:rPr>
              <a:t>"/fashions"</a:t>
            </a:r>
            <a:r>
              <a:rPr lang="en-US" b="0">
                <a:solidFill>
                  <a:srgbClr val="000000"/>
                </a:solidFill>
                <a:effectLst/>
                <a:latin typeface="Consolas" panose="020B0609020204030204" pitchFamily="49" charset="0"/>
              </a:rPr>
              <a:t>,cors(),</a:t>
            </a:r>
            <a:r>
              <a:rPr lang="en-US" b="0">
                <a:solidFill>
                  <a:srgbClr val="0000FF"/>
                </a:solidFill>
                <a:effectLst/>
                <a:latin typeface="Consolas" panose="020B0609020204030204" pitchFamily="49" charset="0"/>
              </a:rPr>
              <a:t>async</a:t>
            </a:r>
            <a:r>
              <a:rPr lang="en-US" b="0">
                <a:solidFill>
                  <a:srgbClr val="000000"/>
                </a:solidFill>
                <a:effectLst/>
                <a:latin typeface="Consolas" panose="020B0609020204030204" pitchFamily="49" charset="0"/>
              </a:rPr>
              <a:t> (req,res)</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   </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result = </a:t>
            </a:r>
            <a:r>
              <a:rPr lang="en-US" b="0">
                <a:solidFill>
                  <a:srgbClr val="0000FF"/>
                </a:solidFill>
                <a:effectLst/>
                <a:latin typeface="Consolas" panose="020B0609020204030204" pitchFamily="49" charset="0"/>
              </a:rPr>
              <a:t>await</a:t>
            </a:r>
            <a:r>
              <a:rPr lang="en-US" b="0">
                <a:solidFill>
                  <a:srgbClr val="000000"/>
                </a:solidFill>
                <a:effectLst/>
                <a:latin typeface="Consolas" panose="020B0609020204030204" pitchFamily="49" charset="0"/>
              </a:rPr>
              <a:t> fashionCollection.find({}).toArray();</a:t>
            </a:r>
          </a:p>
          <a:p>
            <a:pPr>
              <a:lnSpc>
                <a:spcPts val="2250"/>
              </a:lnSpc>
              <a:buNone/>
            </a:pPr>
            <a:r>
              <a:rPr lang="en-US" b="0">
                <a:solidFill>
                  <a:srgbClr val="000000"/>
                </a:solidFill>
                <a:effectLst/>
                <a:latin typeface="Consolas" panose="020B0609020204030204" pitchFamily="49" charset="0"/>
              </a:rPr>
              <a:t>    res.send(result)</a:t>
            </a:r>
          </a:p>
          <a:p>
            <a:pPr>
              <a:lnSpc>
                <a:spcPts val="2250"/>
              </a:lnSpc>
              <a:buNone/>
            </a:pPr>
            <a:r>
              <a:rPr lang="en-US" b="0">
                <a:solidFill>
                  <a:srgbClr val="000000"/>
                </a:solidFill>
                <a:effectLst/>
                <a:latin typeface="Consolas" panose="020B0609020204030204" pitchFamily="49" charset="0"/>
              </a:rPr>
              <a:t>    }</a:t>
            </a:r>
          </a:p>
          <a:p>
            <a:pPr>
              <a:lnSpc>
                <a:spcPts val="2250"/>
              </a:lnSpc>
              <a:buNone/>
            </a:pPr>
            <a:r>
              <a:rPr lang="en-US" b="0">
                <a:solidFill>
                  <a:srgbClr val="000000"/>
                </a:solidFill>
                <a:effectLst/>
                <a:latin typeface="Consolas" panose="020B0609020204030204" pitchFamily="49" charset="0"/>
              </a:rPr>
              <a:t>)</a:t>
            </a:r>
          </a:p>
          <a:p>
            <a:pPr>
              <a:lnSpc>
                <a:spcPts val="2250"/>
              </a:lnSpc>
            </a:pPr>
            <a:br>
              <a:rPr lang="en-US" b="0">
                <a:solidFill>
                  <a:srgbClr val="000000"/>
                </a:solidFill>
                <a:effectLst/>
                <a:latin typeface="Consolas" panose="020B0609020204030204" pitchFamily="49" charset="0"/>
              </a:rPr>
            </a:br>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130C450-98AE-3905-DFC4-F2D588626E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65455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EFAC629-9DA4-8ABD-FF67-4E515C3C08B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9DC968E-3C78-23AC-7FFB-EDA24BC668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A6AA087-A271-DB1E-5813-B82E397FAF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38252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A0BA990-24DB-D878-2F06-3D5105CCBAA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BAB8FE1-DA12-5735-783F-A47B449355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B68724A-A8EE-F234-28B9-3BA4C8DDA0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2960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AFF3BA8-B16C-352D-9407-1908F3A3F81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7AF623C-8DED-6DB6-6E22-0A9654D0343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9D05C75-2283-A284-C895-C0B2C63E41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71314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4B53BEE-4741-3B27-61BE-2A89E00435A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EECC458-0248-65B7-C979-EFD69C09D23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nSpc>
                <a:spcPts val="2250"/>
              </a:lnSpc>
              <a:buNone/>
            </a:pPr>
            <a:r>
              <a:rPr lang="en-US" b="0">
                <a:solidFill>
                  <a:srgbClr val="0000FF"/>
                </a:solidFill>
                <a:effectLst/>
                <a:latin typeface="Consolas" panose="020B0609020204030204" pitchFamily="49" charset="0"/>
              </a:rPr>
              <a:t>export</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class</a:t>
            </a:r>
            <a:r>
              <a:rPr lang="en-US" b="0">
                <a:solidFill>
                  <a:srgbClr val="000000"/>
                </a:solidFill>
                <a:effectLst/>
                <a:latin typeface="Consolas" panose="020B0609020204030204" pitchFamily="49" charset="0"/>
              </a:rPr>
              <a:t> Fashion{</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constructor</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_id:any=</a:t>
            </a:r>
            <a:r>
              <a:rPr lang="en-US" b="0">
                <a:solidFill>
                  <a:srgbClr val="0000FF"/>
                </a:solidFill>
                <a:effectLst/>
                <a:latin typeface="Consolas" panose="020B0609020204030204" pitchFamily="49" charset="0"/>
              </a:rPr>
              <a:t>null</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style:string=</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fashion_subject:string=</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fashion_detail:string=</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fashion_image:string=</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a:t>
            </a:r>
          </a:p>
          <a:p>
            <a:pPr>
              <a:lnSpc>
                <a:spcPts val="2250"/>
              </a:lnSpc>
            </a:pPr>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53CA446-ED83-63B6-B9BA-A602AC2C41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37709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490FC5B-1CD2-B751-D9D7-C8179D33FC6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9E87F0C-16B6-D08A-E142-D68F716A76F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445A8FD-2FA5-8E98-6BE4-C73BF6DBB4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37115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72ACC82-F047-E122-A702-D5A3AE2C5BE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E191578-390C-09B1-B09F-7A8A873F2D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HttpClient, HttpErrorResponse, HttpHeaders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'@angular/common/http'</a:t>
            </a:r>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Injectable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'@angular/core'</a:t>
            </a:r>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catchError, map, Observable, retry, throwError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'rxjs'</a:t>
            </a:r>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Fashion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'../classes/Fashion'</a:t>
            </a:r>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a:solidFill>
                  <a:srgbClr val="000000"/>
                </a:solidFill>
                <a:effectLst/>
                <a:latin typeface="Consolas" panose="020B0609020204030204" pitchFamily="49" charset="0"/>
              </a:rPr>
              <a:t>@Injectable({</a:t>
            </a:r>
          </a:p>
          <a:p>
            <a:r>
              <a:rPr lang="en-US" b="0">
                <a:solidFill>
                  <a:srgbClr val="000000"/>
                </a:solidFill>
                <a:effectLst/>
                <a:latin typeface="Consolas" panose="020B0609020204030204" pitchFamily="49" charset="0"/>
              </a:rPr>
              <a:t>  providedIn: </a:t>
            </a:r>
            <a:r>
              <a:rPr lang="en-US" b="0">
                <a:solidFill>
                  <a:srgbClr val="A31515"/>
                </a:solidFill>
                <a:effectLst/>
                <a:latin typeface="Consolas" panose="020B0609020204030204" pitchFamily="49" charset="0"/>
              </a:rPr>
              <a:t>'root'</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export</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class</a:t>
            </a:r>
            <a:r>
              <a:rPr lang="en-US" b="0">
                <a:solidFill>
                  <a:srgbClr val="000000"/>
                </a:solidFill>
                <a:effectLst/>
                <a:latin typeface="Consolas" panose="020B0609020204030204" pitchFamily="49" charset="0"/>
              </a:rPr>
              <a:t> FashionAPIService {</a:t>
            </a:r>
          </a:p>
          <a:p>
            <a:r>
              <a:rPr lang="en-US" b="0">
                <a:solidFill>
                  <a:srgbClr val="000000"/>
                </a:solidFill>
                <a:effectLst/>
                <a:latin typeface="Consolas" panose="020B0609020204030204" pitchFamily="49" charset="0"/>
              </a:rPr>
              <a:t>    headers=</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HttpHeaders().set(</a:t>
            </a:r>
            <a:r>
              <a:rPr lang="en-US" b="0">
                <a:solidFill>
                  <a:srgbClr val="A31515"/>
                </a:solidFill>
                <a:effectLst/>
                <a:latin typeface="Consolas" panose="020B0609020204030204" pitchFamily="49" charset="0"/>
              </a:rPr>
              <a:t>"Content-Type"</a:t>
            </a:r>
            <a:r>
              <a:rPr lang="en-US" b="0">
                <a:solidFill>
                  <a:srgbClr val="000000"/>
                </a:solidFill>
                <a:effectLst/>
                <a:latin typeface="Consolas" panose="020B0609020204030204" pitchFamily="49" charset="0"/>
              </a:rPr>
              <a:t>,</a:t>
            </a:r>
            <a:r>
              <a:rPr lang="en-US" b="0">
                <a:solidFill>
                  <a:srgbClr val="A31515"/>
                </a:solidFill>
                <a:effectLst/>
                <a:latin typeface="Consolas" panose="020B0609020204030204" pitchFamily="49" charset="0"/>
              </a:rPr>
              <a:t>"application/json;charset=utf-8"</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requestOptions:Object={</a:t>
            </a:r>
          </a:p>
          <a:p>
            <a:r>
              <a:rPr lang="en-US" b="0">
                <a:solidFill>
                  <a:srgbClr val="000000"/>
                </a:solidFill>
                <a:effectLst/>
                <a:latin typeface="Consolas" panose="020B0609020204030204" pitchFamily="49" charset="0"/>
              </a:rPr>
              <a:t>        headers:</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.headers,</a:t>
            </a:r>
          </a:p>
          <a:p>
            <a:r>
              <a:rPr lang="en-US" b="0">
                <a:solidFill>
                  <a:srgbClr val="000000"/>
                </a:solidFill>
                <a:effectLst/>
                <a:latin typeface="Consolas" panose="020B0609020204030204" pitchFamily="49" charset="0"/>
              </a:rPr>
              <a:t>        responseType:</a:t>
            </a:r>
            <a:r>
              <a:rPr lang="en-US" b="0">
                <a:solidFill>
                  <a:srgbClr val="A31515"/>
                </a:solidFill>
                <a:effectLst/>
                <a:latin typeface="Consolas" panose="020B0609020204030204" pitchFamily="49" charset="0"/>
              </a:rPr>
              <a:t>"text"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constructor</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private</a:t>
            </a:r>
            <a:r>
              <a:rPr lang="en-US" b="0">
                <a:solidFill>
                  <a:srgbClr val="000000"/>
                </a:solidFill>
                <a:effectLst/>
                <a:latin typeface="Consolas" panose="020B0609020204030204" pitchFamily="49" charset="0"/>
              </a:rPr>
              <a:t> _http: HttpClient) { }  </a:t>
            </a:r>
          </a:p>
          <a:p>
            <a:r>
              <a:rPr lang="en-US" b="0">
                <a:solidFill>
                  <a:srgbClr val="000000"/>
                </a:solidFill>
                <a:effectLst/>
                <a:latin typeface="Consolas" panose="020B0609020204030204" pitchFamily="49" charset="0"/>
              </a:rPr>
              <a:t>    getFashions():Observable&lt;any&gt;</a:t>
            </a:r>
          </a:p>
          <a:p>
            <a:r>
              <a:rPr lang="en-US" b="0">
                <a:solidFill>
                  <a:srgbClr val="000000"/>
                </a:solidFill>
                <a:effectLst/>
                <a:latin typeface="Consolas" panose="020B0609020204030204" pitchFamily="49" charset="0"/>
              </a:rPr>
              <a:t>    {      </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return</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._http.get&lt;any&gt;(</a:t>
            </a:r>
            <a:r>
              <a:rPr lang="en-US" b="0">
                <a:solidFill>
                  <a:srgbClr val="A31515"/>
                </a:solidFill>
                <a:effectLst/>
                <a:latin typeface="Consolas" panose="020B0609020204030204" pitchFamily="49" charset="0"/>
              </a:rPr>
              <a:t>"/fashions"</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.requestOptions).pipe(</a:t>
            </a:r>
          </a:p>
          <a:p>
            <a:r>
              <a:rPr lang="en-US" b="0">
                <a:solidFill>
                  <a:srgbClr val="000000"/>
                </a:solidFill>
                <a:effectLst/>
                <a:latin typeface="Consolas" panose="020B0609020204030204" pitchFamily="49" charset="0"/>
              </a:rPr>
              <a:t>          map(res</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JSON.parse(res) </a:t>
            </a:r>
            <a:r>
              <a:rPr lang="en-US" b="0">
                <a:solidFill>
                  <a:srgbClr val="0000FF"/>
                </a:solidFill>
                <a:effectLst/>
                <a:latin typeface="Consolas" panose="020B0609020204030204" pitchFamily="49" charset="0"/>
              </a:rPr>
              <a:t>as</a:t>
            </a:r>
            <a:r>
              <a:rPr lang="en-US" b="0">
                <a:solidFill>
                  <a:srgbClr val="000000"/>
                </a:solidFill>
                <a:effectLst/>
                <a:latin typeface="Consolas" panose="020B0609020204030204" pitchFamily="49" charset="0"/>
              </a:rPr>
              <a:t> Array&lt;Fashion&gt;),</a:t>
            </a:r>
          </a:p>
          <a:p>
            <a:r>
              <a:rPr lang="en-US" b="0">
                <a:solidFill>
                  <a:srgbClr val="000000"/>
                </a:solidFill>
                <a:effectLst/>
                <a:latin typeface="Consolas" panose="020B0609020204030204" pitchFamily="49" charset="0"/>
              </a:rPr>
              <a:t>          retry(</a:t>
            </a:r>
            <a:r>
              <a:rPr lang="en-US" b="0">
                <a:solidFill>
                  <a:srgbClr val="098658"/>
                </a:solidFill>
                <a:effectLst/>
                <a:latin typeface="Consolas" panose="020B0609020204030204" pitchFamily="49" charset="0"/>
              </a:rPr>
              <a:t>3</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catchError(</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.handleError))</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handleError(error:HttpErrorResponse){</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return</a:t>
            </a:r>
            <a:r>
              <a:rPr lang="en-US" b="0">
                <a:solidFill>
                  <a:srgbClr val="000000"/>
                </a:solidFill>
                <a:effectLst/>
                <a:latin typeface="Consolas" panose="020B0609020204030204" pitchFamily="49" charset="0"/>
              </a:rPr>
              <a:t> throwError(()</a:t>
            </a:r>
            <a:r>
              <a:rPr lang="en-US" b="0">
                <a:solidFill>
                  <a:srgbClr val="0000FF"/>
                </a:solidFill>
                <a:effectLst/>
                <a:latin typeface="Consolas" panose="020B0609020204030204" pitchFamily="49" charset="0"/>
              </a:rPr>
              <a:t>=&gt;new</a:t>
            </a:r>
            <a:r>
              <a:rPr lang="en-US" b="0">
                <a:solidFill>
                  <a:srgbClr val="000000"/>
                </a:solidFill>
                <a:effectLst/>
                <a:latin typeface="Consolas" panose="020B0609020204030204" pitchFamily="49" charset="0"/>
              </a:rPr>
              <a:t> Error(error.message))</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2321337-9481-F32D-E7E8-5715325992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34446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C578E4E-3BF1-F2B0-89AD-71045DE049B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D1216C1-C59F-B8A7-B4A9-65760E7B459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7620B0D-396A-A59C-87EF-48DAAB21E2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49820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933DA46-22FD-1C9D-DA52-642EE899EDE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18189D1-6A77-CF48-BA3B-0BC752E9F5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Component, signal } from '@angular/core';</a:t>
            </a:r>
          </a:p>
          <a:p>
            <a:r>
              <a:rPr lang="en-US" sz="1200" b="0" i="0" u="none" strike="noStrike" cap="none">
                <a:solidFill>
                  <a:schemeClr val="dk1"/>
                </a:solidFill>
                <a:effectLst/>
                <a:latin typeface="Calibri"/>
                <a:ea typeface="Calibri"/>
                <a:cs typeface="Calibri"/>
                <a:sym typeface="Calibri"/>
              </a:rPr>
              <a:t>import { FashionAPIService } from '../services/fashion-apiservice';</a:t>
            </a:r>
          </a:p>
          <a:p>
            <a:r>
              <a:rPr lang="en-US" sz="1200" b="0" i="0" u="none" strike="noStrike" cap="none">
                <a:solidFill>
                  <a:schemeClr val="dk1"/>
                </a:solidFill>
                <a:effectLst/>
                <a:latin typeface="Calibri"/>
                <a:ea typeface="Calibri"/>
                <a:cs typeface="Calibri"/>
                <a:sym typeface="Calibri"/>
              </a:rPr>
              <a:t>import { Fashion } from '../classes/Fashion';</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@Component({</a:t>
            </a:r>
          </a:p>
          <a:p>
            <a:r>
              <a:rPr lang="en-US" sz="1200" b="0" i="0" u="none" strike="noStrike" cap="none">
                <a:solidFill>
                  <a:schemeClr val="dk1"/>
                </a:solidFill>
                <a:effectLst/>
                <a:latin typeface="Calibri"/>
                <a:ea typeface="Calibri"/>
                <a:cs typeface="Calibri"/>
                <a:sym typeface="Calibri"/>
              </a:rPr>
              <a:t>  selector: 'app-fashion-component',</a:t>
            </a:r>
          </a:p>
          <a:p>
            <a:r>
              <a:rPr lang="en-US" sz="1200" b="0" i="0" u="none" strike="noStrike" cap="none">
                <a:solidFill>
                  <a:schemeClr val="dk1"/>
                </a:solidFill>
                <a:effectLst/>
                <a:latin typeface="Calibri"/>
                <a:ea typeface="Calibri"/>
                <a:cs typeface="Calibri"/>
                <a:sym typeface="Calibri"/>
              </a:rPr>
              <a:t>  standalone: false,</a:t>
            </a:r>
          </a:p>
          <a:p>
            <a:r>
              <a:rPr lang="en-US" sz="1200" b="0" i="0" u="none" strike="noStrike" cap="none">
                <a:solidFill>
                  <a:schemeClr val="dk1"/>
                </a:solidFill>
                <a:effectLst/>
                <a:latin typeface="Calibri"/>
                <a:ea typeface="Calibri"/>
                <a:cs typeface="Calibri"/>
                <a:sym typeface="Calibri"/>
              </a:rPr>
              <a:t>  templateUrl: './fashion-component.html',</a:t>
            </a:r>
          </a:p>
          <a:p>
            <a:r>
              <a:rPr lang="en-US" sz="1200" b="0" i="0" u="none" strike="noStrike" cap="none">
                <a:solidFill>
                  <a:schemeClr val="dk1"/>
                </a:solidFill>
                <a:effectLst/>
                <a:latin typeface="Calibri"/>
                <a:ea typeface="Calibri"/>
                <a:cs typeface="Calibri"/>
                <a:sym typeface="Calibri"/>
              </a:rPr>
              <a:t>  styleUrl: './fashion-component.css',</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FashionComponent {</a:t>
            </a:r>
          </a:p>
          <a:p>
            <a:r>
              <a:rPr lang="en-US" sz="1200" b="0" i="0" u="none" strike="noStrike" cap="none">
                <a:solidFill>
                  <a:schemeClr val="dk1"/>
                </a:solidFill>
                <a:effectLst/>
                <a:latin typeface="Calibri"/>
                <a:ea typeface="Calibri"/>
                <a:cs typeface="Calibri"/>
                <a:sym typeface="Calibri"/>
              </a:rPr>
              <a:t>  fashions=signal&lt;Fashion[]&gt;([]);</a:t>
            </a:r>
          </a:p>
          <a:p>
            <a:r>
              <a:rPr lang="en-US" sz="1200" b="0" i="0" u="none" strike="noStrike" cap="none">
                <a:solidFill>
                  <a:schemeClr val="dk1"/>
                </a:solidFill>
                <a:effectLst/>
                <a:latin typeface="Calibri"/>
                <a:ea typeface="Calibri"/>
                <a:cs typeface="Calibri"/>
                <a:sym typeface="Calibri"/>
              </a:rPr>
              <a:t>  errMessage=signal('')</a:t>
            </a:r>
          </a:p>
          <a:p>
            <a:r>
              <a:rPr lang="en-US" sz="1200" b="0" i="0" u="none" strike="noStrike" cap="none">
                <a:solidFill>
                  <a:schemeClr val="dk1"/>
                </a:solidFill>
                <a:effectLst/>
                <a:latin typeface="Calibri"/>
                <a:ea typeface="Calibri"/>
                <a:cs typeface="Calibri"/>
                <a:sym typeface="Calibri"/>
              </a:rPr>
              <a:t>  constructor(public _service: FashionAPIService){</a:t>
            </a:r>
          </a:p>
          <a:p>
            <a:r>
              <a:rPr lang="en-US" sz="1200" b="0" i="0" u="none" strike="noStrike" cap="none">
                <a:solidFill>
                  <a:schemeClr val="dk1"/>
                </a:solidFill>
                <a:effectLst/>
                <a:latin typeface="Calibri"/>
                <a:ea typeface="Calibri"/>
                <a:cs typeface="Calibri"/>
                <a:sym typeface="Calibri"/>
              </a:rPr>
              <a:t>    this._service.getFashions().subscribe({</a:t>
            </a:r>
          </a:p>
          <a:p>
            <a:r>
              <a:rPr lang="en-US" sz="1200" b="0" i="0" u="none" strike="noStrike" cap="none">
                <a:solidFill>
                  <a:schemeClr val="dk1"/>
                </a:solidFill>
                <a:effectLst/>
                <a:latin typeface="Calibri"/>
                <a:ea typeface="Calibri"/>
                <a:cs typeface="Calibri"/>
                <a:sym typeface="Calibri"/>
              </a:rPr>
              <a:t>      next:(data)=&gt;{this.fashions.set(data)},</a:t>
            </a:r>
          </a:p>
          <a:p>
            <a:r>
              <a:rPr lang="en-US" sz="1200" b="0" i="0" u="none" strike="noStrike" cap="none">
                <a:solidFill>
                  <a:schemeClr val="dk1"/>
                </a:solidFill>
                <a:effectLst/>
                <a:latin typeface="Calibri"/>
                <a:ea typeface="Calibri"/>
                <a:cs typeface="Calibri"/>
                <a:sym typeface="Calibri"/>
              </a:rPr>
              <a:t>      error:(err)=&gt;{this.errMessage.set(err)}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74BA254-5CA7-19E4-EAFC-6285F5BABA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16264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A55FC51-E2CD-3D84-C7B9-932DA9CBA12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4EDD58A-0FDC-DE11-680F-FABCA6855B4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{{errMessage()}}</a:t>
            </a:r>
          </a:p>
          <a:p>
            <a:r>
              <a:rPr lang="en-US" sz="1200" b="0" i="0" u="none" strike="noStrike" cap="none">
                <a:solidFill>
                  <a:schemeClr val="dk1"/>
                </a:solidFill>
                <a:effectLst/>
                <a:latin typeface="Calibri"/>
                <a:ea typeface="Calibri"/>
                <a:cs typeface="Calibri"/>
                <a:sym typeface="Calibri"/>
              </a:rPr>
              <a:t>&lt;table border="1"&gt;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&lt;td&gt;Id&lt;/td&gt;</a:t>
            </a:r>
          </a:p>
          <a:p>
            <a:r>
              <a:rPr lang="en-US" sz="1200" b="0" i="0" u="none" strike="noStrike" cap="none">
                <a:solidFill>
                  <a:schemeClr val="dk1"/>
                </a:solidFill>
                <a:effectLst/>
                <a:latin typeface="Calibri"/>
                <a:ea typeface="Calibri"/>
                <a:cs typeface="Calibri"/>
                <a:sym typeface="Calibri"/>
              </a:rPr>
              <a:t>        &lt;td&gt;Fashion Subject&lt;/td&gt;</a:t>
            </a:r>
          </a:p>
          <a:p>
            <a:r>
              <a:rPr lang="en-US" sz="1200" b="0" i="0" u="none" strike="noStrike" cap="none">
                <a:solidFill>
                  <a:schemeClr val="dk1"/>
                </a:solidFill>
                <a:effectLst/>
                <a:latin typeface="Calibri"/>
                <a:ea typeface="Calibri"/>
                <a:cs typeface="Calibri"/>
                <a:sym typeface="Calibri"/>
              </a:rPr>
              <a:t>        &lt;td&gt;Fashion Detail&lt;/td&gt;</a:t>
            </a:r>
          </a:p>
          <a:p>
            <a:r>
              <a:rPr lang="en-US" sz="1200" b="0" i="0" u="none" strike="noStrike" cap="none">
                <a:solidFill>
                  <a:schemeClr val="dk1"/>
                </a:solidFill>
                <a:effectLst/>
                <a:latin typeface="Calibri"/>
                <a:ea typeface="Calibri"/>
                <a:cs typeface="Calibri"/>
                <a:sym typeface="Calibri"/>
              </a:rPr>
              <a:t>        &lt;td&gt;Image&lt;/td&gt;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      @for (fashion of fashions();track fashion._id)</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&lt;td&gt;{{fashion._id}}&lt;/td&gt;</a:t>
            </a:r>
          </a:p>
          <a:p>
            <a:r>
              <a:rPr lang="en-US" sz="1200" b="0" i="0" u="none" strike="noStrike" cap="none">
                <a:solidFill>
                  <a:schemeClr val="dk1"/>
                </a:solidFill>
                <a:effectLst/>
                <a:latin typeface="Calibri"/>
                <a:ea typeface="Calibri"/>
                <a:cs typeface="Calibri"/>
                <a:sym typeface="Calibri"/>
              </a:rPr>
              <a:t>            &lt;td&gt;{{fashion.fashion_subject}}&lt;/td&gt;</a:t>
            </a:r>
          </a:p>
          <a:p>
            <a:r>
              <a:rPr lang="en-US" sz="1200" b="0" i="0" u="none" strike="noStrike" cap="none">
                <a:solidFill>
                  <a:schemeClr val="dk1"/>
                </a:solidFill>
                <a:effectLst/>
                <a:latin typeface="Calibri"/>
                <a:ea typeface="Calibri"/>
                <a:cs typeface="Calibri"/>
                <a:sym typeface="Calibri"/>
              </a:rPr>
              <a:t>            &lt;td&gt;{{fashion.fashion_detail}} &lt;/td&gt;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&lt;img src="{{fashion.fashion_image}}" width="100px" height="100px"&gt;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&lt;/table&gt;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endParaRPr lang="en-US" sz="1200" b="0" i="0" u="none" strike="noStrike" cap="none">
              <a:solidFill>
                <a:schemeClr val="dk1"/>
              </a:solidFill>
              <a:effectLst/>
              <a:latin typeface="Calibri"/>
              <a:ea typeface="Calibri"/>
              <a:cs typeface="Calibri"/>
              <a:sym typeface="Calibri"/>
            </a:endParaRPr>
          </a:p>
        </p:txBody>
      </p:sp>
      <p:sp>
        <p:nvSpPr>
          <p:cNvPr id="103" name="Google Shape;103;p3:notes">
            <a:extLst>
              <a:ext uri="{FF2B5EF4-FFF2-40B4-BE49-F238E27FC236}">
                <a16:creationId xmlns:a16="http://schemas.microsoft.com/office/drawing/2014/main" id="{0F3C5D77-98C5-AC34-34D0-87A76C9F03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52714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0BDD2E8-2AA0-5506-79DA-32B67968643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3AF2115-1B76-0B7A-0AF5-3E529D21F2D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C29F68C-EACF-1C80-A94C-DB79D209DB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80096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A4D0556-55E0-BE84-9F37-2C7E0249961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54133F5-AE73-D50D-C457-6CF673F29EF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E2263C1-9EFE-E83A-0194-2F7D31F48E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74111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31974C5-BE00-21DA-7FE3-4FF6D6E31D6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8AAB0F1-124D-A95F-A831-62A83EEC4A1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D522650-E82A-61D8-101E-06C79FD236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7836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D3659EE-B856-03C4-BA5C-4879A470E73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90BD525-9EED-37FB-F59D-9916301A0E6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app.get("/fashions/:id",cors(),async (req,res)=&gt;{</a:t>
            </a:r>
          </a:p>
          <a:p>
            <a:r>
              <a:rPr lang="en-US" sz="1200" b="0" i="0" u="none" strike="noStrike" cap="none">
                <a:solidFill>
                  <a:schemeClr val="dk1"/>
                </a:solidFill>
                <a:effectLst/>
                <a:latin typeface="Calibri"/>
                <a:ea typeface="Calibri"/>
                <a:cs typeface="Calibri"/>
                <a:sym typeface="Calibri"/>
              </a:rPr>
              <a:t>    var o_id = new ObjectId(req.params["id"]);</a:t>
            </a:r>
          </a:p>
          <a:p>
            <a:r>
              <a:rPr lang="en-US" sz="1200" b="0" i="0" u="none" strike="noStrike" cap="none">
                <a:solidFill>
                  <a:schemeClr val="dk1"/>
                </a:solidFill>
                <a:effectLst/>
                <a:latin typeface="Calibri"/>
                <a:ea typeface="Calibri"/>
                <a:cs typeface="Calibri"/>
                <a:sym typeface="Calibri"/>
              </a:rPr>
              <a:t>    const result = await fashionCollection.find({_id:o_id}).toArray();    </a:t>
            </a:r>
          </a:p>
          <a:p>
            <a:r>
              <a:rPr lang="en-US" sz="1200" b="0" i="0" u="none" strike="noStrike" cap="none">
                <a:solidFill>
                  <a:schemeClr val="dk1"/>
                </a:solidFill>
                <a:effectLst/>
                <a:latin typeface="Calibri"/>
                <a:ea typeface="Calibri"/>
                <a:cs typeface="Calibri"/>
                <a:sym typeface="Calibri"/>
              </a:rPr>
              <a:t>    res.send(result[0])</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EC71679-C9E4-50D7-CD62-339E6F3389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57038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DFB72F7-2910-399D-C6BE-344AAC1E615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E5DB903-F89E-A6E9-88F5-471B2EECC17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03AA820-9DC0-703E-9C56-77679FF258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29555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DBC6308-75CF-4C20-8D35-AEC4EEDC187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BAF5295-2BA3-3205-AF9B-E53F32CEDF3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HttpClient, HttpErrorResponse, HttpHeaders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'@angular/common/http'</a:t>
            </a:r>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Injectable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'@angular/core'</a:t>
            </a:r>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catchError, map, Observable, retry, throwError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'rxjs'</a:t>
            </a:r>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Fashion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'../classes/Fashion'</a:t>
            </a:r>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a:solidFill>
                  <a:srgbClr val="000000"/>
                </a:solidFill>
                <a:effectLst/>
                <a:latin typeface="Consolas" panose="020B0609020204030204" pitchFamily="49" charset="0"/>
              </a:rPr>
              <a:t>@Injectable({</a:t>
            </a:r>
          </a:p>
          <a:p>
            <a:r>
              <a:rPr lang="en-US" b="0">
                <a:solidFill>
                  <a:srgbClr val="000000"/>
                </a:solidFill>
                <a:effectLst/>
                <a:latin typeface="Consolas" panose="020B0609020204030204" pitchFamily="49" charset="0"/>
              </a:rPr>
              <a:t>  providedIn: </a:t>
            </a:r>
            <a:r>
              <a:rPr lang="en-US" b="0">
                <a:solidFill>
                  <a:srgbClr val="A31515"/>
                </a:solidFill>
                <a:effectLst/>
                <a:latin typeface="Consolas" panose="020B0609020204030204" pitchFamily="49" charset="0"/>
              </a:rPr>
              <a:t>'root'</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export</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class</a:t>
            </a:r>
            <a:r>
              <a:rPr lang="en-US" b="0">
                <a:solidFill>
                  <a:srgbClr val="000000"/>
                </a:solidFill>
                <a:effectLst/>
                <a:latin typeface="Consolas" panose="020B0609020204030204" pitchFamily="49" charset="0"/>
              </a:rPr>
              <a:t> FashionAPIService {</a:t>
            </a:r>
          </a:p>
          <a:p>
            <a:r>
              <a:rPr lang="en-US" b="0">
                <a:solidFill>
                  <a:srgbClr val="000000"/>
                </a:solidFill>
                <a:effectLst/>
                <a:latin typeface="Consolas" panose="020B0609020204030204" pitchFamily="49" charset="0"/>
              </a:rPr>
              <a:t>    headers=</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HttpHeaders().set(</a:t>
            </a:r>
            <a:r>
              <a:rPr lang="en-US" b="0">
                <a:solidFill>
                  <a:srgbClr val="A31515"/>
                </a:solidFill>
                <a:effectLst/>
                <a:latin typeface="Consolas" panose="020B0609020204030204" pitchFamily="49" charset="0"/>
              </a:rPr>
              <a:t>"Content-Type"</a:t>
            </a:r>
            <a:r>
              <a:rPr lang="en-US" b="0">
                <a:solidFill>
                  <a:srgbClr val="000000"/>
                </a:solidFill>
                <a:effectLst/>
                <a:latin typeface="Consolas" panose="020B0609020204030204" pitchFamily="49" charset="0"/>
              </a:rPr>
              <a:t>,</a:t>
            </a:r>
            <a:r>
              <a:rPr lang="en-US" b="0">
                <a:solidFill>
                  <a:srgbClr val="A31515"/>
                </a:solidFill>
                <a:effectLst/>
                <a:latin typeface="Consolas" panose="020B0609020204030204" pitchFamily="49" charset="0"/>
              </a:rPr>
              <a:t>"text/plain;charset=utf-8"</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requestOptions:Object={</a:t>
            </a:r>
          </a:p>
          <a:p>
            <a:r>
              <a:rPr lang="en-US" b="0">
                <a:solidFill>
                  <a:srgbClr val="000000"/>
                </a:solidFill>
                <a:effectLst/>
                <a:latin typeface="Consolas" panose="020B0609020204030204" pitchFamily="49" charset="0"/>
              </a:rPr>
              <a:t>        headers:</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.headers,</a:t>
            </a:r>
          </a:p>
          <a:p>
            <a:r>
              <a:rPr lang="en-US" b="0">
                <a:solidFill>
                  <a:srgbClr val="000000"/>
                </a:solidFill>
                <a:effectLst/>
                <a:latin typeface="Consolas" panose="020B0609020204030204" pitchFamily="49" charset="0"/>
              </a:rPr>
              <a:t>        responseType:</a:t>
            </a:r>
            <a:r>
              <a:rPr lang="en-US" b="0">
                <a:solidFill>
                  <a:srgbClr val="A31515"/>
                </a:solidFill>
                <a:effectLst/>
                <a:latin typeface="Consolas" panose="020B0609020204030204" pitchFamily="49" charset="0"/>
              </a:rPr>
              <a:t>"text"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constructor</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private</a:t>
            </a:r>
            <a:r>
              <a:rPr lang="en-US" b="0">
                <a:solidFill>
                  <a:srgbClr val="000000"/>
                </a:solidFill>
                <a:effectLst/>
                <a:latin typeface="Consolas" panose="020B0609020204030204" pitchFamily="49" charset="0"/>
              </a:rPr>
              <a:t> _http: HttpClient) { }  </a:t>
            </a:r>
          </a:p>
          <a:p>
            <a:r>
              <a:rPr lang="en-US" b="0">
                <a:solidFill>
                  <a:srgbClr val="000000"/>
                </a:solidFill>
                <a:effectLst/>
                <a:latin typeface="Consolas" panose="020B0609020204030204" pitchFamily="49" charset="0"/>
              </a:rPr>
              <a:t>    getFashions():Observable&lt;any&gt;</a:t>
            </a:r>
          </a:p>
          <a:p>
            <a:r>
              <a:rPr lang="en-US" b="0">
                <a:solidFill>
                  <a:srgbClr val="000000"/>
                </a:solidFill>
                <a:effectLst/>
                <a:latin typeface="Consolas" panose="020B0609020204030204" pitchFamily="49" charset="0"/>
              </a:rPr>
              <a:t>    {      </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return</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._http.get&lt;any&gt;(</a:t>
            </a:r>
            <a:r>
              <a:rPr lang="en-US" b="0">
                <a:solidFill>
                  <a:srgbClr val="A31515"/>
                </a:solidFill>
                <a:effectLst/>
                <a:latin typeface="Consolas" panose="020B0609020204030204" pitchFamily="49" charset="0"/>
              </a:rPr>
              <a:t>"/fashions"</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.requestOptions).pipe(</a:t>
            </a:r>
          </a:p>
          <a:p>
            <a:r>
              <a:rPr lang="en-US" b="0">
                <a:solidFill>
                  <a:srgbClr val="000000"/>
                </a:solidFill>
                <a:effectLst/>
                <a:latin typeface="Consolas" panose="020B0609020204030204" pitchFamily="49" charset="0"/>
              </a:rPr>
              <a:t>          map(res</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JSON.parse(res) </a:t>
            </a:r>
            <a:r>
              <a:rPr lang="en-US" b="0">
                <a:solidFill>
                  <a:srgbClr val="0000FF"/>
                </a:solidFill>
                <a:effectLst/>
                <a:latin typeface="Consolas" panose="020B0609020204030204" pitchFamily="49" charset="0"/>
              </a:rPr>
              <a:t>as</a:t>
            </a:r>
            <a:r>
              <a:rPr lang="en-US" b="0">
                <a:solidFill>
                  <a:srgbClr val="000000"/>
                </a:solidFill>
                <a:effectLst/>
                <a:latin typeface="Consolas" panose="020B0609020204030204" pitchFamily="49" charset="0"/>
              </a:rPr>
              <a:t> Array&lt;Fashion&gt;),</a:t>
            </a:r>
          </a:p>
          <a:p>
            <a:r>
              <a:rPr lang="en-US" b="0">
                <a:solidFill>
                  <a:srgbClr val="000000"/>
                </a:solidFill>
                <a:effectLst/>
                <a:latin typeface="Consolas" panose="020B0609020204030204" pitchFamily="49" charset="0"/>
              </a:rPr>
              <a:t>          retry(</a:t>
            </a:r>
            <a:r>
              <a:rPr lang="en-US" b="0">
                <a:solidFill>
                  <a:srgbClr val="098658"/>
                </a:solidFill>
                <a:effectLst/>
                <a:latin typeface="Consolas" panose="020B0609020204030204" pitchFamily="49" charset="0"/>
              </a:rPr>
              <a:t>3</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catchError(</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.handleError))</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handleError(error:HttpErrorResponse){</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return</a:t>
            </a:r>
            <a:r>
              <a:rPr lang="en-US" b="0">
                <a:solidFill>
                  <a:srgbClr val="000000"/>
                </a:solidFill>
                <a:effectLst/>
                <a:latin typeface="Consolas" panose="020B0609020204030204" pitchFamily="49" charset="0"/>
              </a:rPr>
              <a:t> throwError(()</a:t>
            </a:r>
            <a:r>
              <a:rPr lang="en-US" b="0">
                <a:solidFill>
                  <a:srgbClr val="0000FF"/>
                </a:solidFill>
                <a:effectLst/>
                <a:latin typeface="Consolas" panose="020B0609020204030204" pitchFamily="49" charset="0"/>
              </a:rPr>
              <a:t>=&gt;new</a:t>
            </a:r>
            <a:r>
              <a:rPr lang="en-US" b="0">
                <a:solidFill>
                  <a:srgbClr val="000000"/>
                </a:solidFill>
                <a:effectLst/>
                <a:latin typeface="Consolas" panose="020B0609020204030204" pitchFamily="49" charset="0"/>
              </a:rPr>
              <a:t> Error(error.message))</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getFashion(id:string):Observable&lt;any&gt;</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return</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._http.get&lt;any&gt;(</a:t>
            </a:r>
            <a:r>
              <a:rPr lang="en-US" b="0">
                <a:solidFill>
                  <a:srgbClr val="A31515"/>
                </a:solidFill>
                <a:effectLst/>
                <a:latin typeface="Consolas" panose="020B0609020204030204" pitchFamily="49" charset="0"/>
              </a:rPr>
              <a:t>"/fashions/"</a:t>
            </a:r>
            <a:r>
              <a:rPr lang="en-US" b="0">
                <a:solidFill>
                  <a:srgbClr val="000000"/>
                </a:solidFill>
                <a:effectLst/>
                <a:latin typeface="Consolas" panose="020B0609020204030204" pitchFamily="49" charset="0"/>
              </a:rPr>
              <a:t>+id,</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.requestOptions).pipe(</a:t>
            </a:r>
          </a:p>
          <a:p>
            <a:r>
              <a:rPr lang="en-US" b="0">
                <a:solidFill>
                  <a:srgbClr val="000000"/>
                </a:solidFill>
                <a:effectLst/>
                <a:latin typeface="Consolas" panose="020B0609020204030204" pitchFamily="49" charset="0"/>
              </a:rPr>
              <a:t>          map(res</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JSON.parse(res) </a:t>
            </a:r>
            <a:r>
              <a:rPr lang="en-US" b="0">
                <a:solidFill>
                  <a:srgbClr val="0000FF"/>
                </a:solidFill>
                <a:effectLst/>
                <a:latin typeface="Consolas" panose="020B0609020204030204" pitchFamily="49" charset="0"/>
              </a:rPr>
              <a:t>as</a:t>
            </a:r>
            <a:r>
              <a:rPr lang="en-US" b="0">
                <a:solidFill>
                  <a:srgbClr val="000000"/>
                </a:solidFill>
                <a:effectLst/>
                <a:latin typeface="Consolas" panose="020B0609020204030204" pitchFamily="49" charset="0"/>
              </a:rPr>
              <a:t> Fashion),</a:t>
            </a:r>
          </a:p>
          <a:p>
            <a:r>
              <a:rPr lang="en-US" b="0">
                <a:solidFill>
                  <a:srgbClr val="000000"/>
                </a:solidFill>
                <a:effectLst/>
                <a:latin typeface="Consolas" panose="020B0609020204030204" pitchFamily="49" charset="0"/>
              </a:rPr>
              <a:t>          retry(</a:t>
            </a:r>
            <a:r>
              <a:rPr lang="en-US" b="0">
                <a:solidFill>
                  <a:srgbClr val="098658"/>
                </a:solidFill>
                <a:effectLst/>
                <a:latin typeface="Consolas" panose="020B0609020204030204" pitchFamily="49" charset="0"/>
              </a:rPr>
              <a:t>3</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catchError(</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.handleError))</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0F0574A-E96A-887C-9B73-5051C633E5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24163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2676353-9AEA-8F65-4B8D-6658B8E4254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B8FDCA8-6E24-9DAC-592A-DB345C9E156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7EEBC37-D577-E4E9-E727-D6737CD5E3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44543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F269BDE-E075-5485-8AFC-78A44045C2A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CA88987-5332-5BDC-EE5A-5A0AA1514B7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52582D6-FBC6-79F1-B455-077FA9BDA0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91861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90C958F-C0BC-4AE8-FCC4-EB917C5B686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E2AB0A7-195E-E3E9-0F59-61FE298F3E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nSpc>
                <a:spcPts val="2250"/>
              </a:lnSpc>
              <a:buNone/>
            </a:pPr>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Component, signal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'@angular/core'</a:t>
            </a:r>
            <a:r>
              <a:rPr lang="en-US" b="0">
                <a:solidFill>
                  <a:srgbClr val="000000"/>
                </a:solidFill>
                <a:effectLst/>
                <a:latin typeface="Consolas" panose="020B0609020204030204" pitchFamily="49" charset="0"/>
              </a:rPr>
              <a:t>;</a:t>
            </a:r>
          </a:p>
          <a:p>
            <a:pPr>
              <a:lnSpc>
                <a:spcPts val="2250"/>
              </a:lnSpc>
              <a:buNone/>
            </a:pPr>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Fashion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'../classes/Fashion'</a:t>
            </a:r>
            <a:r>
              <a:rPr lang="en-US" b="0">
                <a:solidFill>
                  <a:srgbClr val="000000"/>
                </a:solidFill>
                <a:effectLst/>
                <a:latin typeface="Consolas" panose="020B0609020204030204" pitchFamily="49" charset="0"/>
              </a:rPr>
              <a:t>;</a:t>
            </a:r>
          </a:p>
          <a:p>
            <a:pPr>
              <a:lnSpc>
                <a:spcPts val="2250"/>
              </a:lnSpc>
              <a:buNone/>
            </a:pPr>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FashionAPIService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'../services/fashion-apiservice'</a:t>
            </a:r>
            <a:r>
              <a:rPr lang="en-US" b="0">
                <a:solidFill>
                  <a:srgbClr val="000000"/>
                </a:solidFill>
                <a:effectLst/>
                <a:latin typeface="Consolas" panose="020B0609020204030204" pitchFamily="49" charset="0"/>
              </a:rPr>
              <a:t>;</a:t>
            </a:r>
          </a:p>
          <a:p>
            <a:pPr>
              <a:lnSpc>
                <a:spcPts val="2250"/>
              </a:lnSpc>
              <a:buNone/>
            </a:pPr>
            <a:br>
              <a:rPr lang="en-US" b="0">
                <a:solidFill>
                  <a:srgbClr val="000000"/>
                </a:solidFill>
                <a:effectLst/>
                <a:latin typeface="Consolas" panose="020B0609020204030204" pitchFamily="49" charset="0"/>
              </a:rPr>
            </a:br>
            <a:r>
              <a:rPr lang="en-US" b="0">
                <a:solidFill>
                  <a:srgbClr val="000000"/>
                </a:solidFill>
                <a:effectLst/>
                <a:latin typeface="Consolas" panose="020B0609020204030204" pitchFamily="49" charset="0"/>
              </a:rPr>
              <a:t>@Component({</a:t>
            </a:r>
          </a:p>
          <a:p>
            <a:pPr>
              <a:lnSpc>
                <a:spcPts val="2250"/>
              </a:lnSpc>
              <a:buNone/>
            </a:pPr>
            <a:r>
              <a:rPr lang="en-US" b="0">
                <a:solidFill>
                  <a:srgbClr val="000000"/>
                </a:solidFill>
                <a:effectLst/>
                <a:latin typeface="Consolas" panose="020B0609020204030204" pitchFamily="49" charset="0"/>
              </a:rPr>
              <a:t>  selector: </a:t>
            </a:r>
            <a:r>
              <a:rPr lang="en-US" b="0">
                <a:solidFill>
                  <a:srgbClr val="A31515"/>
                </a:solidFill>
                <a:effectLst/>
                <a:latin typeface="Consolas" panose="020B0609020204030204" pitchFamily="49" charset="0"/>
              </a:rPr>
              <a:t>'app-fashion-detail-component'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standalone: </a:t>
            </a:r>
            <a:r>
              <a:rPr lang="en-US" b="0">
                <a:solidFill>
                  <a:srgbClr val="0000FF"/>
                </a:solidFill>
                <a:effectLst/>
                <a:latin typeface="Consolas" panose="020B0609020204030204" pitchFamily="49" charset="0"/>
              </a:rPr>
              <a:t>false</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templateUrl: </a:t>
            </a:r>
            <a:r>
              <a:rPr lang="en-US" b="0">
                <a:solidFill>
                  <a:srgbClr val="A31515"/>
                </a:solidFill>
                <a:effectLst/>
                <a:latin typeface="Consolas" panose="020B0609020204030204" pitchFamily="49" charset="0"/>
              </a:rPr>
              <a:t>'./fashion-detail-component.html'</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styleUrl: </a:t>
            </a:r>
            <a:r>
              <a:rPr lang="en-US" b="0">
                <a:solidFill>
                  <a:srgbClr val="A31515"/>
                </a:solidFill>
                <a:effectLst/>
                <a:latin typeface="Consolas" panose="020B0609020204030204" pitchFamily="49" charset="0"/>
              </a:rPr>
              <a:t>'./fashion-detail-component.css'</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a:t>
            </a:r>
          </a:p>
          <a:p>
            <a:pPr>
              <a:lnSpc>
                <a:spcPts val="2250"/>
              </a:lnSpc>
              <a:buNone/>
            </a:pPr>
            <a:r>
              <a:rPr lang="en-US" b="0">
                <a:solidFill>
                  <a:srgbClr val="0000FF"/>
                </a:solidFill>
                <a:effectLst/>
                <a:latin typeface="Consolas" panose="020B0609020204030204" pitchFamily="49" charset="0"/>
              </a:rPr>
              <a:t>export</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class</a:t>
            </a:r>
            <a:r>
              <a:rPr lang="en-US" b="0">
                <a:solidFill>
                  <a:srgbClr val="000000"/>
                </a:solidFill>
                <a:effectLst/>
                <a:latin typeface="Consolas" panose="020B0609020204030204" pitchFamily="49" charset="0"/>
              </a:rPr>
              <a:t> FashionDetailComponent {</a:t>
            </a:r>
          </a:p>
          <a:p>
            <a:pPr>
              <a:lnSpc>
                <a:spcPts val="2250"/>
              </a:lnSpc>
              <a:buNone/>
            </a:pPr>
            <a:r>
              <a:rPr lang="en-US" b="0">
                <a:solidFill>
                  <a:srgbClr val="000000"/>
                </a:solidFill>
                <a:effectLst/>
                <a:latin typeface="Consolas" panose="020B0609020204030204" pitchFamily="49" charset="0"/>
              </a:rPr>
              <a:t>  fashion=signal&lt;Fashion|null&gt;(</a:t>
            </a:r>
            <a:r>
              <a:rPr lang="en-US" b="0">
                <a:solidFill>
                  <a:srgbClr val="0000FF"/>
                </a:solidFill>
                <a:effectLst/>
                <a:latin typeface="Consolas" panose="020B0609020204030204" pitchFamily="49" charset="0"/>
              </a:rPr>
              <a:t>null</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errMessage=signal(</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constructor</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private</a:t>
            </a:r>
            <a:r>
              <a:rPr lang="en-US" b="0">
                <a:solidFill>
                  <a:srgbClr val="000000"/>
                </a:solidFill>
                <a:effectLst/>
                <a:latin typeface="Consolas" panose="020B0609020204030204" pitchFamily="49" charset="0"/>
              </a:rPr>
              <a:t> _service: FashionAPIService){}</a:t>
            </a:r>
          </a:p>
          <a:p>
            <a:pPr>
              <a:lnSpc>
                <a:spcPts val="2250"/>
              </a:lnSpc>
              <a:buNone/>
            </a:pPr>
            <a:r>
              <a:rPr lang="en-US" b="0">
                <a:solidFill>
                  <a:srgbClr val="000000"/>
                </a:solidFill>
                <a:effectLst/>
                <a:latin typeface="Consolas" panose="020B0609020204030204" pitchFamily="49" charset="0"/>
              </a:rPr>
              <a:t>  searchFashion(id:string){</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.fashion.set(</a:t>
            </a:r>
            <a:r>
              <a:rPr lang="en-US" b="0">
                <a:solidFill>
                  <a:srgbClr val="0000FF"/>
                </a:solidFill>
                <a:effectLst/>
                <a:latin typeface="Consolas" panose="020B0609020204030204" pitchFamily="49" charset="0"/>
              </a:rPr>
              <a:t>null</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.errMessage.set(</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._service.getFashion(id).subscribe({</a:t>
            </a:r>
          </a:p>
          <a:p>
            <a:pPr>
              <a:lnSpc>
                <a:spcPts val="2250"/>
              </a:lnSpc>
              <a:buNone/>
            </a:pPr>
            <a:r>
              <a:rPr lang="en-US" b="0">
                <a:solidFill>
                  <a:srgbClr val="000000"/>
                </a:solidFill>
                <a:effectLst/>
                <a:latin typeface="Consolas" panose="020B0609020204030204" pitchFamily="49" charset="0"/>
              </a:rPr>
              <a:t>      next:(data)</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8000"/>
                </a:solidFill>
                <a:effectLst/>
                <a:latin typeface="Consolas" panose="020B0609020204030204" pitchFamily="49" charset="0"/>
              </a:rPr>
              <a:t>//restore object model from json</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fashionInstance = Object.assign(</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Fashion(), data);</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.fashion.set(fashionInstance);        </a:t>
            </a:r>
          </a:p>
          <a:p>
            <a:pPr>
              <a:lnSpc>
                <a:spcPts val="2250"/>
              </a:lnSpc>
              <a:buNone/>
            </a:pPr>
            <a:r>
              <a:rPr lang="en-US" b="0">
                <a:solidFill>
                  <a:srgbClr val="000000"/>
                </a:solidFill>
                <a:effectLst/>
                <a:latin typeface="Consolas" panose="020B0609020204030204" pitchFamily="49" charset="0"/>
              </a:rPr>
              <a:t>      },</a:t>
            </a:r>
          </a:p>
          <a:p>
            <a:pPr>
              <a:lnSpc>
                <a:spcPts val="2250"/>
              </a:lnSpc>
              <a:buNone/>
            </a:pPr>
            <a:r>
              <a:rPr lang="en-US" b="0">
                <a:solidFill>
                  <a:srgbClr val="000000"/>
                </a:solidFill>
                <a:effectLst/>
                <a:latin typeface="Consolas" panose="020B0609020204030204" pitchFamily="49" charset="0"/>
              </a:rPr>
              <a:t>      error:(err)</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.errMessage.set(err)}</a:t>
            </a:r>
          </a:p>
          <a:p>
            <a:pPr>
              <a:lnSpc>
                <a:spcPts val="2250"/>
              </a:lnSpc>
              <a:buNone/>
            </a:pPr>
            <a:r>
              <a:rPr lang="en-US" b="0">
                <a:solidFill>
                  <a:srgbClr val="000000"/>
                </a:solidFill>
                <a:effectLst/>
                <a:latin typeface="Consolas" panose="020B0609020204030204" pitchFamily="49" charset="0"/>
              </a:rPr>
              <a:t>    })</a:t>
            </a:r>
          </a:p>
          <a:p>
            <a:pPr>
              <a:lnSpc>
                <a:spcPts val="2250"/>
              </a:lnSpc>
              <a:buNone/>
            </a:pPr>
            <a:r>
              <a:rPr lang="en-US" b="0">
                <a:solidFill>
                  <a:srgbClr val="000000"/>
                </a:solidFill>
                <a:effectLst/>
                <a:latin typeface="Consolas" panose="020B0609020204030204" pitchFamily="49" charset="0"/>
              </a:rPr>
              <a:t>  }</a:t>
            </a:r>
          </a:p>
          <a:p>
            <a:pPr>
              <a:lnSpc>
                <a:spcPts val="2250"/>
              </a:lnSpc>
              <a:buNone/>
            </a:pPr>
            <a:r>
              <a:rPr lang="en-US" b="0">
                <a:solidFill>
                  <a:srgbClr val="000000"/>
                </a:solidFill>
                <a:effectLst/>
                <a:latin typeface="Consolas" panose="020B0609020204030204" pitchFamily="49" charset="0"/>
              </a:rPr>
              <a:t>}</a:t>
            </a:r>
          </a:p>
          <a:p>
            <a:pPr>
              <a:lnSpc>
                <a:spcPts val="2250"/>
              </a:lnSpc>
            </a:pPr>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A6172B1-C987-DD3A-9DC7-4FB5F62999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31217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3B9A3F8-C178-CE10-FD8E-1B2788049C8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EC9EEC1-37F2-BF49-482C-9DAF8B0270F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4C257AC-CD66-8557-D6D8-02D39A465C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229603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7C74965-A7C4-3C5A-1A7C-DC29A78C335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957F056-EA1E-5795-5869-30019F3A2C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nSpc>
                <a:spcPts val="2250"/>
              </a:lnSpc>
              <a:buNone/>
            </a:pPr>
            <a:r>
              <a:rPr lang="en-US" b="0">
                <a:solidFill>
                  <a:srgbClr val="800000"/>
                </a:solidFill>
                <a:effectLst/>
                <a:latin typeface="Consolas" panose="020B0609020204030204" pitchFamily="49" charset="0"/>
              </a:rPr>
              <a:t>&lt;p&gt;</a:t>
            </a:r>
            <a:r>
              <a:rPr lang="en-US" b="0">
                <a:solidFill>
                  <a:srgbClr val="000000"/>
                </a:solidFill>
                <a:effectLst/>
                <a:latin typeface="Consolas" panose="020B0609020204030204" pitchFamily="49" charset="0"/>
              </a:rPr>
              <a:t>{{errMessage()}}</a:t>
            </a:r>
            <a:r>
              <a:rPr lang="en-US" b="0">
                <a:solidFill>
                  <a:srgbClr val="800000"/>
                </a:solidFill>
                <a:effectLst/>
                <a:latin typeface="Consolas" panose="020B0609020204030204" pitchFamily="49" charset="0"/>
              </a:rPr>
              <a:t>&lt;/p&gt;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Fashion Id: </a:t>
            </a:r>
            <a:r>
              <a:rPr lang="en-US" b="0">
                <a:solidFill>
                  <a:srgbClr val="800000"/>
                </a:solidFill>
                <a:effectLst/>
                <a:latin typeface="Consolas" panose="020B0609020204030204" pitchFamily="49" charset="0"/>
              </a:rPr>
              <a:t>&lt;input</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type</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"text"</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#fashionId</a:t>
            </a:r>
            <a:r>
              <a:rPr lang="en-US" b="0">
                <a:solidFill>
                  <a:srgbClr val="800000"/>
                </a:solidFill>
                <a:effectLst/>
                <a:latin typeface="Consolas" panose="020B0609020204030204" pitchFamily="49" charset="0"/>
              </a:rPr>
              <a:t>&gt;</a:t>
            </a:r>
            <a:r>
              <a:rPr lang="en-US" b="0">
                <a:solidFill>
                  <a:srgbClr val="000000"/>
                </a:solidFill>
                <a:effectLst/>
                <a:latin typeface="Consolas" panose="020B0609020204030204" pitchFamily="49" charset="0"/>
              </a:rPr>
              <a:t> </a:t>
            </a:r>
          </a:p>
          <a:p>
            <a:pPr>
              <a:lnSpc>
                <a:spcPts val="2250"/>
              </a:lnSpc>
              <a:buNone/>
            </a:pPr>
            <a:r>
              <a:rPr lang="en-US" b="0">
                <a:solidFill>
                  <a:srgbClr val="800000"/>
                </a:solidFill>
                <a:effectLst/>
                <a:latin typeface="Consolas" panose="020B0609020204030204" pitchFamily="49" charset="0"/>
              </a:rPr>
              <a:t>&lt;button</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(click)</a:t>
            </a:r>
            <a:r>
              <a:rPr lang="en-US" b="0">
                <a:solidFill>
                  <a:srgbClr val="000000"/>
                </a:solidFill>
                <a:effectLst/>
                <a:latin typeface="Consolas" panose="020B0609020204030204" pitchFamily="49" charset="0"/>
              </a:rPr>
              <a:t>=</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searchFashion(fashionId.value)</a:t>
            </a:r>
            <a:r>
              <a:rPr lang="en-US" b="0">
                <a:solidFill>
                  <a:srgbClr val="A31515"/>
                </a:solidFill>
                <a:effectLst/>
                <a:latin typeface="Consolas" panose="020B0609020204030204" pitchFamily="49" charset="0"/>
              </a:rPr>
              <a:t>"</a:t>
            </a:r>
            <a:r>
              <a:rPr lang="en-US" b="0">
                <a:solidFill>
                  <a:srgbClr val="800000"/>
                </a:solidFill>
                <a:effectLst/>
                <a:latin typeface="Consolas" panose="020B0609020204030204" pitchFamily="49" charset="0"/>
              </a:rPr>
              <a:t>&gt;</a:t>
            </a:r>
            <a:r>
              <a:rPr lang="en-US" b="0">
                <a:solidFill>
                  <a:srgbClr val="000000"/>
                </a:solidFill>
                <a:effectLst/>
                <a:latin typeface="Consolas" panose="020B0609020204030204" pitchFamily="49" charset="0"/>
              </a:rPr>
              <a:t>Search</a:t>
            </a:r>
            <a:r>
              <a:rPr lang="en-US" b="0">
                <a:solidFill>
                  <a:srgbClr val="800000"/>
                </a:solidFill>
                <a:effectLst/>
                <a:latin typeface="Consolas" panose="020B0609020204030204" pitchFamily="49" charset="0"/>
              </a:rPr>
              <a:t>&lt;/button&gt;</a:t>
            </a:r>
            <a:endParaRPr lang="en-US" b="0">
              <a:solidFill>
                <a:srgbClr val="000000"/>
              </a:solidFill>
              <a:effectLst/>
              <a:latin typeface="Consolas" panose="020B0609020204030204" pitchFamily="49" charset="0"/>
            </a:endParaRPr>
          </a:p>
          <a:p>
            <a:pPr>
              <a:lnSpc>
                <a:spcPts val="2250"/>
              </a:lnSpc>
              <a:buNone/>
            </a:pPr>
            <a:r>
              <a:rPr lang="en-US" b="0">
                <a:solidFill>
                  <a:srgbClr val="800000"/>
                </a:solidFill>
                <a:effectLst/>
                <a:latin typeface="Consolas" panose="020B0609020204030204" pitchFamily="49" charset="0"/>
              </a:rPr>
              <a:t>&lt;table&gt;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@if</a:t>
            </a:r>
            <a:r>
              <a:rPr lang="en-US" b="0">
                <a:solidFill>
                  <a:srgbClr val="000000"/>
                </a:solidFill>
                <a:effectLst/>
                <a:latin typeface="Consolas" panose="020B0609020204030204" pitchFamily="49" charset="0"/>
              </a:rPr>
              <a:t> (fashion()!=</a:t>
            </a:r>
            <a:r>
              <a:rPr lang="en-US" b="0">
                <a:solidFill>
                  <a:srgbClr val="0000FF"/>
                </a:solidFill>
                <a:effectLst/>
                <a:latin typeface="Consolas" panose="020B0609020204030204" pitchFamily="49" charset="0"/>
              </a:rPr>
              <a:t>null</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Fashion Id:</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{{fashion()?._id}}</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Fashion Subject:</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{{fashion()?.fashion_subject}}</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Fashion Detail:</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{{fashion()?.fashion_detail}}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colspan</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"2"</a:t>
            </a:r>
            <a:r>
              <a:rPr lang="en-US" b="0">
                <a:solidFill>
                  <a:srgbClr val="800000"/>
                </a:solidFill>
                <a:effectLst/>
                <a:latin typeface="Consolas" panose="020B0609020204030204" pitchFamily="49" charset="0"/>
              </a:rPr>
              <a:t>&gt;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&lt;img</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src</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"{{fashion()?.getBase64String()}}"</a:t>
            </a:r>
            <a:r>
              <a:rPr lang="en-US" b="0">
                <a:solidFill>
                  <a:srgbClr val="800000"/>
                </a:solidFill>
                <a:effectLst/>
                <a:latin typeface="Consolas" panose="020B0609020204030204" pitchFamily="49" charset="0"/>
              </a:rPr>
              <a:t>&gt;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@else</a:t>
            </a:r>
            <a:r>
              <a:rPr lang="en-US" b="0">
                <a:solidFill>
                  <a:srgbClr val="000000"/>
                </a:solidFill>
                <a:effectLst/>
                <a:latin typeface="Consolas" panose="020B0609020204030204" pitchFamily="49" charset="0"/>
              </a:rPr>
              <a:t> {</a:t>
            </a: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&lt;tr&gt;&lt;td&gt;</a:t>
            </a:r>
            <a:r>
              <a:rPr lang="en-US" b="0">
                <a:solidFill>
                  <a:srgbClr val="000000"/>
                </a:solidFill>
                <a:effectLst/>
                <a:latin typeface="Consolas" panose="020B0609020204030204" pitchFamily="49" charset="0"/>
              </a:rPr>
              <a:t>Not found Fashion</a:t>
            </a:r>
            <a:r>
              <a:rPr lang="en-US" b="0">
                <a:solidFill>
                  <a:srgbClr val="800000"/>
                </a:solidFill>
                <a:effectLst/>
                <a:latin typeface="Consolas" panose="020B0609020204030204" pitchFamily="49" charset="0"/>
              </a:rPr>
              <a:t>&lt;/td&gt;&lt;/tr&gt;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p>
          <a:p>
            <a:pPr>
              <a:lnSpc>
                <a:spcPts val="2250"/>
              </a:lnSpc>
              <a:buNone/>
            </a:pPr>
            <a:r>
              <a:rPr lang="en-US" b="0">
                <a:solidFill>
                  <a:srgbClr val="800000"/>
                </a:solidFill>
                <a:effectLst/>
                <a:latin typeface="Consolas" panose="020B0609020204030204" pitchFamily="49" charset="0"/>
              </a:rPr>
              <a:t>&lt;/table&gt;</a:t>
            </a:r>
            <a:endParaRPr lang="en-US" b="0">
              <a:solidFill>
                <a:srgbClr val="000000"/>
              </a:solidFill>
              <a:effectLst/>
              <a:latin typeface="Consolas" panose="020B0609020204030204" pitchFamily="49" charset="0"/>
            </a:endParaRPr>
          </a:p>
          <a:p>
            <a:pPr>
              <a:lnSpc>
                <a:spcPts val="2250"/>
              </a:lnSpc>
            </a:pPr>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D185678-39B6-B7D2-37E7-F23C85843E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07986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1E76C87-EB85-A4B6-DDC8-048EAD6002D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3E0182E-A479-9A14-AA7A-D3927ED6A69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30F4208-37DD-DA66-D32F-5E9B850C42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53422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CEC6D1E-3C97-7474-FE20-05927151F4D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7C9D926-344E-C3E6-F28C-CC707DF156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5529815-04DD-3511-05A1-D4CC27C4B9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271389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1AE4129-904E-3B0D-A8A5-1A4597E2FE7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54EB7A5-3748-1239-A675-27041ED5226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7C2EAD2-8D11-6443-AE9A-D387E3AACB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5447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8511C32-F237-B833-B97E-43EA858D408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AC5C1A5-EB63-7E33-ABE7-5AAC2F87B9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CB27617-B96F-9F2D-E91C-33AE8B5967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86241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7981F7F-0E15-E83F-8C55-88C11712FE6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091A7DE-7917-D31C-7D01-557D0F53C8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const express = require('express');</a:t>
            </a:r>
          </a:p>
          <a:p>
            <a:r>
              <a:rPr lang="en-US" sz="1200" b="0" i="0" u="none" strike="noStrike" cap="none">
                <a:solidFill>
                  <a:schemeClr val="dk1"/>
                </a:solidFill>
                <a:effectLst/>
                <a:latin typeface="Calibri"/>
                <a:ea typeface="Calibri"/>
                <a:cs typeface="Calibri"/>
                <a:sym typeface="Calibri"/>
              </a:rPr>
              <a:t>const app = express();</a:t>
            </a:r>
          </a:p>
          <a:p>
            <a:r>
              <a:rPr lang="en-US" sz="1200" b="0" i="0" u="none" strike="noStrike" cap="none">
                <a:solidFill>
                  <a:schemeClr val="dk1"/>
                </a:solidFill>
                <a:effectLst/>
                <a:latin typeface="Calibri"/>
                <a:ea typeface="Calibri"/>
                <a:cs typeface="Calibri"/>
                <a:sym typeface="Calibri"/>
              </a:rPr>
              <a:t>const port = 3002;</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morgan=require("morgan")</a:t>
            </a:r>
          </a:p>
          <a:p>
            <a:r>
              <a:rPr lang="en-US" sz="1200" b="0" i="0" u="none" strike="noStrike" cap="none">
                <a:solidFill>
                  <a:schemeClr val="dk1"/>
                </a:solidFill>
                <a:effectLst/>
                <a:latin typeface="Calibri"/>
                <a:ea typeface="Calibri"/>
                <a:cs typeface="Calibri"/>
                <a:sym typeface="Calibri"/>
              </a:rPr>
              <a:t>app.use(morgan("combined"))</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path=require("path")</a:t>
            </a:r>
          </a:p>
          <a:p>
            <a:r>
              <a:rPr lang="en-US" sz="1200" b="0" i="0" u="none" strike="noStrike" cap="none">
                <a:solidFill>
                  <a:schemeClr val="dk1"/>
                </a:solidFill>
                <a:effectLst/>
                <a:latin typeface="Calibri"/>
                <a:ea typeface="Calibri"/>
                <a:cs typeface="Calibri"/>
                <a:sym typeface="Calibri"/>
              </a:rPr>
              <a:t>const fs = require('fs');</a:t>
            </a:r>
          </a:p>
          <a:p>
            <a:r>
              <a:rPr lang="en-US" sz="1200" b="0" i="0" u="none" strike="noStrike" cap="none">
                <a:solidFill>
                  <a:schemeClr val="dk1"/>
                </a:solidFill>
                <a:effectLst/>
                <a:latin typeface="Calibri"/>
                <a:ea typeface="Calibri"/>
                <a:cs typeface="Calibri"/>
                <a:sym typeface="Calibri"/>
              </a:rPr>
              <a:t>app.use(express.static(path.join(__dirname,"public")))</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cors=require("cors")</a:t>
            </a:r>
          </a:p>
          <a:p>
            <a:r>
              <a:rPr lang="en-US" sz="1200" b="0" i="0" u="none" strike="noStrike" cap="none">
                <a:solidFill>
                  <a:schemeClr val="dk1"/>
                </a:solidFill>
                <a:effectLst/>
                <a:latin typeface="Calibri"/>
                <a:ea typeface="Calibri"/>
                <a:cs typeface="Calibri"/>
                <a:sym typeface="Calibri"/>
              </a:rPr>
              <a:t>app.use(cors())</a:t>
            </a:r>
          </a:p>
          <a:p>
            <a:r>
              <a:rPr lang="en-US" sz="1200" b="0" i="0" u="none" strike="noStrike" cap="none">
                <a:solidFill>
                  <a:schemeClr val="dk1"/>
                </a:solidFill>
                <a:effectLst/>
                <a:latin typeface="Calibri"/>
                <a:ea typeface="Calibri"/>
                <a:cs typeface="Calibri"/>
                <a:sym typeface="Calibri"/>
              </a:rPr>
              <a:t>const bodyParser=require("body-parser")</a:t>
            </a:r>
          </a:p>
          <a:p>
            <a:r>
              <a:rPr lang="en-US" sz="1200" b="0" i="0" u="none" strike="noStrike" cap="none">
                <a:solidFill>
                  <a:schemeClr val="dk1"/>
                </a:solidFill>
                <a:effectLst/>
                <a:latin typeface="Calibri"/>
                <a:ea typeface="Calibri"/>
                <a:cs typeface="Calibri"/>
                <a:sym typeface="Calibri"/>
              </a:rPr>
              <a:t>app.use(bodyParser.json({ limit: '50mb' })); </a:t>
            </a:r>
          </a:p>
          <a:p>
            <a:r>
              <a:rPr lang="en-US" sz="1200" b="0" i="0" u="none" strike="noStrike" cap="none">
                <a:solidFill>
                  <a:schemeClr val="dk1"/>
                </a:solidFill>
                <a:effectLst/>
                <a:latin typeface="Calibri"/>
                <a:ea typeface="Calibri"/>
                <a:cs typeface="Calibri"/>
                <a:sym typeface="Calibri"/>
              </a:rPr>
              <a:t>app.use(bodyParser.urlencoded({ limit: '50mb', extended: true }));</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app.listen(port,()=&gt;{</a:t>
            </a:r>
          </a:p>
          <a:p>
            <a:r>
              <a:rPr lang="en-US" sz="1200" b="0" i="0" u="none" strike="noStrike" cap="none">
                <a:solidFill>
                  <a:schemeClr val="dk1"/>
                </a:solidFill>
                <a:effectLst/>
                <a:latin typeface="Calibri"/>
                <a:ea typeface="Calibri"/>
                <a:cs typeface="Calibri"/>
                <a:sym typeface="Calibri"/>
              </a:rPr>
              <a:t>    console.log(`My Server listening on port ${port}`)</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app.get("/",(req,res)=&gt;{</a:t>
            </a:r>
          </a:p>
          <a:p>
            <a:r>
              <a:rPr lang="en-US" sz="1200" b="0" i="0" u="none" strike="noStrike" cap="none">
                <a:solidFill>
                  <a:schemeClr val="dk1"/>
                </a:solidFill>
                <a:effectLst/>
                <a:latin typeface="Calibri"/>
                <a:ea typeface="Calibri"/>
                <a:cs typeface="Calibri"/>
                <a:sym typeface="Calibri"/>
              </a:rPr>
              <a:t>    res.send("This Web server is processed for MongoDB")</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const { MongoClient, ObjectId } = require('mongodb');</a:t>
            </a:r>
          </a:p>
          <a:p>
            <a:r>
              <a:rPr lang="en-US" sz="1200" b="0" i="0" u="none" strike="noStrike" cap="none">
                <a:solidFill>
                  <a:schemeClr val="dk1"/>
                </a:solidFill>
                <a:effectLst/>
                <a:latin typeface="Calibri"/>
                <a:ea typeface="Calibri"/>
                <a:cs typeface="Calibri"/>
                <a:sym typeface="Calibri"/>
              </a:rPr>
              <a:t>client = new MongoClient("mongodb://127.0.0.1:27017");</a:t>
            </a:r>
          </a:p>
          <a:p>
            <a:r>
              <a:rPr lang="en-US" sz="1200" b="0" i="0" u="none" strike="noStrike" cap="none">
                <a:solidFill>
                  <a:schemeClr val="dk1"/>
                </a:solidFill>
                <a:effectLst/>
                <a:latin typeface="Calibri"/>
                <a:ea typeface="Calibri"/>
                <a:cs typeface="Calibri"/>
                <a:sym typeface="Calibri"/>
              </a:rPr>
              <a:t>client.connect();</a:t>
            </a:r>
          </a:p>
          <a:p>
            <a:r>
              <a:rPr lang="en-US" sz="1200" b="0" i="0" u="none" strike="noStrike" cap="none">
                <a:solidFill>
                  <a:schemeClr val="dk1"/>
                </a:solidFill>
                <a:effectLst/>
                <a:latin typeface="Calibri"/>
                <a:ea typeface="Calibri"/>
                <a:cs typeface="Calibri"/>
                <a:sym typeface="Calibri"/>
              </a:rPr>
              <a:t>database = client.db("FashionData");      </a:t>
            </a:r>
          </a:p>
          <a:p>
            <a:r>
              <a:rPr lang="en-US" sz="1200" b="0" i="0" u="none" strike="noStrike" cap="none">
                <a:solidFill>
                  <a:schemeClr val="dk1"/>
                </a:solidFill>
                <a:effectLst/>
                <a:latin typeface="Calibri"/>
                <a:ea typeface="Calibri"/>
                <a:cs typeface="Calibri"/>
                <a:sym typeface="Calibri"/>
              </a:rPr>
              <a:t>fashionCollection = database.collection("Fashion");</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app.get("/fashions",cors(),async (req,res)=&gt;{   </a:t>
            </a:r>
          </a:p>
          <a:p>
            <a:r>
              <a:rPr lang="en-US" sz="1200" b="0" i="0" u="none" strike="noStrike" cap="none">
                <a:solidFill>
                  <a:schemeClr val="dk1"/>
                </a:solidFill>
                <a:effectLst/>
                <a:latin typeface="Calibri"/>
                <a:ea typeface="Calibri"/>
                <a:cs typeface="Calibri"/>
                <a:sym typeface="Calibri"/>
              </a:rPr>
              <a:t>    const result = await fashionCollection.find({}).toArray();</a:t>
            </a:r>
          </a:p>
          <a:p>
            <a:r>
              <a:rPr lang="en-US" sz="1200" b="0" i="0" u="none" strike="noStrike" cap="none">
                <a:solidFill>
                  <a:schemeClr val="dk1"/>
                </a:solidFill>
                <a:effectLst/>
                <a:latin typeface="Calibri"/>
                <a:ea typeface="Calibri"/>
                <a:cs typeface="Calibri"/>
                <a:sym typeface="Calibri"/>
              </a:rPr>
              <a:t>    res.send(result)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app.get("/fashions/:id",cors(),async (req,res)=&gt;{</a:t>
            </a:r>
          </a:p>
          <a:p>
            <a:r>
              <a:rPr lang="en-US" sz="1200" b="0" i="0" u="none" strike="noStrike" cap="none">
                <a:solidFill>
                  <a:schemeClr val="dk1"/>
                </a:solidFill>
                <a:effectLst/>
                <a:latin typeface="Calibri"/>
                <a:ea typeface="Calibri"/>
                <a:cs typeface="Calibri"/>
                <a:sym typeface="Calibri"/>
              </a:rPr>
              <a:t>    var o_id = new ObjectId(req.params["id"]);</a:t>
            </a:r>
          </a:p>
          <a:p>
            <a:r>
              <a:rPr lang="en-US" sz="1200" b="0" i="0" u="none" strike="noStrike" cap="none">
                <a:solidFill>
                  <a:schemeClr val="dk1"/>
                </a:solidFill>
                <a:effectLst/>
                <a:latin typeface="Calibri"/>
                <a:ea typeface="Calibri"/>
                <a:cs typeface="Calibri"/>
                <a:sym typeface="Calibri"/>
              </a:rPr>
              <a:t>    const result = await fashionCollection.find({_id:o_id}).toArray();    </a:t>
            </a:r>
          </a:p>
          <a:p>
            <a:r>
              <a:rPr lang="en-US" sz="1200" b="0" i="0" u="none" strike="noStrike" cap="none">
                <a:solidFill>
                  <a:schemeClr val="dk1"/>
                </a:solidFill>
                <a:effectLst/>
                <a:latin typeface="Calibri"/>
                <a:ea typeface="Calibri"/>
                <a:cs typeface="Calibri"/>
                <a:sym typeface="Calibri"/>
              </a:rPr>
              <a:t>    res.send(result[0])</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app.post("/fashions",cors(),async(req,res)=&gt;{   </a:t>
            </a:r>
          </a:p>
          <a:p>
            <a:r>
              <a:rPr lang="en-US" sz="1200" b="0" i="0" u="none" strike="noStrike" cap="none">
                <a:solidFill>
                  <a:schemeClr val="dk1"/>
                </a:solidFill>
                <a:effectLst/>
                <a:latin typeface="Calibri"/>
                <a:ea typeface="Calibri"/>
                <a:cs typeface="Calibri"/>
                <a:sym typeface="Calibri"/>
              </a:rPr>
              <a:t>    //put json Fashion into database</a:t>
            </a:r>
          </a:p>
          <a:p>
            <a:r>
              <a:rPr lang="en-US" sz="1200" b="0" i="0" u="none" strike="noStrike" cap="none">
                <a:solidFill>
                  <a:schemeClr val="dk1"/>
                </a:solidFill>
                <a:effectLst/>
                <a:latin typeface="Calibri"/>
                <a:ea typeface="Calibri"/>
                <a:cs typeface="Calibri"/>
                <a:sym typeface="Calibri"/>
              </a:rPr>
              <a:t>    await fashionCollection.insertOne(req.body)</a:t>
            </a:r>
          </a:p>
          <a:p>
            <a:r>
              <a:rPr lang="en-US" sz="1200" b="0" i="0" u="none" strike="noStrike" cap="none">
                <a:solidFill>
                  <a:schemeClr val="dk1"/>
                </a:solidFill>
                <a:effectLst/>
                <a:latin typeface="Calibri"/>
                <a:ea typeface="Calibri"/>
                <a:cs typeface="Calibri"/>
                <a:sym typeface="Calibri"/>
              </a:rPr>
              <a:t>    //send message to client(send all database to client)</a:t>
            </a:r>
          </a:p>
          <a:p>
            <a:r>
              <a:rPr lang="en-US" sz="1200" b="0" i="0" u="none" strike="noStrike" cap="none">
                <a:solidFill>
                  <a:schemeClr val="dk1"/>
                </a:solidFill>
                <a:effectLst/>
                <a:latin typeface="Calibri"/>
                <a:ea typeface="Calibri"/>
                <a:cs typeface="Calibri"/>
                <a:sym typeface="Calibri"/>
              </a:rPr>
              <a:t>    res.send(req.body)</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FC63D84-855B-2222-7296-996761330B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90417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3B070DE-6FA6-395E-5D55-747D148F99F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E88B2EB-4FED-D6A5-74D3-4E3D7172C2D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FC1BED9-4CFC-E44C-8240-8D9AA73FE8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284866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B5C935F-000B-6B84-B077-EE5CD81CA89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BC8F9A0-CDBE-6D13-A813-5DE3FAB458A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1E49F67-0E0E-2442-FA97-2DCFB14188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375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7564C05-7D9E-C63F-CCFF-ACAF1F143EA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E8327FD-18EF-3AFA-2AD7-EB54093EAA9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43F5832-E95B-7703-02BC-6097D3FB83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58482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3E070F0-9162-D72C-3259-01B138C04AA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6E4A3AA-60AA-6015-1146-E381D01DDCD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AE4F246-ECDD-AD26-2795-DA15BC2316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08247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46046AC-C011-E71B-C6CE-EF2169C7F93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42EB004-7C5C-9984-C861-31A6E8762BC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HttpClient, HttpErrorResponse, HttpHeaders } from '@angular/common/http';</a:t>
            </a:r>
          </a:p>
          <a:p>
            <a:r>
              <a:rPr lang="en-US" sz="1200" b="0" i="0" u="none" strike="noStrike" cap="none">
                <a:solidFill>
                  <a:schemeClr val="dk1"/>
                </a:solidFill>
                <a:effectLst/>
                <a:latin typeface="Calibri"/>
                <a:ea typeface="Calibri"/>
                <a:cs typeface="Calibri"/>
                <a:sym typeface="Calibri"/>
              </a:rPr>
              <a:t>import { Injectable } from '@angular/core';</a:t>
            </a:r>
          </a:p>
          <a:p>
            <a:r>
              <a:rPr lang="en-US" sz="1200" b="0" i="0" u="none" strike="noStrike" cap="none">
                <a:solidFill>
                  <a:schemeClr val="dk1"/>
                </a:solidFill>
                <a:effectLst/>
                <a:latin typeface="Calibri"/>
                <a:ea typeface="Calibri"/>
                <a:cs typeface="Calibri"/>
                <a:sym typeface="Calibri"/>
              </a:rPr>
              <a:t>import { catchError, map, Observable, retry, throwError } from 'rxjs';</a:t>
            </a:r>
          </a:p>
          <a:p>
            <a:r>
              <a:rPr lang="en-US" sz="1200" b="0" i="0" u="none" strike="noStrike" cap="none">
                <a:solidFill>
                  <a:schemeClr val="dk1"/>
                </a:solidFill>
                <a:effectLst/>
                <a:latin typeface="Calibri"/>
                <a:ea typeface="Calibri"/>
                <a:cs typeface="Calibri"/>
                <a:sym typeface="Calibri"/>
              </a:rPr>
              <a:t>import { Fashion } from '../classes/Fashion';</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@Injectable({</a:t>
            </a:r>
          </a:p>
          <a:p>
            <a:r>
              <a:rPr lang="en-US" sz="1200" b="0" i="0" u="none" strike="noStrike" cap="none">
                <a:solidFill>
                  <a:schemeClr val="dk1"/>
                </a:solidFill>
                <a:effectLst/>
                <a:latin typeface="Calibri"/>
                <a:ea typeface="Calibri"/>
                <a:cs typeface="Calibri"/>
                <a:sym typeface="Calibri"/>
              </a:rPr>
              <a:t>  providedIn: 'root',</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FashionAPIService {</a:t>
            </a:r>
          </a:p>
          <a:p>
            <a:r>
              <a:rPr lang="en-US" sz="1200" b="0" i="0" u="none" strike="noStrike" cap="none">
                <a:solidFill>
                  <a:schemeClr val="dk1"/>
                </a:solidFill>
                <a:effectLst/>
                <a:latin typeface="Calibri"/>
                <a:ea typeface="Calibri"/>
                <a:cs typeface="Calibri"/>
                <a:sym typeface="Calibri"/>
              </a:rPr>
              <a:t>    headers=new HttpHeaders().set("Content-Type","text/plain;charset=utf-8")</a:t>
            </a:r>
          </a:p>
          <a:p>
            <a:r>
              <a:rPr lang="en-US" sz="1200" b="0" i="0" u="none" strike="noStrike" cap="none">
                <a:solidFill>
                  <a:schemeClr val="dk1"/>
                </a:solidFill>
                <a:effectLst/>
                <a:latin typeface="Calibri"/>
                <a:ea typeface="Calibri"/>
                <a:cs typeface="Calibri"/>
                <a:sym typeface="Calibri"/>
              </a:rPr>
              <a:t>    requestOptions:Object={</a:t>
            </a:r>
          </a:p>
          <a:p>
            <a:r>
              <a:rPr lang="en-US" sz="1200" b="0" i="0" u="none" strike="noStrike" cap="none">
                <a:solidFill>
                  <a:schemeClr val="dk1"/>
                </a:solidFill>
                <a:effectLst/>
                <a:latin typeface="Calibri"/>
                <a:ea typeface="Calibri"/>
                <a:cs typeface="Calibri"/>
                <a:sym typeface="Calibri"/>
              </a:rPr>
              <a:t>        headers:this.headers,</a:t>
            </a:r>
          </a:p>
          <a:p>
            <a:r>
              <a:rPr lang="en-US" sz="1200" b="0" i="0" u="none" strike="noStrike" cap="none">
                <a:solidFill>
                  <a:schemeClr val="dk1"/>
                </a:solidFill>
                <a:effectLst/>
                <a:latin typeface="Calibri"/>
                <a:ea typeface="Calibri"/>
                <a:cs typeface="Calibri"/>
                <a:sym typeface="Calibri"/>
              </a:rPr>
              <a:t>        responseType:"text"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constructor(private _http: HttpClient) { }</a:t>
            </a:r>
          </a:p>
          <a:p>
            <a:r>
              <a:rPr lang="en-US" sz="1200" b="0" i="0" u="none" strike="noStrike" cap="none">
                <a:solidFill>
                  <a:schemeClr val="dk1"/>
                </a:solidFill>
                <a:effectLst/>
                <a:latin typeface="Calibri"/>
                <a:ea typeface="Calibri"/>
                <a:cs typeface="Calibri"/>
                <a:sym typeface="Calibri"/>
              </a:rPr>
              <a:t>    getFashions():Observable&lt;any&gt;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this._http.get&lt;any&gt;("/fashions",this.requestOptions).pipe(</a:t>
            </a:r>
          </a:p>
          <a:p>
            <a:r>
              <a:rPr lang="en-US" sz="1200" b="0" i="0" u="none" strike="noStrike" cap="none">
                <a:solidFill>
                  <a:schemeClr val="dk1"/>
                </a:solidFill>
                <a:effectLst/>
                <a:latin typeface="Calibri"/>
                <a:ea typeface="Calibri"/>
                <a:cs typeface="Calibri"/>
                <a:sym typeface="Calibri"/>
              </a:rPr>
              <a:t>          map(res=&gt;JSON.parse(res) as Array&lt;Fashion&gt;),</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handleError(error:HttpErrorResponse){</a:t>
            </a:r>
          </a:p>
          <a:p>
            <a:r>
              <a:rPr lang="en-US" sz="1200" b="0" i="0" u="none" strike="noStrike" cap="none">
                <a:solidFill>
                  <a:schemeClr val="dk1"/>
                </a:solidFill>
                <a:effectLst/>
                <a:latin typeface="Calibri"/>
                <a:ea typeface="Calibri"/>
                <a:cs typeface="Calibri"/>
                <a:sym typeface="Calibri"/>
              </a:rPr>
              <a:t>      return throwError(()=&gt;new Error(error.message))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getFashion(id:string):Observable&lt;any&gt;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this._http.get&lt;any&gt;("/fashions/"+id,this.requestOptions).pipe(</a:t>
            </a:r>
          </a:p>
          <a:p>
            <a:r>
              <a:rPr lang="en-US" sz="1200" b="0" i="0" u="none" strike="noStrike" cap="none">
                <a:solidFill>
                  <a:schemeClr val="dk1"/>
                </a:solidFill>
                <a:effectLst/>
                <a:latin typeface="Calibri"/>
                <a:ea typeface="Calibri"/>
                <a:cs typeface="Calibri"/>
                <a:sym typeface="Calibri"/>
              </a:rPr>
              <a:t>          map(res=&gt;JSON.parse(res) as Fashion),</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postFashion(aFashion:any):Observable&lt;any&gt;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let jsonString=JSON.stringify(aFashion)</a:t>
            </a:r>
          </a:p>
          <a:p>
            <a:r>
              <a:rPr lang="en-US" sz="1200" b="0" i="0" u="none" strike="noStrike" cap="none">
                <a:solidFill>
                  <a:schemeClr val="dk1"/>
                </a:solidFill>
                <a:effectLst/>
                <a:latin typeface="Calibri"/>
                <a:ea typeface="Calibri"/>
                <a:cs typeface="Calibri"/>
                <a:sym typeface="Calibri"/>
              </a:rPr>
              <a:t>      return this._http.post&lt;any&gt;("/fashions",jsonString,this.requestOptions).pipe(</a:t>
            </a:r>
          </a:p>
          <a:p>
            <a:r>
              <a:rPr lang="en-US" sz="1200" b="0" i="0" u="none" strike="noStrike" cap="none">
                <a:solidFill>
                  <a:schemeClr val="dk1"/>
                </a:solidFill>
                <a:effectLst/>
                <a:latin typeface="Calibri"/>
                <a:ea typeface="Calibri"/>
                <a:cs typeface="Calibri"/>
                <a:sym typeface="Calibri"/>
              </a:rPr>
              <a:t>          map(res=&gt;JSON.parse(res) as Fashion),</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3D4E526-9420-A884-B0F4-7C8A766E74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737669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03B888C-3B72-A89F-253A-F20CA5CAF1E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204145C-61D3-1172-351A-5C71D183244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7B4565E-0A3C-C9C5-52F1-1B1CA83BC1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641047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D6F1C37-C32D-CD7A-BF58-6E687857E4B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746F662-E547-3843-578A-22457038E3F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E3991C4-D424-DAAE-B23C-53E422F610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421301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362FB22-104B-DA3D-A79D-EE6EF4F105E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C8AC13A-477E-89CB-A3FE-AA3BA5DAB4D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Component } from '@angular/core';</a:t>
            </a:r>
          </a:p>
          <a:p>
            <a:r>
              <a:rPr lang="en-US" sz="1200" b="0" i="0" u="none" strike="noStrike" cap="none">
                <a:solidFill>
                  <a:schemeClr val="dk1"/>
                </a:solidFill>
                <a:effectLst/>
                <a:latin typeface="Calibri"/>
                <a:ea typeface="Calibri"/>
                <a:cs typeface="Calibri"/>
                <a:sym typeface="Calibri"/>
              </a:rPr>
              <a:t>import { Fashion } from '../classes/Fashion';</a:t>
            </a:r>
          </a:p>
          <a:p>
            <a:r>
              <a:rPr lang="en-US" sz="1200" b="0" i="0" u="none" strike="noStrike" cap="none">
                <a:solidFill>
                  <a:schemeClr val="dk1"/>
                </a:solidFill>
                <a:effectLst/>
                <a:latin typeface="Calibri"/>
                <a:ea typeface="Calibri"/>
                <a:cs typeface="Calibri"/>
                <a:sym typeface="Calibri"/>
              </a:rPr>
              <a:t>import { FashionAPIService } from '../services/fashion-apiservice';</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@Component({</a:t>
            </a:r>
          </a:p>
          <a:p>
            <a:r>
              <a:rPr lang="en-US" sz="1200" b="0" i="0" u="none" strike="noStrike" cap="none">
                <a:solidFill>
                  <a:schemeClr val="dk1"/>
                </a:solidFill>
                <a:effectLst/>
                <a:latin typeface="Calibri"/>
                <a:ea typeface="Calibri"/>
                <a:cs typeface="Calibri"/>
                <a:sym typeface="Calibri"/>
              </a:rPr>
              <a:t>  selector: 'app-fashion-new-component',</a:t>
            </a:r>
          </a:p>
          <a:p>
            <a:r>
              <a:rPr lang="en-US" sz="1200" b="0" i="0" u="none" strike="noStrike" cap="none">
                <a:solidFill>
                  <a:schemeClr val="dk1"/>
                </a:solidFill>
                <a:effectLst/>
                <a:latin typeface="Calibri"/>
                <a:ea typeface="Calibri"/>
                <a:cs typeface="Calibri"/>
                <a:sym typeface="Calibri"/>
              </a:rPr>
              <a:t>  standalone: false,</a:t>
            </a:r>
          </a:p>
          <a:p>
            <a:r>
              <a:rPr lang="en-US" sz="1200" b="0" i="0" u="none" strike="noStrike" cap="none">
                <a:solidFill>
                  <a:schemeClr val="dk1"/>
                </a:solidFill>
                <a:effectLst/>
                <a:latin typeface="Calibri"/>
                <a:ea typeface="Calibri"/>
                <a:cs typeface="Calibri"/>
                <a:sym typeface="Calibri"/>
              </a:rPr>
              <a:t>  templateUrl: './fashion-new-component.html',</a:t>
            </a:r>
          </a:p>
          <a:p>
            <a:r>
              <a:rPr lang="en-US" sz="1200" b="0" i="0" u="none" strike="noStrike" cap="none">
                <a:solidFill>
                  <a:schemeClr val="dk1"/>
                </a:solidFill>
                <a:effectLst/>
                <a:latin typeface="Calibri"/>
                <a:ea typeface="Calibri"/>
                <a:cs typeface="Calibri"/>
                <a:sym typeface="Calibri"/>
              </a:rPr>
              <a:t>  styleUrl: './fashion-new-component.css',</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FashionNewComponent {</a:t>
            </a:r>
          </a:p>
          <a:p>
            <a:r>
              <a:rPr lang="en-US" sz="1200" b="0" i="0" u="none" strike="noStrike" cap="none">
                <a:solidFill>
                  <a:schemeClr val="dk1"/>
                </a:solidFill>
                <a:effectLst/>
                <a:latin typeface="Calibri"/>
                <a:ea typeface="Calibri"/>
                <a:cs typeface="Calibri"/>
                <a:sym typeface="Calibri"/>
              </a:rPr>
              <a:t>  fashion=new Fashion();</a:t>
            </a:r>
          </a:p>
          <a:p>
            <a:r>
              <a:rPr lang="en-US" sz="1200" b="0" i="0" u="none" strike="noStrike" cap="none">
                <a:solidFill>
                  <a:schemeClr val="dk1"/>
                </a:solidFill>
                <a:effectLst/>
                <a:latin typeface="Calibri"/>
                <a:ea typeface="Calibri"/>
                <a:cs typeface="Calibri"/>
                <a:sym typeface="Calibri"/>
              </a:rPr>
              <a:t>  errMessage:string=''</a:t>
            </a:r>
          </a:p>
          <a:p>
            <a:r>
              <a:rPr lang="en-US" sz="1200" b="0" i="0" u="none" strike="noStrike" cap="none">
                <a:solidFill>
                  <a:schemeClr val="dk1"/>
                </a:solidFill>
                <a:effectLst/>
                <a:latin typeface="Calibri"/>
                <a:ea typeface="Calibri"/>
                <a:cs typeface="Calibri"/>
                <a:sym typeface="Calibri"/>
              </a:rPr>
              <a:t>  constructor(private _service: FashionAPIService){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onFileSelected(event:any,fashion:Fashion) {</a:t>
            </a:r>
          </a:p>
          <a:p>
            <a:r>
              <a:rPr lang="en-US" sz="1200" b="0" i="0" u="none" strike="noStrike" cap="none">
                <a:solidFill>
                  <a:schemeClr val="dk1"/>
                </a:solidFill>
                <a:effectLst/>
                <a:latin typeface="Calibri"/>
                <a:ea typeface="Calibri"/>
                <a:cs typeface="Calibri"/>
                <a:sym typeface="Calibri"/>
              </a:rPr>
              <a:t>    let file = event.target.files[0];</a:t>
            </a:r>
          </a:p>
          <a:p>
            <a:r>
              <a:rPr lang="en-US" sz="1200" b="0" i="0" u="none" strike="noStrike" cap="none">
                <a:solidFill>
                  <a:schemeClr val="dk1"/>
                </a:solidFill>
                <a:effectLst/>
                <a:latin typeface="Calibri"/>
                <a:ea typeface="Calibri"/>
                <a:cs typeface="Calibri"/>
                <a:sym typeface="Calibri"/>
              </a:rPr>
              <a:t>    let reader = new FileReader();</a:t>
            </a:r>
          </a:p>
          <a:p>
            <a:r>
              <a:rPr lang="en-US" sz="1200" b="0" i="0" u="none" strike="noStrike" cap="none">
                <a:solidFill>
                  <a:schemeClr val="dk1"/>
                </a:solidFill>
                <a:effectLst/>
                <a:latin typeface="Calibri"/>
                <a:ea typeface="Calibri"/>
                <a:cs typeface="Calibri"/>
                <a:sym typeface="Calibri"/>
              </a:rPr>
              <a:t>    reader.readAsDataURL(file);</a:t>
            </a:r>
          </a:p>
          <a:p>
            <a:r>
              <a:rPr lang="en-US" sz="1200" b="0" i="0" u="none" strike="noStrike" cap="none">
                <a:solidFill>
                  <a:schemeClr val="dk1"/>
                </a:solidFill>
                <a:effectLst/>
                <a:latin typeface="Calibri"/>
                <a:ea typeface="Calibri"/>
                <a:cs typeface="Calibri"/>
                <a:sym typeface="Calibri"/>
              </a:rPr>
              <a:t>    reader.onload = function () {</a:t>
            </a:r>
          </a:p>
          <a:p>
            <a:r>
              <a:rPr lang="en-US" sz="1200" b="0" i="0" u="none" strike="noStrike" cap="none">
                <a:solidFill>
                  <a:schemeClr val="dk1"/>
                </a:solidFill>
                <a:effectLst/>
                <a:latin typeface="Calibri"/>
                <a:ea typeface="Calibri"/>
                <a:cs typeface="Calibri"/>
                <a:sym typeface="Calibri"/>
              </a:rPr>
              <a:t>      fashion.fashion_image=reader.result!.toString()</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reader.onerror = function (error) {</a:t>
            </a:r>
          </a:p>
          <a:p>
            <a:r>
              <a:rPr lang="en-US" sz="1200" b="0" i="0" u="none" strike="noStrike" cap="none">
                <a:solidFill>
                  <a:schemeClr val="dk1"/>
                </a:solidFill>
                <a:effectLst/>
                <a:latin typeface="Calibri"/>
                <a:ea typeface="Calibri"/>
                <a:cs typeface="Calibri"/>
                <a:sym typeface="Calibri"/>
              </a:rPr>
              <a:t>      console.log('Error: ', 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postFashion()</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this._service.postFashion(this.fashion).subscribe({</a:t>
            </a:r>
          </a:p>
          <a:p>
            <a:r>
              <a:rPr lang="en-US" sz="1200" b="0" i="0" u="none" strike="noStrike" cap="none">
                <a:solidFill>
                  <a:schemeClr val="dk1"/>
                </a:solidFill>
                <a:effectLst/>
                <a:latin typeface="Calibri"/>
                <a:ea typeface="Calibri"/>
                <a:cs typeface="Calibri"/>
                <a:sym typeface="Calibri"/>
              </a:rPr>
              <a:t>      next:(data)=&gt;{this.fashion=data},</a:t>
            </a:r>
          </a:p>
          <a:p>
            <a:r>
              <a:rPr lang="en-US" sz="1200" b="0" i="0" u="none" strike="noStrike" cap="none">
                <a:solidFill>
                  <a:schemeClr val="dk1"/>
                </a:solidFill>
                <a:effectLst/>
                <a:latin typeface="Calibri"/>
                <a:ea typeface="Calibri"/>
                <a:cs typeface="Calibri"/>
                <a:sym typeface="Calibri"/>
              </a:rPr>
              <a:t>      error:(err)=&gt;{this.errMessage=err}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D0C3FFA-C1E7-8CCF-F22D-6E4E236621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815647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24DAE24-A24E-4A1F-31A2-7C0293F2BAC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4EB28CD-FC8B-64E4-8FC2-8EC2277C10B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1653589-C80B-E4AF-52FF-3A67B519FD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146982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27F8826-560F-74FE-FEE6-BB434158D99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0220CAC-DACD-183E-4D46-E4BBFCE91AB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7D714E4-E30C-9BA9-2DD3-C831A54950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947724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38FB5D1-819C-B571-0DDB-3224B3B9B27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3BE72E7-B599-5A25-162F-5C3961D4DD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&lt;p&gt;{{errMessage}}&lt;/p&gt;</a:t>
            </a:r>
          </a:p>
          <a:p>
            <a:r>
              <a:rPr lang="en-US" sz="1200" b="0" i="0" u="none" strike="noStrike" cap="none">
                <a:solidFill>
                  <a:schemeClr val="dk1"/>
                </a:solidFill>
                <a:effectLst/>
                <a:latin typeface="Calibri"/>
                <a:ea typeface="Calibri"/>
                <a:cs typeface="Calibri"/>
                <a:sym typeface="Calibri"/>
              </a:rPr>
              <a:t>&lt;table&gt;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&lt;td&gt;Fashion Style:&lt;/td&gt;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&lt;input type="text" class="form-control" #name="ngModel"</a:t>
            </a:r>
          </a:p>
          <a:p>
            <a:r>
              <a:rPr lang="en-US" sz="1200" b="0" i="0" u="none" strike="noStrike" cap="none">
                <a:solidFill>
                  <a:schemeClr val="dk1"/>
                </a:solidFill>
                <a:effectLst/>
                <a:latin typeface="Calibri"/>
                <a:ea typeface="Calibri"/>
                <a:cs typeface="Calibri"/>
                <a:sym typeface="Calibri"/>
              </a:rPr>
              <a:t>            name="style" id="style" placeholder="Input Style"</a:t>
            </a:r>
          </a:p>
          <a:p>
            <a:r>
              <a:rPr lang="en-US" sz="1200" b="0" i="0" u="none" strike="noStrike" cap="none">
                <a:solidFill>
                  <a:schemeClr val="dk1"/>
                </a:solidFill>
                <a:effectLst/>
                <a:latin typeface="Calibri"/>
                <a:ea typeface="Calibri"/>
                <a:cs typeface="Calibri"/>
                <a:sym typeface="Calibri"/>
              </a:rPr>
              <a:t>            [(ngModel)]="fashion.style"/&gt;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&lt;td&gt;Fashion Subject:&lt;/td&gt;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&lt;input type="text" class="form-control" #name="ngModel"</a:t>
            </a:r>
          </a:p>
          <a:p>
            <a:r>
              <a:rPr lang="en-US" sz="1200" b="0" i="0" u="none" strike="noStrike" cap="none">
                <a:solidFill>
                  <a:schemeClr val="dk1"/>
                </a:solidFill>
                <a:effectLst/>
                <a:latin typeface="Calibri"/>
                <a:ea typeface="Calibri"/>
                <a:cs typeface="Calibri"/>
                <a:sym typeface="Calibri"/>
              </a:rPr>
              <a:t>            name="fashion_subject" id="fashion_subject" placeholder="Input Subject"</a:t>
            </a:r>
          </a:p>
          <a:p>
            <a:r>
              <a:rPr lang="en-US" sz="1200" b="0" i="0" u="none" strike="noStrike" cap="none">
                <a:solidFill>
                  <a:schemeClr val="dk1"/>
                </a:solidFill>
                <a:effectLst/>
                <a:latin typeface="Calibri"/>
                <a:ea typeface="Calibri"/>
                <a:cs typeface="Calibri"/>
                <a:sym typeface="Calibri"/>
              </a:rPr>
              <a:t>            [(ngModel)]="fashion.fashion_subject"/&gt;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&lt;td&gt;Fashion Detail:&lt;/td&gt;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&lt;input type="text" class="form-control" #name="ngModel"</a:t>
            </a:r>
          </a:p>
          <a:p>
            <a:r>
              <a:rPr lang="en-US" sz="1200" b="0" i="0" u="none" strike="noStrike" cap="none">
                <a:solidFill>
                  <a:schemeClr val="dk1"/>
                </a:solidFill>
                <a:effectLst/>
                <a:latin typeface="Calibri"/>
                <a:ea typeface="Calibri"/>
                <a:cs typeface="Calibri"/>
                <a:sym typeface="Calibri"/>
              </a:rPr>
              <a:t>            name="fashion_detail" id="fashion_detail" placeholder="Input Detail"</a:t>
            </a:r>
          </a:p>
          <a:p>
            <a:r>
              <a:rPr lang="en-US" sz="1200" b="0" i="0" u="none" strike="noStrike" cap="none">
                <a:solidFill>
                  <a:schemeClr val="dk1"/>
                </a:solidFill>
                <a:effectLst/>
                <a:latin typeface="Calibri"/>
                <a:ea typeface="Calibri"/>
                <a:cs typeface="Calibri"/>
                <a:sym typeface="Calibri"/>
              </a:rPr>
              <a:t>            [(ngModel)]="fashion.fashion_detail"/&gt;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&lt;td&gt;Fashion Image:&lt;/td&gt;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&lt;input type="file" class="file-input"</a:t>
            </a:r>
          </a:p>
          <a:p>
            <a:r>
              <a:rPr lang="en-US" sz="1200" b="0" i="0" u="none" strike="noStrike" cap="none">
                <a:solidFill>
                  <a:schemeClr val="dk1"/>
                </a:solidFill>
                <a:effectLst/>
                <a:latin typeface="Calibri"/>
                <a:ea typeface="Calibri"/>
                <a:cs typeface="Calibri"/>
                <a:sym typeface="Calibri"/>
              </a:rPr>
              <a:t>            #name="ngModel" name="fashion_image" id="fashion_image"</a:t>
            </a:r>
          </a:p>
          <a:p>
            <a:r>
              <a:rPr lang="en-US" sz="1200" b="0" i="0" u="none" strike="noStrike" cap="none">
                <a:solidFill>
                  <a:schemeClr val="dk1"/>
                </a:solidFill>
                <a:effectLst/>
                <a:latin typeface="Calibri"/>
                <a:ea typeface="Calibri"/>
                <a:cs typeface="Calibri"/>
                <a:sym typeface="Calibri"/>
              </a:rPr>
              <a:t>            [(ngModel)]="fashion.fashion_image"</a:t>
            </a:r>
          </a:p>
          <a:p>
            <a:r>
              <a:rPr lang="en-US" sz="1200" b="0" i="0" u="none" strike="noStrike" cap="none">
                <a:solidFill>
                  <a:schemeClr val="dk1"/>
                </a:solidFill>
                <a:effectLst/>
                <a:latin typeface="Calibri"/>
                <a:ea typeface="Calibri"/>
                <a:cs typeface="Calibri"/>
                <a:sym typeface="Calibri"/>
              </a:rPr>
              <a:t>            (change)="onFileSelected($event,fashion)"</a:t>
            </a:r>
          </a:p>
          <a:p>
            <a:r>
              <a:rPr lang="en-US" sz="1200" b="0" i="0" u="none" strike="noStrike" cap="none">
                <a:solidFill>
                  <a:schemeClr val="dk1"/>
                </a:solidFill>
                <a:effectLst/>
                <a:latin typeface="Calibri"/>
                <a:ea typeface="Calibri"/>
                <a:cs typeface="Calibri"/>
                <a:sym typeface="Calibri"/>
              </a:rPr>
              <a:t>            &gt;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 colspan="2"&gt;</a:t>
            </a:r>
          </a:p>
          <a:p>
            <a:r>
              <a:rPr lang="en-US" sz="1200" b="0" i="0" u="none" strike="noStrike" cap="none">
                <a:solidFill>
                  <a:schemeClr val="dk1"/>
                </a:solidFill>
                <a:effectLst/>
                <a:latin typeface="Calibri"/>
                <a:ea typeface="Calibri"/>
                <a:cs typeface="Calibri"/>
                <a:sym typeface="Calibri"/>
              </a:rPr>
              <a:t>            &lt;button (click)="postFashion()"&gt;Submit&lt;/button&gt;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&lt;/table&gt;</a:t>
            </a:r>
          </a:p>
          <a:p>
            <a:r>
              <a:rPr lang="en-US" sz="1200" b="0" i="0" u="none" strike="noStrike" cap="none">
                <a:solidFill>
                  <a:schemeClr val="dk1"/>
                </a:solidFill>
                <a:effectLst/>
                <a:latin typeface="Calibri"/>
                <a:ea typeface="Calibri"/>
                <a:cs typeface="Calibri"/>
                <a:sym typeface="Calibri"/>
              </a:rPr>
              <a:t>&lt;table&gt;</a:t>
            </a:r>
          </a:p>
          <a:p>
            <a:r>
              <a:rPr lang="en-US" sz="1200" b="0" i="0" u="none" strike="noStrike" cap="none">
                <a:solidFill>
                  <a:schemeClr val="dk1"/>
                </a:solidFill>
                <a:effectLst/>
                <a:latin typeface="Calibri"/>
                <a:ea typeface="Calibri"/>
                <a:cs typeface="Calibri"/>
                <a:sym typeface="Calibri"/>
              </a:rPr>
              <a:t>  @if (fashion!=null){</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&lt;td&gt;Fashion Id:&lt;/td&gt;</a:t>
            </a:r>
          </a:p>
          <a:p>
            <a:r>
              <a:rPr lang="en-US" sz="1200" b="0" i="0" u="none" strike="noStrike" cap="none">
                <a:solidFill>
                  <a:schemeClr val="dk1"/>
                </a:solidFill>
                <a:effectLst/>
                <a:latin typeface="Calibri"/>
                <a:ea typeface="Calibri"/>
                <a:cs typeface="Calibri"/>
                <a:sym typeface="Calibri"/>
              </a:rPr>
              <a:t>        &lt;td&gt;{{fashion._id}}&lt;/td&gt;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&lt;td&gt;Fashion Subject:&lt;/td&gt;</a:t>
            </a:r>
          </a:p>
          <a:p>
            <a:r>
              <a:rPr lang="en-US" sz="1200" b="0" i="0" u="none" strike="noStrike" cap="none">
                <a:solidFill>
                  <a:schemeClr val="dk1"/>
                </a:solidFill>
                <a:effectLst/>
                <a:latin typeface="Calibri"/>
                <a:ea typeface="Calibri"/>
                <a:cs typeface="Calibri"/>
                <a:sym typeface="Calibri"/>
              </a:rPr>
              <a:t>        &lt;td&gt;{{fashion.fashion_subject}}&lt;/td&gt;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&lt;td&gt;Fashion Detail:&lt;/td&gt;</a:t>
            </a:r>
          </a:p>
          <a:p>
            <a:r>
              <a:rPr lang="en-US" sz="1200" b="0" i="0" u="none" strike="noStrike" cap="none">
                <a:solidFill>
                  <a:schemeClr val="dk1"/>
                </a:solidFill>
                <a:effectLst/>
                <a:latin typeface="Calibri"/>
                <a:ea typeface="Calibri"/>
                <a:cs typeface="Calibri"/>
                <a:sym typeface="Calibri"/>
              </a:rPr>
              <a:t>        &lt;td&gt;{{fashion.fashion_detail}}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 colspan="2"&gt;</a:t>
            </a:r>
          </a:p>
          <a:p>
            <a:r>
              <a:rPr lang="en-US" sz="1200" b="0" i="0" u="none" strike="noStrike" cap="none">
                <a:solidFill>
                  <a:schemeClr val="dk1"/>
                </a:solidFill>
                <a:effectLst/>
                <a:latin typeface="Calibri"/>
                <a:ea typeface="Calibri"/>
                <a:cs typeface="Calibri"/>
                <a:sym typeface="Calibri"/>
              </a:rPr>
              <a:t>            &lt;img src="{{fashion.getBase64String()}}"&gt;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&lt;/table&gt;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33D3E30-304F-0407-9905-670E528FF6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385696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A382265-A650-DDE4-1D24-4BE0DBEF25A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CC42FF-C8C5-12AF-8307-B1F3E136672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368B529-871F-0A14-F3BA-CFF3B2255E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032335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E77F181-2E4B-5988-7A5B-FB551FB503A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DCE1D5C-6793-F2DB-51BD-8FC5A7F466E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3E40E0D-7263-8DC2-4AA0-96A4D50570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83655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B64584C-4E4B-294A-9F08-2BD491BC766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00B497B-7E93-B650-6F1F-F0041FDF4D2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A1392F2-3350-C292-9209-B2467598CD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931153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2FA27E2-1A06-84E1-B6D0-A5F1810993A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F780928-2D40-C100-B4B8-1696EEC4F96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b="0">
                <a:solidFill>
                  <a:srgbClr val="000000"/>
                </a:solidFill>
                <a:effectLst/>
                <a:latin typeface="Consolas" panose="020B0609020204030204" pitchFamily="49" charset="0"/>
              </a:rPr>
              <a:t>app.put(</a:t>
            </a:r>
            <a:r>
              <a:rPr lang="en-US" b="0">
                <a:solidFill>
                  <a:srgbClr val="A31515"/>
                </a:solidFill>
                <a:effectLst/>
                <a:latin typeface="Consolas" panose="020B0609020204030204" pitchFamily="49" charset="0"/>
              </a:rPr>
              <a:t>"/fashions"</a:t>
            </a:r>
            <a:r>
              <a:rPr lang="en-US" b="0">
                <a:solidFill>
                  <a:srgbClr val="000000"/>
                </a:solidFill>
                <a:effectLst/>
                <a:latin typeface="Consolas" panose="020B0609020204030204" pitchFamily="49" charset="0"/>
              </a:rPr>
              <a:t>,cors(),</a:t>
            </a:r>
            <a:r>
              <a:rPr lang="en-US" b="0">
                <a:solidFill>
                  <a:srgbClr val="0000FF"/>
                </a:solidFill>
                <a:effectLst/>
                <a:latin typeface="Consolas" panose="020B0609020204030204" pitchFamily="49" charset="0"/>
              </a:rPr>
              <a:t>async</a:t>
            </a:r>
            <a:r>
              <a:rPr lang="en-US" b="0">
                <a:solidFill>
                  <a:srgbClr val="000000"/>
                </a:solidFill>
                <a:effectLst/>
                <a:latin typeface="Consolas" panose="020B0609020204030204" pitchFamily="49" charset="0"/>
              </a:rPr>
              <a:t>(req,res)</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008000"/>
                </a:solidFill>
                <a:effectLst/>
                <a:latin typeface="Consolas" panose="020B0609020204030204" pitchFamily="49" charset="0"/>
              </a:rPr>
              <a:t>//update json Fashion into database</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await</a:t>
            </a:r>
            <a:r>
              <a:rPr lang="en-US" b="0">
                <a:solidFill>
                  <a:srgbClr val="000000"/>
                </a:solidFill>
                <a:effectLst/>
                <a:latin typeface="Consolas" panose="020B0609020204030204" pitchFamily="49" charset="0"/>
              </a:rPr>
              <a:t> fashionCollection.updateOne(</a:t>
            </a:r>
          </a:p>
          <a:p>
            <a:r>
              <a:rPr lang="en-US" b="0">
                <a:solidFill>
                  <a:srgbClr val="000000"/>
                </a:solidFill>
                <a:effectLst/>
                <a:latin typeface="Consolas" panose="020B0609020204030204" pitchFamily="49" charset="0"/>
              </a:rPr>
              <a:t>        {_id:</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ObjectId(req.body._id)},</a:t>
            </a:r>
            <a:r>
              <a:rPr lang="en-US" b="0">
                <a:solidFill>
                  <a:srgbClr val="008000"/>
                </a:solidFill>
                <a:effectLst/>
                <a:latin typeface="Consolas" panose="020B0609020204030204" pitchFamily="49" charset="0"/>
              </a:rPr>
              <a:t>//condition for update</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 $set: { </a:t>
            </a:r>
            <a:r>
              <a:rPr lang="en-US" b="0">
                <a:solidFill>
                  <a:srgbClr val="008000"/>
                </a:solidFill>
                <a:effectLst/>
                <a:latin typeface="Consolas" panose="020B0609020204030204" pitchFamily="49" charset="0"/>
              </a:rPr>
              <a:t>//Field for updating</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style: req.body.style,</a:t>
            </a:r>
          </a:p>
          <a:p>
            <a:r>
              <a:rPr lang="en-US" b="0">
                <a:solidFill>
                  <a:srgbClr val="000000"/>
                </a:solidFill>
                <a:effectLst/>
                <a:latin typeface="Consolas" panose="020B0609020204030204" pitchFamily="49" charset="0"/>
              </a:rPr>
              <a:t>                fashion_subject:req.body.fashion_subject,</a:t>
            </a:r>
          </a:p>
          <a:p>
            <a:r>
              <a:rPr lang="en-US" b="0">
                <a:solidFill>
                  <a:srgbClr val="000000"/>
                </a:solidFill>
                <a:effectLst/>
                <a:latin typeface="Consolas" panose="020B0609020204030204" pitchFamily="49" charset="0"/>
              </a:rPr>
              <a:t>                fashion_detail:req.body.fashion_detail,</a:t>
            </a:r>
          </a:p>
          <a:p>
            <a:r>
              <a:rPr lang="en-US" b="0">
                <a:solidFill>
                  <a:srgbClr val="000000"/>
                </a:solidFill>
                <a:effectLst/>
                <a:latin typeface="Consolas" panose="020B0609020204030204" pitchFamily="49" charset="0"/>
              </a:rPr>
              <a:t>                fashion_image:req.body.fashion_image</a:t>
            </a:r>
          </a:p>
          <a:p>
            <a:r>
              <a:rPr lang="en-US" b="0">
                <a:solidFill>
                  <a:srgbClr val="000000"/>
                </a:solidFill>
                <a:effectLst/>
                <a:latin typeface="Consolas" panose="020B0609020204030204" pitchFamily="49" charset="0"/>
              </a:rPr>
              <a:t>            } </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008000"/>
                </a:solidFill>
                <a:effectLst/>
                <a:latin typeface="Consolas" panose="020B0609020204030204" pitchFamily="49" charset="0"/>
              </a:rPr>
              <a:t>//send Fahsion after updating</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var</a:t>
            </a:r>
            <a:r>
              <a:rPr lang="en-US" b="0">
                <a:solidFill>
                  <a:srgbClr val="000000"/>
                </a:solidFill>
                <a:effectLst/>
                <a:latin typeface="Consolas" panose="020B0609020204030204" pitchFamily="49" charset="0"/>
              </a:rPr>
              <a:t> o_id = </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ObjectId(req.body._id);</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result = </a:t>
            </a:r>
            <a:r>
              <a:rPr lang="en-US" b="0">
                <a:solidFill>
                  <a:srgbClr val="0000FF"/>
                </a:solidFill>
                <a:effectLst/>
                <a:latin typeface="Consolas" panose="020B0609020204030204" pitchFamily="49" charset="0"/>
              </a:rPr>
              <a:t>await</a:t>
            </a:r>
            <a:r>
              <a:rPr lang="en-US" b="0">
                <a:solidFill>
                  <a:srgbClr val="000000"/>
                </a:solidFill>
                <a:effectLst/>
                <a:latin typeface="Consolas" panose="020B0609020204030204" pitchFamily="49" charset="0"/>
              </a:rPr>
              <a:t> fashionCollection.find({_id:o_id}).toArray();    </a:t>
            </a:r>
          </a:p>
          <a:p>
            <a:r>
              <a:rPr lang="en-US" b="0">
                <a:solidFill>
                  <a:srgbClr val="000000"/>
                </a:solidFill>
                <a:effectLst/>
                <a:latin typeface="Consolas" panose="020B0609020204030204" pitchFamily="49" charset="0"/>
              </a:rPr>
              <a:t>    res.send(result[</a:t>
            </a:r>
            <a:r>
              <a:rPr lang="en-US" b="0">
                <a:solidFill>
                  <a:srgbClr val="098658"/>
                </a:solidFill>
                <a:effectLst/>
                <a:latin typeface="Consolas" panose="020B0609020204030204" pitchFamily="49" charset="0"/>
              </a:rPr>
              <a:t>0</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C7F1E7D-B76E-A5E5-9FC4-0EA1A41003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83105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4957EA4-8A9F-C87C-00C1-D39A375B961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8899E7F-57BC-8877-7109-AABAAABF571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D29BDC8-D5E3-0A0F-D5D9-18D0DC91DA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658181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3CDBCAD-C644-B35F-279E-BC6AB859E15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19F7AB2-F044-A7A1-30D1-08DC757535D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3AC98AA-C0E2-0B66-237E-72F7C729C2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486909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349F9EB-A387-5BA9-3960-724A44F732D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E29FE81-32FB-C1EF-7E0F-0C69379E2D9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b="0">
                <a:solidFill>
                  <a:srgbClr val="000000"/>
                </a:solidFill>
                <a:effectLst/>
                <a:latin typeface="Consolas" panose="020B0609020204030204" pitchFamily="49" charset="0"/>
              </a:rPr>
              <a:t>    putFashion(aFashion:any):Observable&lt;any&gt;</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let</a:t>
            </a:r>
            <a:r>
              <a:rPr lang="en-US" b="0">
                <a:solidFill>
                  <a:srgbClr val="000000"/>
                </a:solidFill>
                <a:effectLst/>
                <a:latin typeface="Consolas" panose="020B0609020204030204" pitchFamily="49" charset="0"/>
              </a:rPr>
              <a:t> jsonString=JSON.stringify(aFashion)</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return</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._http.put&lt;any&gt;(</a:t>
            </a:r>
            <a:r>
              <a:rPr lang="en-US" b="0">
                <a:solidFill>
                  <a:srgbClr val="A31515"/>
                </a:solidFill>
                <a:effectLst/>
                <a:latin typeface="Consolas" panose="020B0609020204030204" pitchFamily="49" charset="0"/>
              </a:rPr>
              <a:t>"/fashions"</a:t>
            </a:r>
            <a:r>
              <a:rPr lang="en-US" b="0">
                <a:solidFill>
                  <a:srgbClr val="000000"/>
                </a:solidFill>
                <a:effectLst/>
                <a:latin typeface="Consolas" panose="020B0609020204030204" pitchFamily="49" charset="0"/>
              </a:rPr>
              <a:t>,jsonString,</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.requestOptions).pipe(</a:t>
            </a:r>
          </a:p>
          <a:p>
            <a:r>
              <a:rPr lang="en-US" b="0">
                <a:solidFill>
                  <a:srgbClr val="000000"/>
                </a:solidFill>
                <a:effectLst/>
                <a:latin typeface="Consolas" panose="020B0609020204030204" pitchFamily="49" charset="0"/>
              </a:rPr>
              <a:t>          map(res</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JSON.parse(res) </a:t>
            </a:r>
            <a:r>
              <a:rPr lang="en-US" b="0">
                <a:solidFill>
                  <a:srgbClr val="0000FF"/>
                </a:solidFill>
                <a:effectLst/>
                <a:latin typeface="Consolas" panose="020B0609020204030204" pitchFamily="49" charset="0"/>
              </a:rPr>
              <a:t>as</a:t>
            </a:r>
            <a:r>
              <a:rPr lang="en-US" b="0">
                <a:solidFill>
                  <a:srgbClr val="000000"/>
                </a:solidFill>
                <a:effectLst/>
                <a:latin typeface="Consolas" panose="020B0609020204030204" pitchFamily="49" charset="0"/>
              </a:rPr>
              <a:t> Fashion),</a:t>
            </a:r>
          </a:p>
          <a:p>
            <a:r>
              <a:rPr lang="en-US" b="0">
                <a:solidFill>
                  <a:srgbClr val="000000"/>
                </a:solidFill>
                <a:effectLst/>
                <a:latin typeface="Consolas" panose="020B0609020204030204" pitchFamily="49" charset="0"/>
              </a:rPr>
              <a:t>          retry(</a:t>
            </a:r>
            <a:r>
              <a:rPr lang="en-US" b="0">
                <a:solidFill>
                  <a:srgbClr val="098658"/>
                </a:solidFill>
                <a:effectLst/>
                <a:latin typeface="Consolas" panose="020B0609020204030204" pitchFamily="49" charset="0"/>
              </a:rPr>
              <a:t>3</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catchError(</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.handleError))</a:t>
            </a:r>
          </a:p>
          <a:p>
            <a:r>
              <a:rPr lang="en-US" b="0">
                <a:solidFill>
                  <a:srgbClr val="000000"/>
                </a:solidFill>
                <a:effectLst/>
                <a:latin typeface="Consolas" panose="020B0609020204030204" pitchFamily="49" charset="0"/>
              </a:rPr>
              <a:t>    }</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B2E5036-7ECB-8B02-647F-7988919013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269931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1C27F86-43AF-8EB3-F4F4-01CE6215128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3E1302A-1362-B0FD-DD59-A849782ECE3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6A8C413-480E-4D14-5DAC-B3D2AB9BEF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951872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32B463C-F290-3D96-0C00-35BCA06AD58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02C51C8-7E1D-FB81-CC57-719CC3EC3A3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Component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'@angular/core'</a:t>
            </a:r>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Fashion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'../classes/Fashion'</a:t>
            </a:r>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FashionAPIService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'../services/fashion-apiservice'</a:t>
            </a:r>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a:solidFill>
                  <a:srgbClr val="000000"/>
                </a:solidFill>
                <a:effectLst/>
                <a:latin typeface="Consolas" panose="020B0609020204030204" pitchFamily="49" charset="0"/>
              </a:rPr>
              <a:t>@Component({</a:t>
            </a:r>
          </a:p>
          <a:p>
            <a:r>
              <a:rPr lang="en-US" b="0">
                <a:solidFill>
                  <a:srgbClr val="000000"/>
                </a:solidFill>
                <a:effectLst/>
                <a:latin typeface="Consolas" panose="020B0609020204030204" pitchFamily="49" charset="0"/>
              </a:rPr>
              <a:t>  selector: </a:t>
            </a:r>
            <a:r>
              <a:rPr lang="en-US" b="0">
                <a:solidFill>
                  <a:srgbClr val="A31515"/>
                </a:solidFill>
                <a:effectLst/>
                <a:latin typeface="Consolas" panose="020B0609020204030204" pitchFamily="49" charset="0"/>
              </a:rPr>
              <a:t>'app-fashion-update-component'</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standalone: </a:t>
            </a:r>
            <a:r>
              <a:rPr lang="en-US" b="0">
                <a:solidFill>
                  <a:srgbClr val="0000FF"/>
                </a:solidFill>
                <a:effectLst/>
                <a:latin typeface="Consolas" panose="020B0609020204030204" pitchFamily="49" charset="0"/>
              </a:rPr>
              <a:t>false</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templateUrl: </a:t>
            </a:r>
            <a:r>
              <a:rPr lang="en-US" b="0">
                <a:solidFill>
                  <a:srgbClr val="A31515"/>
                </a:solidFill>
                <a:effectLst/>
                <a:latin typeface="Consolas" panose="020B0609020204030204" pitchFamily="49" charset="0"/>
              </a:rPr>
              <a:t>'./fashion-update-component.html'</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styleUrl: </a:t>
            </a:r>
            <a:r>
              <a:rPr lang="en-US" b="0">
                <a:solidFill>
                  <a:srgbClr val="A31515"/>
                </a:solidFill>
                <a:effectLst/>
                <a:latin typeface="Consolas" panose="020B0609020204030204" pitchFamily="49" charset="0"/>
              </a:rPr>
              <a:t>'./fashion-update-component.css'</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export</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class</a:t>
            </a:r>
            <a:r>
              <a:rPr lang="en-US" b="0">
                <a:solidFill>
                  <a:srgbClr val="000000"/>
                </a:solidFill>
                <a:effectLst/>
                <a:latin typeface="Consolas" panose="020B0609020204030204" pitchFamily="49" charset="0"/>
              </a:rPr>
              <a:t> FashionUpdateComponent {</a:t>
            </a:r>
          </a:p>
          <a:p>
            <a:r>
              <a:rPr lang="en-US" b="0">
                <a:solidFill>
                  <a:srgbClr val="000000"/>
                </a:solidFill>
                <a:effectLst/>
                <a:latin typeface="Consolas" panose="020B0609020204030204" pitchFamily="49" charset="0"/>
              </a:rPr>
              <a:t>  fashion=</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Fashion();</a:t>
            </a:r>
          </a:p>
          <a:p>
            <a:r>
              <a:rPr lang="en-US" b="0">
                <a:solidFill>
                  <a:srgbClr val="000000"/>
                </a:solidFill>
                <a:effectLst/>
                <a:latin typeface="Consolas" panose="020B0609020204030204" pitchFamily="49" charset="0"/>
              </a:rPr>
              <a:t>  errMessage:string=</a:t>
            </a:r>
            <a:r>
              <a:rPr lang="en-US" b="0">
                <a:solidFill>
                  <a:srgbClr val="A31515"/>
                </a:solidFill>
                <a:effectLst/>
                <a:latin typeface="Consolas" panose="020B0609020204030204" pitchFamily="49" charset="0"/>
              </a:rPr>
              <a: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constructor</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private</a:t>
            </a:r>
            <a:r>
              <a:rPr lang="en-US" b="0">
                <a:solidFill>
                  <a:srgbClr val="000000"/>
                </a:solidFill>
                <a:effectLst/>
                <a:latin typeface="Consolas" panose="020B0609020204030204" pitchFamily="49" charset="0"/>
              </a:rPr>
              <a:t> _service: FashionAPIService){</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onFileSelected(event:any,fashion:Fashion) {</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let</a:t>
            </a:r>
            <a:r>
              <a:rPr lang="en-US" b="0">
                <a:solidFill>
                  <a:srgbClr val="000000"/>
                </a:solidFill>
                <a:effectLst/>
                <a:latin typeface="Consolas" panose="020B0609020204030204" pitchFamily="49" charset="0"/>
              </a:rPr>
              <a:t> file = event.target.files[</a:t>
            </a:r>
            <a:r>
              <a:rPr lang="en-US" b="0">
                <a:solidFill>
                  <a:srgbClr val="098658"/>
                </a:solidFill>
                <a:effectLst/>
                <a:latin typeface="Consolas" panose="020B0609020204030204" pitchFamily="49" charset="0"/>
              </a:rPr>
              <a:t>0</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let</a:t>
            </a:r>
            <a:r>
              <a:rPr lang="en-US" b="0">
                <a:solidFill>
                  <a:srgbClr val="000000"/>
                </a:solidFill>
                <a:effectLst/>
                <a:latin typeface="Consolas" panose="020B0609020204030204" pitchFamily="49" charset="0"/>
              </a:rPr>
              <a:t> reader = </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FileReader();</a:t>
            </a:r>
          </a:p>
          <a:p>
            <a:r>
              <a:rPr lang="en-US" b="0">
                <a:solidFill>
                  <a:srgbClr val="000000"/>
                </a:solidFill>
                <a:effectLst/>
                <a:latin typeface="Consolas" panose="020B0609020204030204" pitchFamily="49" charset="0"/>
              </a:rPr>
              <a:t>    reader.readAsDataURL(file);</a:t>
            </a:r>
          </a:p>
          <a:p>
            <a:r>
              <a:rPr lang="en-US" b="0">
                <a:solidFill>
                  <a:srgbClr val="000000"/>
                </a:solidFill>
                <a:effectLst/>
                <a:latin typeface="Consolas" panose="020B0609020204030204" pitchFamily="49" charset="0"/>
              </a:rPr>
              <a:t>    reader.onload = </a:t>
            </a:r>
            <a:r>
              <a:rPr lang="en-US" b="0">
                <a:solidFill>
                  <a:srgbClr val="0000FF"/>
                </a:solidFill>
                <a:effectLst/>
                <a:latin typeface="Consolas" panose="020B0609020204030204" pitchFamily="49" charset="0"/>
              </a:rPr>
              <a:t>function</a:t>
            </a:r>
            <a:r>
              <a:rPr lang="en-US" b="0">
                <a:solidFill>
                  <a:srgbClr val="000000"/>
                </a:solidFill>
                <a:effectLst/>
                <a:latin typeface="Consolas" panose="020B0609020204030204" pitchFamily="49" charset="0"/>
              </a:rPr>
              <a:t> () {</a:t>
            </a:r>
          </a:p>
          <a:p>
            <a:r>
              <a:rPr lang="en-US" b="0">
                <a:solidFill>
                  <a:srgbClr val="000000"/>
                </a:solidFill>
                <a:effectLst/>
                <a:latin typeface="Consolas" panose="020B0609020204030204" pitchFamily="49" charset="0"/>
              </a:rPr>
              <a:t>      fashion.fashion_image=reader.result!.toString()</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reader.onerror = </a:t>
            </a:r>
            <a:r>
              <a:rPr lang="en-US" b="0">
                <a:solidFill>
                  <a:srgbClr val="0000FF"/>
                </a:solidFill>
                <a:effectLst/>
                <a:latin typeface="Consolas" panose="020B0609020204030204" pitchFamily="49" charset="0"/>
              </a:rPr>
              <a:t>function</a:t>
            </a:r>
            <a:r>
              <a:rPr lang="en-US" b="0">
                <a:solidFill>
                  <a:srgbClr val="000000"/>
                </a:solidFill>
                <a:effectLst/>
                <a:latin typeface="Consolas" panose="020B0609020204030204" pitchFamily="49" charset="0"/>
              </a:rPr>
              <a:t> (error) {</a:t>
            </a:r>
          </a:p>
          <a:p>
            <a:r>
              <a:rPr lang="en-US" b="0">
                <a:solidFill>
                  <a:srgbClr val="000000"/>
                </a:solidFill>
                <a:effectLst/>
                <a:latin typeface="Consolas" panose="020B0609020204030204" pitchFamily="49" charset="0"/>
              </a:rPr>
              <a:t>      console.log(</a:t>
            </a:r>
            <a:r>
              <a:rPr lang="en-US" b="0">
                <a:solidFill>
                  <a:srgbClr val="A31515"/>
                </a:solidFill>
                <a:effectLst/>
                <a:latin typeface="Consolas" panose="020B0609020204030204" pitchFamily="49" charset="0"/>
              </a:rPr>
              <a:t>'Error: '</a:t>
            </a:r>
            <a:r>
              <a:rPr lang="en-US" b="0">
                <a:solidFill>
                  <a:srgbClr val="000000"/>
                </a:solidFill>
                <a:effectLst/>
                <a:latin typeface="Consolas" panose="020B0609020204030204" pitchFamily="49" charset="0"/>
              </a:rPr>
              <a:t>, error);</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putFashion()</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._service.putFashion(</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.fashion).subscribe({</a:t>
            </a:r>
          </a:p>
          <a:p>
            <a:r>
              <a:rPr lang="en-US" b="0">
                <a:solidFill>
                  <a:srgbClr val="000000"/>
                </a:solidFill>
                <a:effectLst/>
                <a:latin typeface="Consolas" panose="020B0609020204030204" pitchFamily="49" charset="0"/>
              </a:rPr>
              <a:t>      next:(data)</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.fashion=data},</a:t>
            </a:r>
          </a:p>
          <a:p>
            <a:r>
              <a:rPr lang="en-US" b="0">
                <a:solidFill>
                  <a:srgbClr val="000000"/>
                </a:solidFill>
                <a:effectLst/>
                <a:latin typeface="Consolas" panose="020B0609020204030204" pitchFamily="49" charset="0"/>
              </a:rPr>
              <a:t>      error:(err)</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.errMessage=err}</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6EDFA0E-A221-C4FF-6875-CD2EF166F9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193636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0CD7C54-F496-CA08-E096-9A471282D2E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2D11600-4FFC-2587-E8E8-E28A39F138E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1DC7DD1-7537-B513-8E9F-44B23FC10A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635734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BB4079F-8A2F-7882-D311-E3C4333FD3C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009C0F9-B9BB-CA8E-897C-1DA7A3A834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2D13BA8-42A0-0312-3084-A7D3B47AA7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89155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ECC88B0-34C2-52E2-0623-9280F269DCC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D42E0CB-61E0-B02F-E880-8C19C127F05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ECCE0D2-F024-F44D-7572-C44AFA38CB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580994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F2E062F-5DBF-C44F-C8F4-889A0A5F63F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A4B950F-5421-82D6-8C32-8F6186E6EEE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A746617-C6AF-CE3A-D90C-38865F5432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535358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9C87815-CF40-F182-91FE-AD970900F8E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0BF73B5-80A7-8DF3-A50B-E2BFD760D5E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83B2529-A537-8365-0805-291AB17257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819852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6198EEA-B4BD-DA4E-2CC3-6F663E78B16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4541105-EB58-5860-988A-6324C17F41E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BC972FE-DB85-AB2A-5286-CFE9E6BAE3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816194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DACEB57-ABFD-2F0B-A4CF-76D732CE0A8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FC393E0-B701-D574-81A8-58E05120F99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b="0">
                <a:solidFill>
                  <a:srgbClr val="000000"/>
                </a:solidFill>
                <a:effectLst/>
                <a:latin typeface="Consolas" panose="020B0609020204030204" pitchFamily="49" charset="0"/>
              </a:rPr>
              <a:t>app.delete(</a:t>
            </a:r>
            <a:r>
              <a:rPr lang="en-US" b="0">
                <a:solidFill>
                  <a:srgbClr val="A31515"/>
                </a:solidFill>
                <a:effectLst/>
                <a:latin typeface="Consolas" panose="020B0609020204030204" pitchFamily="49" charset="0"/>
              </a:rPr>
              <a:t>"/fashions/:id"</a:t>
            </a:r>
            <a:r>
              <a:rPr lang="en-US" b="0">
                <a:solidFill>
                  <a:srgbClr val="000000"/>
                </a:solidFill>
                <a:effectLst/>
                <a:latin typeface="Consolas" panose="020B0609020204030204" pitchFamily="49" charset="0"/>
              </a:rPr>
              <a:t>,cors(),</a:t>
            </a:r>
            <a:r>
              <a:rPr lang="en-US" b="0">
                <a:solidFill>
                  <a:srgbClr val="0000FF"/>
                </a:solidFill>
                <a:effectLst/>
                <a:latin typeface="Consolas" panose="020B0609020204030204" pitchFamily="49" charset="0"/>
              </a:rPr>
              <a:t>async</a:t>
            </a:r>
            <a:r>
              <a:rPr lang="en-US" b="0">
                <a:solidFill>
                  <a:srgbClr val="000000"/>
                </a:solidFill>
                <a:effectLst/>
                <a:latin typeface="Consolas" panose="020B0609020204030204" pitchFamily="49" charset="0"/>
              </a:rPr>
              <a:t>(req,res)</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008000"/>
                </a:solidFill>
                <a:effectLst/>
                <a:latin typeface="Consolas" panose="020B0609020204030204" pitchFamily="49" charset="0"/>
              </a:rPr>
              <a:t>//find detail Fashion with id</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var</a:t>
            </a:r>
            <a:r>
              <a:rPr lang="en-US" b="0">
                <a:solidFill>
                  <a:srgbClr val="000000"/>
                </a:solidFill>
                <a:effectLst/>
                <a:latin typeface="Consolas" panose="020B0609020204030204" pitchFamily="49" charset="0"/>
              </a:rPr>
              <a:t> o_id = </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ObjectId(req.params[</a:t>
            </a:r>
            <a:r>
              <a:rPr lang="en-US" b="0">
                <a:solidFill>
                  <a:srgbClr val="A31515"/>
                </a:solidFill>
                <a:effectLst/>
                <a:latin typeface="Consolas" panose="020B0609020204030204" pitchFamily="49" charset="0"/>
              </a:rPr>
              <a:t>"id"</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result = </a:t>
            </a:r>
            <a:r>
              <a:rPr lang="en-US" b="0">
                <a:solidFill>
                  <a:srgbClr val="0000FF"/>
                </a:solidFill>
                <a:effectLst/>
                <a:latin typeface="Consolas" panose="020B0609020204030204" pitchFamily="49" charset="0"/>
              </a:rPr>
              <a:t>await</a:t>
            </a:r>
            <a:r>
              <a:rPr lang="en-US" b="0">
                <a:solidFill>
                  <a:srgbClr val="000000"/>
                </a:solidFill>
                <a:effectLst/>
                <a:latin typeface="Consolas" panose="020B0609020204030204" pitchFamily="49" charset="0"/>
              </a:rPr>
              <a:t> fashionCollection.find({_id:o_id}).toArray(); </a:t>
            </a:r>
          </a:p>
          <a:p>
            <a:r>
              <a:rPr lang="en-US" b="0">
                <a:solidFill>
                  <a:srgbClr val="000000"/>
                </a:solidFill>
                <a:effectLst/>
                <a:latin typeface="Consolas" panose="020B0609020204030204" pitchFamily="49" charset="0"/>
              </a:rPr>
              <a:t>    </a:t>
            </a:r>
            <a:r>
              <a:rPr lang="en-US" b="0">
                <a:solidFill>
                  <a:srgbClr val="008000"/>
                </a:solidFill>
                <a:effectLst/>
                <a:latin typeface="Consolas" panose="020B0609020204030204" pitchFamily="49" charset="0"/>
              </a:rPr>
              <a:t>//update json Fashion into database</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await</a:t>
            </a:r>
            <a:r>
              <a:rPr lang="en-US" b="0">
                <a:solidFill>
                  <a:srgbClr val="000000"/>
                </a:solidFill>
                <a:effectLst/>
                <a:latin typeface="Consolas" panose="020B0609020204030204" pitchFamily="49" charset="0"/>
              </a:rPr>
              <a:t> fashionCollection.deleteOne(</a:t>
            </a:r>
          </a:p>
          <a:p>
            <a:r>
              <a:rPr lang="en-US" b="0">
                <a:solidFill>
                  <a:srgbClr val="000000"/>
                </a:solidFill>
                <a:effectLst/>
                <a:latin typeface="Consolas" panose="020B0609020204030204" pitchFamily="49" charset="0"/>
              </a:rPr>
              <a:t>        {_id:o_id}</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008000"/>
                </a:solidFill>
                <a:effectLst/>
                <a:latin typeface="Consolas" panose="020B0609020204030204" pitchFamily="49" charset="0"/>
              </a:rPr>
              <a:t>//send Fashion after remove</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res.send(result[</a:t>
            </a:r>
            <a:r>
              <a:rPr lang="en-US" b="0">
                <a:solidFill>
                  <a:srgbClr val="098658"/>
                </a:solidFill>
                <a:effectLst/>
                <a:latin typeface="Consolas" panose="020B0609020204030204" pitchFamily="49" charset="0"/>
              </a:rPr>
              <a:t>0</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2F23B88-3BE2-DCDD-8592-76CF947898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925581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DBF41E0-586D-7AC8-A2E6-DEE451C3E77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92050B3-E1A8-CD51-2B57-FECF8A8BF1B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E360E31-DE40-C392-835E-FAF30BC197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978746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CB1D9A6-DDD9-7FC5-8B7E-BEF5398FB80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3D713AA-B53B-2E93-C60C-B97CCA7C0A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b="0">
                <a:solidFill>
                  <a:srgbClr val="000000"/>
                </a:solidFill>
                <a:effectLst/>
                <a:latin typeface="Consolas" panose="020B0609020204030204" pitchFamily="49" charset="0"/>
              </a:rPr>
              <a:t>    deleteFashion(fashionId:string):Observable&lt;any&gt;</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return</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._http.delete&lt;any&gt;(</a:t>
            </a:r>
            <a:r>
              <a:rPr lang="en-US" b="0">
                <a:solidFill>
                  <a:srgbClr val="A31515"/>
                </a:solidFill>
                <a:effectLst/>
                <a:latin typeface="Consolas" panose="020B0609020204030204" pitchFamily="49" charset="0"/>
              </a:rPr>
              <a:t>"/fashions/"</a:t>
            </a:r>
            <a:r>
              <a:rPr lang="en-US" b="0">
                <a:solidFill>
                  <a:srgbClr val="000000"/>
                </a:solidFill>
                <a:effectLst/>
                <a:latin typeface="Consolas" panose="020B0609020204030204" pitchFamily="49" charset="0"/>
              </a:rPr>
              <a:t>+fashionId,</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.requestOptions).pipe(</a:t>
            </a:r>
          </a:p>
          <a:p>
            <a:r>
              <a:rPr lang="en-US" b="0">
                <a:solidFill>
                  <a:srgbClr val="000000"/>
                </a:solidFill>
                <a:effectLst/>
                <a:latin typeface="Consolas" panose="020B0609020204030204" pitchFamily="49" charset="0"/>
              </a:rPr>
              <a:t>          map(res</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JSON.parse(res) </a:t>
            </a:r>
            <a:r>
              <a:rPr lang="en-US" b="0">
                <a:solidFill>
                  <a:srgbClr val="0000FF"/>
                </a:solidFill>
                <a:effectLst/>
                <a:latin typeface="Consolas" panose="020B0609020204030204" pitchFamily="49" charset="0"/>
              </a:rPr>
              <a:t>as</a:t>
            </a:r>
            <a:r>
              <a:rPr lang="en-US" b="0">
                <a:solidFill>
                  <a:srgbClr val="000000"/>
                </a:solidFill>
                <a:effectLst/>
                <a:latin typeface="Consolas" panose="020B0609020204030204" pitchFamily="49" charset="0"/>
              </a:rPr>
              <a:t> Fashion),</a:t>
            </a:r>
          </a:p>
          <a:p>
            <a:r>
              <a:rPr lang="en-US" b="0">
                <a:solidFill>
                  <a:srgbClr val="000000"/>
                </a:solidFill>
                <a:effectLst/>
                <a:latin typeface="Consolas" panose="020B0609020204030204" pitchFamily="49" charset="0"/>
              </a:rPr>
              <a:t>          retry(</a:t>
            </a:r>
            <a:r>
              <a:rPr lang="en-US" b="0">
                <a:solidFill>
                  <a:srgbClr val="098658"/>
                </a:solidFill>
                <a:effectLst/>
                <a:latin typeface="Consolas" panose="020B0609020204030204" pitchFamily="49" charset="0"/>
              </a:rPr>
              <a:t>3</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catchError(</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.handleError))</a:t>
            </a:r>
          </a:p>
          <a:p>
            <a:r>
              <a:rPr lang="en-US" b="0">
                <a:solidFill>
                  <a:srgbClr val="000000"/>
                </a:solidFill>
                <a:effectLst/>
                <a:latin typeface="Consolas" panose="020B0609020204030204" pitchFamily="49" charset="0"/>
              </a:rPr>
              <a:t>    }</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55877D9-0689-D72A-06A2-5D94FFF8EE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924692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B72F84C-3A36-B65D-A822-58FA2229087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5165455-88B2-AF6E-6258-AEF1938FBAA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42D2002-9C7C-9F79-B7CB-1FF1C9E111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996735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DE678B4-0EA7-B0B1-189A-577698A7BDD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A959D36-E000-EA46-82D7-4B2FE723CF8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B4C3A75-5A51-0E55-EF66-7C907EA01E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797490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1C829C7-75D1-8142-FDC4-34512ABE59D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35CB42E-C7B6-F2F3-89FA-2C91650D94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E6C5FB6-B5A5-D15B-890D-F8EB8F9C85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136742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4788726-7CBB-F433-8D15-280B248F6E3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87541D9-1F0F-0838-C054-8DB916084E6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Component, signal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'@angular/core'</a:t>
            </a:r>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Fashion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'../classes/Fashion'</a:t>
            </a:r>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import</a:t>
            </a:r>
            <a:r>
              <a:rPr lang="en-US" b="0">
                <a:solidFill>
                  <a:srgbClr val="000000"/>
                </a:solidFill>
                <a:effectLst/>
                <a:latin typeface="Consolas" panose="020B0609020204030204" pitchFamily="49" charset="0"/>
              </a:rPr>
              <a:t> { FashionAPIService } </a:t>
            </a:r>
            <a:r>
              <a:rPr lang="en-US" b="0">
                <a:solidFill>
                  <a:srgbClr val="0000FF"/>
                </a:solidFill>
                <a:effectLst/>
                <a:latin typeface="Consolas" panose="020B0609020204030204" pitchFamily="49" charset="0"/>
              </a:rPr>
              <a:t>from</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'../services/fashion-apiservice'</a:t>
            </a:r>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a:solidFill>
                  <a:srgbClr val="000000"/>
                </a:solidFill>
                <a:effectLst/>
                <a:latin typeface="Consolas" panose="020B0609020204030204" pitchFamily="49" charset="0"/>
              </a:rPr>
              <a:t>@Component({</a:t>
            </a:r>
          </a:p>
          <a:p>
            <a:r>
              <a:rPr lang="en-US" b="0">
                <a:solidFill>
                  <a:srgbClr val="000000"/>
                </a:solidFill>
                <a:effectLst/>
                <a:latin typeface="Consolas" panose="020B0609020204030204" pitchFamily="49" charset="0"/>
              </a:rPr>
              <a:t>  selector: </a:t>
            </a:r>
            <a:r>
              <a:rPr lang="en-US" b="0">
                <a:solidFill>
                  <a:srgbClr val="A31515"/>
                </a:solidFill>
                <a:effectLst/>
                <a:latin typeface="Consolas" panose="020B0609020204030204" pitchFamily="49" charset="0"/>
              </a:rPr>
              <a:t>'app-fashion-delete-component'</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standalone: </a:t>
            </a:r>
            <a:r>
              <a:rPr lang="en-US" b="0">
                <a:solidFill>
                  <a:srgbClr val="0000FF"/>
                </a:solidFill>
                <a:effectLst/>
                <a:latin typeface="Consolas" panose="020B0609020204030204" pitchFamily="49" charset="0"/>
              </a:rPr>
              <a:t>false</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templateUrl: </a:t>
            </a:r>
            <a:r>
              <a:rPr lang="en-US" b="0">
                <a:solidFill>
                  <a:srgbClr val="A31515"/>
                </a:solidFill>
                <a:effectLst/>
                <a:latin typeface="Consolas" panose="020B0609020204030204" pitchFamily="49" charset="0"/>
              </a:rPr>
              <a:t>'./fashion-delete-component.html'</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styleUrl: </a:t>
            </a:r>
            <a:r>
              <a:rPr lang="en-US" b="0">
                <a:solidFill>
                  <a:srgbClr val="A31515"/>
                </a:solidFill>
                <a:effectLst/>
                <a:latin typeface="Consolas" panose="020B0609020204030204" pitchFamily="49" charset="0"/>
              </a:rPr>
              <a:t>'./fashion-delete-component.css'</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t>
            </a:r>
          </a:p>
          <a:p>
            <a:r>
              <a:rPr lang="en-US" b="0">
                <a:solidFill>
                  <a:srgbClr val="0000FF"/>
                </a:solidFill>
                <a:effectLst/>
                <a:latin typeface="Consolas" panose="020B0609020204030204" pitchFamily="49" charset="0"/>
              </a:rPr>
              <a:t>export</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class</a:t>
            </a:r>
            <a:r>
              <a:rPr lang="en-US" b="0">
                <a:solidFill>
                  <a:srgbClr val="000000"/>
                </a:solidFill>
                <a:effectLst/>
                <a:latin typeface="Consolas" panose="020B0609020204030204" pitchFamily="49" charset="0"/>
              </a:rPr>
              <a:t> FashionDeleteComponent {</a:t>
            </a:r>
          </a:p>
          <a:p>
            <a:r>
              <a:rPr lang="en-US" b="0">
                <a:solidFill>
                  <a:srgbClr val="000000"/>
                </a:solidFill>
                <a:effectLst/>
                <a:latin typeface="Consolas" panose="020B0609020204030204" pitchFamily="49" charset="0"/>
              </a:rPr>
              <a:t>  fashions=signal&lt;Fashion[]&gt;([]);</a:t>
            </a:r>
          </a:p>
          <a:p>
            <a:r>
              <a:rPr lang="en-US" b="0">
                <a:solidFill>
                  <a:srgbClr val="000000"/>
                </a:solidFill>
                <a:effectLst/>
                <a:latin typeface="Consolas" panose="020B0609020204030204" pitchFamily="49" charset="0"/>
              </a:rPr>
              <a:t>  errMessage=signal(</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constructor</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_service: FashionAPIService){</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._service.getFashions().subscribe({</a:t>
            </a:r>
          </a:p>
          <a:p>
            <a:r>
              <a:rPr lang="en-US" b="0">
                <a:solidFill>
                  <a:srgbClr val="000000"/>
                </a:solidFill>
                <a:effectLst/>
                <a:latin typeface="Consolas" panose="020B0609020204030204" pitchFamily="49" charset="0"/>
              </a:rPr>
              <a:t>      next:(data)</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.fashions.set(data)},</a:t>
            </a:r>
          </a:p>
          <a:p>
            <a:r>
              <a:rPr lang="en-US" b="0">
                <a:solidFill>
                  <a:srgbClr val="000000"/>
                </a:solidFill>
                <a:effectLst/>
                <a:latin typeface="Consolas" panose="020B0609020204030204" pitchFamily="49" charset="0"/>
              </a:rPr>
              <a:t>      error:(err)</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.errMessage.set(err)}</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deleteFashion(id:string) {</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isConfirm = window.confirm(</a:t>
            </a:r>
            <a:r>
              <a:rPr lang="en-US" b="0">
                <a:solidFill>
                  <a:srgbClr val="A31515"/>
                </a:solidFill>
                <a:effectLst/>
                <a:latin typeface="Consolas" panose="020B0609020204030204" pitchFamily="49" charset="0"/>
              </a:rPr>
              <a:t>"Are you sure you want to delete this Fashion?"</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if</a:t>
            </a:r>
            <a:r>
              <a:rPr lang="en-US" b="0">
                <a:solidFill>
                  <a:srgbClr val="000000"/>
                </a:solidFill>
                <a:effectLst/>
                <a:latin typeface="Consolas" panose="020B0609020204030204" pitchFamily="49" charset="0"/>
              </a:rPr>
              <a:t> (isConfirm) {</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._service.deleteFashion(id).subscribe({</a:t>
            </a:r>
          </a:p>
          <a:p>
            <a:r>
              <a:rPr lang="en-US" b="0">
                <a:solidFill>
                  <a:srgbClr val="000000"/>
                </a:solidFill>
                <a:effectLst/>
                <a:latin typeface="Consolas" panose="020B0609020204030204" pitchFamily="49" charset="0"/>
              </a:rPr>
              <a:t>        next: (data) </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.fashions.update(currentList </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currentList.filter(f </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 f._id !== id)</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error: (err) </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008000"/>
                </a:solidFill>
                <a:effectLst/>
                <a:latin typeface="Consolas" panose="020B0609020204030204" pitchFamily="49" charset="0"/>
              </a:rPr>
              <a:t>// Display error message if deletion fails</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.errMessage.set(err.message);</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8A70760-4717-CC21-ABD9-6F43F5D580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274393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2BC6854-9E8C-AA18-5647-2600D5D455B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87666C9-45E1-FDC9-A14C-4780F14A56C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b="0">
                <a:solidFill>
                  <a:srgbClr val="000000"/>
                </a:solidFill>
                <a:effectLst/>
                <a:latin typeface="Consolas" panose="020B0609020204030204" pitchFamily="49" charset="0"/>
              </a:rPr>
              <a:t>{{errMessage()}}</a:t>
            </a:r>
          </a:p>
          <a:p>
            <a:r>
              <a:rPr lang="en-US" b="0">
                <a:solidFill>
                  <a:srgbClr val="800000"/>
                </a:solidFill>
                <a:effectLst/>
                <a:latin typeface="Consolas" panose="020B0609020204030204" pitchFamily="49" charset="0"/>
              </a:rPr>
              <a:t>&lt;table</a:t>
            </a:r>
            <a:r>
              <a:rPr lang="en-US" b="0">
                <a:solidFill>
                  <a:srgbClr val="000000"/>
                </a:solidFill>
                <a:effectLst/>
                <a:latin typeface="Consolas" panose="020B0609020204030204" pitchFamily="49" charset="0"/>
              </a:rPr>
              <a:t> </a:t>
            </a:r>
            <a:r>
              <a:rPr lang="en-US" b="0">
                <a:solidFill>
                  <a:srgbClr val="CD3131"/>
                </a:solidFill>
                <a:effectLst/>
                <a:latin typeface="Consolas" panose="020B0609020204030204" pitchFamily="49" charset="0"/>
              </a:rPr>
              <a:t>border</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"1"</a:t>
            </a:r>
            <a:r>
              <a:rPr lang="en-US" b="0">
                <a:solidFill>
                  <a:srgbClr val="800000"/>
                </a:solidFill>
                <a:effectLst/>
                <a:latin typeface="Consolas" panose="020B0609020204030204" pitchFamily="49" charset="0"/>
              </a:rPr>
              <a:t>&gt;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Id</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Fashion Subject</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Fashion Detail</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Image</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Actions</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&lt;tbody&gt;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@for (fashion of fashions();track fashion._id)</a:t>
            </a: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{{fashion._id}}</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{{fashion.fashion_subject}}</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{{fashion.fashion_detail}}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&lt;img</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src</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"{{fashion.fashion_image}}"</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width</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"100px"</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height</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"100px"</a:t>
            </a:r>
            <a:r>
              <a:rPr lang="en-US" b="0">
                <a:solidFill>
                  <a:srgbClr val="800000"/>
                </a:solidFill>
                <a:effectLst/>
                <a:latin typeface="Consolas" panose="020B0609020204030204" pitchFamily="49" charset="0"/>
              </a:rPr>
              <a:t>&gt;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&lt;button</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(click)</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"deleteFashion(fashion._id)"</a:t>
            </a:r>
            <a:r>
              <a:rPr lang="en-US" b="0">
                <a:solidFill>
                  <a:srgbClr val="800000"/>
                </a:solidFill>
                <a:effectLst/>
                <a:latin typeface="Consolas" panose="020B0609020204030204" pitchFamily="49" charset="0"/>
              </a:rPr>
              <a:t>&gt;</a:t>
            </a:r>
            <a:r>
              <a:rPr lang="en-US" b="0">
                <a:solidFill>
                  <a:srgbClr val="000000"/>
                </a:solidFill>
                <a:effectLst/>
                <a:latin typeface="Consolas" panose="020B0609020204030204" pitchFamily="49" charset="0"/>
              </a:rPr>
              <a:t>Delete</a:t>
            </a:r>
            <a:r>
              <a:rPr lang="en-US" b="0">
                <a:solidFill>
                  <a:srgbClr val="800000"/>
                </a:solidFill>
                <a:effectLst/>
                <a:latin typeface="Consolas" panose="020B0609020204030204" pitchFamily="49" charset="0"/>
              </a:rPr>
              <a:t>&lt;/button&gt;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r>
              <a:rPr lang="en-US" b="0">
                <a:solidFill>
                  <a:srgbClr val="000000"/>
                </a:solidFill>
                <a:effectLst/>
                <a:latin typeface="Consolas" panose="020B0609020204030204" pitchFamily="49" charset="0"/>
              </a:rPr>
              <a:t>      }</a:t>
            </a:r>
          </a:p>
          <a:p>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&lt;/tbody&gt;</a:t>
            </a:r>
            <a:endParaRPr lang="en-US" b="0">
              <a:solidFill>
                <a:srgbClr val="000000"/>
              </a:solidFill>
              <a:effectLst/>
              <a:latin typeface="Consolas" panose="020B0609020204030204" pitchFamily="49" charset="0"/>
            </a:endParaRPr>
          </a:p>
          <a:p>
            <a:r>
              <a:rPr lang="en-US" b="0">
                <a:solidFill>
                  <a:srgbClr val="800000"/>
                </a:solidFill>
                <a:effectLst/>
                <a:latin typeface="Consolas" panose="020B0609020204030204" pitchFamily="49" charset="0"/>
              </a:rPr>
              <a:t>&lt;/table&gt;</a:t>
            </a:r>
            <a:endParaRPr lang="en-US" b="0">
              <a:solidFill>
                <a:srgbClr val="000000"/>
              </a:solidFill>
              <a:effectLst/>
              <a:latin typeface="Consolas" panose="020B0609020204030204" pitchFamily="49" charset="0"/>
            </a:endParaRPr>
          </a:p>
          <a:p>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191A56D-93F4-D197-0AEA-B44D0C85A3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506773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AEA3731-BFD9-B410-0F96-B076140CD41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73628CC-FD79-F864-A656-FEAA2DF56C1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2363E64-E6F6-0E66-8915-B4400DD387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187028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C88F5DA-2FA0-32AE-1C90-86E2900AEE9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2336E40-F7B2-63B8-EFF8-E3F9DBBCF2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10B80B0-BB13-EA5D-192C-C2479DF9A3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855194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2C39D17-B9EE-05BD-8C91-A39D28B3D21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25F8AD9-B340-024A-5FA7-18FC0EBD20A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074F12B-792F-4CC8-14C6-CD8FBE7E93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355468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7" name="Google Shape;17;p10"/>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10"/>
          <p:cNvSpPr txBox="1"/>
          <p:nvPr/>
        </p:nvSpPr>
        <p:spPr>
          <a:xfrm>
            <a:off x="1795462" y="1047420"/>
            <a:ext cx="9144000" cy="778583"/>
          </a:xfrm>
          <a:prstGeom prst="rect">
            <a:avLst/>
          </a:prstGeom>
          <a:noFill/>
          <a:ln>
            <a:noFill/>
          </a:ln>
        </p:spPr>
        <p:txBody>
          <a:bodyPr spcFirstLastPara="1" wrap="square" lIns="91425" tIns="45700" rIns="91425" bIns="45700" anchor="b"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200" b="1" i="0" u="none" strike="noStrike" cap="none">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200" b="1" i="0" u="none" strike="noStrike" cap="none">
                <a:solidFill>
                  <a:srgbClr val="144E8C"/>
                </a:solidFill>
                <a:latin typeface="Cambria" panose="02040503050406030204" pitchFamily="18" charset="0"/>
                <a:ea typeface="Cambria" panose="02040503050406030204" pitchFamily="18" charset="0"/>
                <a:cs typeface="Lato Black"/>
                <a:sym typeface="Lato Black"/>
              </a:rPr>
            </a:br>
            <a:r>
              <a:rPr lang="en-US" sz="2200" b="1" i="0" u="none" strike="noStrike" cap="none">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sz="2200">
              <a:latin typeface="Cambria" panose="02040503050406030204" pitchFamily="18" charset="0"/>
              <a:ea typeface="Cambria" panose="02040503050406030204" pitchFamily="18" charset="0"/>
            </a:endParaRPr>
          </a:p>
        </p:txBody>
      </p:sp>
      <p:pic>
        <p:nvPicPr>
          <p:cNvPr id="9" name="Picture 8" descr="A black background with orange and blue letters&#10;&#10;AI-generated content may be incorrect.">
            <a:extLst>
              <a:ext uri="{FF2B5EF4-FFF2-40B4-BE49-F238E27FC236}">
                <a16:creationId xmlns:a16="http://schemas.microsoft.com/office/drawing/2014/main" id="{50547913-6722-D6E7-E44D-4E515D7A8FF4}"/>
              </a:ext>
            </a:extLst>
          </p:cNvPr>
          <p:cNvPicPr>
            <a:picLocks noChangeAspect="1"/>
          </p:cNvPicPr>
          <p:nvPr userDrawn="1"/>
        </p:nvPicPr>
        <p:blipFill>
          <a:blip r:embed="rId3"/>
          <a:stretch>
            <a:fillRect/>
          </a:stretch>
        </p:blipFill>
        <p:spPr>
          <a:xfrm>
            <a:off x="4810125" y="157529"/>
            <a:ext cx="3114675" cy="837297"/>
          </a:xfrm>
          <a:prstGeom prst="rect">
            <a:avLst/>
          </a:prstGeom>
        </p:spPr>
      </p:pic>
      <p:pic>
        <p:nvPicPr>
          <p:cNvPr id="3" name="Picture 2" descr="A building with trees in the background&#10;&#10;AI-generated content may be incorrect.">
            <a:extLst>
              <a:ext uri="{FF2B5EF4-FFF2-40B4-BE49-F238E27FC236}">
                <a16:creationId xmlns:a16="http://schemas.microsoft.com/office/drawing/2014/main" id="{6DB4ADA3-8D58-FD0D-1C18-5213711602FE}"/>
              </a:ext>
            </a:extLst>
          </p:cNvPr>
          <p:cNvPicPr>
            <a:picLocks noChangeAspect="1"/>
          </p:cNvPicPr>
          <p:nvPr userDrawn="1"/>
        </p:nvPicPr>
        <p:blipFill>
          <a:blip r:embed="rId4"/>
          <a:stretch>
            <a:fillRect/>
          </a:stretch>
        </p:blipFill>
        <p:spPr>
          <a:xfrm>
            <a:off x="0" y="3378635"/>
            <a:ext cx="8673016" cy="34793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
          <p:cNvSpPr txBox="1"/>
          <p:nvPr/>
        </p:nvSpPr>
        <p:spPr>
          <a:xfrm>
            <a:off x="2805445" y="1276338"/>
            <a:ext cx="6410498" cy="68841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000" b="1" i="0" u="none" strike="noStrike" cap="none">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000" b="1" i="0" u="none" strike="noStrike" cap="none">
                <a:solidFill>
                  <a:srgbClr val="144E8C"/>
                </a:solidFill>
                <a:latin typeface="Cambria" panose="02040503050406030204" pitchFamily="18" charset="0"/>
                <a:ea typeface="Cambria" panose="02040503050406030204" pitchFamily="18" charset="0"/>
                <a:cs typeface="Lato Black"/>
                <a:sym typeface="Lato Black"/>
              </a:rPr>
            </a:br>
            <a:r>
              <a:rPr lang="en-US" sz="2000" b="1" i="0" u="none" strike="noStrike" cap="none">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a:latin typeface="Cambria" panose="02040503050406030204" pitchFamily="18" charset="0"/>
              <a:ea typeface="Cambria" panose="02040503050406030204" pitchFamily="18" charset="0"/>
            </a:endParaRPr>
          </a:p>
        </p:txBody>
      </p:sp>
      <p:pic>
        <p:nvPicPr>
          <p:cNvPr id="2" name="Picture 1" descr="A black background with orange and blue letters&#10;&#10;AI-generated content may be incorrect.">
            <a:extLst>
              <a:ext uri="{FF2B5EF4-FFF2-40B4-BE49-F238E27FC236}">
                <a16:creationId xmlns:a16="http://schemas.microsoft.com/office/drawing/2014/main" id="{ED53AD9A-C69E-70AE-0C10-4BD9BD469474}"/>
              </a:ext>
            </a:extLst>
          </p:cNvPr>
          <p:cNvPicPr>
            <a:picLocks noChangeAspect="1"/>
          </p:cNvPicPr>
          <p:nvPr userDrawn="1"/>
        </p:nvPicPr>
        <p:blipFill>
          <a:blip r:embed="rId3"/>
          <a:stretch>
            <a:fillRect/>
          </a:stretch>
        </p:blipFill>
        <p:spPr>
          <a:xfrm>
            <a:off x="4810125" y="282112"/>
            <a:ext cx="3114675" cy="837297"/>
          </a:xfrm>
          <a:prstGeom prst="rect">
            <a:avLst/>
          </a:prstGeom>
        </p:spPr>
      </p:pic>
      <p:pic>
        <p:nvPicPr>
          <p:cNvPr id="4" name="Picture 3" descr="A building with many windows&#10;&#10;AI-generated content may be incorrect.">
            <a:extLst>
              <a:ext uri="{FF2B5EF4-FFF2-40B4-BE49-F238E27FC236}">
                <a16:creationId xmlns:a16="http://schemas.microsoft.com/office/drawing/2014/main" id="{EC1E6BDF-4BEB-2008-DF3B-361BBA44A129}"/>
              </a:ext>
            </a:extLst>
          </p:cNvPr>
          <p:cNvPicPr>
            <a:picLocks noChangeAspect="1"/>
          </p:cNvPicPr>
          <p:nvPr userDrawn="1"/>
        </p:nvPicPr>
        <p:blipFill>
          <a:blip r:embed="rId4"/>
          <a:stretch>
            <a:fillRect/>
          </a:stretch>
        </p:blipFill>
        <p:spPr>
          <a:xfrm>
            <a:off x="175386" y="4743155"/>
            <a:ext cx="11841227" cy="211484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6" r:id="rId3"/>
    <p:sldLayoutId id="2147483657" r:id="rId4"/>
    <p:sldLayoutId id="2147483658"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tranduythanh.com/demo/mongodb-sharding-simulator.ht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hyperlink" Target="https://www.mongodb.com/try/download/community"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tranduythanh.com/datasets/Fashion.json"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5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7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7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8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8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8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8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9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96.xml"/><Relationship Id="rId1" Type="http://schemas.openxmlformats.org/officeDocument/2006/relationships/slideLayout" Target="../slideLayouts/slideLayout2.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_rels/slide9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003449" y="2025748"/>
            <a:ext cx="8763000" cy="1512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lnSpc>
                <a:spcPct val="150000"/>
              </a:lnSpc>
              <a:defRPr/>
            </a:pPr>
            <a:r>
              <a:rPr lang="en-US" sz="2800" b="0" kern="0" err="1">
                <a:solidFill>
                  <a:srgbClr val="002060"/>
                </a:solidFill>
                <a:latin typeface="Times New Roman" panose="02020603050405020304" pitchFamily="18" charset="0"/>
                <a:cs typeface="Times New Roman" panose="02020603050405020304" pitchFamily="18" charset="0"/>
              </a:rPr>
              <a:t>Chương</a:t>
            </a:r>
            <a:r>
              <a:rPr lang="en-US" sz="2800" b="0" kern="0">
                <a:solidFill>
                  <a:srgbClr val="002060"/>
                </a:solidFill>
                <a:latin typeface="Times New Roman" panose="02020603050405020304" pitchFamily="18" charset="0"/>
                <a:cs typeface="Times New Roman" panose="02020603050405020304" pitchFamily="18" charset="0"/>
              </a:rPr>
              <a:t> VII:</a:t>
            </a:r>
            <a:endParaRPr lang="en-US" sz="2800" u="sng">
              <a:solidFill>
                <a:srgbClr val="002060"/>
              </a:solidFill>
              <a:latin typeface="Times New Roman" panose="02020603050405020304" pitchFamily="18" charset="0"/>
              <a:cs typeface="Times New Roman" panose="02020603050405020304" pitchFamily="18" charset="0"/>
            </a:endParaRPr>
          </a:p>
          <a:p>
            <a:pPr>
              <a:lnSpc>
                <a:spcPct val="150000"/>
              </a:lnSpc>
              <a:defRPr/>
            </a:pPr>
            <a:r>
              <a:rPr lang="vi-VN" sz="2800" kern="0">
                <a:solidFill>
                  <a:srgbClr val="002060"/>
                </a:solidFill>
                <a:latin typeface="Times New Roman" panose="02020603050405020304" pitchFamily="18" charset="0"/>
                <a:cs typeface="Times New Roman" panose="02020603050405020304" pitchFamily="18" charset="0"/>
              </a:rPr>
              <a:t>MongoDB và tương tác RESTful API </a:t>
            </a:r>
            <a:endParaRPr lang="en-US" sz="2800" kern="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9B20803-11F7-E1E5-2F3E-F97179298A37}"/>
              </a:ext>
            </a:extLst>
          </p:cNvPr>
          <p:cNvSpPr txBox="1"/>
          <p:nvPr/>
        </p:nvSpPr>
        <p:spPr>
          <a:xfrm>
            <a:off x="7720040" y="4262543"/>
            <a:ext cx="3852337" cy="1785104"/>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200" u="sng" err="1">
                <a:latin typeface="Times New Roman" panose="02020603050405020304" pitchFamily="18" charset="0"/>
                <a:cs typeface="Times New Roman" panose="02020603050405020304" pitchFamily="18" charset="0"/>
              </a:rPr>
              <a:t>Giảng</a:t>
            </a:r>
            <a:r>
              <a:rPr lang="en-US" sz="2200" u="sng">
                <a:latin typeface="Times New Roman" panose="02020603050405020304" pitchFamily="18" charset="0"/>
                <a:cs typeface="Times New Roman" panose="02020603050405020304" pitchFamily="18" charset="0"/>
              </a:rPr>
              <a:t> </a:t>
            </a:r>
            <a:r>
              <a:rPr lang="en-US" sz="2200" u="sng" err="1">
                <a:latin typeface="Times New Roman" panose="02020603050405020304" pitchFamily="18" charset="0"/>
                <a:cs typeface="Times New Roman" panose="02020603050405020304" pitchFamily="18" charset="0"/>
              </a:rPr>
              <a:t>viên</a:t>
            </a:r>
            <a:r>
              <a:rPr lang="en-US" sz="2200" u="sng">
                <a:latin typeface="Times New Roman" panose="02020603050405020304" pitchFamily="18" charset="0"/>
                <a:cs typeface="Times New Roman" panose="02020603050405020304" pitchFamily="18" charset="0"/>
              </a:rPr>
              <a:t>:</a:t>
            </a:r>
          </a:p>
          <a:p>
            <a:r>
              <a:rPr lang="en-US" sz="2200" b="1">
                <a:solidFill>
                  <a:srgbClr val="002060"/>
                </a:solidFill>
                <a:latin typeface="Times New Roman" panose="02020603050405020304" pitchFamily="18" charset="0"/>
                <a:cs typeface="Times New Roman" panose="02020603050405020304" pitchFamily="18" charset="0"/>
              </a:rPr>
              <a:t>TS. Trần Duy Thanh</a:t>
            </a:r>
          </a:p>
          <a:p>
            <a:r>
              <a:rPr lang="en-US" sz="2200">
                <a:latin typeface="Times New Roman" panose="02020603050405020304" pitchFamily="18" charset="0"/>
                <a:cs typeface="Times New Roman" panose="02020603050405020304" pitchFamily="18" charset="0"/>
              </a:rPr>
              <a:t>Email: </a:t>
            </a:r>
            <a:r>
              <a:rPr lang="en-US" sz="2200">
                <a:latin typeface="Times New Roman" panose="02020603050405020304" pitchFamily="18" charset="0"/>
                <a:cs typeface="Times New Roman" panose="02020603050405020304" pitchFamily="18" charset="0"/>
                <a:hlinkClick r:id="rId3"/>
              </a:rPr>
              <a:t>thanhtd@uel.edu.vn</a:t>
            </a:r>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Phone: 0987773061</a:t>
            </a:r>
          </a:p>
          <a:p>
            <a:r>
              <a:rPr lang="en-US" sz="2200">
                <a:latin typeface="Times New Roman" panose="02020603050405020304" pitchFamily="18" charset="0"/>
                <a:cs typeface="Times New Roman" panose="02020603050405020304" pitchFamily="18" charset="0"/>
              </a:rPr>
              <a:t>Blog: </a:t>
            </a:r>
            <a:r>
              <a:rPr lang="en-US" sz="2200">
                <a:latin typeface="Times New Roman" panose="02020603050405020304" pitchFamily="18" charset="0"/>
                <a:cs typeface="Times New Roman" panose="02020603050405020304" pitchFamily="18" charset="0"/>
                <a:hlinkClick r:id="rId4"/>
              </a:rPr>
              <a:t>https://tranduythanh.com</a:t>
            </a:r>
            <a:r>
              <a:rPr lang="en-US" sz="220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62128" y="261944"/>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Mục tiêu của Chương VII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381000" y="821802"/>
            <a:ext cx="11430000" cy="55038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vi-VN" sz="2400">
                <a:latin typeface="Cambria" panose="02040503050406030204" pitchFamily="18" charset="0"/>
              </a:rPr>
              <a:t>Sau khi hoàn tất Chương 7, sinh viên sẽ hiểu rõ bản chất của cơ sở dữ liệu NoSQL thông qua việc làm quen với hệ quản trị cơ sở dữ liệu MongoDB. Sinh viên không chỉ thành thạo cách cài đặt, quản trị dữ liệu trên MongoDB Atlas mà còn nắm vững kỹ thuật cấu hình kết nối giữa NodeJS và cơ sở dữ liệu đám mây.</a:t>
            </a:r>
          </a:p>
          <a:p>
            <a:pPr marL="0" indent="0" algn="just">
              <a:lnSpc>
                <a:spcPct val="150000"/>
              </a:lnSpc>
              <a:buNone/>
            </a:pPr>
            <a:r>
              <a:rPr lang="vi-VN" sz="2400">
                <a:latin typeface="Cambria" panose="02040503050406030204" pitchFamily="18" charset="0"/>
              </a:rPr>
              <a:t>Mục tiêu cốt lõi là giúp </a:t>
            </a:r>
            <a:r>
              <a:rPr lang="en-US" sz="2400">
                <a:latin typeface="Cambria" panose="02040503050406030204" pitchFamily="18" charset="0"/>
              </a:rPr>
              <a:t>Sinh </a:t>
            </a:r>
            <a:r>
              <a:rPr lang="en-US" sz="2400" err="1">
                <a:latin typeface="Cambria" panose="02040503050406030204" pitchFamily="18" charset="0"/>
              </a:rPr>
              <a:t>viên</a:t>
            </a:r>
            <a:r>
              <a:rPr lang="en-US" sz="2400">
                <a:latin typeface="Cambria" panose="02040503050406030204" pitchFamily="18" charset="0"/>
              </a:rPr>
              <a:t> </a:t>
            </a:r>
            <a:r>
              <a:rPr lang="vi-VN" sz="2400">
                <a:latin typeface="Cambria" panose="02040503050406030204" pitchFamily="18" charset="0"/>
              </a:rPr>
              <a:t>có khả năng hiện thực hóa các RESTful API tương tác trực tiếp với dữ liệu thực tế, thực hiện trôi chảy các thao tác CRUD (Thêm, Đọc, Cập nhật, Xóa) thông qua các phương thức HTTP. Kết thúc chương, sinh viên sẽ đủ năng lực để xây dựng một hệ thống Backend hoàn chỉnh, có khả năng lưu trữ và truy xuất dữ liệu linh hoạt, đáp ứng yêu cầu thực tiễn của các dự án phần mềm hiện đại.</a:t>
            </a:r>
            <a:endParaRPr lang="en-US" sz="2400">
              <a:latin typeface="Cambria" panose="02040503050406030204" pitchFamily="18" charset="0"/>
            </a:endParaRPr>
          </a:p>
        </p:txBody>
      </p:sp>
    </p:spTree>
    <p:extLst>
      <p:ext uri="{BB962C8B-B14F-4D97-AF65-F5344CB8AC3E}">
        <p14:creationId xmlns:p14="http://schemas.microsoft.com/office/powerpoint/2010/main" val="2703459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D56F04-295F-5363-D417-108007E712F9}"/>
              </a:ext>
            </a:extLst>
          </p:cNvPr>
          <p:cNvSpPr txBox="1"/>
          <p:nvPr/>
        </p:nvSpPr>
        <p:spPr>
          <a:xfrm>
            <a:off x="462279" y="841012"/>
            <a:ext cx="11564547" cy="3046988"/>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7.1. Giới thiệu NoSQL: MongoDB</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7.2. Cách cài đặt và sử dụng MongoDB, MongoDB Atlass</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7.3. Cấu hình kết nối NodeJS tới MongoDB</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7.4. Restful API: CRUD MongoDB</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7.4.1. API-HTTP GET</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7.4.2. API-HTTP POST</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7.4.3. API-HTTP PUT</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7.4.4. API-HTTP DELETE</a:t>
            </a:r>
          </a:p>
        </p:txBody>
      </p:sp>
    </p:spTree>
    <p:extLst>
      <p:ext uri="{BB962C8B-B14F-4D97-AF65-F5344CB8AC3E}">
        <p14:creationId xmlns:p14="http://schemas.microsoft.com/office/powerpoint/2010/main" val="316624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6294AD1-4973-6E76-9122-3E6D3955436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01DF302-6FF6-18DE-8369-EB7D4EF820B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41B2079-1835-640B-EAE8-9C10D051F3C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2" name="Group 1">
            <a:extLst>
              <a:ext uri="{FF2B5EF4-FFF2-40B4-BE49-F238E27FC236}">
                <a16:creationId xmlns:a16="http://schemas.microsoft.com/office/drawing/2014/main" id="{0AFE864D-6F89-C109-256B-5DB60D92BC90}"/>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6B113D5A-768F-FB30-1821-1DA8942CBBDD}"/>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9A84C62-02BA-F669-A952-AD65B71629E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2359419-9F14-F0B0-57D9-317216BB195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E0017AA-9713-D77E-EA5F-36724DF745B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45E7D83-E8CB-D595-66A6-B698721D0C0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C2BCABF-C649-8488-6191-00205B392C1B}"/>
              </a:ext>
            </a:extLst>
          </p:cNvPr>
          <p:cNvSpPr txBox="1"/>
          <p:nvPr/>
        </p:nvSpPr>
        <p:spPr>
          <a:xfrm>
            <a:off x="462280" y="841012"/>
            <a:ext cx="7114178" cy="4457952"/>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NoSQL là gì?</a:t>
            </a:r>
            <a:r>
              <a:rPr lang="vi-VN" sz="2400">
                <a:latin typeface="Times New Roman" panose="02020603050405020304" pitchFamily="18" charset="0"/>
                <a:cs typeface="Times New Roman" panose="02020603050405020304" pitchFamily="18" charset="0"/>
              </a:rPr>
              <a:t> </a:t>
            </a:r>
            <a:endParaRPr lang="en-US" sz="2400">
              <a:latin typeface="Times New Roman" panose="02020603050405020304" pitchFamily="18" charset="0"/>
              <a:cs typeface="Times New Roman" panose="02020603050405020304" pitchFamily="18" charset="0"/>
            </a:endParaRPr>
          </a:p>
          <a:p>
            <a:pPr algn="just">
              <a:lnSpc>
                <a:spcPct val="150000"/>
              </a:lnSpc>
            </a:pPr>
            <a:r>
              <a:rPr lang="vi-VN" sz="2400">
                <a:latin typeface="Times New Roman" panose="02020603050405020304" pitchFamily="18" charset="0"/>
                <a:cs typeface="Times New Roman" panose="02020603050405020304" pitchFamily="18" charset="0"/>
              </a:rPr>
              <a:t>NoSQL thường được hiểu là </a:t>
            </a:r>
            <a:r>
              <a:rPr lang="vi-VN" sz="2400" b="1">
                <a:latin typeface="Times New Roman" panose="02020603050405020304" pitchFamily="18" charset="0"/>
                <a:cs typeface="Times New Roman" panose="02020603050405020304" pitchFamily="18" charset="0"/>
              </a:rPr>
              <a:t>"Not Only SQL"</a:t>
            </a:r>
            <a:r>
              <a:rPr lang="vi-VN" sz="2400">
                <a:latin typeface="Times New Roman" panose="02020603050405020304" pitchFamily="18" charset="0"/>
                <a:cs typeface="Times New Roman" panose="02020603050405020304" pitchFamily="18" charset="0"/>
              </a:rPr>
              <a:t> (Không chỉ là SQL) hoặc "Non-Relational" (Phi quan hệ). Đây là một nhóm các hệ quản trị cơ sở dữ liệu được thiết kế để lưu trữ và truy xuất dữ liệu mà không sử dụng mô hình bảng có quan hệ (Relational Bảng/Dòng/Cột) </a:t>
            </a:r>
            <a:r>
              <a:rPr lang="en-US" sz="2400">
                <a:latin typeface="Times New Roman" panose="02020603050405020304" pitchFamily="18" charset="0"/>
                <a:cs typeface="Times New Roman" panose="02020603050405020304" pitchFamily="18" charset="0"/>
              </a:rPr>
              <a:t>chặt chẽ</a:t>
            </a:r>
            <a:r>
              <a:rPr lang="vi-VN" sz="2400">
                <a:latin typeface="Times New Roman" panose="02020603050405020304" pitchFamily="18" charset="0"/>
                <a:cs typeface="Times New Roman" panose="02020603050405020304" pitchFamily="18" charset="0"/>
              </a:rPr>
              <a:t> như hệ thống SQL truyền thống (SQL Server, MySQL, Oracle).</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5CC4473-AE14-9B6E-3536-BE5CC088605A}"/>
              </a:ext>
            </a:extLst>
          </p:cNvPr>
          <p:cNvPicPr>
            <a:picLocks noChangeAspect="1"/>
          </p:cNvPicPr>
          <p:nvPr/>
        </p:nvPicPr>
        <p:blipFill>
          <a:blip r:embed="rId3"/>
          <a:stretch>
            <a:fillRect/>
          </a:stretch>
        </p:blipFill>
        <p:spPr>
          <a:xfrm>
            <a:off x="7941374" y="1430647"/>
            <a:ext cx="3596952" cy="3817951"/>
          </a:xfrm>
          <a:prstGeom prst="rect">
            <a:avLst/>
          </a:prstGeom>
        </p:spPr>
      </p:pic>
    </p:spTree>
    <p:extLst>
      <p:ext uri="{BB962C8B-B14F-4D97-AF65-F5344CB8AC3E}">
        <p14:creationId xmlns:p14="http://schemas.microsoft.com/office/powerpoint/2010/main" val="3646101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ACA2D1E-EC05-A58D-0570-3B6C512FEFC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34DBFB4-F5FF-EFD7-C63D-30A719C5EFB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94BF75B-35C7-5DF2-AA0F-5B6BAB93329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2" name="Group 1">
            <a:extLst>
              <a:ext uri="{FF2B5EF4-FFF2-40B4-BE49-F238E27FC236}">
                <a16:creationId xmlns:a16="http://schemas.microsoft.com/office/drawing/2014/main" id="{8AD5CF55-4DF5-575B-45D1-68B209037F1C}"/>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1934BADB-46A0-C02B-FD0E-0B232E75DB1F}"/>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5379684-781D-EE11-E39A-0A301702C9F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835585A-E1D2-0EC7-08CC-CCFDAAEDF02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6D4781D-1187-14E9-0786-D747FC1563A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F3646DB-A126-1E74-7655-AC1B9ABD0BB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61779B6-6F91-20CE-1E94-635D21350C93}"/>
              </a:ext>
            </a:extLst>
          </p:cNvPr>
          <p:cNvSpPr txBox="1"/>
          <p:nvPr/>
        </p:nvSpPr>
        <p:spPr>
          <a:xfrm>
            <a:off x="482905" y="773449"/>
            <a:ext cx="11383670" cy="556594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Ý nghĩa ứng dụng của </a:t>
            </a:r>
            <a:r>
              <a:rPr lang="vi-VN" sz="2400" b="1">
                <a:latin typeface="Times New Roman" panose="02020603050405020304" pitchFamily="18" charset="0"/>
                <a:cs typeface="Times New Roman" panose="02020603050405020304" pitchFamily="18" charset="0"/>
              </a:rPr>
              <a:t>NoSQL</a:t>
            </a:r>
            <a:endParaRPr lang="en-US" sz="2400" b="1">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Xử lý Dữ liệu Lớn (Big Data) &amp; Phân tán: </a:t>
            </a:r>
            <a:r>
              <a:rPr lang="vi-VN" sz="2400">
                <a:latin typeface="Times New Roman" panose="02020603050405020304" pitchFamily="18" charset="0"/>
                <a:cs typeface="Times New Roman" panose="02020603050405020304" pitchFamily="18" charset="0"/>
              </a:rPr>
              <a:t>NoSQL được sinh ra để dễ dàng mở rộng theo chiều ngang (Horizontal Scaling / Scale-out)</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tức là cứ thêm máy chủ </a:t>
            </a:r>
            <a:r>
              <a:rPr lang="en-US" sz="2400">
                <a:latin typeface="Times New Roman" panose="02020603050405020304" pitchFamily="18" charset="0"/>
                <a:cs typeface="Times New Roman" panose="02020603050405020304" pitchFamily="18" charset="0"/>
              </a:rPr>
              <a:t>giá cả phải chăng</a:t>
            </a:r>
            <a:r>
              <a:rPr lang="vi-VN" sz="2400">
                <a:latin typeface="Times New Roman" panose="02020603050405020304" pitchFamily="18" charset="0"/>
                <a:cs typeface="Times New Roman" panose="02020603050405020304" pitchFamily="18" charset="0"/>
              </a:rPr>
              <a:t> vào cụm (cluster) là hệ thống mạnh lên, thay vì phải mua một siêu máy tính đắt đỏ (Vertical Scaling / Scale-up) như SQL. </a:t>
            </a:r>
            <a:endParaRPr lang="en-US" sz="240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Linh hoạt (Flexible Schema): </a:t>
            </a:r>
            <a:r>
              <a:rPr lang="vi-VN" sz="2400">
                <a:latin typeface="Times New Roman" panose="02020603050405020304" pitchFamily="18" charset="0"/>
                <a:cs typeface="Times New Roman" panose="02020603050405020304" pitchFamily="18" charset="0"/>
              </a:rPr>
              <a:t>Trong NoSQL, dữ liệu không bị ép buộc phải tuân theo một cấu trúc cố định từ trước.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có thể dễ dàng thêm bớt trường dữ liệu mà không cần làm thao tác ALTER TABLE gây gián đoạn hệ thống.</a:t>
            </a:r>
            <a:endParaRPr lang="en-US" sz="240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ü"/>
            </a:pPr>
            <a:r>
              <a:rPr lang="en-US" sz="2400" b="1">
                <a:latin typeface="Times New Roman" panose="02020603050405020304" pitchFamily="18" charset="0"/>
                <a:cs typeface="Times New Roman" panose="02020603050405020304" pitchFamily="18" charset="0"/>
              </a:rPr>
              <a:t>Tốc độ cao:</a:t>
            </a:r>
            <a:r>
              <a:rPr lang="en-US" sz="2400">
                <a:latin typeface="Times New Roman" panose="02020603050405020304" pitchFamily="18" charset="0"/>
                <a:cs typeface="Times New Roman" panose="02020603050405020304" pitchFamily="18" charset="0"/>
              </a:rPr>
              <a:t> Nhờ loại bỏ các ràng buộc quan hệ phức tạp (Foreign Keys, JOINs), NoSQL truy xuất dữ liệu thô (đặc biệt là dạng JSON/Document) cực kỳ nhanh chóng.</a:t>
            </a:r>
            <a:endParaRPr lang="vi-VN"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4583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1BCC168-EBC4-ED00-20D6-0E8A7399A72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7453C25-1EE6-E4ED-B817-34734C76EDB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6D8908B-F957-EDE1-9D87-6AA8D5269A9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2" name="Group 1">
            <a:extLst>
              <a:ext uri="{FF2B5EF4-FFF2-40B4-BE49-F238E27FC236}">
                <a16:creationId xmlns:a16="http://schemas.microsoft.com/office/drawing/2014/main" id="{DB1C45A6-531A-EEB6-D5AC-A970BC3C0C51}"/>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70FF43C3-B499-FF3D-DA32-407AD04B960A}"/>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0A3AB84-D11E-CC48-EEBC-0FBEC1D0F14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232FA3C-8CD5-49EE-6617-D720432DEAE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77E1499-71B7-8112-3FEF-8A08F082AA3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135DF9F-9756-2F5F-E0F4-A383585D7B7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701E6416-EDC8-DA8E-AB69-00B964171BCD}"/>
              </a:ext>
            </a:extLst>
          </p:cNvPr>
          <p:cNvSpPr>
            <a:spLocks noChangeArrowheads="1"/>
          </p:cNvSpPr>
          <p:nvPr/>
        </p:nvSpPr>
        <p:spPr bwMode="auto">
          <a:xfrm>
            <a:off x="234808" y="788933"/>
            <a:ext cx="11751794"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Theo các tài liệu chuẩn quốc tế (từ AWS, MongoDB, Microsoft) đều thống nhất chia NoSQL thành 4 nhóm nền tảng cốt lõi vì chúng đại diện cho 4 cách giải quyết cấu trúc dữ liệu khác nhau hoàn toàn: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Key-Value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(Ví dụ: Amazon DynamoDB, Redis)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Document</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(Ví dụ: MongoDB, Couchbase)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Wide-column / Column-Family</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(Ví dụ: Cassandra, HBase)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Graph</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(Ví dụ: Neo4j)</a:t>
            </a:r>
          </a:p>
        </p:txBody>
      </p:sp>
    </p:spTree>
    <p:extLst>
      <p:ext uri="{BB962C8B-B14F-4D97-AF65-F5344CB8AC3E}">
        <p14:creationId xmlns:p14="http://schemas.microsoft.com/office/powerpoint/2010/main" val="1154475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065AE98-37C3-D006-4DE9-DCA7528E5C6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D816943-A87E-EF14-CF06-C7F22C24D93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F46CFB4-45CD-1742-CF11-8A8CE37D59E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2" name="Group 1">
            <a:extLst>
              <a:ext uri="{FF2B5EF4-FFF2-40B4-BE49-F238E27FC236}">
                <a16:creationId xmlns:a16="http://schemas.microsoft.com/office/drawing/2014/main" id="{39AC9312-C8AC-5290-AED3-3F4C59188ED6}"/>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CA566D8C-C89C-A04B-B1B4-704C6D071822}"/>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3962F0D-CD84-A90A-C78D-213608C3CAD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F131095-1F20-1DA1-CFD7-CBAF7ED9FE6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C4229E8-6122-40D3-DF39-B8C0BD67B72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49465D8-F289-0203-C05A-C6BCCD13039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17373671-76D6-944B-762E-7FFC7D439B7D}"/>
              </a:ext>
            </a:extLst>
          </p:cNvPr>
          <p:cNvSpPr>
            <a:spLocks noChangeArrowheads="1"/>
          </p:cNvSpPr>
          <p:nvPr/>
        </p:nvSpPr>
        <p:spPr bwMode="auto">
          <a:xfrm>
            <a:off x="315905" y="788933"/>
            <a:ext cx="11751794" cy="579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Key-Value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(Ví dụ: Amazon DynamoDB, Redis)</a:t>
            </a:r>
          </a:p>
        </p:txBody>
      </p:sp>
      <p:pic>
        <p:nvPicPr>
          <p:cNvPr id="3074" name="Picture 2" descr="Key-Value NoSQL Databases: A Complete Guide with Real-World Examples | by Atharva Jadhav | Medium">
            <a:extLst>
              <a:ext uri="{FF2B5EF4-FFF2-40B4-BE49-F238E27FC236}">
                <a16:creationId xmlns:a16="http://schemas.microsoft.com/office/drawing/2014/main" id="{5D2C7896-58D7-6DE3-1DB3-2289728697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0576" y="1359635"/>
            <a:ext cx="6545299" cy="5017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0295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0231980-BD0B-AEEB-45AC-BB66FD4D9D0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D71EBB0-1CE6-3660-99D6-67D668F3152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3B8A410-86B8-20A5-9ADF-155B4DB7022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2" name="Group 1">
            <a:extLst>
              <a:ext uri="{FF2B5EF4-FFF2-40B4-BE49-F238E27FC236}">
                <a16:creationId xmlns:a16="http://schemas.microsoft.com/office/drawing/2014/main" id="{49767361-4E63-BB33-297E-E64BDE598B4F}"/>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C07C6541-E955-295E-05A3-F7D84A5E828D}"/>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9CF9A04-002B-7B27-70C7-7A355CBC95F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6C57369-33D3-37EF-AD31-C038B49060C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C0B10C9-B043-C7E0-2C62-8261CE8CD28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88630FA-BEB0-D98F-7FE9-519AA9E3F04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371F37A9-56AB-67CD-F571-5AEAD27E1390}"/>
              </a:ext>
            </a:extLst>
          </p:cNvPr>
          <p:cNvSpPr>
            <a:spLocks noChangeArrowheads="1"/>
          </p:cNvSpPr>
          <p:nvPr/>
        </p:nvSpPr>
        <p:spPr bwMode="auto">
          <a:xfrm>
            <a:off x="542786" y="737075"/>
            <a:ext cx="11751794" cy="579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Document</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(Ví dụ: MongoDB, Couchbase)</a:t>
            </a:r>
          </a:p>
        </p:txBody>
      </p:sp>
      <p:pic>
        <p:nvPicPr>
          <p:cNvPr id="10" name="Picture 9">
            <a:extLst>
              <a:ext uri="{FF2B5EF4-FFF2-40B4-BE49-F238E27FC236}">
                <a16:creationId xmlns:a16="http://schemas.microsoft.com/office/drawing/2014/main" id="{4ECCD6EF-2F57-0A7F-56C3-68D279F148A7}"/>
              </a:ext>
            </a:extLst>
          </p:cNvPr>
          <p:cNvPicPr>
            <a:picLocks noChangeAspect="1"/>
          </p:cNvPicPr>
          <p:nvPr/>
        </p:nvPicPr>
        <p:blipFill>
          <a:blip r:embed="rId3"/>
          <a:stretch>
            <a:fillRect/>
          </a:stretch>
        </p:blipFill>
        <p:spPr>
          <a:xfrm>
            <a:off x="728132" y="1825042"/>
            <a:ext cx="4249415" cy="3664475"/>
          </a:xfrm>
          <a:prstGeom prst="rect">
            <a:avLst/>
          </a:prstGeom>
        </p:spPr>
      </p:pic>
      <p:pic>
        <p:nvPicPr>
          <p:cNvPr id="5126" name="Picture 6" descr="Enterprise Database Server | High-Performance, Flexible NoSQL">
            <a:extLst>
              <a:ext uri="{FF2B5EF4-FFF2-40B4-BE49-F238E27FC236}">
                <a16:creationId xmlns:a16="http://schemas.microsoft.com/office/drawing/2014/main" id="{FAE97B70-BF7D-324D-9F1D-F56496E6ABC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776" r="5810"/>
          <a:stretch>
            <a:fillRect/>
          </a:stretch>
        </p:blipFill>
        <p:spPr bwMode="auto">
          <a:xfrm>
            <a:off x="6366342" y="1702506"/>
            <a:ext cx="5527734" cy="3557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8579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14088D2-46CF-F683-6E16-1FAEB2092B2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5CE859A-64F0-20F6-8A51-66F45844BC1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A1A2AE3-7A7B-3256-D07A-DD74B732AF3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2" name="Group 1">
            <a:extLst>
              <a:ext uri="{FF2B5EF4-FFF2-40B4-BE49-F238E27FC236}">
                <a16:creationId xmlns:a16="http://schemas.microsoft.com/office/drawing/2014/main" id="{FC5A4FD5-4814-7DE8-5E91-D831B8134F53}"/>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0F187842-A021-1B51-250A-A9DF0B0B386B}"/>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49F57B1-BFDC-3035-18B6-23B75AF658C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09CA2AE-9221-EDE6-21E8-7159DDD4D81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A4182C4-ED31-84C8-C571-2076383DA59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98E97E7-117E-3BBD-1378-BB89B5C53AF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02FFFE17-B2C3-36C1-8600-79F853DF860E}"/>
              </a:ext>
            </a:extLst>
          </p:cNvPr>
          <p:cNvSpPr>
            <a:spLocks noChangeArrowheads="1"/>
          </p:cNvSpPr>
          <p:nvPr/>
        </p:nvSpPr>
        <p:spPr bwMode="auto">
          <a:xfrm>
            <a:off x="542786" y="788933"/>
            <a:ext cx="11751794" cy="579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Wide-column / Column-Family</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(Ví dụ: Cassandra, HBase)</a:t>
            </a:r>
          </a:p>
        </p:txBody>
      </p:sp>
      <p:pic>
        <p:nvPicPr>
          <p:cNvPr id="4098" name="Picture 2" descr="How Can I Use the Search Index of Lucene?_Database Usage_FAQs_GeminiDB Cassandra API_GeminiDB-Huawei Cloud">
            <a:extLst>
              <a:ext uri="{FF2B5EF4-FFF2-40B4-BE49-F238E27FC236}">
                <a16:creationId xmlns:a16="http://schemas.microsoft.com/office/drawing/2014/main" id="{38BE6501-6D50-D03A-8421-0D81DA91C2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276" y="1792793"/>
            <a:ext cx="6480733" cy="427627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Data Modeling: A Guide for Data Analysts">
            <a:extLst>
              <a:ext uri="{FF2B5EF4-FFF2-40B4-BE49-F238E27FC236}">
                <a16:creationId xmlns:a16="http://schemas.microsoft.com/office/drawing/2014/main" id="{6AAD00BA-2173-C8F6-2761-13AA5065DFA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41" t="4582" r="5546" b="2559"/>
          <a:stretch>
            <a:fillRect/>
          </a:stretch>
        </p:blipFill>
        <p:spPr bwMode="auto">
          <a:xfrm>
            <a:off x="7128126" y="2887579"/>
            <a:ext cx="4834702" cy="3251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532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E2A29D4-91F2-2568-C004-8FDAD6B2114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FE17F47-8115-6F59-BE31-728D7C06CDB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5B714C6-6B6C-D219-FEC1-16A49FABDF5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2" name="Group 1">
            <a:extLst>
              <a:ext uri="{FF2B5EF4-FFF2-40B4-BE49-F238E27FC236}">
                <a16:creationId xmlns:a16="http://schemas.microsoft.com/office/drawing/2014/main" id="{D9010401-6A56-ABDD-EB05-2C97ED4C2D72}"/>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1E4DB2B8-CC67-0DBB-E6B4-8D2EEF9E1590}"/>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4EF3818-1C5C-17DE-CDCB-341DAE283F2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DB8A58C-A246-A602-99D8-65B14443807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3CB4FB1-11CF-B3FF-E394-90953DB2D31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5558166-BF53-3833-4ED5-43F6D0969F0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3C35AE71-5728-A718-87E8-279040E4531C}"/>
              </a:ext>
            </a:extLst>
          </p:cNvPr>
          <p:cNvSpPr>
            <a:spLocks noChangeArrowheads="1"/>
          </p:cNvSpPr>
          <p:nvPr/>
        </p:nvSpPr>
        <p:spPr bwMode="auto">
          <a:xfrm>
            <a:off x="424290" y="788933"/>
            <a:ext cx="11751794" cy="579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Graph</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(Ví dụ: Neo4j)</a:t>
            </a:r>
          </a:p>
        </p:txBody>
      </p:sp>
      <p:pic>
        <p:nvPicPr>
          <p:cNvPr id="5122" name="Picture 2" descr="Graph databases, Why are they important | by Benny Ogidan | The Andela Way | Medium">
            <a:extLst>
              <a:ext uri="{FF2B5EF4-FFF2-40B4-BE49-F238E27FC236}">
                <a16:creationId xmlns:a16="http://schemas.microsoft.com/office/drawing/2014/main" id="{2CA59F16-4690-9096-EAEE-350BE5C712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904" y="1825042"/>
            <a:ext cx="5995878" cy="355190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ntroduction to Neo4j - Neo4j 3.5 Administration">
            <a:extLst>
              <a:ext uri="{FF2B5EF4-FFF2-40B4-BE49-F238E27FC236}">
                <a16:creationId xmlns:a16="http://schemas.microsoft.com/office/drawing/2014/main" id="{DB9C89DC-BAE9-37D4-1783-ED55D07C18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0803" y="2441206"/>
            <a:ext cx="5598693" cy="2754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426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E6139D2-E356-5F3E-AD8E-DD958044328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C0866D6-7863-5CFB-FF9F-7B17DBCA1A6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E422694-C3A7-24D5-DA31-5047B5221F5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2" name="Group 1">
            <a:extLst>
              <a:ext uri="{FF2B5EF4-FFF2-40B4-BE49-F238E27FC236}">
                <a16:creationId xmlns:a16="http://schemas.microsoft.com/office/drawing/2014/main" id="{60388A87-1AC6-8103-9059-E3116F0AD65B}"/>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2024DF43-9E23-0315-0487-92898013BC64}"/>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FDA3E03-4962-283C-3C82-E661A8244F5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3AFDFAA-9AE2-C4BC-5268-9F97988D32B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7098FD5-240D-A4F5-1433-846F9AF52B8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BC74A21-9962-0290-982E-57F06D7D8E1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A344A9CB-FFA4-910E-AFE8-64F4B7D0A43D}"/>
              </a:ext>
            </a:extLst>
          </p:cNvPr>
          <p:cNvSpPr>
            <a:spLocks noChangeArrowheads="1"/>
          </p:cNvSpPr>
          <p:nvPr/>
        </p:nvSpPr>
        <p:spPr bwMode="auto">
          <a:xfrm>
            <a:off x="388797" y="756010"/>
            <a:ext cx="11751794" cy="579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ClrTx/>
              <a:buFont typeface="Wingdings" panose="05000000000000000000" pitchFamily="2" charset="2"/>
              <a:buChar char="v"/>
            </a:pPr>
            <a:r>
              <a:rPr lang="en-US" altLang="en-US" sz="2400">
                <a:solidFill>
                  <a:schemeClr val="tx1"/>
                </a:solidFill>
                <a:latin typeface="Times New Roman" panose="02020603050405020304" pitchFamily="18" charset="0"/>
                <a:cs typeface="Times New Roman" panose="02020603050405020304" pitchFamily="18" charset="0"/>
              </a:rPr>
              <a:t>Ngoài ra còn có các loại NoSQL chuyên biệt khác</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02D752B7-5F78-B335-4ACA-771A8EDA7B76}"/>
              </a:ext>
            </a:extLst>
          </p:cNvPr>
          <p:cNvSpPr>
            <a:spLocks noChangeArrowheads="1"/>
          </p:cNvSpPr>
          <p:nvPr/>
        </p:nvSpPr>
        <p:spPr bwMode="auto">
          <a:xfrm>
            <a:off x="423048" y="1426717"/>
            <a:ext cx="11241286" cy="4847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Time Series Database (Cơ sở dữ liệu chuỗi thời gian):</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Được thiết kế tối ưu hóa để lưu trữ dữ liệu theo thời gian thực liên tục, chẳng hạn như dữ liệu từ cảm biến IoT hoặc chứng khoán (Amazon Timestream).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In-Memory Database (Cơ sở dữ liệu trên RAM):</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Các nền tảng đám mây lớn như Google Cloud thường phân loại In-Memory thành một nhóm riêng biệt. Mặc dù Redis cũng nằm trong nhóm Key-Value, chức năng cốt lõi của nó là lưu trữ trên bộ nhớ đệm (RAM) để lấy tốc độ phản hồi nhanh cho ứng dụng thời gian thực.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Multi-model Database (Cơ sở dữ liệu đa mô hình):</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Đây đang là xu hướng khá phổ biến hiện nay. Các hệ thống này không chỉ làm một việc mà kết hợp nhiều loại NoSQL lại với nhau. Ví dụ: OrientDB hay ArangoDB có thể vừa hỗ trợ Document (giống MongoDB) vừa hỗ trợ Graph (giống Neo4j) cùng một lúc.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Object-Oriented Database (Cơ sở dữ liệu hướng đối tượng):</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Loại CSDL này lưu trữ dữ liệu đúng như cấu trúc của một đối tượng trong lập trình hướng đối tượng (OOP). </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2359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D6C6F06-0C6E-5866-D23B-748F333BA30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59DFF40-6D26-3A3D-7AEE-76A3B080F16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89A4F10-B9E4-5A24-A64F-D4CC8D63572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 name="Group 1">
            <a:extLst>
              <a:ext uri="{FF2B5EF4-FFF2-40B4-BE49-F238E27FC236}">
                <a16:creationId xmlns:a16="http://schemas.microsoft.com/office/drawing/2014/main" id="{5B71AEC8-8D52-AB80-57D1-5F8670DD0422}"/>
              </a:ext>
            </a:extLst>
          </p:cNvPr>
          <p:cNvGrpSpPr/>
          <p:nvPr/>
        </p:nvGrpSpPr>
        <p:grpSpPr>
          <a:xfrm>
            <a:off x="214276" y="229075"/>
            <a:ext cx="6654037" cy="508000"/>
            <a:chOff x="789624" y="1191463"/>
            <a:chExt cx="6654037" cy="508000"/>
          </a:xfrm>
        </p:grpSpPr>
        <p:sp>
          <p:nvSpPr>
            <p:cNvPr id="3" name="AutoShape 52">
              <a:extLst>
                <a:ext uri="{FF2B5EF4-FFF2-40B4-BE49-F238E27FC236}">
                  <a16:creationId xmlns:a16="http://schemas.microsoft.com/office/drawing/2014/main" id="{5025FA6F-9065-FC35-73E4-0C9BA0F63775}"/>
                </a:ext>
              </a:extLst>
            </p:cNvPr>
            <p:cNvSpPr>
              <a:spLocks noChangeArrowheads="1"/>
            </p:cNvSpPr>
            <p:nvPr/>
          </p:nvSpPr>
          <p:spPr bwMode="gray">
            <a:xfrm>
              <a:off x="990600" y="1191463"/>
              <a:ext cx="645306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034F1A8-3C7E-5957-E4DC-21D2AC937B0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69C3C11-94B8-04C8-0304-820913DDB0F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F97099D-BD1B-6C2C-E473-C791148ADC2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6FD6317-3355-219D-C54F-FA51CB5897C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0FCA8085-111C-D7C7-21D0-90584CE62A4D}"/>
              </a:ext>
            </a:extLst>
          </p:cNvPr>
          <p:cNvSpPr txBox="1"/>
          <p:nvPr/>
        </p:nvSpPr>
        <p:spPr>
          <a:xfrm>
            <a:off x="542786" y="841012"/>
            <a:ext cx="6380528" cy="556594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MongoDB</a:t>
            </a:r>
            <a:r>
              <a:rPr lang="vi-VN" sz="2400">
                <a:latin typeface="Times New Roman" panose="02020603050405020304" pitchFamily="18" charset="0"/>
                <a:cs typeface="Times New Roman" panose="02020603050405020304" pitchFamily="18" charset="0"/>
              </a:rPr>
              <a:t> là một hệ quản trị cơ sở dữ liệu NoSQL mã nguồn mở, thuộc nhóm Document-oriented (Định hướng tài liệu). Nó được phát triển bởi MongoDB Inc</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ra mắt lần đầu vào năm 2009.</a:t>
            </a:r>
          </a:p>
          <a:p>
            <a:pPr marL="342900" indent="-342900" algn="just">
              <a:lnSpc>
                <a:spcPct val="150000"/>
              </a:lnSpc>
              <a:buFont typeface="Wingdings" panose="05000000000000000000" pitchFamily="2" charset="2"/>
              <a:buChar char="q"/>
            </a:pPr>
            <a:r>
              <a:rPr lang="vi-VN" sz="2400">
                <a:latin typeface="Times New Roman" panose="02020603050405020304" pitchFamily="18" charset="0"/>
                <a:cs typeface="Times New Roman" panose="02020603050405020304" pitchFamily="18" charset="0"/>
              </a:rPr>
              <a:t>MongoDB lưu trữ dữ liệu dưới dạng các "Tài liệu" (Document). Các tài liệu này được viết bằng định dạng BSON (Binary JSON) – một phiên bản nhị phân của JSON, giúp việc đọc ghi dữ liệu trên máy tính diễn ra nhanh chóng.</a:t>
            </a:r>
            <a:endParaRPr lang="en-US" sz="2400">
              <a:latin typeface="Times New Roman" panose="02020603050405020304" pitchFamily="18" charset="0"/>
              <a:cs typeface="Times New Roman" panose="02020603050405020304" pitchFamily="18" charset="0"/>
            </a:endParaRPr>
          </a:p>
        </p:txBody>
      </p:sp>
      <p:pic>
        <p:nvPicPr>
          <p:cNvPr id="8194" name="Picture 2" descr="MongoDB - Working and Features - GeeksforGeeks">
            <a:extLst>
              <a:ext uri="{FF2B5EF4-FFF2-40B4-BE49-F238E27FC236}">
                <a16:creationId xmlns:a16="http://schemas.microsoft.com/office/drawing/2014/main" id="{0B7981B3-E433-88F9-FF80-0C10F4566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2206" y="1504446"/>
            <a:ext cx="4509643" cy="2598867"/>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D8EE9769-75D9-1934-1D89-B165B7C7D5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3793" y="4091904"/>
            <a:ext cx="4826467" cy="259886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48D85F74-AE41-768D-7E72-5485B849F586}"/>
              </a:ext>
            </a:extLst>
          </p:cNvPr>
          <p:cNvPicPr>
            <a:picLocks noChangeAspect="1"/>
          </p:cNvPicPr>
          <p:nvPr/>
        </p:nvPicPr>
        <p:blipFill>
          <a:blip r:embed="rId5"/>
          <a:stretch>
            <a:fillRect/>
          </a:stretch>
        </p:blipFill>
        <p:spPr>
          <a:xfrm>
            <a:off x="7817088" y="429762"/>
            <a:ext cx="3449774" cy="918865"/>
          </a:xfrm>
          <a:prstGeom prst="rect">
            <a:avLst/>
          </a:prstGeom>
        </p:spPr>
      </p:pic>
    </p:spTree>
    <p:extLst>
      <p:ext uri="{BB962C8B-B14F-4D97-AF65-F5344CB8AC3E}">
        <p14:creationId xmlns:p14="http://schemas.microsoft.com/office/powerpoint/2010/main" val="1552022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0022071-B6EA-45CC-69BB-51DBA48DB2A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11FCAC1-AEB6-F32F-5DE7-7C89BC4C5A4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2B08945-B35B-29B2-EC66-F2B7CEE8B6C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2" name="Group 1">
            <a:extLst>
              <a:ext uri="{FF2B5EF4-FFF2-40B4-BE49-F238E27FC236}">
                <a16:creationId xmlns:a16="http://schemas.microsoft.com/office/drawing/2014/main" id="{16727FAC-5897-5AB9-DDED-73647E0DBC6F}"/>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EBC8451C-0C97-FE9B-5A7B-0928CB296AB5}"/>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DBC69F6-03E5-5F98-8C2C-FFBC722692F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1312852-9979-EE37-C2A1-C5BC961A039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63D8C0A-72D0-B845-BFBA-514FD9A89B9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9BBBDA0-F497-BBC9-A7C1-EDF3D52C32C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AE371C0E-D5B7-F1EE-5D97-B30721C1FD03}"/>
              </a:ext>
            </a:extLst>
          </p:cNvPr>
          <p:cNvSpPr txBox="1"/>
          <p:nvPr/>
        </p:nvSpPr>
        <p:spPr>
          <a:xfrm>
            <a:off x="542786" y="841012"/>
            <a:ext cx="10904402" cy="4457952"/>
          </a:xfrm>
          <a:prstGeom prst="rect">
            <a:avLst/>
          </a:prstGeom>
          <a:noFill/>
        </p:spPr>
        <p:txBody>
          <a:bodyPr wrap="square" rtlCol="0">
            <a:spAutoFit/>
          </a:bodyPr>
          <a:lstStyle/>
          <a:p>
            <a:pPr algn="just">
              <a:lnSpc>
                <a:spcPct val="150000"/>
              </a:lnSpc>
            </a:pPr>
            <a:r>
              <a:rPr lang="vi-VN" sz="2400">
                <a:latin typeface="Times New Roman" panose="02020603050405020304" pitchFamily="18" charset="0"/>
                <a:cs typeface="Times New Roman" panose="02020603050405020304" pitchFamily="18" charset="0"/>
              </a:rPr>
              <a:t>Kiến trúc của MongoDB </a:t>
            </a:r>
            <a:r>
              <a:rPr lang="en-US" sz="2400">
                <a:latin typeface="Times New Roman" panose="02020603050405020304" pitchFamily="18" charset="0"/>
                <a:cs typeface="Times New Roman" panose="02020603050405020304" pitchFamily="18" charset="0"/>
              </a:rPr>
              <a:t>có thể được chia ra làm 2 loại: </a:t>
            </a:r>
            <a:r>
              <a:rPr lang="en-US" sz="2400" b="1">
                <a:latin typeface="Times New Roman" panose="02020603050405020304" pitchFamily="18" charset="0"/>
                <a:cs typeface="Times New Roman" panose="02020603050405020304" pitchFamily="18" charset="0"/>
              </a:rPr>
              <a:t>Logic</a:t>
            </a:r>
            <a:r>
              <a:rPr lang="en-US" sz="2400">
                <a:latin typeface="Times New Roman" panose="02020603050405020304" pitchFamily="18" charset="0"/>
                <a:cs typeface="Times New Roman" panose="02020603050405020304" pitchFamily="18" charset="0"/>
              </a:rPr>
              <a:t> và </a:t>
            </a:r>
            <a:r>
              <a:rPr lang="en-US" sz="2400" b="1">
                <a:latin typeface="Times New Roman" panose="02020603050405020304" pitchFamily="18" charset="0"/>
                <a:cs typeface="Times New Roman" panose="02020603050405020304" pitchFamily="18" charset="0"/>
              </a:rPr>
              <a:t>Vật lý</a:t>
            </a:r>
          </a:p>
          <a:p>
            <a:pPr marL="342900" indent="-3429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Kiến trúc Logic (Cách tổ chức dữ liệu)</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Database</a:t>
            </a:r>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Giống </a:t>
            </a:r>
            <a:r>
              <a:rPr lang="vi-VN" sz="2400">
                <a:latin typeface="Times New Roman" panose="02020603050405020304" pitchFamily="18" charset="0"/>
                <a:cs typeface="Times New Roman" panose="02020603050405020304" pitchFamily="18" charset="0"/>
              </a:rPr>
              <a:t>khái niệm Database trong SQL.</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Collection</a:t>
            </a:r>
            <a:r>
              <a:rPr lang="vi-VN" sz="2400">
                <a:latin typeface="Times New Roman" panose="02020603050405020304" pitchFamily="18" charset="0"/>
                <a:cs typeface="Times New Roman" panose="02020603050405020304" pitchFamily="18" charset="0"/>
              </a:rPr>
              <a:t>: Nằm bên trong Database, tương đương với Table (Bảng) trong SQL. Ví dụ: Collection Books, Collection Users. Tuy nhiên, Collection không ép buộc các thành phần bên trong phải có cùng cấu trúc.</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Document</a:t>
            </a:r>
            <a:r>
              <a:rPr lang="vi-VN" sz="2400">
                <a:latin typeface="Times New Roman" panose="02020603050405020304" pitchFamily="18" charset="0"/>
                <a:cs typeface="Times New Roman" panose="02020603050405020304" pitchFamily="18" charset="0"/>
              </a:rPr>
              <a:t>: Nằm trong Collection, tương đương với Row (Dòng) trong SQL. Mỗi Document là một đối tượng JSON chứa các cặp </a:t>
            </a:r>
            <a:r>
              <a:rPr lang="vi-VN" sz="2400" b="1">
                <a:latin typeface="Times New Roman" panose="02020603050405020304" pitchFamily="18" charset="0"/>
                <a:cs typeface="Times New Roman" panose="02020603050405020304" pitchFamily="18" charset="0"/>
              </a:rPr>
              <a:t>Key: Value</a:t>
            </a:r>
            <a:r>
              <a:rPr lang="vi-VN"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444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A768C8E-F276-7383-B8DC-C9AFC75DE72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C1B3A7D-5735-3485-2A59-634DD14C27E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63E93BF-2CBE-420D-6759-6EC1B51F1E6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 name="Group 1">
            <a:extLst>
              <a:ext uri="{FF2B5EF4-FFF2-40B4-BE49-F238E27FC236}">
                <a16:creationId xmlns:a16="http://schemas.microsoft.com/office/drawing/2014/main" id="{A97DF69D-0668-F97C-D85F-5F1A1568E007}"/>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125714AF-F8C2-5972-63AC-09506F3E1766}"/>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A3A9190-371D-514A-AE78-55B75184C22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68A4D14-2804-89D3-96E9-940418AA8A2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5C74F76-8CCB-2019-64F1-E03330B5C5F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6DE7F9B-3474-D916-ADD7-B75C955910C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4C377B40-1A5B-4882-757C-9FC047AFAED2}"/>
              </a:ext>
            </a:extLst>
          </p:cNvPr>
          <p:cNvSpPr txBox="1"/>
          <p:nvPr/>
        </p:nvSpPr>
        <p:spPr>
          <a:xfrm>
            <a:off x="542786" y="841012"/>
            <a:ext cx="10904402" cy="44579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Kiến trúc Vật lý (Cách vận hành trên Server)</a:t>
            </a:r>
            <a:r>
              <a:rPr lang="en-US" sz="2400" b="1">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Để đảm bảo an toàn và tốc độ, MongoDB vận hành dựa trên 2 cơ chế cụm máy chủ chính:</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Replica Set </a:t>
            </a:r>
            <a:r>
              <a:rPr lang="vi-VN" sz="2400">
                <a:latin typeface="Times New Roman" panose="02020603050405020304" pitchFamily="18" charset="0"/>
                <a:cs typeface="Times New Roman" panose="02020603050405020304" pitchFamily="18" charset="0"/>
              </a:rPr>
              <a:t>(Cụm sao chép): Thường gồm 3 máy chủ. Một máy chủ chính (Primary) chuyên nhận lệnh Đọc/Ghi. Hai máy chủ phụ (Secondary) liên tục copy dữ liệu từ máy chính. Nếu máy chính bị hỏng, một máy phụ sẽ tự động </a:t>
            </a:r>
            <a:r>
              <a:rPr lang="en-US" sz="2400">
                <a:latin typeface="Times New Roman" panose="02020603050405020304" pitchFamily="18" charset="0"/>
                <a:cs typeface="Times New Roman" panose="02020603050405020304" pitchFamily="18" charset="0"/>
              </a:rPr>
              <a:t>được thiết lập </a:t>
            </a:r>
            <a:r>
              <a:rPr lang="vi-VN" sz="2400">
                <a:latin typeface="Times New Roman" panose="02020603050405020304" pitchFamily="18" charset="0"/>
                <a:cs typeface="Times New Roman" panose="02020603050405020304" pitchFamily="18" charset="0"/>
              </a:rPr>
              <a:t>làm máy chính mới</a:t>
            </a:r>
            <a:r>
              <a:rPr lang="en-US" sz="2400">
                <a:latin typeface="Times New Roman" panose="02020603050405020304" pitchFamily="18" charset="0"/>
                <a:cs typeface="Times New Roman" panose="02020603050405020304" pitchFamily="18" charset="0"/>
              </a:rPr>
              <a:t> để đ</a:t>
            </a:r>
            <a:r>
              <a:rPr lang="vi-VN" sz="2400">
                <a:latin typeface="Times New Roman" panose="02020603050405020304" pitchFamily="18" charset="0"/>
                <a:cs typeface="Times New Roman" panose="02020603050405020304" pitchFamily="18" charset="0"/>
              </a:rPr>
              <a:t>ảm bảo hệ thống không bao giờ bị </a:t>
            </a:r>
            <a:r>
              <a:rPr lang="en-US" sz="2400">
                <a:latin typeface="Times New Roman" panose="02020603050405020304" pitchFamily="18" charset="0"/>
                <a:cs typeface="Times New Roman" panose="02020603050405020304" pitchFamily="18" charset="0"/>
              </a:rPr>
              <a:t>STOP</a:t>
            </a:r>
            <a:r>
              <a:rPr lang="vi-VN" sz="240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Sharded Cluster </a:t>
            </a:r>
            <a:r>
              <a:rPr lang="vi-VN" sz="2400">
                <a:latin typeface="Times New Roman" panose="02020603050405020304" pitchFamily="18" charset="0"/>
                <a:cs typeface="Times New Roman" panose="02020603050405020304" pitchFamily="18" charset="0"/>
              </a:rPr>
              <a:t>(Cụm phân mảnh): </a:t>
            </a:r>
            <a:r>
              <a:rPr lang="en-US" sz="2400">
                <a:latin typeface="Times New Roman" panose="02020603050405020304" pitchFamily="18" charset="0"/>
                <a:cs typeface="Times New Roman" panose="02020603050405020304" pitchFamily="18" charset="0"/>
              </a:rPr>
              <a:t>L</a:t>
            </a:r>
            <a:r>
              <a:rPr lang="vi-VN" sz="2400">
                <a:latin typeface="Times New Roman" panose="02020603050405020304" pitchFamily="18" charset="0"/>
                <a:cs typeface="Times New Roman" panose="02020603050405020304" pitchFamily="18" charset="0"/>
              </a:rPr>
              <a:t>à kiến trúc chia nhỏ dữ liệu ra nhiều máy chủ (Mongos, Config Server, Shards) </a:t>
            </a:r>
            <a:r>
              <a:rPr lang="en-US" sz="2400">
                <a:latin typeface="Times New Roman" panose="02020603050405020304" pitchFamily="18" charset="0"/>
                <a:cs typeface="Times New Roman" panose="02020603050405020304" pitchFamily="18" charset="0"/>
              </a:rPr>
              <a:t>d</a:t>
            </a:r>
            <a:r>
              <a:rPr lang="vi-VN" sz="2400">
                <a:latin typeface="Times New Roman" panose="02020603050405020304" pitchFamily="18" charset="0"/>
                <a:cs typeface="Times New Roman" panose="02020603050405020304" pitchFamily="18" charset="0"/>
              </a:rPr>
              <a:t>ùng để xử lý dữ liệu Big Data.</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7607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E286297-D4E2-F8C0-044C-258F19EA63D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4794356-CE8C-40CC-42F1-48BFED93980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050DDCF-AC6D-C7D4-7F1D-57B502EAB02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2" name="Group 1">
            <a:extLst>
              <a:ext uri="{FF2B5EF4-FFF2-40B4-BE49-F238E27FC236}">
                <a16:creationId xmlns:a16="http://schemas.microsoft.com/office/drawing/2014/main" id="{73D63D81-B135-EF52-638D-578E387DDC39}"/>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2DC01FF5-6968-3C9C-F77A-2C522A7DC4E3}"/>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AF3FC95-5F78-BBCF-7F78-C402AC4A772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3067979-4912-89D1-6F8E-D31361FDB02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8F43D01-48BD-297E-A72F-FB07C3BCA0B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724E2F9-2789-F377-B7F5-F06D6F79A0C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4DC7F3A-AB02-65C5-A1B3-79EE5FDDB2AB}"/>
              </a:ext>
            </a:extLst>
          </p:cNvPr>
          <p:cNvSpPr txBox="1"/>
          <p:nvPr/>
        </p:nvSpPr>
        <p:spPr>
          <a:xfrm>
            <a:off x="657834" y="1475968"/>
            <a:ext cx="11398142" cy="1200329"/>
          </a:xfrm>
          <a:prstGeom prst="rect">
            <a:avLst/>
          </a:prstGeom>
          <a:noFill/>
        </p:spPr>
        <p:txBody>
          <a:bodyPr wrap="square">
            <a:spAutoFit/>
          </a:bodyPr>
          <a:lstStyle/>
          <a:p>
            <a:pPr marL="342900" indent="-3429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Dữ liệu Thương mại điện tử ngày càng có xu hướng </a:t>
            </a:r>
            <a:r>
              <a:rPr lang="en-US" sz="2400" b="1">
                <a:latin typeface="Times New Roman" panose="02020603050405020304" pitchFamily="18" charset="0"/>
                <a:cs typeface="Times New Roman" panose="02020603050405020304" pitchFamily="18" charset="0"/>
              </a:rPr>
              <a:t>Big Data</a:t>
            </a:r>
            <a:r>
              <a:rPr lang="en-US" sz="2400">
                <a:latin typeface="Times New Roman" panose="02020603050405020304" pitchFamily="18" charset="0"/>
                <a:cs typeface="Times New Roman" panose="02020603050405020304" pitchFamily="18" charset="0"/>
              </a:rPr>
              <a:t>. Sharded Cluster là một lựa chọn tối ưu. Trong MongoDB thì </a:t>
            </a:r>
            <a:r>
              <a:rPr lang="vi-VN" sz="2400">
                <a:latin typeface="Times New Roman" panose="02020603050405020304" pitchFamily="18" charset="0"/>
                <a:cs typeface="Times New Roman" panose="02020603050405020304" pitchFamily="18" charset="0"/>
              </a:rPr>
              <a:t>dữ liệu </a:t>
            </a:r>
            <a:r>
              <a:rPr lang="en-US" sz="2400">
                <a:latin typeface="Times New Roman" panose="02020603050405020304" pitchFamily="18" charset="0"/>
                <a:cs typeface="Times New Roman" panose="02020603050405020304" pitchFamily="18" charset="0"/>
              </a:rPr>
              <a:t>được lưu </a:t>
            </a:r>
            <a:r>
              <a:rPr lang="vi-VN" sz="2400">
                <a:latin typeface="Times New Roman" panose="02020603050405020304" pitchFamily="18" charset="0"/>
                <a:cs typeface="Times New Roman" panose="02020603050405020304" pitchFamily="18" charset="0"/>
              </a:rPr>
              <a:t>dưới dạng </a:t>
            </a:r>
            <a:r>
              <a:rPr lang="vi-VN" sz="2400" b="1">
                <a:latin typeface="Times New Roman" panose="02020603050405020304" pitchFamily="18" charset="0"/>
                <a:cs typeface="Times New Roman" panose="02020603050405020304" pitchFamily="18" charset="0"/>
              </a:rPr>
              <a:t>Tài liệu độc lập</a:t>
            </a:r>
            <a:r>
              <a:rPr lang="vi-VN" sz="2400">
                <a:latin typeface="Times New Roman" panose="02020603050405020304" pitchFamily="18" charset="0"/>
                <a:cs typeface="Times New Roman" panose="02020603050405020304" pitchFamily="18" charset="0"/>
              </a:rPr>
              <a:t> (Document-based).</a:t>
            </a:r>
            <a:endParaRPr lang="en-US"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4FFBAC5-68F6-062B-B5B9-501D7E1B63C9}"/>
              </a:ext>
            </a:extLst>
          </p:cNvPr>
          <p:cNvSpPr txBox="1"/>
          <p:nvPr/>
        </p:nvSpPr>
        <p:spPr>
          <a:xfrm>
            <a:off x="657834" y="2839675"/>
            <a:ext cx="11234696" cy="3046988"/>
          </a:xfrm>
          <a:prstGeom prst="rect">
            <a:avLst/>
          </a:prstGeom>
          <a:noFill/>
        </p:spPr>
        <p:txBody>
          <a:bodyPr wrap="square">
            <a:spAutoFit/>
          </a:bodyPr>
          <a:lstStyle/>
          <a:p>
            <a:pPr marL="342900" indent="-3429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Mỗi Document (ví dụ: thông tin 1 cuốn sách, hoặc thông tin 1 người dùng) là một </a:t>
            </a:r>
            <a:r>
              <a:rPr lang="en-US" sz="2400">
                <a:latin typeface="Times New Roman" panose="02020603050405020304" pitchFamily="18" charset="0"/>
                <a:cs typeface="Times New Roman" panose="02020603050405020304" pitchFamily="18" charset="0"/>
              </a:rPr>
              <a:t>Tập</a:t>
            </a:r>
            <a:r>
              <a:rPr lang="vi-VN" sz="2400">
                <a:latin typeface="Times New Roman" panose="02020603050405020304" pitchFamily="18" charset="0"/>
                <a:cs typeface="Times New Roman" panose="02020603050405020304" pitchFamily="18" charset="0"/>
              </a:rPr>
              <a:t> dữ liệu trọn vẹn, chứa sẵn luôn cả mảng dữ liệu phụ bên trong (Embed) mà không cần JOIN với </a:t>
            </a:r>
            <a:r>
              <a:rPr lang="en-US" sz="2400">
                <a:latin typeface="Times New Roman" panose="02020603050405020304" pitchFamily="18" charset="0"/>
                <a:cs typeface="Times New Roman" panose="02020603050405020304" pitchFamily="18" charset="0"/>
              </a:rPr>
              <a:t>Document khác</a:t>
            </a:r>
            <a:r>
              <a:rPr lang="vi-VN" sz="240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Vì dữ liệu độc lập, MongoDB có thể dễ dàng dùng kỹ thuật </a:t>
            </a:r>
            <a:r>
              <a:rPr lang="en-US" sz="2400" b="1">
                <a:latin typeface="Times New Roman" panose="02020603050405020304" pitchFamily="18" charset="0"/>
                <a:cs typeface="Times New Roman" panose="02020603050405020304" pitchFamily="18" charset="0"/>
              </a:rPr>
              <a:t>Sharded Cluster (Cụm phân mảnh)</a:t>
            </a:r>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MongoDB có thể phân bổ</a:t>
            </a:r>
            <a:r>
              <a:rPr lang="vi-VN" sz="2400">
                <a:latin typeface="Times New Roman" panose="02020603050405020304" pitchFamily="18" charset="0"/>
                <a:cs typeface="Times New Roman" panose="02020603050405020304" pitchFamily="18" charset="0"/>
              </a:rPr>
              <a:t> 1 triệu cuốn sách sang Máy chủ A, 1 triệu cuốn sang Máy chủ B, 1 triệu cuốn sang Máy chủ C.</a:t>
            </a:r>
          </a:p>
          <a:p>
            <a:pPr marL="342900" indent="-3429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Khi cần tìm sách, truy vấn gửi đến máy chủ nào thì máy chủ đó tự lấy dữ liệu của nó trả về ngay lập tức, không cần phải </a:t>
            </a:r>
            <a:r>
              <a:rPr lang="en-US" sz="2400">
                <a:latin typeface="Times New Roman" panose="02020603050405020304" pitchFamily="18" charset="0"/>
                <a:cs typeface="Times New Roman" panose="02020603050405020304" pitchFamily="18" charset="0"/>
              </a:rPr>
              <a:t>gửi thông điệp</a:t>
            </a:r>
            <a:r>
              <a:rPr lang="vi-VN" sz="2400">
                <a:latin typeface="Times New Roman" panose="02020603050405020304" pitchFamily="18" charset="0"/>
                <a:cs typeface="Times New Roman" panose="02020603050405020304" pitchFamily="18" charset="0"/>
              </a:rPr>
              <a:t> hay JOIN với các máy chủ khác.</a:t>
            </a:r>
          </a:p>
        </p:txBody>
      </p:sp>
      <p:sp>
        <p:nvSpPr>
          <p:cNvPr id="10" name="TextBox 9">
            <a:extLst>
              <a:ext uri="{FF2B5EF4-FFF2-40B4-BE49-F238E27FC236}">
                <a16:creationId xmlns:a16="http://schemas.microsoft.com/office/drawing/2014/main" id="{0D884360-0B42-4CC4-92EF-A2110FE154F0}"/>
              </a:ext>
            </a:extLst>
          </p:cNvPr>
          <p:cNvSpPr txBox="1"/>
          <p:nvPr/>
        </p:nvSpPr>
        <p:spPr>
          <a:xfrm>
            <a:off x="657834" y="850925"/>
            <a:ext cx="6297672" cy="461665"/>
          </a:xfrm>
          <a:prstGeom prst="rect">
            <a:avLst/>
          </a:prstGeom>
          <a:noFill/>
        </p:spPr>
        <p:txBody>
          <a:bodyPr wrap="square">
            <a:spAutoFit/>
          </a:bodyPr>
          <a:lstStyle/>
          <a:p>
            <a:pPr marL="342900" indent="-342900">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Sharded Cluster </a:t>
            </a:r>
            <a:endParaRPr lang="en-US" sz="2400"/>
          </a:p>
        </p:txBody>
      </p:sp>
    </p:spTree>
    <p:extLst>
      <p:ext uri="{BB962C8B-B14F-4D97-AF65-F5344CB8AC3E}">
        <p14:creationId xmlns:p14="http://schemas.microsoft.com/office/powerpoint/2010/main" val="4168829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D707886-6FAE-ACCC-5279-7731A46DCCF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B87F900-A7CA-2826-13E3-C8D4A0222B6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3EECB45-A3FC-26C8-380F-6A2640742C6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2" name="Group 1">
            <a:extLst>
              <a:ext uri="{FF2B5EF4-FFF2-40B4-BE49-F238E27FC236}">
                <a16:creationId xmlns:a16="http://schemas.microsoft.com/office/drawing/2014/main" id="{26910407-C8E4-9543-7FC1-FE78B29622BC}"/>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B028676E-7B47-F044-0E82-DFADBBDFEEB2}"/>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49E293C-8380-5BAA-E6F4-06FB9FC7E22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7F0992E-1DAA-38B5-5CF5-F2CD0251052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42C7407-975C-D603-02E1-FEA3076A12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728DEC3-C074-CEE8-DE9E-80802689A3B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7A0E114-8656-7141-269A-5671A4ADFF22}"/>
              </a:ext>
            </a:extLst>
          </p:cNvPr>
          <p:cNvSpPr txBox="1"/>
          <p:nvPr/>
        </p:nvSpPr>
        <p:spPr>
          <a:xfrm>
            <a:off x="564686" y="841012"/>
            <a:ext cx="11398142" cy="1200329"/>
          </a:xfrm>
          <a:prstGeom prst="rect">
            <a:avLst/>
          </a:prstGeom>
          <a:noFill/>
        </p:spPr>
        <p:txBody>
          <a:bodyPr wrap="square">
            <a:spAutoFit/>
          </a:bodyPr>
          <a:lstStyle/>
          <a:p>
            <a:pPr marL="342900" indent="-3429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Sharded Cluster (Cụm phân mảnh): </a:t>
            </a:r>
            <a:r>
              <a:rPr lang="en-US" sz="2400">
                <a:latin typeface="Times New Roman" panose="02020603050405020304" pitchFamily="18" charset="0"/>
                <a:cs typeface="Times New Roman" panose="02020603050405020304" pitchFamily="18" charset="0"/>
              </a:rPr>
              <a:t>MongoDB sử dụng 3 đối tượng </a:t>
            </a:r>
            <a:r>
              <a:rPr lang="en-US" sz="2400" b="1">
                <a:latin typeface="Times New Roman" panose="02020603050405020304" pitchFamily="18" charset="0"/>
                <a:cs typeface="Times New Roman" panose="02020603050405020304" pitchFamily="18" charset="0"/>
              </a:rPr>
              <a:t>Shard Key</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Config Server </a:t>
            </a:r>
            <a:r>
              <a:rPr lang="en-US" sz="2400">
                <a:latin typeface="Times New Roman" panose="02020603050405020304" pitchFamily="18" charset="0"/>
                <a:cs typeface="Times New Roman" panose="02020603050405020304" pitchFamily="18" charset="0"/>
              </a:rPr>
              <a:t>và </a:t>
            </a:r>
            <a:r>
              <a:rPr lang="en-US" sz="2400" b="1">
                <a:latin typeface="Times New Roman" panose="02020603050405020304" pitchFamily="18" charset="0"/>
                <a:cs typeface="Times New Roman" panose="02020603050405020304" pitchFamily="18" charset="0"/>
              </a:rPr>
              <a:t>Mongos</a:t>
            </a:r>
            <a:r>
              <a:rPr lang="en-US" sz="2400">
                <a:latin typeface="Times New Roman" panose="02020603050405020304" pitchFamily="18" charset="0"/>
                <a:cs typeface="Times New Roman" panose="02020603050405020304" pitchFamily="18" charset="0"/>
              </a:rPr>
              <a:t> để xử lý truy vấn Big Data với dữ liệu được lưu trữ ở các Server khác nhau (dữ liệu big data và phân tán)</a:t>
            </a:r>
          </a:p>
        </p:txBody>
      </p:sp>
      <p:sp>
        <p:nvSpPr>
          <p:cNvPr id="10" name="TextBox 9">
            <a:extLst>
              <a:ext uri="{FF2B5EF4-FFF2-40B4-BE49-F238E27FC236}">
                <a16:creationId xmlns:a16="http://schemas.microsoft.com/office/drawing/2014/main" id="{5163FF03-5115-D8C4-C46D-56BCF2375395}"/>
              </a:ext>
            </a:extLst>
          </p:cNvPr>
          <p:cNvSpPr txBox="1"/>
          <p:nvPr/>
        </p:nvSpPr>
        <p:spPr>
          <a:xfrm>
            <a:off x="728132" y="1962654"/>
            <a:ext cx="11150634" cy="4493538"/>
          </a:xfrm>
          <a:prstGeom prst="rect">
            <a:avLst/>
          </a:prstGeom>
          <a:noFill/>
        </p:spPr>
        <p:txBody>
          <a:bodyPr wrap="square">
            <a:spAutoFit/>
          </a:bodyPr>
          <a:lstStyle/>
          <a:p>
            <a:pPr algn="just">
              <a:buNone/>
            </a:pPr>
            <a:r>
              <a:rPr lang="vi-VN" sz="2200" b="1">
                <a:latin typeface="Times New Roman" panose="02020603050405020304" pitchFamily="18" charset="0"/>
                <a:cs typeface="Times New Roman" panose="02020603050405020304" pitchFamily="18" charset="0"/>
              </a:rPr>
              <a:t>1. </a:t>
            </a:r>
            <a:r>
              <a:rPr lang="vi-VN" sz="2200" b="1">
                <a:solidFill>
                  <a:srgbClr val="FF0000"/>
                </a:solidFill>
                <a:latin typeface="Times New Roman" panose="02020603050405020304" pitchFamily="18" charset="0"/>
                <a:cs typeface="Times New Roman" panose="02020603050405020304" pitchFamily="18" charset="0"/>
              </a:rPr>
              <a:t>Shard Key </a:t>
            </a:r>
            <a:r>
              <a:rPr lang="vi-VN" sz="2200" b="1">
                <a:latin typeface="Times New Roman" panose="02020603050405020304" pitchFamily="18" charset="0"/>
                <a:cs typeface="Times New Roman" panose="02020603050405020304" pitchFamily="18" charset="0"/>
              </a:rPr>
              <a:t>(Quy tắc chia</a:t>
            </a:r>
            <a:r>
              <a:rPr lang="en-US" sz="2200" b="1">
                <a:latin typeface="Times New Roman" panose="02020603050405020304" pitchFamily="18" charset="0"/>
                <a:cs typeface="Times New Roman" panose="02020603050405020304" pitchFamily="18" charset="0"/>
              </a:rPr>
              <a:t> dữ liệu</a:t>
            </a:r>
            <a:r>
              <a:rPr lang="vi-VN" sz="2200" b="1">
                <a:latin typeface="Times New Roman" panose="02020603050405020304" pitchFamily="18" charset="0"/>
                <a:cs typeface="Times New Roman" panose="02020603050405020304" pitchFamily="18" charset="0"/>
              </a:rPr>
              <a:t>)</a:t>
            </a:r>
          </a:p>
          <a:p>
            <a:pPr algn="just">
              <a:buNone/>
            </a:pPr>
            <a:r>
              <a:rPr lang="vi-VN" sz="2200">
                <a:latin typeface="Times New Roman" panose="02020603050405020304" pitchFamily="18" charset="0"/>
                <a:cs typeface="Times New Roman" panose="02020603050405020304" pitchFamily="18" charset="0"/>
              </a:rPr>
              <a:t>MongoDB không </a:t>
            </a:r>
            <a:r>
              <a:rPr lang="en-US" sz="2200">
                <a:latin typeface="Times New Roman" panose="02020603050405020304" pitchFamily="18" charset="0"/>
                <a:cs typeface="Times New Roman" panose="02020603050405020304" pitchFamily="18" charset="0"/>
              </a:rPr>
              <a:t>phân bổ </a:t>
            </a:r>
            <a:r>
              <a:rPr lang="vi-VN" sz="2200">
                <a:latin typeface="Times New Roman" panose="02020603050405020304" pitchFamily="18" charset="0"/>
                <a:cs typeface="Times New Roman" panose="02020603050405020304" pitchFamily="18" charset="0"/>
              </a:rPr>
              <a:t>dữ liệu một cách ngẫu nhiên. Khi bắt đầu chia máy chủ, lập trình viên phải định ra một quy tắc, gọi là </a:t>
            </a:r>
            <a:r>
              <a:rPr lang="vi-VN" sz="2200" b="1">
                <a:latin typeface="Times New Roman" panose="02020603050405020304" pitchFamily="18" charset="0"/>
                <a:cs typeface="Times New Roman" panose="02020603050405020304" pitchFamily="18" charset="0"/>
              </a:rPr>
              <a:t>Shard Key</a:t>
            </a:r>
            <a:r>
              <a:rPr lang="vi-VN" sz="2200">
                <a:latin typeface="Times New Roman" panose="02020603050405020304" pitchFamily="18" charset="0"/>
                <a:cs typeface="Times New Roman" panose="02020603050405020304" pitchFamily="18" charset="0"/>
              </a:rPr>
              <a:t> (Khóa phân mảnh).</a:t>
            </a:r>
          </a:p>
          <a:p>
            <a:pPr marL="342900" indent="-342900" algn="just">
              <a:buFont typeface="Wingdings" panose="05000000000000000000" pitchFamily="2" charset="2"/>
              <a:buChar char="ü"/>
            </a:pPr>
            <a:r>
              <a:rPr lang="vi-VN" sz="2200">
                <a:latin typeface="Times New Roman" panose="02020603050405020304" pitchFamily="18" charset="0"/>
                <a:cs typeface="Times New Roman" panose="02020603050405020304" pitchFamily="18" charset="0"/>
              </a:rPr>
              <a:t>Ví dụ: </a:t>
            </a:r>
            <a:r>
              <a:rPr lang="en-US" sz="2200">
                <a:latin typeface="Times New Roman" panose="02020603050405020304" pitchFamily="18" charset="0"/>
                <a:cs typeface="Times New Roman" panose="02020603050405020304" pitchFamily="18" charset="0"/>
              </a:rPr>
              <a:t>Ta </a:t>
            </a:r>
            <a:r>
              <a:rPr lang="vi-VN" sz="2200">
                <a:latin typeface="Times New Roman" panose="02020603050405020304" pitchFamily="18" charset="0"/>
                <a:cs typeface="Times New Roman" panose="02020603050405020304" pitchFamily="18" charset="0"/>
              </a:rPr>
              <a:t>chọn BookId làm Shard Key.</a:t>
            </a:r>
          </a:p>
          <a:p>
            <a:pPr marL="342900" indent="-342900" algn="just">
              <a:buFont typeface="Wingdings" panose="05000000000000000000" pitchFamily="2" charset="2"/>
              <a:buChar char="ü"/>
            </a:pPr>
            <a:r>
              <a:rPr lang="vi-VN" sz="2200">
                <a:latin typeface="Times New Roman" panose="02020603050405020304" pitchFamily="18" charset="0"/>
                <a:cs typeface="Times New Roman" panose="02020603050405020304" pitchFamily="18" charset="0"/>
              </a:rPr>
              <a:t>Quy tắc được lập ra: Sách có mã từ B1 đến B</a:t>
            </a:r>
            <a:r>
              <a:rPr lang="en-US" sz="2200">
                <a:latin typeface="Times New Roman" panose="02020603050405020304" pitchFamily="18" charset="0"/>
                <a:cs typeface="Times New Roman" panose="02020603050405020304" pitchFamily="18" charset="0"/>
              </a:rPr>
              <a:t>1000000</a:t>
            </a:r>
            <a:r>
              <a:rPr lang="vi-VN" sz="2200">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rPr>
              <a:t>phân </a:t>
            </a:r>
            <a:r>
              <a:rPr lang="vi-VN" sz="2200">
                <a:latin typeface="Times New Roman" panose="02020603050405020304" pitchFamily="18" charset="0"/>
                <a:cs typeface="Times New Roman" panose="02020603050405020304" pitchFamily="18" charset="0"/>
              </a:rPr>
              <a:t>vào Máy chủ 1. Từ B</a:t>
            </a:r>
            <a:r>
              <a:rPr lang="en-US" sz="2200">
                <a:latin typeface="Times New Roman" panose="02020603050405020304" pitchFamily="18" charset="0"/>
                <a:cs typeface="Times New Roman" panose="02020603050405020304" pitchFamily="18" charset="0"/>
              </a:rPr>
              <a:t>1000001</a:t>
            </a:r>
            <a:r>
              <a:rPr lang="vi-VN" sz="2200">
                <a:latin typeface="Times New Roman" panose="02020603050405020304" pitchFamily="18" charset="0"/>
                <a:cs typeface="Times New Roman" panose="02020603050405020304" pitchFamily="18" charset="0"/>
              </a:rPr>
              <a:t> đến B</a:t>
            </a:r>
            <a:r>
              <a:rPr lang="en-US" sz="2200">
                <a:latin typeface="Times New Roman" panose="02020603050405020304" pitchFamily="18" charset="0"/>
                <a:cs typeface="Times New Roman" panose="02020603050405020304" pitchFamily="18" charset="0"/>
              </a:rPr>
              <a:t>2000000</a:t>
            </a:r>
            <a:r>
              <a:rPr lang="vi-VN" sz="2200">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rPr>
              <a:t>phân </a:t>
            </a:r>
            <a:r>
              <a:rPr lang="vi-VN" sz="2200">
                <a:latin typeface="Times New Roman" panose="02020603050405020304" pitchFamily="18" charset="0"/>
                <a:cs typeface="Times New Roman" panose="02020603050405020304" pitchFamily="18" charset="0"/>
              </a:rPr>
              <a:t>vào Máy chủ 2. Từ B</a:t>
            </a:r>
            <a:r>
              <a:rPr lang="en-US" sz="2200">
                <a:latin typeface="Times New Roman" panose="02020603050405020304" pitchFamily="18" charset="0"/>
                <a:cs typeface="Times New Roman" panose="02020603050405020304" pitchFamily="18" charset="0"/>
              </a:rPr>
              <a:t>2000001</a:t>
            </a:r>
            <a:r>
              <a:rPr lang="vi-VN" sz="2200">
                <a:latin typeface="Times New Roman" panose="02020603050405020304" pitchFamily="18" charset="0"/>
                <a:cs typeface="Times New Roman" panose="02020603050405020304" pitchFamily="18" charset="0"/>
              </a:rPr>
              <a:t> trở đi </a:t>
            </a:r>
            <a:r>
              <a:rPr lang="en-US" sz="2200">
                <a:latin typeface="Times New Roman" panose="02020603050405020304" pitchFamily="18" charset="0"/>
                <a:cs typeface="Times New Roman" panose="02020603050405020304" pitchFamily="18" charset="0"/>
              </a:rPr>
              <a:t>phân </a:t>
            </a:r>
            <a:r>
              <a:rPr lang="vi-VN" sz="2200">
                <a:latin typeface="Times New Roman" panose="02020603050405020304" pitchFamily="18" charset="0"/>
                <a:cs typeface="Times New Roman" panose="02020603050405020304" pitchFamily="18" charset="0"/>
              </a:rPr>
              <a:t>vào Máy chủ 3…</a:t>
            </a:r>
          </a:p>
          <a:p>
            <a:pPr algn="just">
              <a:buNone/>
            </a:pPr>
            <a:r>
              <a:rPr lang="vi-VN" sz="2200" b="1">
                <a:latin typeface="Times New Roman" panose="02020603050405020304" pitchFamily="18" charset="0"/>
                <a:cs typeface="Times New Roman" panose="02020603050405020304" pitchFamily="18" charset="0"/>
              </a:rPr>
              <a:t>2. </a:t>
            </a:r>
            <a:r>
              <a:rPr lang="vi-VN" sz="2200" b="1">
                <a:solidFill>
                  <a:srgbClr val="FF0000"/>
                </a:solidFill>
                <a:latin typeface="Times New Roman" panose="02020603050405020304" pitchFamily="18" charset="0"/>
                <a:cs typeface="Times New Roman" panose="02020603050405020304" pitchFamily="18" charset="0"/>
              </a:rPr>
              <a:t>Config Server </a:t>
            </a:r>
            <a:r>
              <a:rPr lang="vi-VN" sz="2200" b="1">
                <a:latin typeface="Times New Roman" panose="02020603050405020304" pitchFamily="18" charset="0"/>
                <a:cs typeface="Times New Roman" panose="02020603050405020304" pitchFamily="18" charset="0"/>
              </a:rPr>
              <a:t>(</a:t>
            </a:r>
            <a:r>
              <a:rPr lang="en-US" sz="2200" b="1">
                <a:latin typeface="Times New Roman" panose="02020603050405020304" pitchFamily="18" charset="0"/>
                <a:cs typeface="Times New Roman" panose="02020603050405020304" pitchFamily="18" charset="0"/>
              </a:rPr>
              <a:t>Lưu cấu hình</a:t>
            </a:r>
            <a:r>
              <a:rPr lang="vi-VN" sz="2200" b="1">
                <a:latin typeface="Times New Roman" panose="02020603050405020304" pitchFamily="18" charset="0"/>
                <a:cs typeface="Times New Roman" panose="02020603050405020304" pitchFamily="18" charset="0"/>
              </a:rPr>
              <a:t>)</a:t>
            </a:r>
          </a:p>
          <a:p>
            <a:pPr algn="just">
              <a:buNone/>
            </a:pPr>
            <a:r>
              <a:rPr lang="vi-VN" sz="2200">
                <a:latin typeface="Times New Roman" panose="02020603050405020304" pitchFamily="18" charset="0"/>
                <a:cs typeface="Times New Roman" panose="02020603050405020304" pitchFamily="18" charset="0"/>
              </a:rPr>
              <a:t>Khi các quy tắc </a:t>
            </a:r>
            <a:r>
              <a:rPr lang="en-US" sz="2200">
                <a:latin typeface="Times New Roman" panose="02020603050405020304" pitchFamily="18" charset="0"/>
                <a:cs typeface="Times New Roman" panose="02020603050405020304" pitchFamily="18" charset="0"/>
              </a:rPr>
              <a:t>phân dữ liệu </a:t>
            </a:r>
            <a:r>
              <a:rPr lang="vi-VN" sz="2200">
                <a:latin typeface="Times New Roman" panose="02020603050405020304" pitchFamily="18" charset="0"/>
                <a:cs typeface="Times New Roman" panose="02020603050405020304" pitchFamily="18" charset="0"/>
              </a:rPr>
              <a:t>được thiết lập, MongoDB </a:t>
            </a:r>
            <a:r>
              <a:rPr lang="en-US" sz="2200">
                <a:latin typeface="Times New Roman" panose="02020603050405020304" pitchFamily="18" charset="0"/>
                <a:cs typeface="Times New Roman" panose="02020603050405020304" pitchFamily="18" charset="0"/>
              </a:rPr>
              <a:t>lưu các thông số này </a:t>
            </a:r>
            <a:r>
              <a:rPr lang="vi-VN" sz="2200">
                <a:latin typeface="Times New Roman" panose="02020603050405020304" pitchFamily="18" charset="0"/>
                <a:cs typeface="Times New Roman" panose="02020603050405020304" pitchFamily="18" charset="0"/>
              </a:rPr>
              <a:t>vào một máy chủ đặc biệt, gọi là </a:t>
            </a:r>
            <a:r>
              <a:rPr lang="vi-VN" sz="2200" b="1">
                <a:latin typeface="Times New Roman" panose="02020603050405020304" pitchFamily="18" charset="0"/>
                <a:cs typeface="Times New Roman" panose="02020603050405020304" pitchFamily="18" charset="0"/>
              </a:rPr>
              <a:t>Config Server</a:t>
            </a:r>
            <a:r>
              <a:rPr lang="vi-VN" sz="2200">
                <a:latin typeface="Times New Roman" panose="02020603050405020304" pitchFamily="18" charset="0"/>
                <a:cs typeface="Times New Roman" panose="02020603050405020304" pitchFamily="18" charset="0"/>
              </a:rPr>
              <a:t>. Máy chủ này chỉ chứa duy nhất một thứ: </a:t>
            </a:r>
            <a:r>
              <a:rPr lang="en-US" sz="2200">
                <a:latin typeface="Times New Roman" panose="02020603050405020304" pitchFamily="18" charset="0"/>
                <a:cs typeface="Times New Roman" panose="02020603050405020304" pitchFamily="18" charset="0"/>
              </a:rPr>
              <a:t>D</a:t>
            </a:r>
            <a:r>
              <a:rPr lang="vi-VN" sz="2200">
                <a:latin typeface="Times New Roman" panose="02020603050405020304" pitchFamily="18" charset="0"/>
                <a:cs typeface="Times New Roman" panose="02020603050405020304" pitchFamily="18" charset="0"/>
              </a:rPr>
              <a:t>ải dữ liệu nào đang nằm ở máy chủ nào.</a:t>
            </a:r>
          </a:p>
          <a:p>
            <a:pPr algn="just">
              <a:buNone/>
            </a:pPr>
            <a:r>
              <a:rPr lang="vi-VN" sz="2200" b="1">
                <a:latin typeface="Times New Roman" panose="02020603050405020304" pitchFamily="18" charset="0"/>
                <a:cs typeface="Times New Roman" panose="02020603050405020304" pitchFamily="18" charset="0"/>
              </a:rPr>
              <a:t>3. </a:t>
            </a:r>
            <a:r>
              <a:rPr lang="vi-VN" sz="2200" b="1">
                <a:solidFill>
                  <a:srgbClr val="FF0000"/>
                </a:solidFill>
                <a:latin typeface="Times New Roman" panose="02020603050405020304" pitchFamily="18" charset="0"/>
                <a:cs typeface="Times New Roman" panose="02020603050405020304" pitchFamily="18" charset="0"/>
              </a:rPr>
              <a:t>Mongos</a:t>
            </a:r>
            <a:r>
              <a:rPr lang="vi-VN" sz="2200" b="1">
                <a:latin typeface="Times New Roman" panose="02020603050405020304" pitchFamily="18" charset="0"/>
                <a:cs typeface="Times New Roman" panose="02020603050405020304" pitchFamily="18" charset="0"/>
              </a:rPr>
              <a:t> (Bộ định tuyến)</a:t>
            </a:r>
          </a:p>
          <a:p>
            <a:pPr algn="just">
              <a:buNone/>
            </a:pPr>
            <a:r>
              <a:rPr lang="vi-VN" sz="2200">
                <a:latin typeface="Times New Roman" panose="02020603050405020304" pitchFamily="18" charset="0"/>
                <a:cs typeface="Times New Roman" panose="02020603050405020304" pitchFamily="18" charset="0"/>
              </a:rPr>
              <a:t>Ứng dụng NodeJS của </a:t>
            </a:r>
            <a:r>
              <a:rPr lang="en-US" sz="2200">
                <a:latin typeface="Times New Roman" panose="02020603050405020304" pitchFamily="18" charset="0"/>
                <a:cs typeface="Times New Roman" panose="02020603050405020304" pitchFamily="18" charset="0"/>
              </a:rPr>
              <a:t>Ta </a:t>
            </a:r>
            <a:r>
              <a:rPr lang="vi-VN" sz="2200" b="1">
                <a:latin typeface="Times New Roman" panose="02020603050405020304" pitchFamily="18" charset="0"/>
                <a:cs typeface="Times New Roman" panose="02020603050405020304" pitchFamily="18" charset="0"/>
              </a:rPr>
              <a:t>không bao giờ kết nối trực tiếp với 3 máy chủ chứa dữ liệu</a:t>
            </a:r>
            <a:r>
              <a:rPr lang="vi-VN" sz="2200">
                <a:latin typeface="Times New Roman" panose="02020603050405020304" pitchFamily="18" charset="0"/>
                <a:cs typeface="Times New Roman" panose="02020603050405020304" pitchFamily="18" charset="0"/>
              </a:rPr>
              <a:t>. NodeJS chỉ kết nối với một trạm trung chuyển gọi là </a:t>
            </a:r>
            <a:r>
              <a:rPr lang="vi-VN" sz="2200" b="1">
                <a:latin typeface="Times New Roman" panose="02020603050405020304" pitchFamily="18" charset="0"/>
                <a:cs typeface="Times New Roman" panose="02020603050405020304" pitchFamily="18" charset="0"/>
              </a:rPr>
              <a:t>Mongos</a:t>
            </a:r>
            <a:r>
              <a:rPr lang="vi-VN" sz="2200">
                <a:latin typeface="Times New Roman" panose="02020603050405020304" pitchFamily="18" charset="0"/>
                <a:cs typeface="Times New Roman" panose="02020603050405020304" pitchFamily="18" charset="0"/>
              </a:rPr>
              <a:t> (đóng vai trò </a:t>
            </a:r>
            <a:r>
              <a:rPr lang="en-US" sz="2200">
                <a:latin typeface="Times New Roman" panose="02020603050405020304" pitchFamily="18" charset="0"/>
                <a:cs typeface="Times New Roman" panose="02020603050405020304" pitchFamily="18" charset="0"/>
              </a:rPr>
              <a:t>người điều phối</a:t>
            </a:r>
            <a:r>
              <a:rPr lang="vi-VN" sz="22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8072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F4B3597-A56F-5E53-EE6C-DBF3CF3000E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F6DB3C8-EDD2-B81B-1D80-5F66A290230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8907206-AF27-3058-BF55-4D8444E6D88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2" name="Group 1">
            <a:extLst>
              <a:ext uri="{FF2B5EF4-FFF2-40B4-BE49-F238E27FC236}">
                <a16:creationId xmlns:a16="http://schemas.microsoft.com/office/drawing/2014/main" id="{22F833ED-D1EC-6DD6-37AB-82A908C952B7}"/>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5AA437AC-46F4-47D9-9350-2774F3AF2332}"/>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46103F9-D153-1A18-0BA4-18ED1F23A18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5E65C9C-A3BE-202B-5B71-395925F50BC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BB94E65-09D5-E028-23BD-4BDED097B18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67B1AA7-860D-348E-39DE-6B35AB44FCD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778F15E-9643-F233-3DA0-2D3A8522D84D}"/>
              </a:ext>
            </a:extLst>
          </p:cNvPr>
          <p:cNvSpPr txBox="1"/>
          <p:nvPr/>
        </p:nvSpPr>
        <p:spPr>
          <a:xfrm>
            <a:off x="564686" y="1409888"/>
            <a:ext cx="11398142" cy="3719288"/>
          </a:xfrm>
          <a:prstGeom prst="rect">
            <a:avLst/>
          </a:prstGeom>
          <a:noFill/>
        </p:spPr>
        <p:txBody>
          <a:bodyPr wrap="square">
            <a:spAutoFit/>
          </a:bodyPr>
          <a:lstStyle/>
          <a:p>
            <a:pPr marL="342900" indent="-3429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Khi có lệnh tìm kiếm diễn ra, luồng chạy sẽ như sau:</a:t>
            </a:r>
          </a:p>
          <a:p>
            <a:pPr marL="457200" indent="-457200" algn="just">
              <a:lnSpc>
                <a:spcPct val="150000"/>
              </a:lnSpc>
              <a:buFont typeface="+mj-lt"/>
              <a:buAutoNum type="arabicPeriod"/>
            </a:pPr>
            <a:r>
              <a:rPr lang="vi-VN" sz="2400">
                <a:latin typeface="Times New Roman" panose="02020603050405020304" pitchFamily="18" charset="0"/>
                <a:cs typeface="Times New Roman" panose="02020603050405020304" pitchFamily="18" charset="0"/>
              </a:rPr>
              <a:t>NodeJS gửi lệnh: “</a:t>
            </a:r>
            <a:r>
              <a:rPr lang="en-US" sz="2400">
                <a:latin typeface="Times New Roman" panose="02020603050405020304" pitchFamily="18" charset="0"/>
                <a:cs typeface="Times New Roman" panose="02020603050405020304" pitchFamily="18" charset="0"/>
              </a:rPr>
              <a:t>T</a:t>
            </a:r>
            <a:r>
              <a:rPr lang="vi-VN" sz="2400">
                <a:latin typeface="Times New Roman" panose="02020603050405020304" pitchFamily="18" charset="0"/>
                <a:cs typeface="Times New Roman" panose="02020603050405020304" pitchFamily="18" charset="0"/>
              </a:rPr>
              <a:t>ôi </a:t>
            </a:r>
            <a:r>
              <a:rPr lang="en-US" sz="2400">
                <a:latin typeface="Times New Roman" panose="02020603050405020304" pitchFamily="18" charset="0"/>
                <a:cs typeface="Times New Roman" panose="02020603050405020304" pitchFamily="18" charset="0"/>
              </a:rPr>
              <a:t>truy vấn </a:t>
            </a:r>
            <a:r>
              <a:rPr lang="vi-VN" sz="2400">
                <a:latin typeface="Times New Roman" panose="02020603050405020304" pitchFamily="18" charset="0"/>
                <a:cs typeface="Times New Roman" panose="02020603050405020304" pitchFamily="18" charset="0"/>
              </a:rPr>
              <a:t>thông tin cuốn sách</a:t>
            </a:r>
            <a:r>
              <a:rPr lang="en-US" sz="2400">
                <a:latin typeface="Times New Roman" panose="02020603050405020304" pitchFamily="18" charset="0"/>
                <a:cs typeface="Times New Roman" panose="02020603050405020304" pitchFamily="18" charset="0"/>
              </a:rPr>
              <a:t> có mã</a:t>
            </a:r>
            <a:r>
              <a:rPr lang="vi-VN" sz="2400">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a:t>
            </a:r>
            <a:r>
              <a:rPr lang="en-US" sz="2400" b="1">
                <a:latin typeface="Times New Roman" panose="02020603050405020304" pitchFamily="18" charset="0"/>
                <a:cs typeface="Times New Roman" panose="02020603050405020304" pitchFamily="18" charset="0"/>
              </a:rPr>
              <a:t>1696969</a:t>
            </a:r>
            <a:r>
              <a:rPr lang="vi-VN" sz="2400">
                <a:latin typeface="Times New Roman" panose="02020603050405020304" pitchFamily="18" charset="0"/>
                <a:cs typeface="Times New Roman" panose="02020603050405020304" pitchFamily="18" charset="0"/>
              </a:rPr>
              <a:t>".</a:t>
            </a:r>
          </a:p>
          <a:p>
            <a:pPr marL="457200" indent="-457200" algn="just">
              <a:lnSpc>
                <a:spcPct val="150000"/>
              </a:lnSpc>
              <a:buFont typeface="+mj-lt"/>
              <a:buAutoNum type="arabicPeriod"/>
            </a:pPr>
            <a:r>
              <a:rPr lang="vi-VN" sz="2400">
                <a:latin typeface="Times New Roman" panose="02020603050405020304" pitchFamily="18" charset="0"/>
                <a:cs typeface="Times New Roman" panose="02020603050405020304" pitchFamily="18" charset="0"/>
              </a:rPr>
              <a:t>Mongos nhận lệnh. Nó lập tức mở </a:t>
            </a:r>
            <a:r>
              <a:rPr lang="en-US" sz="2400">
                <a:latin typeface="Times New Roman" panose="02020603050405020304" pitchFamily="18" charset="0"/>
                <a:cs typeface="Times New Roman" panose="02020603050405020304" pitchFamily="18" charset="0"/>
              </a:rPr>
              <a:t>cấu hình trong </a:t>
            </a:r>
            <a:r>
              <a:rPr lang="vi-VN" sz="2400">
                <a:latin typeface="Times New Roman" panose="02020603050405020304" pitchFamily="18" charset="0"/>
                <a:cs typeface="Times New Roman" panose="02020603050405020304" pitchFamily="18" charset="0"/>
              </a:rPr>
              <a:t>Config Server ra </a:t>
            </a:r>
            <a:r>
              <a:rPr lang="en-US" sz="2400">
                <a:latin typeface="Times New Roman" panose="02020603050405020304" pitchFamily="18" charset="0"/>
                <a:cs typeface="Times New Roman" panose="02020603050405020304" pitchFamily="18" charset="0"/>
              </a:rPr>
              <a:t>kiểm tra</a:t>
            </a:r>
            <a:r>
              <a:rPr lang="vi-VN" sz="2400">
                <a:latin typeface="Times New Roman" panose="02020603050405020304" pitchFamily="18" charset="0"/>
                <a:cs typeface="Times New Roman" panose="02020603050405020304" pitchFamily="18" charset="0"/>
              </a:rPr>
              <a:t>.</a:t>
            </a:r>
          </a:p>
          <a:p>
            <a:pPr marL="457200" indent="-457200" algn="just">
              <a:lnSpc>
                <a:spcPct val="150000"/>
              </a:lnSpc>
              <a:buFont typeface="+mj-lt"/>
              <a:buAutoNum type="arabicPeriod"/>
            </a:pPr>
            <a:r>
              <a:rPr lang="vi-VN" sz="2400">
                <a:latin typeface="Times New Roman" panose="02020603050405020304" pitchFamily="18" charset="0"/>
                <a:cs typeface="Times New Roman" panose="02020603050405020304" pitchFamily="18" charset="0"/>
              </a:rPr>
              <a:t>Mongos</a:t>
            </a:r>
            <a:r>
              <a:rPr lang="en-US" sz="2400">
                <a:latin typeface="Times New Roman" panose="02020603050405020304" pitchFamily="18" charset="0"/>
                <a:cs typeface="Times New Roman" panose="02020603050405020304" pitchFamily="18" charset="0"/>
              </a:rPr>
              <a:t> thấy </a:t>
            </a:r>
            <a:r>
              <a:rPr lang="vi-VN" sz="2400" b="1">
                <a:latin typeface="Times New Roman" panose="02020603050405020304" pitchFamily="18" charset="0"/>
                <a:cs typeface="Times New Roman" panose="02020603050405020304" pitchFamily="18" charset="0"/>
              </a:rPr>
              <a:t>B</a:t>
            </a:r>
            <a:r>
              <a:rPr lang="en-US" sz="2400" b="1">
                <a:latin typeface="Times New Roman" panose="02020603050405020304" pitchFamily="18" charset="0"/>
                <a:cs typeface="Times New Roman" panose="02020603050405020304" pitchFamily="18" charset="0"/>
              </a:rPr>
              <a:t>1696969</a:t>
            </a:r>
            <a:r>
              <a:rPr lang="vi-VN" sz="2400" b="1">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nằm trong khoảng </a:t>
            </a:r>
            <a:r>
              <a:rPr lang="vi-VN" sz="2400" b="1">
                <a:latin typeface="Times New Roman" panose="02020603050405020304" pitchFamily="18" charset="0"/>
                <a:cs typeface="Times New Roman" panose="02020603050405020304" pitchFamily="18" charset="0"/>
              </a:rPr>
              <a:t>B</a:t>
            </a:r>
            <a:r>
              <a:rPr lang="en-US" sz="2400" b="1">
                <a:latin typeface="Times New Roman" panose="02020603050405020304" pitchFamily="18" charset="0"/>
                <a:cs typeface="Times New Roman" panose="02020603050405020304" pitchFamily="18" charset="0"/>
              </a:rPr>
              <a:t>1000001</a:t>
            </a:r>
            <a:r>
              <a:rPr lang="vi-VN" sz="2400" b="1">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đến </a:t>
            </a:r>
            <a:r>
              <a:rPr lang="vi-VN" sz="2400" b="1">
                <a:latin typeface="Times New Roman" panose="02020603050405020304" pitchFamily="18" charset="0"/>
                <a:cs typeface="Times New Roman" panose="02020603050405020304" pitchFamily="18" charset="0"/>
              </a:rPr>
              <a:t>B</a:t>
            </a:r>
            <a:r>
              <a:rPr lang="en-US" sz="2400" b="1">
                <a:latin typeface="Times New Roman" panose="02020603050405020304" pitchFamily="18" charset="0"/>
                <a:cs typeface="Times New Roman" panose="02020603050405020304" pitchFamily="18" charset="0"/>
              </a:rPr>
              <a:t>2000000</a:t>
            </a:r>
            <a:r>
              <a:rPr lang="vi-VN" sz="2400">
                <a:latin typeface="Times New Roman" panose="02020603050405020304" pitchFamily="18" charset="0"/>
                <a:cs typeface="Times New Roman" panose="02020603050405020304" pitchFamily="18" charset="0"/>
              </a:rPr>
              <a:t>, tức là</a:t>
            </a:r>
            <a:r>
              <a:rPr lang="en-US" sz="2400">
                <a:latin typeface="Times New Roman" panose="02020603050405020304" pitchFamily="18" charset="0"/>
                <a:cs typeface="Times New Roman" panose="02020603050405020304" pitchFamily="18" charset="0"/>
              </a:rPr>
              <a:t> mã sách này được lưu trữ ở </a:t>
            </a:r>
            <a:r>
              <a:rPr lang="vi-VN" sz="2400">
                <a:latin typeface="Times New Roman" panose="02020603050405020304" pitchFamily="18" charset="0"/>
                <a:cs typeface="Times New Roman" panose="02020603050405020304" pitchFamily="18" charset="0"/>
              </a:rPr>
              <a:t>Máy chủ 2.</a:t>
            </a:r>
          </a:p>
          <a:p>
            <a:pPr marL="457200" indent="-457200" algn="just">
              <a:lnSpc>
                <a:spcPct val="150000"/>
              </a:lnSpc>
              <a:buFont typeface="+mj-lt"/>
              <a:buAutoNum type="arabicPeriod"/>
            </a:pPr>
            <a:r>
              <a:rPr lang="en-US" sz="2400">
                <a:latin typeface="Times New Roman" panose="02020603050405020304" pitchFamily="18" charset="0"/>
                <a:cs typeface="Times New Roman" panose="02020603050405020304" pitchFamily="18" charset="0"/>
              </a:rPr>
              <a:t>Lúc này </a:t>
            </a:r>
            <a:r>
              <a:rPr lang="vi-VN" sz="2400">
                <a:latin typeface="Times New Roman" panose="02020603050405020304" pitchFamily="18" charset="0"/>
                <a:cs typeface="Times New Roman" panose="02020603050405020304" pitchFamily="18" charset="0"/>
              </a:rPr>
              <a:t>Mongos chỉ</a:t>
            </a:r>
            <a:r>
              <a:rPr lang="en-US" sz="2400">
                <a:latin typeface="Times New Roman" panose="02020603050405020304" pitchFamily="18" charset="0"/>
                <a:cs typeface="Times New Roman" panose="02020603050405020304" pitchFamily="18" charset="0"/>
              </a:rPr>
              <a:t> thực hiện</a:t>
            </a:r>
            <a:r>
              <a:rPr lang="vi-VN" sz="2400">
                <a:latin typeface="Times New Roman" panose="02020603050405020304" pitchFamily="18" charset="0"/>
                <a:cs typeface="Times New Roman" panose="02020603050405020304" pitchFamily="18" charset="0"/>
              </a:rPr>
              <a:t> truy vấn đến đúng một mình Máy chủ 2 để lấy dữ liệu về trả cho NodeJS. Máy chủ 1 và 3 vẫn </a:t>
            </a:r>
            <a:r>
              <a:rPr lang="en-US" sz="2400">
                <a:latin typeface="Times New Roman" panose="02020603050405020304" pitchFamily="18" charset="0"/>
                <a:cs typeface="Times New Roman" panose="02020603050405020304" pitchFamily="18" charset="0"/>
              </a:rPr>
              <a:t>không bị sử dụng</a:t>
            </a:r>
            <a:r>
              <a:rPr lang="vi-VN" sz="2400">
                <a:latin typeface="Times New Roman" panose="02020603050405020304" pitchFamily="18" charset="0"/>
                <a:cs typeface="Times New Roman" panose="02020603050405020304" pitchFamily="18" charset="0"/>
              </a:rPr>
              <a:t>, không tốn tài nguyên</a:t>
            </a:r>
            <a:r>
              <a:rPr lang="en-US" sz="2400">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A5A8B049-171A-8B89-5364-D67544151F7D}"/>
              </a:ext>
            </a:extLst>
          </p:cNvPr>
          <p:cNvSpPr txBox="1"/>
          <p:nvPr/>
        </p:nvSpPr>
        <p:spPr>
          <a:xfrm>
            <a:off x="657834" y="850925"/>
            <a:ext cx="6297672" cy="461665"/>
          </a:xfrm>
          <a:prstGeom prst="rect">
            <a:avLst/>
          </a:prstGeom>
          <a:noFill/>
        </p:spPr>
        <p:txBody>
          <a:bodyPr wrap="square">
            <a:spAutoFit/>
          </a:bodyPr>
          <a:lstStyle/>
          <a:p>
            <a:pPr marL="342900" indent="-342900">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Sharded Cluster </a:t>
            </a:r>
            <a:endParaRPr lang="en-US" sz="2400"/>
          </a:p>
        </p:txBody>
      </p:sp>
    </p:spTree>
    <p:extLst>
      <p:ext uri="{BB962C8B-B14F-4D97-AF65-F5344CB8AC3E}">
        <p14:creationId xmlns:p14="http://schemas.microsoft.com/office/powerpoint/2010/main" val="990612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AEDF03D-5BF4-25EB-7171-28D0777E68B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DCA6480-9A00-DD0D-6EAE-686B6EA7021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EC0ACD2-CB73-4E22-BBC5-05CB92D8CDC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2" name="Group 1">
            <a:extLst>
              <a:ext uri="{FF2B5EF4-FFF2-40B4-BE49-F238E27FC236}">
                <a16:creationId xmlns:a16="http://schemas.microsoft.com/office/drawing/2014/main" id="{E2F54CF4-B5A5-DC31-8826-3F05F3B3F20A}"/>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903B97D8-F8EB-6857-74D6-8EB0C89E9146}"/>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96401BE-531C-46FD-BE6B-C7B37CAD409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78883A5-8ED0-7F59-1FEB-0F8F0DB8848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7F95B6A-B8CE-2016-81B4-66F614021A9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5BAB5C9-BC8D-C212-BF63-2A4E8F03E9F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3E8DA35-010D-BD4F-DE9F-46740C475396}"/>
              </a:ext>
            </a:extLst>
          </p:cNvPr>
          <p:cNvSpPr txBox="1"/>
          <p:nvPr/>
        </p:nvSpPr>
        <p:spPr>
          <a:xfrm>
            <a:off x="564686" y="1312590"/>
            <a:ext cx="11398142" cy="445795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Trong trường hợp không phải truy vấn </a:t>
            </a:r>
            <a:r>
              <a:rPr lang="en-US" sz="2400" b="1">
                <a:latin typeface="Times New Roman" panose="02020603050405020304" pitchFamily="18" charset="0"/>
                <a:cs typeface="Times New Roman" panose="02020603050405020304" pitchFamily="18" charset="0"/>
              </a:rPr>
              <a:t>BookId</a:t>
            </a:r>
            <a:r>
              <a:rPr lang="en-US" sz="2400">
                <a:latin typeface="Times New Roman" panose="02020603050405020304" pitchFamily="18" charset="0"/>
                <a:cs typeface="Times New Roman" panose="02020603050405020304" pitchFamily="18" charset="0"/>
              </a:rPr>
              <a:t> (Shard key), mà truy vấn </a:t>
            </a:r>
            <a:r>
              <a:rPr lang="en-US" sz="2400" b="1">
                <a:latin typeface="Times New Roman" panose="02020603050405020304" pitchFamily="18" charset="0"/>
                <a:cs typeface="Times New Roman" panose="02020603050405020304" pitchFamily="18" charset="0"/>
              </a:rPr>
              <a:t>BookName</a:t>
            </a:r>
            <a:r>
              <a:rPr lang="en-US" sz="2400">
                <a:latin typeface="Times New Roman" panose="02020603050405020304" pitchFamily="18" charset="0"/>
                <a:cs typeface="Times New Roman" panose="02020603050405020304" pitchFamily="18" charset="0"/>
              </a:rPr>
              <a:t> thì Mongos sẽ sử dụng kỹ thuật </a:t>
            </a:r>
            <a:r>
              <a:rPr lang="en-US" sz="2400" b="1">
                <a:latin typeface="Times New Roman" panose="02020603050405020304" pitchFamily="18" charset="0"/>
                <a:cs typeface="Times New Roman" panose="02020603050405020304" pitchFamily="18" charset="0"/>
              </a:rPr>
              <a:t>Scatter-Gather </a:t>
            </a:r>
            <a:r>
              <a:rPr lang="en-US" sz="2400">
                <a:latin typeface="Times New Roman" panose="02020603050405020304" pitchFamily="18" charset="0"/>
                <a:cs typeface="Times New Roman" panose="02020603050405020304" pitchFamily="18" charset="0"/>
              </a:rPr>
              <a:t>(Rải ra và Gom lại):</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Nó sẽ gửi lệnh tìm kiếm đến tất cả các máy chủ cùng một lúc (</a:t>
            </a:r>
            <a:r>
              <a:rPr lang="vi-VN" sz="2400" b="1">
                <a:latin typeface="Times New Roman" panose="02020603050405020304" pitchFamily="18" charset="0"/>
                <a:cs typeface="Times New Roman" panose="02020603050405020304" pitchFamily="18" charset="0"/>
              </a:rPr>
              <a:t>Scatter</a:t>
            </a:r>
            <a:r>
              <a:rPr lang="vi-VN" sz="240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Máy chủ nào tìm thấy sẽ gửi kết quả về, và Mongos sẽ gộp lại (</a:t>
            </a:r>
            <a:r>
              <a:rPr lang="vi-VN" sz="2400" b="1">
                <a:latin typeface="Times New Roman" panose="02020603050405020304" pitchFamily="18" charset="0"/>
                <a:cs typeface="Times New Roman" panose="02020603050405020304" pitchFamily="18" charset="0"/>
              </a:rPr>
              <a:t>Gather</a:t>
            </a:r>
            <a:r>
              <a:rPr lang="vi-VN" sz="2400">
                <a:latin typeface="Times New Roman" panose="02020603050405020304" pitchFamily="18" charset="0"/>
                <a:cs typeface="Times New Roman" panose="02020603050405020304" pitchFamily="18" charset="0"/>
              </a:rPr>
              <a:t>) trả cho người dùng.</a:t>
            </a:r>
            <a:endParaRPr lang="en-US" sz="2400">
              <a:latin typeface="Times New Roman" panose="02020603050405020304" pitchFamily="18" charset="0"/>
              <a:cs typeface="Times New Roman" panose="02020603050405020304" pitchFamily="18" charset="0"/>
            </a:endParaRPr>
          </a:p>
          <a:p>
            <a:pPr algn="just">
              <a:lnSpc>
                <a:spcPct val="150000"/>
              </a:lnSpc>
            </a:pPr>
            <a:r>
              <a:rPr lang="en-US" sz="2400">
                <a:latin typeface="Times New Roman" panose="02020603050405020304" pitchFamily="18" charset="0"/>
                <a:cs typeface="Times New Roman" panose="02020603050405020304" pitchFamily="18" charset="0"/>
              </a:rPr>
              <a:t>Tức là trường hợp này tốc độ sẽ </a:t>
            </a:r>
            <a:r>
              <a:rPr lang="vi-VN" sz="2400">
                <a:latin typeface="Times New Roman" panose="02020603050405020304" pitchFamily="18" charset="0"/>
                <a:cs typeface="Times New Roman" panose="02020603050405020304" pitchFamily="18" charset="0"/>
              </a:rPr>
              <a:t>chậm hơn rất nhiều và gây tốn tài nguyên hệ thống. Do đó, Phải chọn </a:t>
            </a:r>
            <a:r>
              <a:rPr lang="vi-VN" sz="2400" b="1">
                <a:latin typeface="Times New Roman" panose="02020603050405020304" pitchFamily="18" charset="0"/>
                <a:cs typeface="Times New Roman" panose="02020603050405020304" pitchFamily="18" charset="0"/>
              </a:rPr>
              <a:t>Shard Key </a:t>
            </a:r>
            <a:r>
              <a:rPr lang="vi-VN" sz="2400">
                <a:latin typeface="Times New Roman" panose="02020603050405020304" pitchFamily="18" charset="0"/>
                <a:cs typeface="Times New Roman" panose="02020603050405020304" pitchFamily="18" charset="0"/>
              </a:rPr>
              <a:t>cực kỳ cẩn thận khi thiết kế cơ sở dữ liệu MongoDB để tối ưu tốc độ tìm kiếm</a:t>
            </a:r>
            <a:r>
              <a:rPr lang="en-US" sz="2400">
                <a:latin typeface="Times New Roman" panose="02020603050405020304" pitchFamily="18" charset="0"/>
                <a:cs typeface="Times New Roman" panose="02020603050405020304" pitchFamily="18" charset="0"/>
              </a:rPr>
              <a:t>. Trường hợp này cũng cần tạo </a:t>
            </a:r>
            <a:r>
              <a:rPr lang="en-US" sz="2400" b="1">
                <a:latin typeface="Times New Roman" panose="02020603050405020304" pitchFamily="18" charset="0"/>
                <a:cs typeface="Times New Roman" panose="02020603050405020304" pitchFamily="18" charset="0"/>
              </a:rPr>
              <a:t>Chỉ mục phụ (Secondary Index) </a:t>
            </a:r>
            <a:r>
              <a:rPr lang="en-US" sz="2400">
                <a:latin typeface="Times New Roman" panose="02020603050405020304" pitchFamily="18" charset="0"/>
                <a:cs typeface="Times New Roman" panose="02020603050405020304" pitchFamily="18" charset="0"/>
              </a:rPr>
              <a:t>trên từng </a:t>
            </a:r>
            <a:r>
              <a:rPr lang="en-US" sz="2400" b="1">
                <a:latin typeface="Times New Roman" panose="02020603050405020304" pitchFamily="18" charset="0"/>
                <a:cs typeface="Times New Roman" panose="02020603050405020304" pitchFamily="18" charset="0"/>
              </a:rPr>
              <a:t>Shard</a:t>
            </a:r>
            <a:r>
              <a:rPr lang="en-US" sz="2400">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B43EBEAD-1DE8-EAAC-AF80-79C9193B1D2F}"/>
              </a:ext>
            </a:extLst>
          </p:cNvPr>
          <p:cNvSpPr txBox="1"/>
          <p:nvPr/>
        </p:nvSpPr>
        <p:spPr>
          <a:xfrm>
            <a:off x="657834" y="850925"/>
            <a:ext cx="6297672" cy="461665"/>
          </a:xfrm>
          <a:prstGeom prst="rect">
            <a:avLst/>
          </a:prstGeom>
          <a:noFill/>
        </p:spPr>
        <p:txBody>
          <a:bodyPr wrap="square">
            <a:spAutoFit/>
          </a:bodyPr>
          <a:lstStyle/>
          <a:p>
            <a:pPr marL="342900" indent="-342900">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Sharded Cluster </a:t>
            </a:r>
            <a:endParaRPr lang="en-US" sz="2400"/>
          </a:p>
        </p:txBody>
      </p:sp>
    </p:spTree>
    <p:extLst>
      <p:ext uri="{BB962C8B-B14F-4D97-AF65-F5344CB8AC3E}">
        <p14:creationId xmlns:p14="http://schemas.microsoft.com/office/powerpoint/2010/main" val="2761729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EAFEB50-C472-D2BD-FE5D-3E135C70CD7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8C430F5-C9CA-D4CF-359A-F8AA5960500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31406D4-AFF3-6F36-D6CA-14DD522AB02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2" name="Group 1">
            <a:extLst>
              <a:ext uri="{FF2B5EF4-FFF2-40B4-BE49-F238E27FC236}">
                <a16:creationId xmlns:a16="http://schemas.microsoft.com/office/drawing/2014/main" id="{8F4ABA4D-6BBC-48EB-0BFC-B880132464F1}"/>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CA04CA41-36A0-4FA1-653F-5FE8509BF186}"/>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4D67C93-BAC9-6125-5DB3-AF46772E7F8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35C9754-568F-E55E-F35C-550B66EB419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FC45C77-CD52-AFE4-5D72-BDD396788D8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DD0A27D-257A-1EF5-E603-036A5044934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Rectangle 2">
            <a:extLst>
              <a:ext uri="{FF2B5EF4-FFF2-40B4-BE49-F238E27FC236}">
                <a16:creationId xmlns:a16="http://schemas.microsoft.com/office/drawing/2014/main" id="{085AA3C3-C33E-B5C3-8FAB-EC31F2FBA884}"/>
              </a:ext>
            </a:extLst>
          </p:cNvPr>
          <p:cNvSpPr>
            <a:spLocks noChangeArrowheads="1"/>
          </p:cNvSpPr>
          <p:nvPr/>
        </p:nvSpPr>
        <p:spPr bwMode="auto">
          <a:xfrm>
            <a:off x="415252" y="1200024"/>
            <a:ext cx="11481918"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Không có Index:</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Lệnh tìm BookName rải xuống 3 kho dữ liệu. Các Server đều phải kiểm tra lần lượt dữ liệu trong kho. Rất chậm!</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Có Index:</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Ta tạo "Mục lục theo Tên sách" (Index) ở cửa mỗi nhà kho ở các Server. Khi lệnh tìm BookName rải xuống, thì Mongos cũng sẽ biết ngay kho đó có cuốn sách tên đó hay không</a:t>
            </a:r>
          </a:p>
          <a:p>
            <a:pPr lvl="0" algn="just" eaLnBrk="0" fontAlgn="base" hangingPunct="0">
              <a:lnSpc>
                <a:spcPct val="150000"/>
              </a:lnSpc>
              <a:spcBef>
                <a:spcPct val="0"/>
              </a:spcBef>
              <a:spcAft>
                <a:spcPct val="0"/>
              </a:spcAft>
              <a:buClrTx/>
            </a:pPr>
            <a:r>
              <a:rPr lang="en-US" altLang="en-US" sz="240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vi-VN" altLang="en-US" sz="2400">
                <a:solidFill>
                  <a:schemeClr val="tx1"/>
                </a:solidFill>
                <a:latin typeface="Times New Roman" panose="02020603050405020304" pitchFamily="18" charset="0"/>
                <a:cs typeface="Times New Roman" panose="02020603050405020304" pitchFamily="18" charset="0"/>
              </a:rPr>
              <a:t>Dù Mongos vẫn phải </a:t>
            </a:r>
            <a:r>
              <a:rPr lang="en-US" altLang="en-US" sz="2400">
                <a:solidFill>
                  <a:schemeClr val="tx1"/>
                </a:solidFill>
                <a:latin typeface="Times New Roman" panose="02020603050405020304" pitchFamily="18" charset="0"/>
                <a:cs typeface="Times New Roman" panose="02020603050405020304" pitchFamily="18" charset="0"/>
              </a:rPr>
              <a:t>duyệt qua</a:t>
            </a:r>
            <a:r>
              <a:rPr lang="vi-VN" altLang="en-US" sz="2400">
                <a:solidFill>
                  <a:schemeClr val="tx1"/>
                </a:solidFill>
                <a:latin typeface="Times New Roman" panose="02020603050405020304" pitchFamily="18" charset="0"/>
                <a:cs typeface="Times New Roman" panose="02020603050405020304" pitchFamily="18" charset="0"/>
              </a:rPr>
              <a:t> cả 3 máy chủ (Scatter), nhưng nhờ có Index, mỗi máy chủ trả lời cực kỳ nhanh (gần như tức thì). Nhờ vậy, tổng thời gian </a:t>
            </a:r>
            <a:r>
              <a:rPr lang="vi-VN" altLang="en-US" sz="2400" b="1">
                <a:solidFill>
                  <a:schemeClr val="tx1"/>
                </a:solidFill>
                <a:latin typeface="Times New Roman" panose="02020603050405020304" pitchFamily="18" charset="0"/>
                <a:cs typeface="Times New Roman" panose="02020603050405020304" pitchFamily="18" charset="0"/>
              </a:rPr>
              <a:t>Scatter-Gather</a:t>
            </a:r>
            <a:r>
              <a:rPr lang="vi-VN" altLang="en-US" sz="2400">
                <a:solidFill>
                  <a:schemeClr val="tx1"/>
                </a:solidFill>
                <a:latin typeface="Times New Roman" panose="02020603050405020304" pitchFamily="18" charset="0"/>
                <a:cs typeface="Times New Roman" panose="02020603050405020304" pitchFamily="18" charset="0"/>
              </a:rPr>
              <a:t> được rút ngắn xuống mức chấp nhận được</a:t>
            </a:r>
            <a:r>
              <a:rPr lang="en-US" altLang="en-US" sz="2400">
                <a:solidFill>
                  <a:schemeClr val="tx1"/>
                </a:solidFill>
                <a:latin typeface="Times New Roman" panose="02020603050405020304" pitchFamily="18" charset="0"/>
                <a:cs typeface="Times New Roman" panose="02020603050405020304" pitchFamily="18" charset="0"/>
              </a:rPr>
              <a:t> (Tối ưu).</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784F7C2-C15B-D3AC-8EF1-BABCD3E40136}"/>
              </a:ext>
            </a:extLst>
          </p:cNvPr>
          <p:cNvSpPr txBox="1"/>
          <p:nvPr/>
        </p:nvSpPr>
        <p:spPr>
          <a:xfrm>
            <a:off x="657834" y="850925"/>
            <a:ext cx="6297672" cy="461665"/>
          </a:xfrm>
          <a:prstGeom prst="rect">
            <a:avLst/>
          </a:prstGeom>
          <a:noFill/>
        </p:spPr>
        <p:txBody>
          <a:bodyPr wrap="square">
            <a:spAutoFit/>
          </a:bodyPr>
          <a:lstStyle/>
          <a:p>
            <a:pPr marL="342900" indent="-342900">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Sharded Cluster </a:t>
            </a:r>
            <a:endParaRPr lang="en-US" sz="2400"/>
          </a:p>
        </p:txBody>
      </p:sp>
    </p:spTree>
    <p:extLst>
      <p:ext uri="{BB962C8B-B14F-4D97-AF65-F5344CB8AC3E}">
        <p14:creationId xmlns:p14="http://schemas.microsoft.com/office/powerpoint/2010/main" val="346813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D91F28C-C615-E13B-88C8-0A269946351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E75A0D9-E4DD-7FC1-B070-1B0085F69E3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2D35332-470C-85EA-D50D-98FBB65B2BA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2" name="Group 1">
            <a:extLst>
              <a:ext uri="{FF2B5EF4-FFF2-40B4-BE49-F238E27FC236}">
                <a16:creationId xmlns:a16="http://schemas.microsoft.com/office/drawing/2014/main" id="{58A06984-0040-8542-4EDA-9DE722F4DAF9}"/>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D816D879-3DB4-6307-421C-00630C0A7D92}"/>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7.1. Giới thiệu NoSQL: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7C6E7AD-5DB1-F0F1-B7B2-DEDE1D35B44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644AAB1-EB69-C320-645C-874385C5520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FDCE315-CE3A-A733-DB12-9744B19A006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534BADA-9FC8-7BA6-C689-0A6F1360872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39A1F4EF-F6FF-9850-0756-79FF18C6DD54}"/>
              </a:ext>
            </a:extLst>
          </p:cNvPr>
          <p:cNvSpPr txBox="1"/>
          <p:nvPr/>
        </p:nvSpPr>
        <p:spPr>
          <a:xfrm>
            <a:off x="728132" y="1240292"/>
            <a:ext cx="8522492" cy="400110"/>
          </a:xfrm>
          <a:prstGeom prst="rect">
            <a:avLst/>
          </a:prstGeom>
          <a:noFill/>
        </p:spPr>
        <p:txBody>
          <a:bodyPr wrap="square">
            <a:spAutoFit/>
          </a:bodyPr>
          <a:lstStyle/>
          <a:p>
            <a:r>
              <a:rPr lang="en-US" sz="2000">
                <a:latin typeface="Times New Roman" panose="02020603050405020304" pitchFamily="18" charset="0"/>
                <a:cs typeface="Times New Roman" panose="02020603050405020304" pitchFamily="18" charset="0"/>
                <a:hlinkClick r:id="rId3"/>
              </a:rPr>
              <a:t>https://tranduythanh.com/demo/mongodb-sharding-simulator.html</a:t>
            </a:r>
            <a:r>
              <a:rPr lang="en-US" sz="2000">
                <a:latin typeface="Times New Roman" panose="02020603050405020304" pitchFamily="18" charset="0"/>
                <a:cs typeface="Times New Roman" panose="02020603050405020304" pitchFamily="18" charset="0"/>
              </a:rPr>
              <a:t> </a:t>
            </a:r>
          </a:p>
        </p:txBody>
      </p:sp>
      <p:pic>
        <p:nvPicPr>
          <p:cNvPr id="12" name="Picture 11">
            <a:hlinkClick r:id="rId3"/>
            <a:extLst>
              <a:ext uri="{FF2B5EF4-FFF2-40B4-BE49-F238E27FC236}">
                <a16:creationId xmlns:a16="http://schemas.microsoft.com/office/drawing/2014/main" id="{FC953DD2-98A2-EB34-D393-9EE82EC8C18D}"/>
              </a:ext>
            </a:extLst>
          </p:cNvPr>
          <p:cNvPicPr>
            <a:picLocks noChangeAspect="1"/>
          </p:cNvPicPr>
          <p:nvPr/>
        </p:nvPicPr>
        <p:blipFill>
          <a:blip r:embed="rId4"/>
          <a:stretch>
            <a:fillRect/>
          </a:stretch>
        </p:blipFill>
        <p:spPr>
          <a:xfrm>
            <a:off x="629445" y="1681966"/>
            <a:ext cx="6609065" cy="4721468"/>
          </a:xfrm>
          <a:prstGeom prst="rect">
            <a:avLst/>
          </a:prstGeom>
        </p:spPr>
      </p:pic>
      <p:sp>
        <p:nvSpPr>
          <p:cNvPr id="13" name="Action Button: Go Forward or Next 12">
            <a:hlinkClick r:id="rId3" highlightClick="1"/>
            <a:extLst>
              <a:ext uri="{FF2B5EF4-FFF2-40B4-BE49-F238E27FC236}">
                <a16:creationId xmlns:a16="http://schemas.microsoft.com/office/drawing/2014/main" id="{39A3331F-C734-3622-77AD-8A9EA6906E6D}"/>
              </a:ext>
            </a:extLst>
          </p:cNvPr>
          <p:cNvSpPr/>
          <p:nvPr/>
        </p:nvSpPr>
        <p:spPr>
          <a:xfrm>
            <a:off x="9131998" y="857679"/>
            <a:ext cx="983152" cy="562047"/>
          </a:xfrm>
          <a:prstGeom prst="actionButtonForwardNex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D4826C6-657B-D9F3-6D86-5B4D55B4CD00}"/>
              </a:ext>
            </a:extLst>
          </p:cNvPr>
          <p:cNvSpPr txBox="1"/>
          <p:nvPr/>
        </p:nvSpPr>
        <p:spPr>
          <a:xfrm>
            <a:off x="564686" y="841012"/>
            <a:ext cx="11398142" cy="461665"/>
          </a:xfrm>
          <a:prstGeom prst="rect">
            <a:avLst/>
          </a:prstGeom>
          <a:noFill/>
        </p:spPr>
        <p:txBody>
          <a:bodyPr wrap="square">
            <a:spAutoFit/>
          </a:bodyPr>
          <a:lstStyle/>
          <a:p>
            <a:pPr marL="342900" indent="-3429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Chạy minh họa </a:t>
            </a:r>
            <a:r>
              <a:rPr lang="en-US" sz="2400" b="1">
                <a:latin typeface="Times New Roman" panose="02020603050405020304" pitchFamily="18" charset="0"/>
                <a:cs typeface="Times New Roman" panose="02020603050405020304" pitchFamily="18" charset="0"/>
              </a:rPr>
              <a:t>MongoDB Sharding Simulator</a:t>
            </a:r>
          </a:p>
        </p:txBody>
      </p:sp>
      <p:pic>
        <p:nvPicPr>
          <p:cNvPr id="8196" name="Picture 4" descr="MongoDB Sharding | MongoDB">
            <a:extLst>
              <a:ext uri="{FF2B5EF4-FFF2-40B4-BE49-F238E27FC236}">
                <a16:creationId xmlns:a16="http://schemas.microsoft.com/office/drawing/2014/main" id="{CA2EFF93-9532-35C4-DD0C-12735635979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578" t="3612" r="26441" b="5455"/>
          <a:stretch>
            <a:fillRect/>
          </a:stretch>
        </p:blipFill>
        <p:spPr bwMode="auto">
          <a:xfrm>
            <a:off x="7562832" y="2250941"/>
            <a:ext cx="4257721" cy="3194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304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7F6E29B-9861-5693-6545-0F45F06159C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ECAC746-CD4D-FC0F-9851-2612F73ADC5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0F737D5-7755-A11F-82E7-8C33E7488CC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2" name="Group 1">
            <a:extLst>
              <a:ext uri="{FF2B5EF4-FFF2-40B4-BE49-F238E27FC236}">
                <a16:creationId xmlns:a16="http://schemas.microsoft.com/office/drawing/2014/main" id="{2F3CEA5F-C700-C783-184B-DA629114E334}"/>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9F426C73-2144-B65E-5B4D-F8F455099407}"/>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7.2. Cách cài đặt và sử dụng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2D11BC8-75B0-5FE2-DF93-206332A9B77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E37038D-B6A1-E576-3360-053E69F536E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FA792C9-7F00-585F-7B17-7D551A11709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3B68CDC-9AD9-F67D-A4A8-CBF20B76A79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CE9E7F6-DF65-8D21-BA5B-3CEEDC81157A}"/>
              </a:ext>
            </a:extLst>
          </p:cNvPr>
          <p:cNvSpPr txBox="1"/>
          <p:nvPr/>
        </p:nvSpPr>
        <p:spPr>
          <a:xfrm>
            <a:off x="462279" y="8410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Để tải MongoDB, ta vào link</a:t>
            </a:r>
          </a:p>
          <a:p>
            <a:pPr algn="just"/>
            <a:r>
              <a:rPr lang="vi-VN" sz="2400">
                <a:latin typeface="Times New Roman" panose="02020603050405020304" pitchFamily="18" charset="0"/>
                <a:cs typeface="Times New Roman" panose="02020603050405020304" pitchFamily="18" charset="0"/>
                <a:hlinkClick r:id="rId3"/>
              </a:rPr>
              <a:t>https://www.mongodb.com/try/download/community</a:t>
            </a:r>
            <a:r>
              <a:rPr lang="en-US" sz="2400">
                <a:latin typeface="Times New Roman" panose="02020603050405020304" pitchFamily="18" charset="0"/>
                <a:cs typeface="Times New Roman" panose="02020603050405020304" pitchFamily="18" charset="0"/>
              </a:rPr>
              <a:t> </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295C629-215D-3771-C33F-283F3E39EC80}"/>
              </a:ext>
            </a:extLst>
          </p:cNvPr>
          <p:cNvPicPr>
            <a:picLocks noChangeAspect="1"/>
          </p:cNvPicPr>
          <p:nvPr/>
        </p:nvPicPr>
        <p:blipFill>
          <a:blip r:embed="rId4"/>
          <a:stretch>
            <a:fillRect/>
          </a:stretch>
        </p:blipFill>
        <p:spPr>
          <a:xfrm>
            <a:off x="7571639" y="0"/>
            <a:ext cx="4620361" cy="6858000"/>
          </a:xfrm>
          <a:prstGeom prst="rect">
            <a:avLst/>
          </a:prstGeom>
        </p:spPr>
      </p:pic>
      <p:pic>
        <p:nvPicPr>
          <p:cNvPr id="13" name="Picture 12">
            <a:extLst>
              <a:ext uri="{FF2B5EF4-FFF2-40B4-BE49-F238E27FC236}">
                <a16:creationId xmlns:a16="http://schemas.microsoft.com/office/drawing/2014/main" id="{A543D965-6F9B-88C2-8EFD-0E951349C1E9}"/>
              </a:ext>
            </a:extLst>
          </p:cNvPr>
          <p:cNvPicPr>
            <a:picLocks noChangeAspect="1"/>
          </p:cNvPicPr>
          <p:nvPr/>
        </p:nvPicPr>
        <p:blipFill>
          <a:blip r:embed="rId5"/>
          <a:stretch>
            <a:fillRect/>
          </a:stretch>
        </p:blipFill>
        <p:spPr>
          <a:xfrm>
            <a:off x="1149361" y="1857640"/>
            <a:ext cx="5237689" cy="4093534"/>
          </a:xfrm>
          <a:prstGeom prst="rect">
            <a:avLst/>
          </a:prstGeom>
        </p:spPr>
      </p:pic>
    </p:spTree>
    <p:extLst>
      <p:ext uri="{BB962C8B-B14F-4D97-AF65-F5344CB8AC3E}">
        <p14:creationId xmlns:p14="http://schemas.microsoft.com/office/powerpoint/2010/main" val="1813288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9C8AEDF-6501-23A8-6D5E-E9E9413D08B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F337FD8-4B84-3015-6FD8-26E0E8D7287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B3A0E26-1D8E-EC2D-3E85-78424501C7E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2" name="Group 1">
            <a:extLst>
              <a:ext uri="{FF2B5EF4-FFF2-40B4-BE49-F238E27FC236}">
                <a16:creationId xmlns:a16="http://schemas.microsoft.com/office/drawing/2014/main" id="{F4F3318D-9FE9-0673-D422-5B8DCCD4A59D}"/>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656AB520-B129-1BEA-6825-9483B01381C5}"/>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7.2. Cách cài đặt và sử dụng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E72B265-BA86-0197-08F3-ED914E2BD9C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61F4132-DE99-A1B1-AE33-947CA128251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03790D0-BBFA-D2F1-69F0-A9961922AD6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695AEE2-974E-E3D3-5F5F-2335EBC484B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6386B8E0-9BD2-B208-C4B3-351332F96501}"/>
              </a:ext>
            </a:extLst>
          </p:cNvPr>
          <p:cNvPicPr>
            <a:picLocks noChangeAspect="1"/>
          </p:cNvPicPr>
          <p:nvPr/>
        </p:nvPicPr>
        <p:blipFill>
          <a:blip r:embed="rId3"/>
          <a:stretch>
            <a:fillRect/>
          </a:stretch>
        </p:blipFill>
        <p:spPr>
          <a:xfrm>
            <a:off x="2788390" y="1406614"/>
            <a:ext cx="5886450" cy="4600575"/>
          </a:xfrm>
          <a:prstGeom prst="rect">
            <a:avLst/>
          </a:prstGeom>
        </p:spPr>
      </p:pic>
      <p:sp>
        <p:nvSpPr>
          <p:cNvPr id="12" name="TextBox 11">
            <a:extLst>
              <a:ext uri="{FF2B5EF4-FFF2-40B4-BE49-F238E27FC236}">
                <a16:creationId xmlns:a16="http://schemas.microsoft.com/office/drawing/2014/main" id="{B5388058-C5B3-D0C4-C125-A5FE2FEBF2B5}"/>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Cài đặt </a:t>
            </a:r>
            <a:r>
              <a:rPr lang="vi-VN" sz="2400">
                <a:latin typeface="Times New Roman" panose="02020603050405020304" pitchFamily="18" charset="0"/>
                <a:cs typeface="Times New Roman" panose="02020603050405020304" pitchFamily="18" charset="0"/>
              </a:rPr>
              <a:t>MongoDB</a:t>
            </a:r>
          </a:p>
        </p:txBody>
      </p:sp>
    </p:spTree>
    <p:extLst>
      <p:ext uri="{BB962C8B-B14F-4D97-AF65-F5344CB8AC3E}">
        <p14:creationId xmlns:p14="http://schemas.microsoft.com/office/powerpoint/2010/main" val="4034434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61640B9-F608-AE1A-36FF-03A861A7CD8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7FBFCD7-381C-6024-C801-1EB8B31E397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6CB39D3-94CB-EC17-AB06-A1EEB2F8A59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2" name="Group 1">
            <a:extLst>
              <a:ext uri="{FF2B5EF4-FFF2-40B4-BE49-F238E27FC236}">
                <a16:creationId xmlns:a16="http://schemas.microsoft.com/office/drawing/2014/main" id="{F6E395BA-87EB-59EC-C4EB-F1EA013FDDFF}"/>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E48A7509-0F3F-F2D4-C9D4-089E8DE6D538}"/>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7.2. Cách cài đặt và sử dụng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0EE2F31-F52A-D6DF-CEC5-90F9B40E954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43BB020-01C6-D508-B3A0-89C9E1858C8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70F228B-3C06-C1E3-13B8-9356107005A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E74A1B5-E9B4-529D-A3D3-4C59CE03877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528F9BEE-30CA-0AAD-3695-F7833682CFC8}"/>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Kết nối </a:t>
            </a:r>
            <a:r>
              <a:rPr lang="vi-VN" sz="2400">
                <a:latin typeface="Times New Roman" panose="02020603050405020304" pitchFamily="18" charset="0"/>
                <a:cs typeface="Times New Roman" panose="02020603050405020304" pitchFamily="18" charset="0"/>
              </a:rPr>
              <a:t>MongoDB</a:t>
            </a:r>
            <a:r>
              <a:rPr lang="en-US" sz="2400">
                <a:latin typeface="Times New Roman" panose="02020603050405020304" pitchFamily="18" charset="0"/>
                <a:cs typeface="Times New Roman" panose="02020603050405020304" pitchFamily="18" charset="0"/>
              </a:rPr>
              <a:t> và sử dụng MongoDB Compass</a:t>
            </a:r>
            <a:endParaRPr lang="vi-VN" sz="240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6FA02EF-2E15-20B2-BC25-06B0930169DE}"/>
              </a:ext>
            </a:extLst>
          </p:cNvPr>
          <p:cNvPicPr>
            <a:picLocks noChangeAspect="1"/>
          </p:cNvPicPr>
          <p:nvPr/>
        </p:nvPicPr>
        <p:blipFill>
          <a:blip r:embed="rId3"/>
          <a:stretch>
            <a:fillRect/>
          </a:stretch>
        </p:blipFill>
        <p:spPr>
          <a:xfrm>
            <a:off x="2696680" y="1260975"/>
            <a:ext cx="7095743" cy="4079786"/>
          </a:xfrm>
          <a:prstGeom prst="rect">
            <a:avLst/>
          </a:prstGeom>
        </p:spPr>
      </p:pic>
      <p:sp>
        <p:nvSpPr>
          <p:cNvPr id="10" name="TextBox 9">
            <a:extLst>
              <a:ext uri="{FF2B5EF4-FFF2-40B4-BE49-F238E27FC236}">
                <a16:creationId xmlns:a16="http://schemas.microsoft.com/office/drawing/2014/main" id="{34FD7054-DE32-E669-EF6D-55A5649B8C91}"/>
              </a:ext>
            </a:extLst>
          </p:cNvPr>
          <p:cNvSpPr txBox="1"/>
          <p:nvPr/>
        </p:nvSpPr>
        <p:spPr>
          <a:xfrm>
            <a:off x="234808" y="5340761"/>
            <a:ext cx="11267512" cy="984885"/>
          </a:xfrm>
          <a:prstGeom prst="rect">
            <a:avLst/>
          </a:prstGeom>
          <a:noFill/>
        </p:spPr>
        <p:txBody>
          <a:bodyPr wrap="square">
            <a:spAutoFit/>
          </a:bodyPr>
          <a:lstStyle/>
          <a:p>
            <a:pPr marL="0" marR="0" indent="228600">
              <a:spcBef>
                <a:spcPts val="600"/>
              </a:spcBef>
              <a:spcAft>
                <a:spcPts val="600"/>
              </a:spcAft>
              <a:buNone/>
            </a:pPr>
            <a:r>
              <a:rPr lang="en-US" sz="2400">
                <a:effectLst/>
                <a:latin typeface="Times New Roman" panose="02020603050405020304" pitchFamily="18" charset="0"/>
                <a:ea typeface="Arial Unicode MS" panose="020B0604020202020204" pitchFamily="34" charset="-128"/>
              </a:rPr>
              <a:t>Đường dẫn kết nối: </a:t>
            </a:r>
            <a:r>
              <a:rPr lang="en-US" sz="2400">
                <a:solidFill>
                  <a:srgbClr val="FF0000"/>
                </a:solidFill>
                <a:effectLst/>
                <a:latin typeface="Times New Roman" panose="02020603050405020304" pitchFamily="18" charset="0"/>
                <a:ea typeface="Arial Unicode MS" panose="020B0604020202020204" pitchFamily="34" charset="-128"/>
              </a:rPr>
              <a:t>mongodb://localhost:27017</a:t>
            </a:r>
            <a:endParaRPr lang="en-US" sz="2400">
              <a:solidFill>
                <a:srgbClr val="FF0000"/>
              </a:solidFill>
              <a:effectLst/>
              <a:latin typeface="Times New Roman" panose="02020603050405020304" pitchFamily="18" charset="0"/>
              <a:ea typeface="Times New Roman" panose="02020603050405020304" pitchFamily="18" charset="0"/>
            </a:endParaRPr>
          </a:p>
          <a:p>
            <a:pPr marL="0" marR="0" indent="228600">
              <a:spcBef>
                <a:spcPts val="600"/>
              </a:spcBef>
              <a:spcAft>
                <a:spcPts val="600"/>
              </a:spcAft>
              <a:buNone/>
            </a:pPr>
            <a:r>
              <a:rPr lang="en-US" sz="2400">
                <a:effectLst/>
                <a:latin typeface="Times New Roman" panose="02020603050405020304" pitchFamily="18" charset="0"/>
                <a:ea typeface="Arial Unicode MS" panose="020B0604020202020204" pitchFamily="34" charset="-128"/>
              </a:rPr>
              <a:t>Nếu không kết nối được thì thay localhost bằng 127.0.0.1</a:t>
            </a:r>
            <a:endParaRPr lang="en-US" sz="2400">
              <a:effectLst/>
              <a:latin typeface="Times New Roman" panose="02020603050405020304" pitchFamily="18" charset="0"/>
              <a:ea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C7132FC0-A5C0-CBC8-7A3C-1C8A03BC5E9E}"/>
              </a:ext>
            </a:extLst>
          </p:cNvPr>
          <p:cNvCxnSpPr/>
          <p:nvPr/>
        </p:nvCxnSpPr>
        <p:spPr>
          <a:xfrm flipV="1">
            <a:off x="9171501" y="4173239"/>
            <a:ext cx="0" cy="6462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193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C77CDC1-0272-C3DD-362A-0B98A072FBE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D801E75-5E78-DFCA-879C-0245B29353D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F0F7069-6E91-1F17-39C2-CFD447C0627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2" name="Group 1">
            <a:extLst>
              <a:ext uri="{FF2B5EF4-FFF2-40B4-BE49-F238E27FC236}">
                <a16:creationId xmlns:a16="http://schemas.microsoft.com/office/drawing/2014/main" id="{402A7AF8-86BE-ED50-FDF5-6660BE7EEB28}"/>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891D089F-616D-331D-B5A6-177B5C27A798}"/>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7.2. Cách cài đặt và sử dụng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3ADD632-7AA0-DBCD-5F7D-F61062B1D7D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B957082-F847-D8F1-4E68-BE513EF45E3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45DCB17-3E6E-958C-8043-9BEE858C970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00E60D0-8C06-8C98-1211-0E1A19C7C0D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C26BDF3F-4C4A-E872-BA7D-459E5007D00C}"/>
              </a:ext>
            </a:extLst>
          </p:cNvPr>
          <p:cNvPicPr>
            <a:picLocks noChangeAspect="1"/>
          </p:cNvPicPr>
          <p:nvPr/>
        </p:nvPicPr>
        <p:blipFill>
          <a:blip r:embed="rId3"/>
          <a:stretch>
            <a:fillRect/>
          </a:stretch>
        </p:blipFill>
        <p:spPr>
          <a:xfrm>
            <a:off x="3009892" y="1371994"/>
            <a:ext cx="6469320" cy="4884337"/>
          </a:xfrm>
          <a:prstGeom prst="rect">
            <a:avLst/>
          </a:prstGeom>
        </p:spPr>
      </p:pic>
      <p:sp>
        <p:nvSpPr>
          <p:cNvPr id="12" name="TextBox 11">
            <a:extLst>
              <a:ext uri="{FF2B5EF4-FFF2-40B4-BE49-F238E27FC236}">
                <a16:creationId xmlns:a16="http://schemas.microsoft.com/office/drawing/2014/main" id="{5099BBEE-9B71-9936-E564-ECD5EA716EEE}"/>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Sử dụng MongoDB Compass</a:t>
            </a:r>
            <a:endParaRPr lang="vi-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6556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9D8E072-C321-B760-C233-236CC525B4D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19F0950-42F4-063F-6E8F-02DA426B0D5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E534335-DED3-C32C-96AA-865AFDD2A92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2" name="Group 1">
            <a:extLst>
              <a:ext uri="{FF2B5EF4-FFF2-40B4-BE49-F238E27FC236}">
                <a16:creationId xmlns:a16="http://schemas.microsoft.com/office/drawing/2014/main" id="{355A515C-DF85-3A55-D2D3-09F97DBA0972}"/>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3B35F514-FAFE-4A07-9447-3E751268CA44}"/>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7.2. Cách cài đặt và sử dụng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6760D31-6505-4A3E-640D-263F7925A27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38F9FF3-2E8C-7D62-CF7D-805EE302638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7A0E6BF-4BCF-3DF3-4AAE-3CDD60AE9E5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A53301A-165F-4FF9-E6B2-862CED35CD9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60D425C6-D04C-2558-F611-E1DFB9F494B2}"/>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Tạo Database và Collection mặc định</a:t>
            </a:r>
            <a:endParaRPr lang="vi-VN" sz="240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12CDD88-3E2C-EA88-B2F3-EBDE65C1CDE3}"/>
              </a:ext>
            </a:extLst>
          </p:cNvPr>
          <p:cNvPicPr>
            <a:picLocks noChangeAspect="1"/>
          </p:cNvPicPr>
          <p:nvPr/>
        </p:nvPicPr>
        <p:blipFill>
          <a:blip r:embed="rId3"/>
          <a:stretch>
            <a:fillRect/>
          </a:stretch>
        </p:blipFill>
        <p:spPr>
          <a:xfrm>
            <a:off x="1566905" y="1302677"/>
            <a:ext cx="8411874" cy="5099986"/>
          </a:xfrm>
          <a:prstGeom prst="rect">
            <a:avLst/>
          </a:prstGeom>
        </p:spPr>
      </p:pic>
    </p:spTree>
    <p:extLst>
      <p:ext uri="{BB962C8B-B14F-4D97-AF65-F5344CB8AC3E}">
        <p14:creationId xmlns:p14="http://schemas.microsoft.com/office/powerpoint/2010/main" val="2095900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F7AEF7B-9207-496F-A3DA-7D070875F2D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22C8CD3-B7B5-9B24-BE17-3D529755D6A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EF49C9E-D3F9-B7A0-FDC1-03755C411A9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2" name="Group 1">
            <a:extLst>
              <a:ext uri="{FF2B5EF4-FFF2-40B4-BE49-F238E27FC236}">
                <a16:creationId xmlns:a16="http://schemas.microsoft.com/office/drawing/2014/main" id="{31A30CDF-0706-5173-C56C-C702E542C55E}"/>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01317263-4403-F02C-E1C2-B03F383AD955}"/>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7.2. Cách cài đặt và sử dụng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860AFF1-8B46-CD80-86A8-FA72004188F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F700D5E-7F70-138F-805A-A661639B5E4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BFB27FE-EF1F-57B8-779B-6E160693024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AD9D9DD-9726-C9D8-1236-EEBD6495ED8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6413CB88-9A57-6364-E8F8-F7BD5BB1C7AA}"/>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Tạo Document</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21B67A0-DD32-A2CB-2672-C80D1CE05902}"/>
              </a:ext>
            </a:extLst>
          </p:cNvPr>
          <p:cNvPicPr>
            <a:picLocks noChangeAspect="1"/>
          </p:cNvPicPr>
          <p:nvPr/>
        </p:nvPicPr>
        <p:blipFill>
          <a:blip r:embed="rId3"/>
          <a:stretch>
            <a:fillRect/>
          </a:stretch>
        </p:blipFill>
        <p:spPr>
          <a:xfrm>
            <a:off x="841924" y="1406614"/>
            <a:ext cx="6781800" cy="4351020"/>
          </a:xfrm>
          <a:prstGeom prst="rect">
            <a:avLst/>
          </a:prstGeom>
        </p:spPr>
      </p:pic>
      <p:pic>
        <p:nvPicPr>
          <p:cNvPr id="13" name="Picture 12">
            <a:extLst>
              <a:ext uri="{FF2B5EF4-FFF2-40B4-BE49-F238E27FC236}">
                <a16:creationId xmlns:a16="http://schemas.microsoft.com/office/drawing/2014/main" id="{05D524E3-C22A-77A8-61B1-9D7557500D67}"/>
              </a:ext>
            </a:extLst>
          </p:cNvPr>
          <p:cNvPicPr>
            <a:picLocks noChangeAspect="1"/>
          </p:cNvPicPr>
          <p:nvPr/>
        </p:nvPicPr>
        <p:blipFill>
          <a:blip r:embed="rId4"/>
          <a:stretch>
            <a:fillRect/>
          </a:stretch>
        </p:blipFill>
        <p:spPr>
          <a:xfrm>
            <a:off x="7769584" y="1302676"/>
            <a:ext cx="3960138" cy="3537455"/>
          </a:xfrm>
          <a:prstGeom prst="rect">
            <a:avLst/>
          </a:prstGeom>
        </p:spPr>
      </p:pic>
    </p:spTree>
    <p:extLst>
      <p:ext uri="{BB962C8B-B14F-4D97-AF65-F5344CB8AC3E}">
        <p14:creationId xmlns:p14="http://schemas.microsoft.com/office/powerpoint/2010/main" val="1309483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0E247C5-1FA2-3459-A1B1-68C56E540FB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9F1450B-1730-388A-5D13-EEAA22CB17F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C4F34F5-CB68-7FB7-E01A-962BB1775D9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2" name="Group 1">
            <a:extLst>
              <a:ext uri="{FF2B5EF4-FFF2-40B4-BE49-F238E27FC236}">
                <a16:creationId xmlns:a16="http://schemas.microsoft.com/office/drawing/2014/main" id="{C3C93599-D494-DF82-5AE3-21563BFDD219}"/>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3C775600-A1D8-288D-81EA-AFF201200A91}"/>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7.2. Cách cài đặt và sử dụng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531F65C-2CB9-28B8-4FB3-CE682B5FF7C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29B2E20-ACA3-EBC0-B9C2-85612A7A37B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369B7DC-9E5D-973E-3213-2F838A00546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C101BB6-F052-4285-9CF7-3C9800E1ED7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02703C23-CAFA-9FBF-FFC9-22910C5072B9}"/>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Tạo Document và kiểu dữ liệu</a:t>
            </a:r>
            <a:endParaRPr lang="vi-VN" sz="24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92D21EB-0818-7728-ED26-58D5A66892DE}"/>
              </a:ext>
            </a:extLst>
          </p:cNvPr>
          <p:cNvPicPr>
            <a:picLocks noChangeAspect="1"/>
          </p:cNvPicPr>
          <p:nvPr/>
        </p:nvPicPr>
        <p:blipFill>
          <a:blip r:embed="rId3"/>
          <a:stretch>
            <a:fillRect/>
          </a:stretch>
        </p:blipFill>
        <p:spPr>
          <a:xfrm>
            <a:off x="3496732" y="1296611"/>
            <a:ext cx="6337322" cy="5086960"/>
          </a:xfrm>
          <a:prstGeom prst="rect">
            <a:avLst/>
          </a:prstGeom>
        </p:spPr>
      </p:pic>
    </p:spTree>
    <p:extLst>
      <p:ext uri="{BB962C8B-B14F-4D97-AF65-F5344CB8AC3E}">
        <p14:creationId xmlns:p14="http://schemas.microsoft.com/office/powerpoint/2010/main" val="2462983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BEA3C42-EF40-7107-DF74-72D1B211445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2B38692-1CEE-838A-A573-7EFED4DB512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DA420B0-2503-48B6-FAD7-FDE72E0E086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2" name="Group 1">
            <a:extLst>
              <a:ext uri="{FF2B5EF4-FFF2-40B4-BE49-F238E27FC236}">
                <a16:creationId xmlns:a16="http://schemas.microsoft.com/office/drawing/2014/main" id="{0800D03B-0794-8B30-62FC-5DB7942CF057}"/>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6DD3A6CA-CB14-9893-F516-5F499DFB1245}"/>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7.2. Cách cài đặt và sử dụng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444DD62-2244-D618-2DDC-CE16580FF33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D4D2577-900E-6352-F623-7875E73DA8B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BCECA93-58B3-FB14-918D-9ECA0A33D3B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58A0FF9-3E63-01F2-12E6-21CF11A580F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6A64C1FD-DA85-36ED-FEF5-7A81BB553E2F}"/>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Import Fashion Database: </a:t>
            </a:r>
            <a:r>
              <a:rPr lang="en-US" sz="2400">
                <a:latin typeface="Times New Roman" panose="02020603050405020304" pitchFamily="18" charset="0"/>
                <a:ea typeface="Arial Unicode MS" panose="020B0604020202020204" pitchFamily="34" charset="-128"/>
                <a:hlinkClick r:id="rId3"/>
              </a:rPr>
              <a:t>https://tranduythanh.com/datasets/Fashion.json</a:t>
            </a:r>
            <a:r>
              <a:rPr lang="en-US" sz="2400">
                <a:latin typeface="Times New Roman" panose="02020603050405020304" pitchFamily="18" charset="0"/>
                <a:ea typeface="Arial Unicode MS" panose="020B0604020202020204" pitchFamily="34" charset="-128"/>
              </a:rPr>
              <a:t> </a:t>
            </a:r>
            <a:endParaRPr lang="vi-V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B658566-7ECD-A0C7-A2CE-225ECBCEADD1}"/>
              </a:ext>
            </a:extLst>
          </p:cNvPr>
          <p:cNvSpPr txBox="1"/>
          <p:nvPr/>
        </p:nvSpPr>
        <p:spPr>
          <a:xfrm>
            <a:off x="695976" y="1406614"/>
            <a:ext cx="3972488" cy="4909036"/>
          </a:xfrm>
          <a:prstGeom prst="rect">
            <a:avLst/>
          </a:prstGeom>
          <a:noFill/>
        </p:spPr>
        <p:txBody>
          <a:bodyPr wrap="square">
            <a:spAutoFit/>
          </a:bodyPr>
          <a:lstStyle/>
          <a:p>
            <a:pPr marL="0" marR="0" algn="just">
              <a:spcBef>
                <a:spcPts val="600"/>
              </a:spcBef>
              <a:spcAft>
                <a:spcPts val="600"/>
              </a:spcAft>
              <a:buNone/>
            </a:pPr>
            <a:r>
              <a:rPr lang="en-US" sz="2400" err="1">
                <a:effectLst/>
                <a:latin typeface="Times New Roman" panose="02020603050405020304" pitchFamily="18" charset="0"/>
                <a:ea typeface="Arial Unicode MS" panose="020B0604020202020204" pitchFamily="34" charset="-128"/>
              </a:rPr>
              <a:t>Tải</a:t>
            </a:r>
            <a:r>
              <a:rPr lang="en-US" sz="2400">
                <a:effectLst/>
                <a:latin typeface="Times New Roman" panose="02020603050405020304" pitchFamily="18" charset="0"/>
                <a:ea typeface="Arial Unicode MS" panose="020B0604020202020204" pitchFamily="34" charset="-128"/>
              </a:rPr>
              <a:t> Data, </a:t>
            </a:r>
            <a:r>
              <a:rPr lang="en-US" sz="2400" err="1">
                <a:effectLst/>
                <a:latin typeface="Times New Roman" panose="02020603050405020304" pitchFamily="18" charset="0"/>
                <a:ea typeface="Arial Unicode MS" panose="020B0604020202020204" pitchFamily="34" charset="-128"/>
              </a:rPr>
              <a:t>sau</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đó</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dùng</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chức</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năng</a:t>
            </a:r>
            <a:r>
              <a:rPr lang="en-US" sz="2400">
                <a:effectLst/>
                <a:latin typeface="Times New Roman" panose="02020603050405020304" pitchFamily="18" charset="0"/>
                <a:ea typeface="Arial Unicode MS" panose="020B0604020202020204" pitchFamily="34" charset="-128"/>
              </a:rPr>
              <a:t> import collection </a:t>
            </a:r>
            <a:r>
              <a:rPr lang="en-US" sz="2400" err="1">
                <a:effectLst/>
                <a:latin typeface="Times New Roman" panose="02020603050405020304" pitchFamily="18" charset="0"/>
                <a:ea typeface="Arial Unicode MS" panose="020B0604020202020204" pitchFamily="34" charset="-128"/>
              </a:rPr>
              <a:t>để</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tiết</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kiệm</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thời</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gian</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cách</a:t>
            </a:r>
            <a:r>
              <a:rPr lang="en-US" sz="2400">
                <a:effectLst/>
                <a:latin typeface="Times New Roman" panose="02020603050405020304" pitchFamily="18" charset="0"/>
                <a:ea typeface="Arial Unicode MS" panose="020B0604020202020204" pitchFamily="34" charset="-128"/>
              </a:rPr>
              <a:t> import:</a:t>
            </a:r>
            <a:endParaRPr lang="en-US" sz="2400">
              <a:effectLst/>
              <a:latin typeface="Times New Roman" panose="02020603050405020304" pitchFamily="18" charset="0"/>
              <a:ea typeface="Times New Roman" panose="02020603050405020304" pitchFamily="18" charset="0"/>
            </a:endParaRPr>
          </a:p>
          <a:p>
            <a:pPr marL="0" marR="0" algn="just">
              <a:spcBef>
                <a:spcPts val="600"/>
              </a:spcBef>
              <a:spcAft>
                <a:spcPts val="600"/>
              </a:spcAft>
              <a:buNone/>
            </a:pPr>
            <a:r>
              <a:rPr lang="en-US" sz="2400">
                <a:effectLst/>
                <a:latin typeface="Times New Roman" panose="02020603050405020304" pitchFamily="18" charset="0"/>
                <a:ea typeface="Arial Unicode MS" panose="020B0604020202020204" pitchFamily="34" charset="-128"/>
              </a:rPr>
              <a:t>-</a:t>
            </a:r>
            <a:r>
              <a:rPr lang="en-US" sz="2400" err="1">
                <a:effectLst/>
                <a:latin typeface="Times New Roman" panose="02020603050405020304" pitchFamily="18" charset="0"/>
                <a:ea typeface="Arial Unicode MS" panose="020B0604020202020204" pitchFamily="34" charset="-128"/>
              </a:rPr>
              <a:t>Đầu</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tiên</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tạo</a:t>
            </a:r>
            <a:r>
              <a:rPr lang="en-US" sz="2400">
                <a:effectLst/>
                <a:latin typeface="Times New Roman" panose="02020603050405020304" pitchFamily="18" charset="0"/>
                <a:ea typeface="Arial Unicode MS" panose="020B0604020202020204" pitchFamily="34" charset="-128"/>
              </a:rPr>
              <a:t> 1 </a:t>
            </a:r>
            <a:r>
              <a:rPr lang="en-US" sz="2400" err="1">
                <a:effectLst/>
                <a:latin typeface="Times New Roman" panose="02020603050405020304" pitchFamily="18" charset="0"/>
                <a:ea typeface="Arial Unicode MS" panose="020B0604020202020204" pitchFamily="34" charset="-128"/>
              </a:rPr>
              <a:t>cơ</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sở</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dữ</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liệu</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tên</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FashionData</a:t>
            </a:r>
            <a:r>
              <a:rPr lang="en-US" sz="2400">
                <a:effectLst/>
                <a:latin typeface="Times New Roman" panose="02020603050405020304" pitchFamily="18" charset="0"/>
                <a:ea typeface="Arial Unicode MS" panose="020B0604020202020204" pitchFamily="34" charset="-128"/>
              </a:rPr>
              <a:t>”</a:t>
            </a:r>
            <a:endParaRPr lang="en-US" sz="2400">
              <a:effectLst/>
              <a:latin typeface="Times New Roman" panose="02020603050405020304" pitchFamily="18" charset="0"/>
              <a:ea typeface="Times New Roman" panose="02020603050405020304" pitchFamily="18" charset="0"/>
            </a:endParaRPr>
          </a:p>
          <a:p>
            <a:pPr marL="0" marR="0" algn="just">
              <a:spcBef>
                <a:spcPts val="600"/>
              </a:spcBef>
              <a:spcAft>
                <a:spcPts val="600"/>
              </a:spcAft>
              <a:buNone/>
            </a:pPr>
            <a:r>
              <a:rPr lang="en-US" sz="2400">
                <a:effectLst/>
                <a:latin typeface="Times New Roman" panose="02020603050405020304" pitchFamily="18" charset="0"/>
                <a:ea typeface="Arial Unicode MS" panose="020B0604020202020204" pitchFamily="34" charset="-128"/>
              </a:rPr>
              <a:t>-Sau </a:t>
            </a:r>
            <a:r>
              <a:rPr lang="en-US" sz="2400" err="1">
                <a:effectLst/>
                <a:latin typeface="Times New Roman" panose="02020603050405020304" pitchFamily="18" charset="0"/>
                <a:ea typeface="Arial Unicode MS" panose="020B0604020202020204" pitchFamily="34" charset="-128"/>
              </a:rPr>
              <a:t>đó</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tạo</a:t>
            </a:r>
            <a:r>
              <a:rPr lang="en-US" sz="2400">
                <a:effectLst/>
                <a:latin typeface="Times New Roman" panose="02020603050405020304" pitchFamily="18" charset="0"/>
                <a:ea typeface="Arial Unicode MS" panose="020B0604020202020204" pitchFamily="34" charset="-128"/>
              </a:rPr>
              <a:t> 1 collection </a:t>
            </a:r>
            <a:r>
              <a:rPr lang="en-US" sz="2400" err="1">
                <a:effectLst/>
                <a:latin typeface="Times New Roman" panose="02020603050405020304" pitchFamily="18" charset="0"/>
                <a:ea typeface="Arial Unicode MS" panose="020B0604020202020204" pitchFamily="34" charset="-128"/>
              </a:rPr>
              <a:t>tên</a:t>
            </a:r>
            <a:r>
              <a:rPr lang="en-US" sz="2400">
                <a:effectLst/>
                <a:latin typeface="Times New Roman" panose="02020603050405020304" pitchFamily="18" charset="0"/>
                <a:ea typeface="Arial Unicode MS" panose="020B0604020202020204" pitchFamily="34" charset="-128"/>
              </a:rPr>
              <a:t> “Fashion”</a:t>
            </a:r>
            <a:endParaRPr lang="en-US" sz="2400">
              <a:effectLst/>
              <a:latin typeface="Times New Roman" panose="02020603050405020304" pitchFamily="18" charset="0"/>
              <a:ea typeface="Times New Roman" panose="02020603050405020304" pitchFamily="18" charset="0"/>
            </a:endParaRPr>
          </a:p>
          <a:p>
            <a:pPr algn="just">
              <a:buNone/>
            </a:pPr>
            <a:r>
              <a:rPr lang="en-US" sz="2400">
                <a:effectLst/>
                <a:latin typeface="Times New Roman" panose="02020603050405020304" pitchFamily="18" charset="0"/>
                <a:ea typeface="Arial Unicode MS" panose="020B0604020202020204" pitchFamily="34" charset="-128"/>
              </a:rPr>
              <a:t>-</a:t>
            </a:r>
            <a:r>
              <a:rPr lang="en-US" sz="2400" err="1">
                <a:effectLst/>
                <a:latin typeface="Times New Roman" panose="02020603050405020304" pitchFamily="18" charset="0"/>
                <a:ea typeface="Arial Unicode MS" panose="020B0604020202020204" pitchFamily="34" charset="-128"/>
              </a:rPr>
              <a:t>Cuối</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cùng</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chọn</a:t>
            </a:r>
            <a:r>
              <a:rPr lang="en-US" sz="2400">
                <a:effectLst/>
                <a:latin typeface="Times New Roman" panose="02020603050405020304" pitchFamily="18" charset="0"/>
                <a:ea typeface="Arial Unicode MS" panose="020B0604020202020204" pitchFamily="34" charset="-128"/>
              </a:rPr>
              <a:t> “Fashion” </a:t>
            </a:r>
            <a:r>
              <a:rPr lang="en-US" sz="2400" err="1">
                <a:effectLst/>
                <a:latin typeface="Times New Roman" panose="02020603050405020304" pitchFamily="18" charset="0"/>
                <a:ea typeface="Arial Unicode MS" panose="020B0604020202020204" pitchFamily="34" charset="-128"/>
              </a:rPr>
              <a:t>và</a:t>
            </a:r>
            <a:r>
              <a:rPr lang="en-US" sz="2400">
                <a:effectLst/>
                <a:latin typeface="Times New Roman" panose="02020603050405020304" pitchFamily="18" charset="0"/>
                <a:ea typeface="Arial Unicode MS" panose="020B0604020202020204" pitchFamily="34" charset="-128"/>
              </a:rPr>
              <a:t> import file, </a:t>
            </a:r>
            <a:r>
              <a:rPr lang="en-US" sz="2400" err="1">
                <a:effectLst/>
                <a:latin typeface="Times New Roman" panose="02020603050405020304" pitchFamily="18" charset="0"/>
                <a:ea typeface="Arial Unicode MS" panose="020B0604020202020204" pitchFamily="34" charset="-128"/>
              </a:rPr>
              <a:t>trỏ</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tới</a:t>
            </a:r>
            <a:r>
              <a:rPr lang="en-US" sz="2400">
                <a:effectLst/>
                <a:latin typeface="Times New Roman" panose="02020603050405020304" pitchFamily="18" charset="0"/>
                <a:ea typeface="Arial Unicode MS" panose="020B0604020202020204" pitchFamily="34" charset="-128"/>
              </a:rPr>
              <a:t> “</a:t>
            </a:r>
            <a:r>
              <a:rPr lang="en-US" sz="2400" err="1">
                <a:effectLst/>
                <a:latin typeface="Times New Roman" panose="02020603050405020304" pitchFamily="18" charset="0"/>
                <a:ea typeface="Arial Unicode MS" panose="020B0604020202020204" pitchFamily="34" charset="-128"/>
              </a:rPr>
              <a:t>Fashion.json</a:t>
            </a:r>
            <a:r>
              <a:rPr lang="en-US" sz="2400">
                <a:effectLst/>
                <a:latin typeface="Times New Roman" panose="02020603050405020304" pitchFamily="18" charset="0"/>
                <a:ea typeface="Arial Unicode MS" panose="020B0604020202020204" pitchFamily="34" charset="-128"/>
              </a:rPr>
              <a:t>”</a:t>
            </a:r>
          </a:p>
          <a:p>
            <a:pPr algn="just">
              <a:buNone/>
            </a:pPr>
            <a:r>
              <a:rPr lang="en-US" sz="2400">
                <a:latin typeface="Times New Roman" panose="02020603050405020304" pitchFamily="18" charset="0"/>
                <a:ea typeface="Arial Unicode MS" panose="020B0604020202020204" pitchFamily="34" charset="-128"/>
              </a:rPr>
              <a:t>Bài học sử dụng Database này để thực nghiệm</a:t>
            </a:r>
            <a:endParaRPr lang="en-US" sz="2400"/>
          </a:p>
        </p:txBody>
      </p:sp>
      <p:pic>
        <p:nvPicPr>
          <p:cNvPr id="13" name="Picture 12">
            <a:extLst>
              <a:ext uri="{FF2B5EF4-FFF2-40B4-BE49-F238E27FC236}">
                <a16:creationId xmlns:a16="http://schemas.microsoft.com/office/drawing/2014/main" id="{72C18BC7-AB3B-6652-E6EE-DDBAF6B44FE2}"/>
              </a:ext>
            </a:extLst>
          </p:cNvPr>
          <p:cNvPicPr>
            <a:picLocks noChangeAspect="1"/>
          </p:cNvPicPr>
          <p:nvPr/>
        </p:nvPicPr>
        <p:blipFill>
          <a:blip r:embed="rId4"/>
          <a:stretch>
            <a:fillRect/>
          </a:stretch>
        </p:blipFill>
        <p:spPr>
          <a:xfrm>
            <a:off x="4820765" y="1302677"/>
            <a:ext cx="7206061" cy="5440576"/>
          </a:xfrm>
          <a:prstGeom prst="rect">
            <a:avLst/>
          </a:prstGeom>
        </p:spPr>
      </p:pic>
    </p:spTree>
    <p:extLst>
      <p:ext uri="{BB962C8B-B14F-4D97-AF65-F5344CB8AC3E}">
        <p14:creationId xmlns:p14="http://schemas.microsoft.com/office/powerpoint/2010/main" val="623819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3F4F08B-6815-199C-1ECC-6DAFF852587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061C936-164A-7CE1-6594-0FD517EA55A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78422CF-EE6A-8197-69D4-69A5668B3C4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grpSp>
        <p:nvGrpSpPr>
          <p:cNvPr id="2" name="Group 1">
            <a:extLst>
              <a:ext uri="{FF2B5EF4-FFF2-40B4-BE49-F238E27FC236}">
                <a16:creationId xmlns:a16="http://schemas.microsoft.com/office/drawing/2014/main" id="{97DF1458-170F-7B0F-95A6-92318384F954}"/>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96A02924-A063-EB2A-74A2-0E44D4967F2B}"/>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b="1">
                  <a:latin typeface="Times New Roman" panose="02020603050405020304" pitchFamily="18" charset="0"/>
                  <a:cs typeface="Times New Roman" panose="02020603050405020304" pitchFamily="18" charset="0"/>
                </a:rPr>
                <a:t>7.3. Cấu hình kết nối NodeJS tới MongoDB</a:t>
              </a:r>
            </a:p>
          </p:txBody>
        </p:sp>
        <p:grpSp>
          <p:nvGrpSpPr>
            <p:cNvPr id="4" name="Group 17">
              <a:extLst>
                <a:ext uri="{FF2B5EF4-FFF2-40B4-BE49-F238E27FC236}">
                  <a16:creationId xmlns:a16="http://schemas.microsoft.com/office/drawing/2014/main" id="{2F8034A8-805F-92FE-97FD-E0391B688B9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5C008B9-8E07-8F6B-0876-7D71E1BFF1A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85D62B7-6AB2-339C-63C8-19EBF87247C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3C34CBD-D247-C33A-E39D-16B35890223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F88BCF8-D584-E653-829F-B97FBD16DCCA}"/>
              </a:ext>
            </a:extLst>
          </p:cNvPr>
          <p:cNvSpPr txBox="1"/>
          <p:nvPr/>
        </p:nvSpPr>
        <p:spPr>
          <a:xfrm>
            <a:off x="462279" y="8410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a:t>
            </a:r>
            <a:r>
              <a:rPr lang="vi-VN" sz="2400">
                <a:latin typeface="Times New Roman" panose="02020603050405020304" pitchFamily="18" charset="0"/>
                <a:cs typeface="Times New Roman" panose="02020603050405020304" pitchFamily="18" charset="0"/>
              </a:rPr>
              <a:t>Tạo một thư mục đồng cấp “</a:t>
            </a:r>
            <a:r>
              <a:rPr lang="vi-VN" sz="2400" b="1">
                <a:latin typeface="Times New Roman" panose="02020603050405020304" pitchFamily="18" charset="0"/>
                <a:cs typeface="Times New Roman" panose="02020603050405020304" pitchFamily="18" charset="0"/>
              </a:rPr>
              <a:t>my-server-mongodb</a:t>
            </a:r>
            <a:r>
              <a:rPr lang="vi-VN" sz="2400">
                <a:latin typeface="Times New Roman" panose="02020603050405020304" pitchFamily="18" charset="0"/>
                <a:cs typeface="Times New Roman" panose="02020603050405020304" pitchFamily="18" charset="0"/>
              </a:rPr>
              <a:t>” để build Project cho Webserver tương tác MongoDB.</a:t>
            </a:r>
          </a:p>
        </p:txBody>
      </p:sp>
      <p:pic>
        <p:nvPicPr>
          <p:cNvPr id="10" name="Picture 9">
            <a:extLst>
              <a:ext uri="{FF2B5EF4-FFF2-40B4-BE49-F238E27FC236}">
                <a16:creationId xmlns:a16="http://schemas.microsoft.com/office/drawing/2014/main" id="{D6E1C621-54AA-2CD0-0455-163D674407D0}"/>
              </a:ext>
            </a:extLst>
          </p:cNvPr>
          <p:cNvPicPr>
            <a:picLocks noChangeAspect="1"/>
          </p:cNvPicPr>
          <p:nvPr/>
        </p:nvPicPr>
        <p:blipFill>
          <a:blip r:embed="rId3"/>
          <a:stretch>
            <a:fillRect/>
          </a:stretch>
        </p:blipFill>
        <p:spPr>
          <a:xfrm>
            <a:off x="1000156" y="1967613"/>
            <a:ext cx="3971429" cy="1371429"/>
          </a:xfrm>
          <a:prstGeom prst="rect">
            <a:avLst/>
          </a:prstGeom>
        </p:spPr>
      </p:pic>
      <p:pic>
        <p:nvPicPr>
          <p:cNvPr id="12" name="Picture 11">
            <a:extLst>
              <a:ext uri="{FF2B5EF4-FFF2-40B4-BE49-F238E27FC236}">
                <a16:creationId xmlns:a16="http://schemas.microsoft.com/office/drawing/2014/main" id="{98B9CFE6-5ACD-5A9C-E142-86AFE5B01FCA}"/>
              </a:ext>
            </a:extLst>
          </p:cNvPr>
          <p:cNvPicPr>
            <a:picLocks noChangeAspect="1"/>
          </p:cNvPicPr>
          <p:nvPr/>
        </p:nvPicPr>
        <p:blipFill>
          <a:blip r:embed="rId4"/>
          <a:stretch>
            <a:fillRect/>
          </a:stretch>
        </p:blipFill>
        <p:spPr>
          <a:xfrm>
            <a:off x="7716736" y="1432961"/>
            <a:ext cx="2990476" cy="2000000"/>
          </a:xfrm>
          <a:prstGeom prst="rect">
            <a:avLst/>
          </a:prstGeom>
        </p:spPr>
      </p:pic>
      <p:pic>
        <p:nvPicPr>
          <p:cNvPr id="16" name="Picture 15">
            <a:extLst>
              <a:ext uri="{FF2B5EF4-FFF2-40B4-BE49-F238E27FC236}">
                <a16:creationId xmlns:a16="http://schemas.microsoft.com/office/drawing/2014/main" id="{F0167A41-B195-2575-A33A-8855C7534F1B}"/>
              </a:ext>
            </a:extLst>
          </p:cNvPr>
          <p:cNvPicPr>
            <a:picLocks noChangeAspect="1"/>
          </p:cNvPicPr>
          <p:nvPr/>
        </p:nvPicPr>
        <p:blipFill>
          <a:blip r:embed="rId5"/>
          <a:stretch>
            <a:fillRect/>
          </a:stretch>
        </p:blipFill>
        <p:spPr>
          <a:xfrm>
            <a:off x="4400353" y="3941915"/>
            <a:ext cx="2952381" cy="1857143"/>
          </a:xfrm>
          <a:prstGeom prst="rect">
            <a:avLst/>
          </a:prstGeom>
        </p:spPr>
      </p:pic>
      <p:cxnSp>
        <p:nvCxnSpPr>
          <p:cNvPr id="18" name="Straight Arrow Connector 17">
            <a:extLst>
              <a:ext uri="{FF2B5EF4-FFF2-40B4-BE49-F238E27FC236}">
                <a16:creationId xmlns:a16="http://schemas.microsoft.com/office/drawing/2014/main" id="{6A44D625-0D3F-3FD9-9230-717669175434}"/>
              </a:ext>
            </a:extLst>
          </p:cNvPr>
          <p:cNvCxnSpPr>
            <a:cxnSpLocks/>
            <a:stCxn id="10" idx="3"/>
          </p:cNvCxnSpPr>
          <p:nvPr/>
        </p:nvCxnSpPr>
        <p:spPr>
          <a:xfrm flipV="1">
            <a:off x="4971585" y="2653327"/>
            <a:ext cx="3523191"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22A5FB79-497F-77B9-9482-BC8E257005BD}"/>
              </a:ext>
            </a:extLst>
          </p:cNvPr>
          <p:cNvCxnSpPr/>
          <p:nvPr/>
        </p:nvCxnSpPr>
        <p:spPr>
          <a:xfrm rot="5400000">
            <a:off x="6987278" y="3049306"/>
            <a:ext cx="2869649" cy="2138738"/>
          </a:xfrm>
          <a:prstGeom prst="bentConnector3">
            <a:avLst>
              <a:gd name="adj1" fmla="val 100027"/>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0350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FA9D662-1871-D1D6-A60F-4CC054CF78E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A4EF11C-F27B-07A5-F857-AE06D8BBCA6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1DB123E-6801-C3CB-822D-CF6F38E4A38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grpSp>
        <p:nvGrpSpPr>
          <p:cNvPr id="2" name="Group 1">
            <a:extLst>
              <a:ext uri="{FF2B5EF4-FFF2-40B4-BE49-F238E27FC236}">
                <a16:creationId xmlns:a16="http://schemas.microsoft.com/office/drawing/2014/main" id="{9406BAB7-4825-C241-D57E-224831B80B72}"/>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564105C8-A338-5068-CC13-27B9E8A299AF}"/>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b="1">
                  <a:latin typeface="Times New Roman" panose="02020603050405020304" pitchFamily="18" charset="0"/>
                  <a:cs typeface="Times New Roman" panose="02020603050405020304" pitchFamily="18" charset="0"/>
                </a:rPr>
                <a:t>7.3. Cấu hình kết nối NodeJS tới MongoDB</a:t>
              </a:r>
            </a:p>
          </p:txBody>
        </p:sp>
        <p:grpSp>
          <p:nvGrpSpPr>
            <p:cNvPr id="4" name="Group 17">
              <a:extLst>
                <a:ext uri="{FF2B5EF4-FFF2-40B4-BE49-F238E27FC236}">
                  <a16:creationId xmlns:a16="http://schemas.microsoft.com/office/drawing/2014/main" id="{9B0A5C8A-0F69-ED34-9682-D503E627585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19AD7E7-F3D1-3FA5-A05C-0D1EBB5B93E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845E44A-FEDB-298E-7FB8-9837AD58BAD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DEB5DDC-614C-5F16-33E5-A41D827039D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73A02E3-24A4-F507-5B41-87158729343B}"/>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Cài đặt các lệnh cho </a:t>
            </a:r>
            <a:r>
              <a:rPr lang="vi-VN" sz="2400">
                <a:latin typeface="Times New Roman" panose="02020603050405020304" pitchFamily="18" charset="0"/>
                <a:cs typeface="Times New Roman" panose="02020603050405020304" pitchFamily="18" charset="0"/>
              </a:rPr>
              <a:t>“</a:t>
            </a:r>
            <a:r>
              <a:rPr lang="vi-VN" sz="2400" b="1">
                <a:latin typeface="Times New Roman" panose="02020603050405020304" pitchFamily="18" charset="0"/>
                <a:cs typeface="Times New Roman" panose="02020603050405020304" pitchFamily="18" charset="0"/>
              </a:rPr>
              <a:t>my-server-mongodb</a:t>
            </a:r>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để xử lý Restful với MongoDB</a:t>
            </a:r>
            <a:endParaRPr lang="vi-VN" sz="240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9AFCDE30-D122-3EE9-FE71-EC58EDCF91FD}"/>
              </a:ext>
            </a:extLst>
          </p:cNvPr>
          <p:cNvPicPr>
            <a:picLocks noChangeAspect="1"/>
          </p:cNvPicPr>
          <p:nvPr/>
        </p:nvPicPr>
        <p:blipFill>
          <a:blip r:embed="rId3"/>
          <a:srcRect b="13056"/>
          <a:stretch/>
        </p:blipFill>
        <p:spPr>
          <a:xfrm>
            <a:off x="542786" y="1265585"/>
            <a:ext cx="4495238" cy="2227424"/>
          </a:xfrm>
          <a:prstGeom prst="rect">
            <a:avLst/>
          </a:prstGeom>
        </p:spPr>
      </p:pic>
      <p:sp>
        <p:nvSpPr>
          <p:cNvPr id="11" name="TextBox 10">
            <a:extLst>
              <a:ext uri="{FF2B5EF4-FFF2-40B4-BE49-F238E27FC236}">
                <a16:creationId xmlns:a16="http://schemas.microsoft.com/office/drawing/2014/main" id="{643FAB8F-13E0-0079-10CA-9759617B9AEE}"/>
              </a:ext>
            </a:extLst>
          </p:cNvPr>
          <p:cNvSpPr txBox="1"/>
          <p:nvPr/>
        </p:nvSpPr>
        <p:spPr>
          <a:xfrm>
            <a:off x="5384603" y="2774415"/>
            <a:ext cx="6295644" cy="3785652"/>
          </a:xfrm>
          <a:prstGeom prst="rect">
            <a:avLst/>
          </a:prstGeom>
          <a:noFill/>
          <a:ln>
            <a:solidFill>
              <a:srgbClr val="002060"/>
            </a:solidFill>
          </a:ln>
        </p:spPr>
        <p:txBody>
          <a:bodyPr wrap="square">
            <a:spAutoFit/>
          </a:bodyPr>
          <a:lstStyle/>
          <a:p>
            <a:pPr marL="0" marR="0">
              <a:spcBef>
                <a:spcPts val="0"/>
              </a:spcBef>
              <a:spcAft>
                <a:spcPts val="0"/>
              </a:spcAft>
            </a:pPr>
            <a:r>
              <a:rPr lang="nl-NL" sz="2400" b="1">
                <a:effectLst/>
                <a:latin typeface="Times New Roman" panose="02020603050405020304" pitchFamily="18" charset="0"/>
                <a:ea typeface="Arial Unicode MS"/>
                <a:cs typeface="Times New Roman" panose="02020603050405020304" pitchFamily="18" charset="0"/>
              </a:rPr>
              <a:t>npm</a:t>
            </a:r>
            <a:r>
              <a:rPr lang="nl-NL" sz="2400">
                <a:effectLst/>
                <a:latin typeface="Times New Roman" panose="02020603050405020304" pitchFamily="18" charset="0"/>
                <a:ea typeface="Arial Unicode MS"/>
                <a:cs typeface="Times New Roman" panose="02020603050405020304" pitchFamily="18" charset="0"/>
              </a:rPr>
              <a:t> init</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nl-NL" sz="2400" b="1">
                <a:effectLst/>
                <a:latin typeface="Times New Roman" panose="02020603050405020304" pitchFamily="18" charset="0"/>
                <a:ea typeface="Times New Roman" panose="02020603050405020304" pitchFamily="18" charset="0"/>
                <a:cs typeface="Times New Roman" panose="02020603050405020304" pitchFamily="18" charset="0"/>
              </a:rPr>
              <a:t>npm</a:t>
            </a:r>
            <a:r>
              <a:rPr lang="nl-NL" sz="2400">
                <a:effectLst/>
                <a:latin typeface="Times New Roman" panose="02020603050405020304" pitchFamily="18" charset="0"/>
                <a:ea typeface="Times New Roman" panose="02020603050405020304" pitchFamily="18" charset="0"/>
                <a:cs typeface="Times New Roman" panose="02020603050405020304" pitchFamily="18" charset="0"/>
              </a:rPr>
              <a:t> install express</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nl-NL" sz="2400" b="1">
                <a:effectLst/>
                <a:latin typeface="Times New Roman" panose="02020603050405020304" pitchFamily="18" charset="0"/>
                <a:ea typeface="Times New Roman" panose="02020603050405020304" pitchFamily="18" charset="0"/>
                <a:cs typeface="Times New Roman" panose="02020603050405020304" pitchFamily="18" charset="0"/>
              </a:rPr>
              <a:t>npm</a:t>
            </a:r>
            <a:r>
              <a:rPr lang="nl-NL" sz="2400">
                <a:effectLst/>
                <a:latin typeface="Times New Roman" panose="02020603050405020304" pitchFamily="18" charset="0"/>
                <a:ea typeface="Times New Roman" panose="02020603050405020304" pitchFamily="18" charset="0"/>
                <a:cs typeface="Times New Roman" panose="02020603050405020304" pitchFamily="18" charset="0"/>
              </a:rPr>
              <a:t> install express-fileupload</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nl-NL" sz="2400" b="1">
                <a:effectLst/>
                <a:latin typeface="Times New Roman" panose="02020603050405020304" pitchFamily="18" charset="0"/>
                <a:ea typeface="Times New Roman" panose="02020603050405020304" pitchFamily="18" charset="0"/>
                <a:cs typeface="Times New Roman" panose="02020603050405020304" pitchFamily="18" charset="0"/>
              </a:rPr>
              <a:t>npm</a:t>
            </a:r>
            <a:r>
              <a:rPr lang="nl-NL" sz="2400">
                <a:effectLst/>
                <a:latin typeface="Times New Roman" panose="02020603050405020304" pitchFamily="18" charset="0"/>
                <a:ea typeface="Times New Roman" panose="02020603050405020304" pitchFamily="18" charset="0"/>
                <a:cs typeface="Times New Roman" panose="02020603050405020304" pitchFamily="18" charset="0"/>
              </a:rPr>
              <a:t> install mongodb</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nl-NL" sz="2400" b="1">
                <a:effectLst/>
                <a:latin typeface="Times New Roman" panose="02020603050405020304" pitchFamily="18" charset="0"/>
                <a:ea typeface="Times New Roman" panose="02020603050405020304" pitchFamily="18" charset="0"/>
                <a:cs typeface="Times New Roman" panose="02020603050405020304" pitchFamily="18" charset="0"/>
              </a:rPr>
              <a:t>npm</a:t>
            </a:r>
            <a:r>
              <a:rPr lang="nl-NL" sz="2400">
                <a:effectLst/>
                <a:latin typeface="Times New Roman" panose="02020603050405020304" pitchFamily="18" charset="0"/>
                <a:ea typeface="Times New Roman" panose="02020603050405020304" pitchFamily="18" charset="0"/>
                <a:cs typeface="Times New Roman" panose="02020603050405020304" pitchFamily="18" charset="0"/>
              </a:rPr>
              <a:t> i --save-dev nodemon</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nl-NL" sz="2400" b="1">
                <a:effectLst/>
                <a:latin typeface="Times New Roman" panose="02020603050405020304" pitchFamily="18" charset="0"/>
                <a:ea typeface="Times New Roman" panose="02020603050405020304" pitchFamily="18" charset="0"/>
                <a:cs typeface="Times New Roman" panose="02020603050405020304" pitchFamily="18" charset="0"/>
              </a:rPr>
              <a:t>npm</a:t>
            </a:r>
            <a:r>
              <a:rPr lang="nl-NL" sz="2400">
                <a:effectLst/>
                <a:latin typeface="Times New Roman" panose="02020603050405020304" pitchFamily="18" charset="0"/>
                <a:ea typeface="Times New Roman" panose="02020603050405020304" pitchFamily="18" charset="0"/>
                <a:cs typeface="Times New Roman" panose="02020603050405020304" pitchFamily="18" charset="0"/>
              </a:rPr>
              <a:t> i --save-dev morgan</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nl-NL" sz="2400" b="1">
                <a:effectLst/>
                <a:latin typeface="Times New Roman" panose="02020603050405020304" pitchFamily="18" charset="0"/>
                <a:ea typeface="Times New Roman" panose="02020603050405020304" pitchFamily="18" charset="0"/>
                <a:cs typeface="Times New Roman" panose="02020603050405020304" pitchFamily="18" charset="0"/>
              </a:rPr>
              <a:t>npm</a:t>
            </a:r>
            <a:r>
              <a:rPr lang="nl-NL" sz="2400">
                <a:effectLst/>
                <a:latin typeface="Times New Roman" panose="02020603050405020304" pitchFamily="18" charset="0"/>
                <a:ea typeface="Times New Roman" panose="02020603050405020304" pitchFamily="18" charset="0"/>
                <a:cs typeface="Times New Roman" panose="02020603050405020304" pitchFamily="18" charset="0"/>
              </a:rPr>
              <a:t> i body-parser</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nl-NL" sz="2400" b="1">
                <a:effectLst/>
                <a:latin typeface="Times New Roman" panose="02020603050405020304" pitchFamily="18" charset="0"/>
                <a:ea typeface="Times New Roman" panose="02020603050405020304" pitchFamily="18" charset="0"/>
                <a:cs typeface="Times New Roman" panose="02020603050405020304" pitchFamily="18" charset="0"/>
              </a:rPr>
              <a:t>npm</a:t>
            </a:r>
            <a:r>
              <a:rPr lang="nl-NL" sz="2400">
                <a:effectLst/>
                <a:latin typeface="Times New Roman" panose="02020603050405020304" pitchFamily="18" charset="0"/>
                <a:ea typeface="Times New Roman" panose="02020603050405020304" pitchFamily="18" charset="0"/>
                <a:cs typeface="Times New Roman" panose="02020603050405020304" pitchFamily="18" charset="0"/>
              </a:rPr>
              <a:t> i cors</a:t>
            </a:r>
          </a:p>
          <a:p>
            <a:pPr marL="0" marR="0">
              <a:spcBef>
                <a:spcPts val="0"/>
              </a:spcBef>
              <a:spcAft>
                <a:spcPts val="0"/>
              </a:spcAft>
            </a:pPr>
            <a:r>
              <a:rPr lang="nl-NL" sz="2400" b="1">
                <a:effectLst/>
                <a:latin typeface="Times New Roman" panose="02020603050405020304" pitchFamily="18" charset="0"/>
                <a:ea typeface="Times New Roman" panose="02020603050405020304" pitchFamily="18" charset="0"/>
                <a:cs typeface="Times New Roman" panose="02020603050405020304" pitchFamily="18" charset="0"/>
              </a:rPr>
              <a:t>npm</a:t>
            </a:r>
            <a:r>
              <a:rPr lang="nl-NL" sz="2400">
                <a:effectLst/>
                <a:latin typeface="Times New Roman" panose="02020603050405020304" pitchFamily="18" charset="0"/>
                <a:ea typeface="Times New Roman" panose="02020603050405020304" pitchFamily="18" charset="0"/>
                <a:cs typeface="Times New Roman" panose="02020603050405020304" pitchFamily="18" charset="0"/>
              </a:rPr>
              <a:t> i mongoose</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nl-NL" sz="2400" b="1">
                <a:effectLst/>
                <a:latin typeface="Times New Roman" panose="02020603050405020304" pitchFamily="18" charset="0"/>
                <a:ea typeface="Times New Roman" panose="02020603050405020304" pitchFamily="18" charset="0"/>
                <a:cs typeface="Times New Roman" panose="02020603050405020304" pitchFamily="18" charset="0"/>
              </a:rPr>
              <a:t>npm</a:t>
            </a:r>
            <a:r>
              <a:rPr lang="nl-NL" sz="2400">
                <a:effectLst/>
                <a:latin typeface="Times New Roman" panose="02020603050405020304" pitchFamily="18" charset="0"/>
                <a:ea typeface="Times New Roman" panose="02020603050405020304" pitchFamily="18" charset="0"/>
                <a:cs typeface="Times New Roman" panose="02020603050405020304" pitchFamily="18" charset="0"/>
              </a:rPr>
              <a:t> install --save mongoclient</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BA406774-323F-E57B-D9A6-E03CFA85D3EA}"/>
              </a:ext>
            </a:extLst>
          </p:cNvPr>
          <p:cNvPicPr>
            <a:picLocks noChangeAspect="1"/>
          </p:cNvPicPr>
          <p:nvPr/>
        </p:nvPicPr>
        <p:blipFill>
          <a:blip r:embed="rId4"/>
          <a:srcRect r="43151"/>
          <a:stretch/>
        </p:blipFill>
        <p:spPr>
          <a:xfrm>
            <a:off x="5587328" y="1456050"/>
            <a:ext cx="4114813" cy="752381"/>
          </a:xfrm>
          <a:prstGeom prst="rect">
            <a:avLst/>
          </a:prstGeom>
        </p:spPr>
      </p:pic>
      <p:cxnSp>
        <p:nvCxnSpPr>
          <p:cNvPr id="17" name="Connector: Elbow 16">
            <a:extLst>
              <a:ext uri="{FF2B5EF4-FFF2-40B4-BE49-F238E27FC236}">
                <a16:creationId xmlns:a16="http://schemas.microsoft.com/office/drawing/2014/main" id="{A9A06B7E-6928-9E7B-8824-3F348E3B0073}"/>
              </a:ext>
            </a:extLst>
          </p:cNvPr>
          <p:cNvCxnSpPr>
            <a:endCxn id="15" idx="1"/>
          </p:cNvCxnSpPr>
          <p:nvPr/>
        </p:nvCxnSpPr>
        <p:spPr>
          <a:xfrm rot="5400000" flipH="1" flipV="1">
            <a:off x="4468737" y="2164105"/>
            <a:ext cx="1450455" cy="786728"/>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4305ED1-45E0-0F79-E9FF-15FEDF02A75B}"/>
              </a:ext>
            </a:extLst>
          </p:cNvPr>
          <p:cNvCxnSpPr/>
          <p:nvPr/>
        </p:nvCxnSpPr>
        <p:spPr>
          <a:xfrm>
            <a:off x="8860536" y="2048256"/>
            <a:ext cx="0" cy="59436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2B3142A-816D-C7F1-D988-F70A4C82E99F}"/>
              </a:ext>
            </a:extLst>
          </p:cNvPr>
          <p:cNvSpPr txBox="1"/>
          <p:nvPr/>
        </p:nvSpPr>
        <p:spPr>
          <a:xfrm>
            <a:off x="728132" y="4300696"/>
            <a:ext cx="4575745" cy="830997"/>
          </a:xfrm>
          <a:prstGeom prst="rect">
            <a:avLst/>
          </a:prstGeom>
          <a:noFill/>
        </p:spPr>
        <p:txBody>
          <a:bodyPr wrap="square" rtlCol="0">
            <a:spAutoFit/>
          </a:bodyPr>
          <a:lstStyle/>
          <a:p>
            <a:pPr algn="just"/>
            <a:r>
              <a:rPr lang="en-US" sz="2400">
                <a:latin typeface="Times New Roman" panose="02020603050405020304" pitchFamily="18" charset="0"/>
                <a:cs typeface="Times New Roman" panose="02020603050405020304" pitchFamily="18" charset="0"/>
              </a:rPr>
              <a:t>Lần lượt cài đặt đầy đủ 10 lệnh trong danh sách</a:t>
            </a:r>
            <a:r>
              <a:rPr lang="en-US" sz="2400">
                <a:latin typeface="Times New Roman" panose="02020603050405020304" pitchFamily="18" charset="0"/>
                <a:cs typeface="Times New Roman" panose="02020603050405020304" pitchFamily="18" charset="0"/>
                <a:sym typeface="Wingdings" panose="05000000000000000000" pitchFamily="2" charset="2"/>
              </a:rPr>
              <a:t></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15722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3368310-E2B5-09DD-6F9F-4B2052EEAF0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0B7156D-EF70-8745-8BCF-4953F515ACF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2FC6B66-089F-A880-AC6F-19653BA0283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grpSp>
        <p:nvGrpSpPr>
          <p:cNvPr id="2" name="Group 1">
            <a:extLst>
              <a:ext uri="{FF2B5EF4-FFF2-40B4-BE49-F238E27FC236}">
                <a16:creationId xmlns:a16="http://schemas.microsoft.com/office/drawing/2014/main" id="{2E69B1DE-F2C6-8DCA-7D68-E8C68DDD9F8C}"/>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34053739-D64B-2478-6B57-5DDE4E1B507C}"/>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b="1">
                  <a:latin typeface="Times New Roman" panose="02020603050405020304" pitchFamily="18" charset="0"/>
                  <a:cs typeface="Times New Roman" panose="02020603050405020304" pitchFamily="18" charset="0"/>
                </a:rPr>
                <a:t>7.3. Cấu hình kết nối NodeJS tới MongoDB</a:t>
              </a:r>
            </a:p>
          </p:txBody>
        </p:sp>
        <p:grpSp>
          <p:nvGrpSpPr>
            <p:cNvPr id="4" name="Group 17">
              <a:extLst>
                <a:ext uri="{FF2B5EF4-FFF2-40B4-BE49-F238E27FC236}">
                  <a16:creationId xmlns:a16="http://schemas.microsoft.com/office/drawing/2014/main" id="{8768E655-84EA-654E-2399-D60051E17E9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FD545DC-1542-E968-C1CC-462572F788C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4266B1A-DDAF-4C6A-B28D-F1D6658E56B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30AB3F8-4080-372B-0A2C-44EC043056D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294E5F4-B5FE-A204-7D05-C283E9FD4402}"/>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Sau khi cài đặt các lệnh cho </a:t>
            </a:r>
            <a:r>
              <a:rPr lang="vi-VN" sz="2400">
                <a:latin typeface="Times New Roman" panose="02020603050405020304" pitchFamily="18" charset="0"/>
                <a:cs typeface="Times New Roman" panose="02020603050405020304" pitchFamily="18" charset="0"/>
              </a:rPr>
              <a:t>“</a:t>
            </a:r>
            <a:r>
              <a:rPr lang="vi-VN" sz="2400" b="1">
                <a:latin typeface="Times New Roman" panose="02020603050405020304" pitchFamily="18" charset="0"/>
                <a:cs typeface="Times New Roman" panose="02020603050405020304" pitchFamily="18" charset="0"/>
              </a:rPr>
              <a:t>my-server-mongodb</a:t>
            </a:r>
            <a:r>
              <a:rPr lang="vi-VN" sz="2400">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 kết quả</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C863DA3-0B3B-334B-5845-1F5528C13D52}"/>
              </a:ext>
            </a:extLst>
          </p:cNvPr>
          <p:cNvPicPr>
            <a:picLocks noChangeAspect="1"/>
          </p:cNvPicPr>
          <p:nvPr/>
        </p:nvPicPr>
        <p:blipFill>
          <a:blip r:embed="rId3"/>
          <a:stretch>
            <a:fillRect/>
          </a:stretch>
        </p:blipFill>
        <p:spPr>
          <a:xfrm>
            <a:off x="542786" y="1242200"/>
            <a:ext cx="6209657" cy="5083446"/>
          </a:xfrm>
          <a:prstGeom prst="rect">
            <a:avLst/>
          </a:prstGeom>
        </p:spPr>
      </p:pic>
      <p:pic>
        <p:nvPicPr>
          <p:cNvPr id="13" name="Picture 12">
            <a:extLst>
              <a:ext uri="{FF2B5EF4-FFF2-40B4-BE49-F238E27FC236}">
                <a16:creationId xmlns:a16="http://schemas.microsoft.com/office/drawing/2014/main" id="{622BD986-973A-246D-172A-419C1AAAC6DD}"/>
              </a:ext>
            </a:extLst>
          </p:cNvPr>
          <p:cNvPicPr>
            <a:picLocks noChangeAspect="1"/>
          </p:cNvPicPr>
          <p:nvPr/>
        </p:nvPicPr>
        <p:blipFill>
          <a:blip r:embed="rId4"/>
          <a:stretch>
            <a:fillRect/>
          </a:stretch>
        </p:blipFill>
        <p:spPr>
          <a:xfrm>
            <a:off x="7755413" y="2573693"/>
            <a:ext cx="2533333" cy="2000000"/>
          </a:xfrm>
          <a:prstGeom prst="rect">
            <a:avLst/>
          </a:prstGeom>
        </p:spPr>
      </p:pic>
    </p:spTree>
    <p:extLst>
      <p:ext uri="{BB962C8B-B14F-4D97-AF65-F5344CB8AC3E}">
        <p14:creationId xmlns:p14="http://schemas.microsoft.com/office/powerpoint/2010/main" val="11171359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52127F4-1818-7EB9-8BA0-52134418AD4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B3CA8BE-743A-A815-FC11-4A5165F1564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767E0D3-E199-15AB-C0F7-60148A62659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grpSp>
        <p:nvGrpSpPr>
          <p:cNvPr id="2" name="Group 1">
            <a:extLst>
              <a:ext uri="{FF2B5EF4-FFF2-40B4-BE49-F238E27FC236}">
                <a16:creationId xmlns:a16="http://schemas.microsoft.com/office/drawing/2014/main" id="{0A1ABB40-7353-F88A-3D2B-6F45E686ED72}"/>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14E4E337-5F53-F99F-70A0-582560BCDCB7}"/>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b="1">
                  <a:latin typeface="Times New Roman" panose="02020603050405020304" pitchFamily="18" charset="0"/>
                  <a:cs typeface="Times New Roman" panose="02020603050405020304" pitchFamily="18" charset="0"/>
                </a:rPr>
                <a:t>7.3. Cấu hình kết nối NodeJS tới MongoDB</a:t>
              </a:r>
            </a:p>
          </p:txBody>
        </p:sp>
        <p:grpSp>
          <p:nvGrpSpPr>
            <p:cNvPr id="4" name="Group 17">
              <a:extLst>
                <a:ext uri="{FF2B5EF4-FFF2-40B4-BE49-F238E27FC236}">
                  <a16:creationId xmlns:a16="http://schemas.microsoft.com/office/drawing/2014/main" id="{E4F601B6-141E-ECAC-DC01-F24D0247C54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62D913B-8E8A-8850-6EDA-603665EC7D8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F89C7D3-DF5B-2AF9-F860-5F7C5986FAB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F9FE1A1-1F2F-5F59-444F-A767E9FB82A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4" name="Picture 13">
            <a:extLst>
              <a:ext uri="{FF2B5EF4-FFF2-40B4-BE49-F238E27FC236}">
                <a16:creationId xmlns:a16="http://schemas.microsoft.com/office/drawing/2014/main" id="{00424555-8DC2-8099-CAD7-0BC2A75C3B04}"/>
              </a:ext>
            </a:extLst>
          </p:cNvPr>
          <p:cNvPicPr>
            <a:picLocks noChangeAspect="1"/>
          </p:cNvPicPr>
          <p:nvPr/>
        </p:nvPicPr>
        <p:blipFill>
          <a:blip r:embed="rId3"/>
          <a:srcRect b="3780"/>
          <a:stretch/>
        </p:blipFill>
        <p:spPr>
          <a:xfrm>
            <a:off x="580821" y="796860"/>
            <a:ext cx="7164147" cy="5600067"/>
          </a:xfrm>
          <a:prstGeom prst="rect">
            <a:avLst/>
          </a:prstGeom>
        </p:spPr>
      </p:pic>
    </p:spTree>
    <p:extLst>
      <p:ext uri="{BB962C8B-B14F-4D97-AF65-F5344CB8AC3E}">
        <p14:creationId xmlns:p14="http://schemas.microsoft.com/office/powerpoint/2010/main" val="40019270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883D488-D205-A354-B54B-7C9065F1F49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7A6B833-9372-A87D-0D07-100CD384699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AD3D87D-84B7-D1EE-F341-23F5F66BC9F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grpSp>
        <p:nvGrpSpPr>
          <p:cNvPr id="2" name="Group 1">
            <a:extLst>
              <a:ext uri="{FF2B5EF4-FFF2-40B4-BE49-F238E27FC236}">
                <a16:creationId xmlns:a16="http://schemas.microsoft.com/office/drawing/2014/main" id="{96FC0EF3-5331-92FB-98EB-B0ADCE97F9B7}"/>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5D8F8274-2F4E-1437-C731-C5C050B8311A}"/>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b="1">
                  <a:latin typeface="Times New Roman" panose="02020603050405020304" pitchFamily="18" charset="0"/>
                  <a:cs typeface="Times New Roman" panose="02020603050405020304" pitchFamily="18" charset="0"/>
                </a:rPr>
                <a:t>7.3. Cấu hình kết nối NodeJS tới MongoDB</a:t>
              </a:r>
            </a:p>
          </p:txBody>
        </p:sp>
        <p:grpSp>
          <p:nvGrpSpPr>
            <p:cNvPr id="4" name="Group 17">
              <a:extLst>
                <a:ext uri="{FF2B5EF4-FFF2-40B4-BE49-F238E27FC236}">
                  <a16:creationId xmlns:a16="http://schemas.microsoft.com/office/drawing/2014/main" id="{0B40535A-27E3-E3E0-27E8-DC507B792DA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C67CE70-2E7E-AAEB-08D8-859D3AECBD0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0B3AB16-570E-ABE0-0008-412C8C91C28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02589FF-7089-BEC7-71CF-D663E524984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349753A6-6468-73AC-7994-FA92A707B689}"/>
              </a:ext>
            </a:extLst>
          </p:cNvPr>
          <p:cNvSpPr txBox="1"/>
          <p:nvPr/>
        </p:nvSpPr>
        <p:spPr>
          <a:xfrm>
            <a:off x="462279" y="8410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Cấu hình nodemon cho </a:t>
            </a:r>
            <a:r>
              <a:rPr lang="vi-VN" sz="2400">
                <a:latin typeface="Times New Roman" panose="02020603050405020304" pitchFamily="18" charset="0"/>
                <a:cs typeface="Times New Roman" panose="02020603050405020304" pitchFamily="18" charset="0"/>
              </a:rPr>
              <a:t>“</a:t>
            </a:r>
            <a:r>
              <a:rPr lang="vi-VN" sz="2400" b="1">
                <a:latin typeface="Times New Roman" panose="02020603050405020304" pitchFamily="18" charset="0"/>
                <a:cs typeface="Times New Roman" panose="02020603050405020304" pitchFamily="18" charset="0"/>
              </a:rPr>
              <a:t>my-server-mongodb</a:t>
            </a:r>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để tự động restart server. Chạy dự án bằng </a:t>
            </a:r>
            <a:r>
              <a:rPr lang="en-US" sz="2400">
                <a:solidFill>
                  <a:srgbClr val="FF0000"/>
                </a:solidFill>
                <a:latin typeface="Times New Roman" panose="02020603050405020304" pitchFamily="18" charset="0"/>
                <a:cs typeface="Times New Roman" panose="02020603050405020304" pitchFamily="18" charset="0"/>
              </a:rPr>
              <a:t>npm start</a:t>
            </a:r>
            <a:endParaRPr lang="vi-VN" sz="2400">
              <a:solidFill>
                <a:srgbClr val="FF0000"/>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F8864A8-9977-6318-8B68-15080D8AE93A}"/>
              </a:ext>
            </a:extLst>
          </p:cNvPr>
          <p:cNvPicPr>
            <a:picLocks noChangeAspect="1"/>
          </p:cNvPicPr>
          <p:nvPr/>
        </p:nvPicPr>
        <p:blipFill>
          <a:blip r:embed="rId3"/>
          <a:stretch>
            <a:fillRect/>
          </a:stretch>
        </p:blipFill>
        <p:spPr>
          <a:xfrm>
            <a:off x="3751098" y="1302677"/>
            <a:ext cx="6220046" cy="6858000"/>
          </a:xfrm>
          <a:prstGeom prst="rect">
            <a:avLst/>
          </a:prstGeom>
        </p:spPr>
      </p:pic>
      <p:sp>
        <p:nvSpPr>
          <p:cNvPr id="11" name="Rectangle 10">
            <a:extLst>
              <a:ext uri="{FF2B5EF4-FFF2-40B4-BE49-F238E27FC236}">
                <a16:creationId xmlns:a16="http://schemas.microsoft.com/office/drawing/2014/main" id="{79D3F335-3EB4-6C42-6678-6EF6E1B12AC2}"/>
              </a:ext>
            </a:extLst>
          </p:cNvPr>
          <p:cNvSpPr/>
          <p:nvPr/>
        </p:nvSpPr>
        <p:spPr>
          <a:xfrm>
            <a:off x="3822192" y="4087368"/>
            <a:ext cx="4736592" cy="2468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04094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602F8B8-976D-65EF-9E9F-0E57DE3AA9E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D5C75FF-F134-C24B-0A48-C680E6BB793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37F40B4-2667-BF1B-127B-4B60031E089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grpSp>
        <p:nvGrpSpPr>
          <p:cNvPr id="2" name="Group 1">
            <a:extLst>
              <a:ext uri="{FF2B5EF4-FFF2-40B4-BE49-F238E27FC236}">
                <a16:creationId xmlns:a16="http://schemas.microsoft.com/office/drawing/2014/main" id="{7D7FBC3F-57ED-A10B-BF98-83CDC804C4F3}"/>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4AEFCFA0-094D-81C3-35CE-58EF32567164}"/>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b="1">
                  <a:latin typeface="Times New Roman" panose="02020603050405020304" pitchFamily="18" charset="0"/>
                  <a:cs typeface="Times New Roman" panose="02020603050405020304" pitchFamily="18" charset="0"/>
                </a:rPr>
                <a:t>7.3. Cấu hình kết nối NodeJS tới MongoDB</a:t>
              </a:r>
            </a:p>
          </p:txBody>
        </p:sp>
        <p:grpSp>
          <p:nvGrpSpPr>
            <p:cNvPr id="4" name="Group 17">
              <a:extLst>
                <a:ext uri="{FF2B5EF4-FFF2-40B4-BE49-F238E27FC236}">
                  <a16:creationId xmlns:a16="http://schemas.microsoft.com/office/drawing/2014/main" id="{F2FE2B46-A30C-86FA-37B1-BCC260D1384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0AB4B11-459C-15AE-1EE5-2BF46EBF00D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CA5FC41-009C-D6B5-0748-F03FA48A182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E8AFEB4-7EC2-CB03-5DCB-DC0220773AA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547C3E6B-CB7E-CE66-7175-D5CE838D2676}"/>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Bổ sung thư mục </a:t>
            </a:r>
            <a:r>
              <a:rPr lang="en-US" sz="2400" b="1">
                <a:latin typeface="Times New Roman" panose="02020603050405020304" pitchFamily="18" charset="0"/>
                <a:cs typeface="Times New Roman" panose="02020603050405020304" pitchFamily="18" charset="0"/>
              </a:rPr>
              <a:t>public/images </a:t>
            </a:r>
            <a:r>
              <a:rPr lang="en-US" sz="2400">
                <a:latin typeface="Times New Roman" panose="02020603050405020304" pitchFamily="18" charset="0"/>
                <a:cs typeface="Times New Roman" panose="02020603050405020304" pitchFamily="18" charset="0"/>
              </a:rPr>
              <a:t>trong “my-server-mongodb”</a:t>
            </a:r>
            <a:endParaRPr lang="vi-VN" sz="2400">
              <a:solidFill>
                <a:srgbClr val="FF0000"/>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267A8C7-20AB-AB64-3EFE-4FD3F5C3521F}"/>
              </a:ext>
            </a:extLst>
          </p:cNvPr>
          <p:cNvPicPr>
            <a:picLocks noChangeAspect="1"/>
          </p:cNvPicPr>
          <p:nvPr/>
        </p:nvPicPr>
        <p:blipFill>
          <a:blip r:embed="rId3"/>
          <a:stretch>
            <a:fillRect/>
          </a:stretch>
        </p:blipFill>
        <p:spPr>
          <a:xfrm>
            <a:off x="4151309" y="1352684"/>
            <a:ext cx="3400722" cy="3244368"/>
          </a:xfrm>
          <a:prstGeom prst="rect">
            <a:avLst/>
          </a:prstGeom>
        </p:spPr>
      </p:pic>
    </p:spTree>
    <p:extLst>
      <p:ext uri="{BB962C8B-B14F-4D97-AF65-F5344CB8AC3E}">
        <p14:creationId xmlns:p14="http://schemas.microsoft.com/office/powerpoint/2010/main" val="1669223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817237C-3D59-F485-A0BB-DE1C3424CEE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F99DB99-0B88-8AAD-753E-68A3B5F5881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71B0D60-9DFE-8C2B-0F39-C1E1A60DCB9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grpSp>
        <p:nvGrpSpPr>
          <p:cNvPr id="2" name="Group 1">
            <a:extLst>
              <a:ext uri="{FF2B5EF4-FFF2-40B4-BE49-F238E27FC236}">
                <a16:creationId xmlns:a16="http://schemas.microsoft.com/office/drawing/2014/main" id="{A125D624-22BF-A260-14F6-42E12E0767F9}"/>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61DC2426-DFFA-6227-984B-E4A513C90F7A}"/>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b="1">
                  <a:latin typeface="Times New Roman" panose="02020603050405020304" pitchFamily="18" charset="0"/>
                  <a:cs typeface="Times New Roman" panose="02020603050405020304" pitchFamily="18" charset="0"/>
                </a:rPr>
                <a:t>7.3. Cấu hình kết nối NodeJS tới MongoDB</a:t>
              </a:r>
            </a:p>
          </p:txBody>
        </p:sp>
        <p:grpSp>
          <p:nvGrpSpPr>
            <p:cNvPr id="4" name="Group 17">
              <a:extLst>
                <a:ext uri="{FF2B5EF4-FFF2-40B4-BE49-F238E27FC236}">
                  <a16:creationId xmlns:a16="http://schemas.microsoft.com/office/drawing/2014/main" id="{9BC7948D-907D-7019-48D9-CFA30B08CD4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13BEB92-E9F4-646B-93A4-710ADFFC830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EDE074B-08E3-A017-910A-C60A6800B1E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D5E5F10-C0F4-95BF-7C15-1288B7526BB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13F6262D-979B-2323-29D8-61C5405BD6E9}"/>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Tạo </a:t>
            </a:r>
            <a:r>
              <a:rPr lang="en-US" sz="2400" b="1">
                <a:latin typeface="Times New Roman" panose="02020603050405020304" pitchFamily="18" charset="0"/>
                <a:cs typeface="Times New Roman" panose="02020603050405020304" pitchFamily="18" charset="0"/>
              </a:rPr>
              <a:t>index.js </a:t>
            </a:r>
            <a:r>
              <a:rPr lang="en-US" sz="2400">
                <a:latin typeface="Times New Roman" panose="02020603050405020304" pitchFamily="18" charset="0"/>
                <a:cs typeface="Times New Roman" panose="02020603050405020304" pitchFamily="18" charset="0"/>
              </a:rPr>
              <a:t>trong “my-server-mongodb” và chạy ở port 3002</a:t>
            </a:r>
            <a:endParaRPr lang="vi-VN" sz="2400">
              <a:solidFill>
                <a:srgbClr val="FF0000"/>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CCACDDF-66D8-CCC6-A3DD-C125BB8C33CB}"/>
              </a:ext>
            </a:extLst>
          </p:cNvPr>
          <p:cNvPicPr>
            <a:picLocks noChangeAspect="1"/>
          </p:cNvPicPr>
          <p:nvPr/>
        </p:nvPicPr>
        <p:blipFill>
          <a:blip r:embed="rId3"/>
          <a:stretch>
            <a:fillRect/>
          </a:stretch>
        </p:blipFill>
        <p:spPr>
          <a:xfrm>
            <a:off x="728132" y="1406614"/>
            <a:ext cx="7190476" cy="3600000"/>
          </a:xfrm>
          <a:prstGeom prst="rect">
            <a:avLst/>
          </a:prstGeom>
        </p:spPr>
      </p:pic>
      <p:pic>
        <p:nvPicPr>
          <p:cNvPr id="14" name="Picture 13">
            <a:extLst>
              <a:ext uri="{FF2B5EF4-FFF2-40B4-BE49-F238E27FC236}">
                <a16:creationId xmlns:a16="http://schemas.microsoft.com/office/drawing/2014/main" id="{4EF006F7-213F-31F1-EE5F-9497D6D57839}"/>
              </a:ext>
            </a:extLst>
          </p:cNvPr>
          <p:cNvPicPr>
            <a:picLocks noChangeAspect="1"/>
          </p:cNvPicPr>
          <p:nvPr/>
        </p:nvPicPr>
        <p:blipFill>
          <a:blip r:embed="rId4"/>
          <a:stretch>
            <a:fillRect/>
          </a:stretch>
        </p:blipFill>
        <p:spPr>
          <a:xfrm>
            <a:off x="9111895" y="3023717"/>
            <a:ext cx="2571429" cy="1428571"/>
          </a:xfrm>
          <a:prstGeom prst="rect">
            <a:avLst/>
          </a:prstGeom>
        </p:spPr>
      </p:pic>
    </p:spTree>
    <p:extLst>
      <p:ext uri="{BB962C8B-B14F-4D97-AF65-F5344CB8AC3E}">
        <p14:creationId xmlns:p14="http://schemas.microsoft.com/office/powerpoint/2010/main" val="26634788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318EE61-92C1-972F-9DC1-0CEE1F22A43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E665672-4EAA-A2AE-C257-0D0D833FDC5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EE58C7E-3B6C-1CD3-6B2E-7F207D09878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grpSp>
        <p:nvGrpSpPr>
          <p:cNvPr id="2" name="Group 1">
            <a:extLst>
              <a:ext uri="{FF2B5EF4-FFF2-40B4-BE49-F238E27FC236}">
                <a16:creationId xmlns:a16="http://schemas.microsoft.com/office/drawing/2014/main" id="{CB957CB4-9FEA-13C8-C8E0-DB902F124A35}"/>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DE5E343A-CDEB-044A-6F80-AFFD35A916A6}"/>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b="1">
                  <a:latin typeface="Times New Roman" panose="02020603050405020304" pitchFamily="18" charset="0"/>
                  <a:cs typeface="Times New Roman" panose="02020603050405020304" pitchFamily="18" charset="0"/>
                </a:rPr>
                <a:t>7.3. Cấu hình kết nối NodeJS tới MongoDB</a:t>
              </a:r>
            </a:p>
          </p:txBody>
        </p:sp>
        <p:grpSp>
          <p:nvGrpSpPr>
            <p:cNvPr id="4" name="Group 17">
              <a:extLst>
                <a:ext uri="{FF2B5EF4-FFF2-40B4-BE49-F238E27FC236}">
                  <a16:creationId xmlns:a16="http://schemas.microsoft.com/office/drawing/2014/main" id="{1501D1AF-892B-7F85-6006-834BDD2C5DD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BC9944D-55EA-30BF-763B-28FC105C948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5C5EDAD-8881-FE17-AA0E-8BE2E2BA918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5F86F76-B1EC-9CF5-9E71-4C33F5A3968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7A3B705C-F24B-C4FB-F4C6-9EAF675EB541}"/>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Tạo index.js trong “my-server-mongodb” và chạy ở port 3002</a:t>
            </a:r>
            <a:endParaRPr lang="vi-VN" sz="2400">
              <a:solidFill>
                <a:srgbClr val="FF0000"/>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7881F8CA-3ADE-BE51-54B1-7B4A3FF0165F}"/>
              </a:ext>
            </a:extLst>
          </p:cNvPr>
          <p:cNvPicPr>
            <a:picLocks noChangeAspect="1"/>
          </p:cNvPicPr>
          <p:nvPr/>
        </p:nvPicPr>
        <p:blipFill>
          <a:blip r:embed="rId3"/>
          <a:stretch>
            <a:fillRect/>
          </a:stretch>
        </p:blipFill>
        <p:spPr>
          <a:xfrm>
            <a:off x="3791266" y="1261581"/>
            <a:ext cx="6329704" cy="5548259"/>
          </a:xfrm>
          <a:prstGeom prst="rect">
            <a:avLst/>
          </a:prstGeom>
        </p:spPr>
      </p:pic>
    </p:spTree>
    <p:extLst>
      <p:ext uri="{BB962C8B-B14F-4D97-AF65-F5344CB8AC3E}">
        <p14:creationId xmlns:p14="http://schemas.microsoft.com/office/powerpoint/2010/main" val="24161645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CC9E996-7D81-7044-4E6E-16F1367E967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1D5613D-FDF9-CE3A-7FEB-6B32C9914D7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4215CB5-B517-8A17-C8DD-0AFB7E264B4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grpSp>
        <p:nvGrpSpPr>
          <p:cNvPr id="2" name="Group 1">
            <a:extLst>
              <a:ext uri="{FF2B5EF4-FFF2-40B4-BE49-F238E27FC236}">
                <a16:creationId xmlns:a16="http://schemas.microsoft.com/office/drawing/2014/main" id="{661DE1DC-DD68-23CA-AF73-A6C5DAE95383}"/>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DF17EF18-D6AA-D174-E41C-32B79D9220E5}"/>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b="1">
                  <a:latin typeface="Times New Roman" panose="02020603050405020304" pitchFamily="18" charset="0"/>
                  <a:cs typeface="Times New Roman" panose="02020603050405020304" pitchFamily="18" charset="0"/>
                </a:rPr>
                <a:t>7.3. Cấu hình kết nối NodeJS tới MongoDB</a:t>
              </a:r>
            </a:p>
          </p:txBody>
        </p:sp>
        <p:grpSp>
          <p:nvGrpSpPr>
            <p:cNvPr id="4" name="Group 17">
              <a:extLst>
                <a:ext uri="{FF2B5EF4-FFF2-40B4-BE49-F238E27FC236}">
                  <a16:creationId xmlns:a16="http://schemas.microsoft.com/office/drawing/2014/main" id="{9D719312-B364-96CA-4EBE-8744DAB3928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0C4CCA1-D3A2-D8DC-5397-10644ADFF15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E43D1D4-B62B-67CC-2E9F-B80FE491A9C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23B4662-9B6F-FB53-76D7-72C5890CEDC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446BC5E5-286E-D04D-6AA0-EA39EB57D58F}"/>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Khởi chạy </a:t>
            </a:r>
            <a:r>
              <a:rPr lang="en-US" sz="2400" b="1">
                <a:solidFill>
                  <a:srgbClr val="FF0000"/>
                </a:solidFill>
                <a:latin typeface="Times New Roman" panose="02020603050405020304" pitchFamily="18" charset="0"/>
                <a:cs typeface="Times New Roman" panose="02020603050405020304" pitchFamily="18" charset="0"/>
              </a:rPr>
              <a:t>npm start</a:t>
            </a:r>
            <a:r>
              <a:rPr lang="en-US" sz="2400">
                <a:latin typeface="Times New Roman" panose="02020603050405020304" pitchFamily="18" charset="0"/>
                <a:cs typeface="Times New Roman" panose="02020603050405020304" pitchFamily="18" charset="0"/>
              </a:rPr>
              <a:t> cho “my-server-mongodb”</a:t>
            </a:r>
            <a:endParaRPr lang="vi-VN" sz="2400">
              <a:solidFill>
                <a:srgbClr val="FF0000"/>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55E8F615-5DAD-0DC6-BA13-730286B9F8B2}"/>
              </a:ext>
            </a:extLst>
          </p:cNvPr>
          <p:cNvPicPr>
            <a:picLocks noChangeAspect="1"/>
          </p:cNvPicPr>
          <p:nvPr/>
        </p:nvPicPr>
        <p:blipFill>
          <a:blip r:embed="rId3"/>
          <a:stretch>
            <a:fillRect/>
          </a:stretch>
        </p:blipFill>
        <p:spPr>
          <a:xfrm>
            <a:off x="3496732" y="1302677"/>
            <a:ext cx="4904762" cy="2333333"/>
          </a:xfrm>
          <a:prstGeom prst="rect">
            <a:avLst/>
          </a:prstGeom>
        </p:spPr>
      </p:pic>
      <p:pic>
        <p:nvPicPr>
          <p:cNvPr id="19" name="Picture 18">
            <a:extLst>
              <a:ext uri="{FF2B5EF4-FFF2-40B4-BE49-F238E27FC236}">
                <a16:creationId xmlns:a16="http://schemas.microsoft.com/office/drawing/2014/main" id="{A49C4567-9994-9AFD-F011-90C3E0C318DD}"/>
              </a:ext>
            </a:extLst>
          </p:cNvPr>
          <p:cNvPicPr>
            <a:picLocks noChangeAspect="1"/>
          </p:cNvPicPr>
          <p:nvPr/>
        </p:nvPicPr>
        <p:blipFill>
          <a:blip r:embed="rId4"/>
          <a:stretch>
            <a:fillRect/>
          </a:stretch>
        </p:blipFill>
        <p:spPr>
          <a:xfrm>
            <a:off x="2300287" y="3779826"/>
            <a:ext cx="7591425" cy="2571750"/>
          </a:xfrm>
          <a:prstGeom prst="rect">
            <a:avLst/>
          </a:prstGeom>
        </p:spPr>
      </p:pic>
    </p:spTree>
    <p:extLst>
      <p:ext uri="{BB962C8B-B14F-4D97-AF65-F5344CB8AC3E}">
        <p14:creationId xmlns:p14="http://schemas.microsoft.com/office/powerpoint/2010/main" val="2653104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2D00658-A327-249D-5907-23DFB4B36BA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E3A337B-5F50-FE3C-BD7F-434B8BCDF7A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47F3CF1-B9A9-9922-62DD-D53E7C5A72E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grpSp>
        <p:nvGrpSpPr>
          <p:cNvPr id="2" name="Group 1">
            <a:extLst>
              <a:ext uri="{FF2B5EF4-FFF2-40B4-BE49-F238E27FC236}">
                <a16:creationId xmlns:a16="http://schemas.microsoft.com/office/drawing/2014/main" id="{2BD29735-4666-3D00-8686-D485083BBE46}"/>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0956EADB-2DC2-51EA-CFDC-0DBC863C5380}"/>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 Restful API: CRUD MongoDB</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6A806E7-91D5-ED44-33EC-51683EBBEDB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185B5FA-2BD7-4EC6-F295-71E3F757B0F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71C494C-AF67-1BDD-9783-E114521BB1E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1246543-0E8C-29D4-F4DB-A0DEC2EFBD9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6BC13A4-0C16-2C25-8F69-C6D84F0FEE48}"/>
              </a:ext>
            </a:extLst>
          </p:cNvPr>
          <p:cNvSpPr txBox="1"/>
          <p:nvPr/>
        </p:nvSpPr>
        <p:spPr>
          <a:xfrm>
            <a:off x="462279" y="841012"/>
            <a:ext cx="11564547" cy="1569660"/>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7.4.1. API-HTTP GET</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7.4.2. API-HTTP POST</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7.4.3. API-HTTP PUT</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7.4.4. API-HTTP DELETE</a:t>
            </a:r>
          </a:p>
        </p:txBody>
      </p:sp>
    </p:spTree>
    <p:extLst>
      <p:ext uri="{BB962C8B-B14F-4D97-AF65-F5344CB8AC3E}">
        <p14:creationId xmlns:p14="http://schemas.microsoft.com/office/powerpoint/2010/main" val="3571400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E204B85-82CB-7204-3835-5A518FE7383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75237EA-3CF0-A437-47C6-7F6F4040825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DA8AF83-14E7-65D0-1544-EBBD03A531E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grpSp>
        <p:nvGrpSpPr>
          <p:cNvPr id="2" name="Group 1">
            <a:extLst>
              <a:ext uri="{FF2B5EF4-FFF2-40B4-BE49-F238E27FC236}">
                <a16:creationId xmlns:a16="http://schemas.microsoft.com/office/drawing/2014/main" id="{5AD21658-13B9-6070-6E19-130D4C998B57}"/>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DB1087AB-F3B0-6536-6B0D-38E412F1C67D}"/>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24E2EA9-E3CF-E81C-380F-027F9BD9E0A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426BF20-AF54-EEA7-AEFF-82826D2148D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F7113BF-677F-0FAD-5A56-030913015E9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DA069D1-69E2-E792-A5A0-B0E7986BFBE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B79753D-9D13-BAE6-AD9B-C0685BACAC27}"/>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Bổ sung các lệnh kết nối MongoDB database vào cuối file </a:t>
            </a:r>
            <a:r>
              <a:rPr lang="en-US" sz="2400" b="1">
                <a:latin typeface="Times New Roman" panose="02020603050405020304" pitchFamily="18" charset="0"/>
                <a:cs typeface="Times New Roman" panose="02020603050405020304" pitchFamily="18" charset="0"/>
              </a:rPr>
              <a:t>index.js</a:t>
            </a:r>
            <a:endParaRPr lang="vi-VN" sz="2400" b="1">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8A51BB3-DA84-F9E4-1DC8-DBD12BA7D65E}"/>
              </a:ext>
            </a:extLst>
          </p:cNvPr>
          <p:cNvSpPr txBox="1"/>
          <p:nvPr/>
        </p:nvSpPr>
        <p:spPr>
          <a:xfrm>
            <a:off x="728132" y="1514798"/>
            <a:ext cx="11039621" cy="2803011"/>
          </a:xfrm>
          <a:prstGeom prst="rect">
            <a:avLst/>
          </a:prstGeom>
          <a:noFill/>
          <a:ln>
            <a:solidFill>
              <a:schemeClr val="accent1"/>
            </a:solidFill>
          </a:ln>
        </p:spPr>
        <p:txBody>
          <a:bodyPr wrap="square">
            <a:spAutoFit/>
          </a:bodyPr>
          <a:lstStyle/>
          <a:p>
            <a:pPr>
              <a:lnSpc>
                <a:spcPct val="150000"/>
              </a:lnSpc>
              <a:buNone/>
            </a:pPr>
            <a:r>
              <a:rPr lang="en-US" sz="2400" b="0">
                <a:solidFill>
                  <a:srgbClr val="0000FF"/>
                </a:solidFill>
                <a:effectLst/>
                <a:latin typeface="Consolas" panose="020B0609020204030204" pitchFamily="49" charset="0"/>
              </a:rPr>
              <a:t>const</a:t>
            </a:r>
            <a:r>
              <a:rPr lang="en-US" sz="2400" b="0">
                <a:solidFill>
                  <a:srgbClr val="000000"/>
                </a:solidFill>
                <a:effectLst/>
                <a:latin typeface="Consolas" panose="020B0609020204030204" pitchFamily="49" charset="0"/>
              </a:rPr>
              <a:t> { MongoClient, ObjectId } = require(</a:t>
            </a:r>
            <a:r>
              <a:rPr lang="en-US" sz="2400" b="0">
                <a:solidFill>
                  <a:srgbClr val="A31515"/>
                </a:solidFill>
                <a:effectLst/>
                <a:latin typeface="Consolas" panose="020B0609020204030204" pitchFamily="49" charset="0"/>
              </a:rPr>
              <a:t>'mongodb'</a:t>
            </a:r>
            <a:r>
              <a:rPr lang="en-US" sz="2400" b="0">
                <a:solidFill>
                  <a:srgbClr val="000000"/>
                </a:solidFill>
                <a:effectLst/>
                <a:latin typeface="Consolas" panose="020B0609020204030204" pitchFamily="49" charset="0"/>
              </a:rPr>
              <a:t>);</a:t>
            </a:r>
          </a:p>
          <a:p>
            <a:pPr>
              <a:lnSpc>
                <a:spcPct val="150000"/>
              </a:lnSpc>
              <a:buNone/>
            </a:pPr>
            <a:r>
              <a:rPr lang="en-US" sz="2400" b="0">
                <a:solidFill>
                  <a:srgbClr val="000000"/>
                </a:solidFill>
                <a:effectLst/>
                <a:latin typeface="Consolas" panose="020B0609020204030204" pitchFamily="49" charset="0"/>
              </a:rPr>
              <a:t>client = </a:t>
            </a:r>
            <a:r>
              <a:rPr lang="en-US" sz="2400" b="0">
                <a:solidFill>
                  <a:srgbClr val="0000FF"/>
                </a:solidFill>
                <a:effectLst/>
                <a:latin typeface="Consolas" panose="020B0609020204030204" pitchFamily="49" charset="0"/>
              </a:rPr>
              <a:t>new</a:t>
            </a:r>
            <a:r>
              <a:rPr lang="en-US" sz="2400" b="0">
                <a:solidFill>
                  <a:srgbClr val="000000"/>
                </a:solidFill>
                <a:effectLst/>
                <a:latin typeface="Consolas" panose="020B0609020204030204" pitchFamily="49" charset="0"/>
              </a:rPr>
              <a:t> MongoClient(</a:t>
            </a:r>
            <a:r>
              <a:rPr lang="en-US" sz="2400" b="0">
                <a:solidFill>
                  <a:srgbClr val="A31515"/>
                </a:solidFill>
                <a:effectLst/>
                <a:latin typeface="Consolas" panose="020B0609020204030204" pitchFamily="49" charset="0"/>
              </a:rPr>
              <a:t>"mongodb://127.0.0.1:27017"</a:t>
            </a:r>
            <a:r>
              <a:rPr lang="en-US" sz="2400" b="0">
                <a:solidFill>
                  <a:srgbClr val="000000"/>
                </a:solidFill>
                <a:effectLst/>
                <a:latin typeface="Consolas" panose="020B0609020204030204" pitchFamily="49" charset="0"/>
              </a:rPr>
              <a:t>);</a:t>
            </a:r>
          </a:p>
          <a:p>
            <a:pPr>
              <a:lnSpc>
                <a:spcPct val="150000"/>
              </a:lnSpc>
              <a:buNone/>
            </a:pPr>
            <a:r>
              <a:rPr lang="en-US" sz="2400" b="0">
                <a:solidFill>
                  <a:srgbClr val="000000"/>
                </a:solidFill>
                <a:effectLst/>
                <a:latin typeface="Consolas" panose="020B0609020204030204" pitchFamily="49" charset="0"/>
              </a:rPr>
              <a:t>client.connect();</a:t>
            </a:r>
          </a:p>
          <a:p>
            <a:pPr>
              <a:lnSpc>
                <a:spcPct val="150000"/>
              </a:lnSpc>
              <a:buNone/>
            </a:pPr>
            <a:r>
              <a:rPr lang="en-US" sz="2400" b="0">
                <a:solidFill>
                  <a:srgbClr val="000000"/>
                </a:solidFill>
                <a:effectLst/>
                <a:latin typeface="Consolas" panose="020B0609020204030204" pitchFamily="49" charset="0"/>
              </a:rPr>
              <a:t>database = client.db(</a:t>
            </a:r>
            <a:r>
              <a:rPr lang="en-US" sz="2400" b="0">
                <a:solidFill>
                  <a:srgbClr val="A31515"/>
                </a:solidFill>
                <a:effectLst/>
                <a:latin typeface="Consolas" panose="020B0609020204030204" pitchFamily="49" charset="0"/>
              </a:rPr>
              <a:t>"FashionData"</a:t>
            </a:r>
            <a:r>
              <a:rPr lang="en-US" sz="2400" b="0">
                <a:solidFill>
                  <a:srgbClr val="000000"/>
                </a:solidFill>
                <a:effectLst/>
                <a:latin typeface="Consolas" panose="020B0609020204030204" pitchFamily="49" charset="0"/>
              </a:rPr>
              <a:t>);      </a:t>
            </a:r>
          </a:p>
          <a:p>
            <a:pPr>
              <a:lnSpc>
                <a:spcPct val="150000"/>
              </a:lnSpc>
            </a:pPr>
            <a:r>
              <a:rPr lang="en-US" sz="2400" b="0">
                <a:solidFill>
                  <a:srgbClr val="000000"/>
                </a:solidFill>
                <a:effectLst/>
                <a:latin typeface="Consolas" panose="020B0609020204030204" pitchFamily="49" charset="0"/>
              </a:rPr>
              <a:t>fashionCollection = database.collection(</a:t>
            </a:r>
            <a:r>
              <a:rPr lang="en-US" sz="2400" b="0">
                <a:solidFill>
                  <a:srgbClr val="A31515"/>
                </a:solidFill>
                <a:effectLst/>
                <a:latin typeface="Consolas" panose="020B0609020204030204" pitchFamily="49" charset="0"/>
              </a:rPr>
              <a:t>"Fashion"</a:t>
            </a:r>
            <a:r>
              <a:rPr lang="en-US" sz="24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8754281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FC9A232-BFD1-9D37-ECD0-93641C2EC21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D9F89CC-5BEF-CE11-668F-3989E89D369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DB902BD-1350-2AC4-16E3-C40DA395DE9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grpSp>
        <p:nvGrpSpPr>
          <p:cNvPr id="2" name="Group 1">
            <a:extLst>
              <a:ext uri="{FF2B5EF4-FFF2-40B4-BE49-F238E27FC236}">
                <a16:creationId xmlns:a16="http://schemas.microsoft.com/office/drawing/2014/main" id="{6403455D-C66A-22E2-4163-B11AF6D06A18}"/>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BAA97854-1CBE-D3AE-BB5A-924F07940DBD}"/>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EE225D2-5EE7-D52C-7755-02FD3C8EE51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49DD38D-E52E-693C-639E-7E1324A5B41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B18180F-053C-6CF2-88F1-393CB5F5E26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B3C9ECB-B9D0-AB00-1213-C40977CE262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618D017-D194-3452-E304-482EFBBB356C}"/>
              </a:ext>
            </a:extLst>
          </p:cNvPr>
          <p:cNvSpPr txBox="1"/>
          <p:nvPr/>
        </p:nvSpPr>
        <p:spPr>
          <a:xfrm>
            <a:off x="462279" y="8410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Tiếp tục </a:t>
            </a:r>
            <a:r>
              <a:rPr lang="nl-NL" sz="2400">
                <a:effectLst/>
                <a:latin typeface="Times New Roman" panose="02020603050405020304" pitchFamily="18" charset="0"/>
                <a:ea typeface="Arial Unicode MS" panose="020B0604020202020204" pitchFamily="34" charset="-128"/>
              </a:rPr>
              <a:t>bổ sung </a:t>
            </a:r>
            <a:r>
              <a:rPr lang="en-US" sz="2400">
                <a:latin typeface="Times New Roman" panose="02020603050405020304" pitchFamily="18" charset="0"/>
                <a:cs typeface="Times New Roman" panose="02020603050405020304" pitchFamily="18" charset="0"/>
              </a:rPr>
              <a:t>vào cuối file </a:t>
            </a:r>
            <a:r>
              <a:rPr lang="en-US" sz="2400" b="1">
                <a:latin typeface="Times New Roman" panose="02020603050405020304" pitchFamily="18" charset="0"/>
                <a:cs typeface="Times New Roman" panose="02020603050405020304" pitchFamily="18" charset="0"/>
              </a:rPr>
              <a:t>index.js </a:t>
            </a:r>
            <a:r>
              <a:rPr lang="en-US" sz="2400">
                <a:latin typeface="Times New Roman" panose="02020603050405020304" pitchFamily="18" charset="0"/>
                <a:cs typeface="Times New Roman" panose="02020603050405020304" pitchFamily="18" charset="0"/>
              </a:rPr>
              <a:t>để tạo API lấy danh sách dữ liệu </a:t>
            </a:r>
            <a:r>
              <a:rPr lang="en-US" sz="2400" b="1">
                <a:latin typeface="Times New Roman" panose="02020603050405020304" pitchFamily="18" charset="0"/>
                <a:cs typeface="Times New Roman" panose="02020603050405020304" pitchFamily="18" charset="0"/>
              </a:rPr>
              <a:t>fashions</a:t>
            </a:r>
            <a:r>
              <a:rPr lang="en-US" sz="2400">
                <a:latin typeface="Times New Roman" panose="02020603050405020304" pitchFamily="18" charset="0"/>
                <a:cs typeface="Times New Roman" panose="02020603050405020304" pitchFamily="18" charset="0"/>
              </a:rPr>
              <a:t> trong MongoDB</a:t>
            </a:r>
            <a:endParaRPr lang="vi-VN"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E19393B-6560-B1B0-B44F-82BEEB3BB841}"/>
              </a:ext>
            </a:extLst>
          </p:cNvPr>
          <p:cNvSpPr txBox="1"/>
          <p:nvPr/>
        </p:nvSpPr>
        <p:spPr>
          <a:xfrm>
            <a:off x="728132" y="1894461"/>
            <a:ext cx="11021282" cy="2803011"/>
          </a:xfrm>
          <a:prstGeom prst="rect">
            <a:avLst/>
          </a:prstGeom>
          <a:noFill/>
          <a:ln>
            <a:solidFill>
              <a:schemeClr val="accent1"/>
            </a:solidFill>
          </a:ln>
        </p:spPr>
        <p:txBody>
          <a:bodyPr wrap="square">
            <a:spAutoFit/>
          </a:bodyPr>
          <a:lstStyle/>
          <a:p>
            <a:pPr>
              <a:lnSpc>
                <a:spcPct val="150000"/>
              </a:lnSpc>
              <a:buNone/>
            </a:pPr>
            <a:r>
              <a:rPr lang="en-US" sz="2400" b="0">
                <a:solidFill>
                  <a:srgbClr val="000000"/>
                </a:solidFill>
                <a:effectLst/>
                <a:latin typeface="Consolas" panose="020B0609020204030204" pitchFamily="49" charset="0"/>
              </a:rPr>
              <a:t>app.get(</a:t>
            </a:r>
            <a:r>
              <a:rPr lang="en-US" sz="2400" b="0">
                <a:solidFill>
                  <a:srgbClr val="A31515"/>
                </a:solidFill>
                <a:effectLst/>
                <a:latin typeface="Consolas" panose="020B0609020204030204" pitchFamily="49" charset="0"/>
              </a:rPr>
              <a:t>"/fashions"</a:t>
            </a:r>
            <a:r>
              <a:rPr lang="en-US" sz="2400" b="0">
                <a:solidFill>
                  <a:srgbClr val="000000"/>
                </a:solidFill>
                <a:effectLst/>
                <a:latin typeface="Consolas" panose="020B0609020204030204" pitchFamily="49" charset="0"/>
              </a:rPr>
              <a:t>,cors(),</a:t>
            </a:r>
            <a:r>
              <a:rPr lang="en-US" sz="2400" b="0">
                <a:solidFill>
                  <a:srgbClr val="0000FF"/>
                </a:solidFill>
                <a:effectLst/>
                <a:latin typeface="Consolas" panose="020B0609020204030204" pitchFamily="49" charset="0"/>
              </a:rPr>
              <a:t>async</a:t>
            </a:r>
            <a:r>
              <a:rPr lang="en-US" sz="2400" b="0">
                <a:solidFill>
                  <a:srgbClr val="000000"/>
                </a:solidFill>
                <a:effectLst/>
                <a:latin typeface="Consolas" panose="020B0609020204030204" pitchFamily="49" charset="0"/>
              </a:rPr>
              <a:t> (req,res)</a:t>
            </a:r>
            <a:r>
              <a:rPr lang="en-US" sz="2400" b="0">
                <a:solidFill>
                  <a:srgbClr val="0000FF"/>
                </a:solidFill>
                <a:effectLst/>
                <a:latin typeface="Consolas" panose="020B0609020204030204" pitchFamily="49" charset="0"/>
              </a:rPr>
              <a:t>=&gt;</a:t>
            </a:r>
            <a:r>
              <a:rPr lang="en-US" sz="2400" b="0">
                <a:solidFill>
                  <a:srgbClr val="000000"/>
                </a:solidFill>
                <a:effectLst/>
                <a:latin typeface="Consolas" panose="020B0609020204030204" pitchFamily="49" charset="0"/>
              </a:rPr>
              <a:t>{   </a:t>
            </a:r>
          </a:p>
          <a:p>
            <a:pPr>
              <a:lnSpc>
                <a:spcPct val="150000"/>
              </a:lnSpc>
              <a:buNone/>
            </a:pPr>
            <a:r>
              <a:rPr lang="en-US" sz="2400" b="0">
                <a:solidFill>
                  <a:srgbClr val="000000"/>
                </a:solidFill>
                <a:effectLst/>
                <a:latin typeface="Consolas" panose="020B0609020204030204" pitchFamily="49" charset="0"/>
              </a:rPr>
              <a:t>    </a:t>
            </a:r>
            <a:r>
              <a:rPr lang="en-US" sz="2400" b="0">
                <a:solidFill>
                  <a:srgbClr val="0000FF"/>
                </a:solidFill>
                <a:effectLst/>
                <a:latin typeface="Consolas" panose="020B0609020204030204" pitchFamily="49" charset="0"/>
              </a:rPr>
              <a:t>const</a:t>
            </a:r>
            <a:r>
              <a:rPr lang="en-US" sz="2400" b="0">
                <a:solidFill>
                  <a:srgbClr val="000000"/>
                </a:solidFill>
                <a:effectLst/>
                <a:latin typeface="Consolas" panose="020B0609020204030204" pitchFamily="49" charset="0"/>
              </a:rPr>
              <a:t> result = </a:t>
            </a:r>
            <a:r>
              <a:rPr lang="en-US" sz="2400" b="0">
                <a:solidFill>
                  <a:srgbClr val="0000FF"/>
                </a:solidFill>
                <a:effectLst/>
                <a:latin typeface="Consolas" panose="020B0609020204030204" pitchFamily="49" charset="0"/>
              </a:rPr>
              <a:t>await</a:t>
            </a:r>
            <a:r>
              <a:rPr lang="en-US" sz="2400" b="0">
                <a:solidFill>
                  <a:srgbClr val="000000"/>
                </a:solidFill>
                <a:effectLst/>
                <a:latin typeface="Consolas" panose="020B0609020204030204" pitchFamily="49" charset="0"/>
              </a:rPr>
              <a:t> fashionCollection.find({}).toArray();</a:t>
            </a:r>
          </a:p>
          <a:p>
            <a:pPr>
              <a:lnSpc>
                <a:spcPct val="150000"/>
              </a:lnSpc>
              <a:buNone/>
            </a:pPr>
            <a:r>
              <a:rPr lang="en-US" sz="2400" b="0">
                <a:solidFill>
                  <a:srgbClr val="000000"/>
                </a:solidFill>
                <a:effectLst/>
                <a:latin typeface="Consolas" panose="020B0609020204030204" pitchFamily="49" charset="0"/>
              </a:rPr>
              <a:t>    res.send(result)</a:t>
            </a:r>
          </a:p>
          <a:p>
            <a:pPr>
              <a:lnSpc>
                <a:spcPct val="150000"/>
              </a:lnSpc>
              <a:buNone/>
            </a:pPr>
            <a:r>
              <a:rPr lang="en-US" sz="2400" b="0">
                <a:solidFill>
                  <a:srgbClr val="000000"/>
                </a:solidFill>
                <a:effectLst/>
                <a:latin typeface="Consolas" panose="020B0609020204030204" pitchFamily="49" charset="0"/>
              </a:rPr>
              <a:t>    }</a:t>
            </a:r>
          </a:p>
          <a:p>
            <a:pPr>
              <a:lnSpc>
                <a:spcPct val="150000"/>
              </a:lnSpc>
              <a:buNone/>
            </a:pPr>
            <a:r>
              <a:rPr lang="en-US" sz="24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5547652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E5215DF-4568-ED29-5076-5F3E6C42433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7B8F88F-0611-A277-84F0-F642BDEEC96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A43FE63-42D5-23C8-C171-E1137B2A44F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grpSp>
        <p:nvGrpSpPr>
          <p:cNvPr id="2" name="Group 1">
            <a:extLst>
              <a:ext uri="{FF2B5EF4-FFF2-40B4-BE49-F238E27FC236}">
                <a16:creationId xmlns:a16="http://schemas.microsoft.com/office/drawing/2014/main" id="{21FFBA05-F5FB-849D-6584-FEA0998A6309}"/>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DC181211-10DC-0D8B-9735-BAF3D26C39F4}"/>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0E35832-BA31-867F-5179-8C43075C8EF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192C3E4-9B4E-6C00-6A8E-6EA7E88B98E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A883A7A-0CDE-D6FB-0671-6099259E29D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6F8D593-EAB8-9490-6601-11D66820D3C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6950685-BE59-0BB0-16DB-45A64B09F4DB}"/>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Coding…</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43627F8-9475-369E-B200-E8D33F90D660}"/>
              </a:ext>
            </a:extLst>
          </p:cNvPr>
          <p:cNvPicPr>
            <a:picLocks noChangeAspect="1"/>
          </p:cNvPicPr>
          <p:nvPr/>
        </p:nvPicPr>
        <p:blipFill>
          <a:blip r:embed="rId3"/>
          <a:stretch>
            <a:fillRect/>
          </a:stretch>
        </p:blipFill>
        <p:spPr>
          <a:xfrm>
            <a:off x="901018" y="1447533"/>
            <a:ext cx="8311876" cy="4981830"/>
          </a:xfrm>
          <a:prstGeom prst="rect">
            <a:avLst/>
          </a:prstGeom>
        </p:spPr>
      </p:pic>
    </p:spTree>
    <p:extLst>
      <p:ext uri="{BB962C8B-B14F-4D97-AF65-F5344CB8AC3E}">
        <p14:creationId xmlns:p14="http://schemas.microsoft.com/office/powerpoint/2010/main" val="42398836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106882C-CD1F-156D-A54B-1D7A9E0EC39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4043CB1-67B4-7B08-B2DE-3AB28A36CBE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C6D737F-B353-C52C-D987-782ABA24F9B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grpSp>
        <p:nvGrpSpPr>
          <p:cNvPr id="2" name="Group 1">
            <a:extLst>
              <a:ext uri="{FF2B5EF4-FFF2-40B4-BE49-F238E27FC236}">
                <a16:creationId xmlns:a16="http://schemas.microsoft.com/office/drawing/2014/main" id="{4082EC71-7AD9-C6E6-797B-51FDF033E031}"/>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ED04C5FD-505D-C216-36D5-FD9D9E350A91}"/>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1C45EDF-B173-D320-2873-D1A36CB29DA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0F53B63-1E6B-C0A6-89D7-825FFE284A3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7D023C3-5A98-4038-8671-86839E59687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D513158-0596-3498-E3E0-490B94BE93C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912BC6B-8FE5-11ED-D7FD-C1F8661D87FF}"/>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Kiểm thử API GET </a:t>
            </a:r>
            <a:r>
              <a:rPr lang="en-US" sz="2400" b="1">
                <a:latin typeface="Times New Roman" panose="02020603050405020304" pitchFamily="18" charset="0"/>
                <a:cs typeface="Times New Roman" panose="02020603050405020304" pitchFamily="18" charset="0"/>
              </a:rPr>
              <a:t>fashions</a:t>
            </a:r>
            <a:r>
              <a:rPr lang="en-US" sz="2400">
                <a:latin typeface="Times New Roman" panose="02020603050405020304" pitchFamily="18" charset="0"/>
                <a:cs typeface="Times New Roman" panose="02020603050405020304" pitchFamily="18" charset="0"/>
              </a:rPr>
              <a:t> trên postman</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CF633D6-BC31-DFF3-5E13-A7199C268E71}"/>
              </a:ext>
            </a:extLst>
          </p:cNvPr>
          <p:cNvPicPr>
            <a:picLocks noChangeAspect="1"/>
          </p:cNvPicPr>
          <p:nvPr/>
        </p:nvPicPr>
        <p:blipFill>
          <a:blip r:embed="rId3"/>
          <a:stretch>
            <a:fillRect/>
          </a:stretch>
        </p:blipFill>
        <p:spPr>
          <a:xfrm>
            <a:off x="1" y="1337123"/>
            <a:ext cx="10478022" cy="5566449"/>
          </a:xfrm>
          <a:prstGeom prst="rect">
            <a:avLst/>
          </a:prstGeom>
        </p:spPr>
      </p:pic>
    </p:spTree>
    <p:extLst>
      <p:ext uri="{BB962C8B-B14F-4D97-AF65-F5344CB8AC3E}">
        <p14:creationId xmlns:p14="http://schemas.microsoft.com/office/powerpoint/2010/main" val="6308724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964E2EA-8C71-428A-1E90-CE9E338EFBF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E4D48D7-3191-49C9-28DF-0445B8996B4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D805664-80C7-6925-72BD-1E3374C421E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grpSp>
        <p:nvGrpSpPr>
          <p:cNvPr id="2" name="Group 1">
            <a:extLst>
              <a:ext uri="{FF2B5EF4-FFF2-40B4-BE49-F238E27FC236}">
                <a16:creationId xmlns:a16="http://schemas.microsoft.com/office/drawing/2014/main" id="{358B9B72-365D-6CC7-F6AF-E184F305148E}"/>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8D15F3D9-8C29-AD3B-30BD-EE4A0099B7D0}"/>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B8E3FA6-DA55-79D4-AD01-60715713396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A7BF766-745D-07F9-E496-11EA93F722A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79D961B-77B5-204F-4E80-3F14B6FCFE3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865F410-FF70-B552-C3C1-2BF5922176A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C53FF81-9414-D894-C578-3763B4E7F9A1}"/>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Kiểm thử API GET </a:t>
            </a:r>
            <a:r>
              <a:rPr lang="en-US" sz="2400" b="1">
                <a:latin typeface="Times New Roman" panose="02020603050405020304" pitchFamily="18" charset="0"/>
                <a:cs typeface="Times New Roman" panose="02020603050405020304" pitchFamily="18" charset="0"/>
              </a:rPr>
              <a:t>fashions</a:t>
            </a:r>
            <a:r>
              <a:rPr lang="en-US" sz="2400">
                <a:latin typeface="Times New Roman" panose="02020603050405020304" pitchFamily="18" charset="0"/>
                <a:cs typeface="Times New Roman" panose="02020603050405020304" pitchFamily="18" charset="0"/>
              </a:rPr>
              <a:t> trên Web</a:t>
            </a:r>
            <a:endParaRPr lang="vi-VN" sz="240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19C788B0-0CA0-4558-F8C2-D1221F858DD6}"/>
              </a:ext>
            </a:extLst>
          </p:cNvPr>
          <p:cNvPicPr>
            <a:picLocks noChangeAspect="1"/>
          </p:cNvPicPr>
          <p:nvPr/>
        </p:nvPicPr>
        <p:blipFill>
          <a:blip r:embed="rId3"/>
          <a:stretch>
            <a:fillRect/>
          </a:stretch>
        </p:blipFill>
        <p:spPr>
          <a:xfrm>
            <a:off x="846104" y="1333800"/>
            <a:ext cx="6174734" cy="4991845"/>
          </a:xfrm>
          <a:prstGeom prst="rect">
            <a:avLst/>
          </a:prstGeom>
        </p:spPr>
      </p:pic>
      <p:sp>
        <p:nvSpPr>
          <p:cNvPr id="14" name="TextBox 13">
            <a:extLst>
              <a:ext uri="{FF2B5EF4-FFF2-40B4-BE49-F238E27FC236}">
                <a16:creationId xmlns:a16="http://schemas.microsoft.com/office/drawing/2014/main" id="{A04C5B73-FC47-8E34-1725-53E8921BBB9E}"/>
              </a:ext>
            </a:extLst>
          </p:cNvPr>
          <p:cNvSpPr txBox="1"/>
          <p:nvPr/>
        </p:nvSpPr>
        <p:spPr>
          <a:xfrm>
            <a:off x="7333989" y="2749019"/>
            <a:ext cx="4479895" cy="461665"/>
          </a:xfrm>
          <a:prstGeom prst="rect">
            <a:avLst/>
          </a:prstGeom>
          <a:noFill/>
        </p:spPr>
        <p:txBody>
          <a:bodyPr wrap="square">
            <a:spAutoFit/>
          </a:bodyPr>
          <a:lstStyle/>
          <a:p>
            <a:r>
              <a:rPr lang="en-US" sz="2400"/>
              <a:t>http://localhost:3002/fashions</a:t>
            </a:r>
          </a:p>
        </p:txBody>
      </p:sp>
    </p:spTree>
    <p:extLst>
      <p:ext uri="{BB962C8B-B14F-4D97-AF65-F5344CB8AC3E}">
        <p14:creationId xmlns:p14="http://schemas.microsoft.com/office/powerpoint/2010/main" val="26061705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8A3519F-AECB-0E41-8610-E106E0B81CE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AD48517-7BED-F93C-958C-359CFA5BF51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2C70E36-EB75-38B6-37E7-5F68449E606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grpSp>
        <p:nvGrpSpPr>
          <p:cNvPr id="2" name="Group 1">
            <a:extLst>
              <a:ext uri="{FF2B5EF4-FFF2-40B4-BE49-F238E27FC236}">
                <a16:creationId xmlns:a16="http://schemas.microsoft.com/office/drawing/2014/main" id="{90806B6E-2697-BADB-1AE1-E474F415F980}"/>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37DE92F2-04DC-EAE8-8AEE-10AE91FD3FDE}"/>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E0B2715-B49A-1829-BD05-9A1E12B0A78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510B271-C29D-6892-D53F-F9FF7EF0F5E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0F7EC51-091E-FB30-AFEB-031F868B542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2B68427-6713-8EF4-E209-F6EC7AB733E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0814501-6E3B-C9C6-6032-38133A12A3F5}"/>
              </a:ext>
            </a:extLst>
          </p:cNvPr>
          <p:cNvSpPr txBox="1"/>
          <p:nvPr/>
        </p:nvSpPr>
        <p:spPr>
          <a:xfrm>
            <a:off x="462279" y="8410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Cấu hình CORS policy cho các API fashions. Trong “my-app”, bổ sung khai báo cho “</a:t>
            </a:r>
            <a:r>
              <a:rPr lang="en-US" sz="2400" b="1">
                <a:latin typeface="Times New Roman" panose="02020603050405020304" pitchFamily="18" charset="0"/>
                <a:cs typeface="Times New Roman" panose="02020603050405020304" pitchFamily="18" charset="0"/>
              </a:rPr>
              <a:t>proxy.conf.json</a:t>
            </a:r>
            <a:r>
              <a:rPr lang="en-US" sz="2400">
                <a:latin typeface="Times New Roman" panose="02020603050405020304" pitchFamily="18" charset="0"/>
                <a:cs typeface="Times New Roman" panose="02020603050405020304" pitchFamily="18" charset="0"/>
              </a:rPr>
              <a:t>”:</a:t>
            </a:r>
            <a:endParaRPr lang="vi-V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1BAF3B4-132B-D664-09D6-B854102E3ECD}"/>
              </a:ext>
            </a:extLst>
          </p:cNvPr>
          <p:cNvSpPr txBox="1"/>
          <p:nvPr/>
        </p:nvSpPr>
        <p:spPr>
          <a:xfrm>
            <a:off x="977030" y="1921256"/>
            <a:ext cx="9638778" cy="3911007"/>
          </a:xfrm>
          <a:prstGeom prst="rect">
            <a:avLst/>
          </a:prstGeom>
          <a:noFill/>
          <a:ln>
            <a:solidFill>
              <a:schemeClr val="accent1"/>
            </a:solidFill>
          </a:ln>
        </p:spPr>
        <p:txBody>
          <a:bodyPr wrap="square">
            <a:spAutoFit/>
          </a:bodyPr>
          <a:lstStyle/>
          <a:p>
            <a:pPr>
              <a:lnSpc>
                <a:spcPct val="150000"/>
              </a:lnSpc>
              <a:buNone/>
            </a:pPr>
            <a:r>
              <a:rPr lang="en-US" sz="2400" b="0">
                <a:solidFill>
                  <a:srgbClr val="000000"/>
                </a:solidFill>
                <a:effectLst/>
                <a:latin typeface="Consolas" panose="020B0609020204030204" pitchFamily="49" charset="0"/>
              </a:rPr>
              <a:t>    {</a:t>
            </a:r>
          </a:p>
          <a:p>
            <a:pPr>
              <a:lnSpc>
                <a:spcPct val="150000"/>
              </a:lnSpc>
              <a:buNone/>
            </a:pPr>
            <a:r>
              <a:rPr lang="en-US" sz="2400" b="0">
                <a:solidFill>
                  <a:srgbClr val="000000"/>
                </a:solidFill>
                <a:effectLst/>
                <a:latin typeface="Consolas" panose="020B0609020204030204" pitchFamily="49" charset="0"/>
              </a:rPr>
              <a:t>            </a:t>
            </a:r>
            <a:r>
              <a:rPr lang="en-US" sz="2400" b="0">
                <a:solidFill>
                  <a:srgbClr val="0451A5"/>
                </a:solidFill>
                <a:effectLst/>
                <a:latin typeface="Consolas" panose="020B0609020204030204" pitchFamily="49" charset="0"/>
              </a:rPr>
              <a:t>"context"</a:t>
            </a:r>
            <a:r>
              <a:rPr lang="en-US" sz="2400" b="0">
                <a:solidFill>
                  <a:srgbClr val="000000"/>
                </a:solidFill>
                <a:effectLst/>
                <a:latin typeface="Consolas" panose="020B0609020204030204" pitchFamily="49" charset="0"/>
              </a:rPr>
              <a:t>: [</a:t>
            </a:r>
            <a:r>
              <a:rPr lang="en-US" sz="2400" b="0">
                <a:solidFill>
                  <a:srgbClr val="A31515"/>
                </a:solidFill>
                <a:effectLst/>
                <a:latin typeface="Consolas" panose="020B0609020204030204" pitchFamily="49" charset="0"/>
              </a:rPr>
              <a:t>"/fashions"</a:t>
            </a:r>
            <a:r>
              <a:rPr lang="en-US" sz="2400" b="0">
                <a:solidFill>
                  <a:srgbClr val="000000"/>
                </a:solidFill>
                <a:effectLst/>
                <a:latin typeface="Consolas" panose="020B0609020204030204" pitchFamily="49" charset="0"/>
              </a:rPr>
              <a:t>],</a:t>
            </a:r>
          </a:p>
          <a:p>
            <a:pPr>
              <a:lnSpc>
                <a:spcPct val="150000"/>
              </a:lnSpc>
              <a:buNone/>
            </a:pPr>
            <a:r>
              <a:rPr lang="en-US" sz="2400" b="0">
                <a:solidFill>
                  <a:srgbClr val="000000"/>
                </a:solidFill>
                <a:effectLst/>
                <a:latin typeface="Consolas" panose="020B0609020204030204" pitchFamily="49" charset="0"/>
              </a:rPr>
              <a:t>            </a:t>
            </a:r>
            <a:r>
              <a:rPr lang="en-US" sz="2400" b="0">
                <a:solidFill>
                  <a:srgbClr val="0451A5"/>
                </a:solidFill>
                <a:effectLst/>
                <a:latin typeface="Consolas" panose="020B0609020204030204" pitchFamily="49" charset="0"/>
              </a:rPr>
              <a:t>"target"</a:t>
            </a:r>
            <a:r>
              <a:rPr lang="en-US" sz="2400" b="0">
                <a:solidFill>
                  <a:srgbClr val="000000"/>
                </a:solidFill>
                <a:effectLst/>
                <a:latin typeface="Consolas" panose="020B0609020204030204" pitchFamily="49" charset="0"/>
              </a:rPr>
              <a:t>: </a:t>
            </a:r>
            <a:r>
              <a:rPr lang="en-US" sz="2400" b="0">
                <a:solidFill>
                  <a:srgbClr val="A31515"/>
                </a:solidFill>
                <a:effectLst/>
                <a:latin typeface="Consolas" panose="020B0609020204030204" pitchFamily="49" charset="0"/>
              </a:rPr>
              <a:t>"http://localhost:3002"</a:t>
            </a:r>
            <a:r>
              <a:rPr lang="en-US" sz="2400" b="0">
                <a:solidFill>
                  <a:srgbClr val="000000"/>
                </a:solidFill>
                <a:effectLst/>
                <a:latin typeface="Consolas" panose="020B0609020204030204" pitchFamily="49" charset="0"/>
              </a:rPr>
              <a:t>,</a:t>
            </a:r>
          </a:p>
          <a:p>
            <a:pPr>
              <a:lnSpc>
                <a:spcPct val="150000"/>
              </a:lnSpc>
              <a:buNone/>
            </a:pPr>
            <a:r>
              <a:rPr lang="en-US" sz="2400" b="0">
                <a:solidFill>
                  <a:srgbClr val="000000"/>
                </a:solidFill>
                <a:effectLst/>
                <a:latin typeface="Consolas" panose="020B0609020204030204" pitchFamily="49" charset="0"/>
              </a:rPr>
              <a:t>            </a:t>
            </a:r>
            <a:r>
              <a:rPr lang="en-US" sz="2400" b="0">
                <a:solidFill>
                  <a:srgbClr val="0451A5"/>
                </a:solidFill>
                <a:effectLst/>
                <a:latin typeface="Consolas" panose="020B0609020204030204" pitchFamily="49" charset="0"/>
              </a:rPr>
              <a:t>"secure"</a:t>
            </a:r>
            <a:r>
              <a:rPr lang="en-US" sz="2400" b="0">
                <a:solidFill>
                  <a:srgbClr val="000000"/>
                </a:solidFill>
                <a:effectLst/>
                <a:latin typeface="Consolas" panose="020B0609020204030204" pitchFamily="49" charset="0"/>
              </a:rPr>
              <a:t>: </a:t>
            </a:r>
            <a:r>
              <a:rPr lang="en-US" sz="2400" b="0">
                <a:solidFill>
                  <a:srgbClr val="0000FF"/>
                </a:solidFill>
                <a:effectLst/>
                <a:latin typeface="Consolas" panose="020B0609020204030204" pitchFamily="49" charset="0"/>
              </a:rPr>
              <a:t>true</a:t>
            </a:r>
            <a:r>
              <a:rPr lang="en-US" sz="2400" b="0">
                <a:solidFill>
                  <a:srgbClr val="000000"/>
                </a:solidFill>
                <a:effectLst/>
                <a:latin typeface="Consolas" panose="020B0609020204030204" pitchFamily="49" charset="0"/>
              </a:rPr>
              <a:t>,</a:t>
            </a:r>
          </a:p>
          <a:p>
            <a:pPr>
              <a:lnSpc>
                <a:spcPct val="150000"/>
              </a:lnSpc>
              <a:buNone/>
            </a:pPr>
            <a:r>
              <a:rPr lang="en-US" sz="2400" b="0">
                <a:solidFill>
                  <a:srgbClr val="000000"/>
                </a:solidFill>
                <a:effectLst/>
                <a:latin typeface="Consolas" panose="020B0609020204030204" pitchFamily="49" charset="0"/>
              </a:rPr>
              <a:t>            </a:t>
            </a:r>
            <a:r>
              <a:rPr lang="en-US" sz="2400" b="0">
                <a:solidFill>
                  <a:srgbClr val="0451A5"/>
                </a:solidFill>
                <a:effectLst/>
                <a:latin typeface="Consolas" panose="020B0609020204030204" pitchFamily="49" charset="0"/>
              </a:rPr>
              <a:t>"changeOrigin"</a:t>
            </a:r>
            <a:r>
              <a:rPr lang="en-US" sz="2400" b="0">
                <a:solidFill>
                  <a:srgbClr val="000000"/>
                </a:solidFill>
                <a:effectLst/>
                <a:latin typeface="Consolas" panose="020B0609020204030204" pitchFamily="49" charset="0"/>
              </a:rPr>
              <a:t>:</a:t>
            </a:r>
            <a:r>
              <a:rPr lang="en-US" sz="2400" b="0">
                <a:solidFill>
                  <a:srgbClr val="0000FF"/>
                </a:solidFill>
                <a:effectLst/>
                <a:latin typeface="Consolas" panose="020B0609020204030204" pitchFamily="49" charset="0"/>
              </a:rPr>
              <a:t>true</a:t>
            </a:r>
            <a:r>
              <a:rPr lang="en-US" sz="2400" b="0">
                <a:solidFill>
                  <a:srgbClr val="000000"/>
                </a:solidFill>
                <a:effectLst/>
                <a:latin typeface="Consolas" panose="020B0609020204030204" pitchFamily="49" charset="0"/>
              </a:rPr>
              <a:t>,</a:t>
            </a:r>
          </a:p>
          <a:p>
            <a:pPr>
              <a:lnSpc>
                <a:spcPct val="150000"/>
              </a:lnSpc>
              <a:buNone/>
            </a:pPr>
            <a:r>
              <a:rPr lang="en-US" sz="2400" b="0">
                <a:solidFill>
                  <a:srgbClr val="000000"/>
                </a:solidFill>
                <a:effectLst/>
                <a:latin typeface="Consolas" panose="020B0609020204030204" pitchFamily="49" charset="0"/>
              </a:rPr>
              <a:t>            </a:t>
            </a:r>
            <a:r>
              <a:rPr lang="en-US" sz="2400" b="0">
                <a:solidFill>
                  <a:srgbClr val="0451A5"/>
                </a:solidFill>
                <a:effectLst/>
                <a:latin typeface="Consolas" panose="020B0609020204030204" pitchFamily="49" charset="0"/>
              </a:rPr>
              <a:t>"logLevel"</a:t>
            </a:r>
            <a:r>
              <a:rPr lang="en-US" sz="2400" b="0">
                <a:solidFill>
                  <a:srgbClr val="000000"/>
                </a:solidFill>
                <a:effectLst/>
                <a:latin typeface="Consolas" panose="020B0609020204030204" pitchFamily="49" charset="0"/>
              </a:rPr>
              <a:t>:</a:t>
            </a:r>
            <a:r>
              <a:rPr lang="en-US" sz="2400" b="0">
                <a:solidFill>
                  <a:srgbClr val="A31515"/>
                </a:solidFill>
                <a:effectLst/>
                <a:latin typeface="Consolas" panose="020B0609020204030204" pitchFamily="49" charset="0"/>
              </a:rPr>
              <a:t>"debug"</a:t>
            </a:r>
            <a:endParaRPr lang="en-US" sz="2400" b="0">
              <a:solidFill>
                <a:srgbClr val="000000"/>
              </a:solidFill>
              <a:effectLst/>
              <a:latin typeface="Consolas" panose="020B0609020204030204" pitchFamily="49" charset="0"/>
            </a:endParaRPr>
          </a:p>
          <a:p>
            <a:pPr>
              <a:lnSpc>
                <a:spcPct val="150000"/>
              </a:lnSpc>
            </a:pPr>
            <a:r>
              <a:rPr lang="en-US" sz="2400"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11998634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7460176-FCDD-2A7F-69DD-23A06B48D2D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ADAD8D0-D027-84E2-75E7-2F550F82725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123B0D0-8E17-EDA7-AC50-BCD398AEA7A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grpSp>
        <p:nvGrpSpPr>
          <p:cNvPr id="2" name="Group 1">
            <a:extLst>
              <a:ext uri="{FF2B5EF4-FFF2-40B4-BE49-F238E27FC236}">
                <a16:creationId xmlns:a16="http://schemas.microsoft.com/office/drawing/2014/main" id="{456F9A8E-B128-6824-B02F-8D58EB88095E}"/>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412A9037-3257-0ADA-8FCC-E940EDD6BB6F}"/>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E769FC4-2D02-1942-DDB6-DCF6EA6766D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25DE267-F9D7-7707-BFA0-B69C208CA94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14C7477-C90D-20B4-5F51-55F42614963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1CC51DD-0424-CE7B-76A3-9F56B1D0FDF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6413A99-A350-0541-6C19-BBE509928782}"/>
              </a:ext>
            </a:extLst>
          </p:cNvPr>
          <p:cNvSpPr txBox="1"/>
          <p:nvPr/>
        </p:nvSpPr>
        <p:spPr>
          <a:xfrm>
            <a:off x="462279" y="8410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“my-app” project, tạo các service và component để truy suất API GET </a:t>
            </a:r>
            <a:r>
              <a:rPr lang="en-US" sz="2400" b="1">
                <a:latin typeface="Times New Roman" panose="02020603050405020304" pitchFamily="18" charset="0"/>
                <a:cs typeface="Times New Roman" panose="02020603050405020304" pitchFamily="18" charset="0"/>
              </a:rPr>
              <a:t>fashions.</a:t>
            </a:r>
            <a:r>
              <a:rPr lang="en-US" sz="2400">
                <a:latin typeface="Times New Roman" panose="02020603050405020304" pitchFamily="18" charset="0"/>
                <a:cs typeface="Times New Roman" panose="02020603050405020304" pitchFamily="18" charset="0"/>
              </a:rPr>
              <a:t> Tạo mô hình lớp </a:t>
            </a:r>
            <a:r>
              <a:rPr lang="en-US" sz="2400" b="1">
                <a:latin typeface="Times New Roman" panose="02020603050405020304" pitchFamily="18" charset="0"/>
                <a:cs typeface="Times New Roman" panose="02020603050405020304" pitchFamily="18" charset="0"/>
              </a:rPr>
              <a:t>Fashion </a:t>
            </a:r>
            <a:r>
              <a:rPr lang="en-US" sz="2400">
                <a:latin typeface="Times New Roman" panose="02020603050405020304" pitchFamily="18" charset="0"/>
                <a:cs typeface="Times New Roman" panose="02020603050405020304" pitchFamily="18" charset="0"/>
              </a:rPr>
              <a:t>trong thư mục </a:t>
            </a:r>
            <a:r>
              <a:rPr lang="en-US" sz="2400" b="1">
                <a:latin typeface="Times New Roman" panose="02020603050405020304" pitchFamily="18" charset="0"/>
                <a:cs typeface="Times New Roman" panose="02020603050405020304" pitchFamily="18" charset="0"/>
              </a:rPr>
              <a:t>classes</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50C483E-E004-5EE8-B881-D8069F5282DC}"/>
              </a:ext>
            </a:extLst>
          </p:cNvPr>
          <p:cNvPicPr>
            <a:picLocks noChangeAspect="1"/>
          </p:cNvPicPr>
          <p:nvPr/>
        </p:nvPicPr>
        <p:blipFill>
          <a:blip r:embed="rId3"/>
          <a:stretch>
            <a:fillRect/>
          </a:stretch>
        </p:blipFill>
        <p:spPr>
          <a:xfrm>
            <a:off x="0" y="1845375"/>
            <a:ext cx="12192000" cy="4410622"/>
          </a:xfrm>
          <a:prstGeom prst="rect">
            <a:avLst/>
          </a:prstGeom>
        </p:spPr>
      </p:pic>
    </p:spTree>
    <p:extLst>
      <p:ext uri="{BB962C8B-B14F-4D97-AF65-F5344CB8AC3E}">
        <p14:creationId xmlns:p14="http://schemas.microsoft.com/office/powerpoint/2010/main" val="32281463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0BD2A5D-69D9-0EEE-AC80-E1F2C18BEEB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87E7F74-02D1-D8A3-976C-53CDDB1C1FF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15F46CB-B466-4CB7-8040-31DE3BF8671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grpSp>
        <p:nvGrpSpPr>
          <p:cNvPr id="2" name="Group 1">
            <a:extLst>
              <a:ext uri="{FF2B5EF4-FFF2-40B4-BE49-F238E27FC236}">
                <a16:creationId xmlns:a16="http://schemas.microsoft.com/office/drawing/2014/main" id="{7A6477E7-1DF1-4AF0-B60F-DCF16EEB8D12}"/>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901B59C3-7BD1-369C-4BFF-54ED6E95B620}"/>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9ECD353-F089-5183-8C7C-5D85993935B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95ED9A4-5D9A-B6BE-DCE3-F75D96AAA16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11CFC75-A104-FA2C-6D56-DD1403D6D55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6CC1867-AFE8-098C-8DF5-3F062F4B66B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B2EB869-E669-67BA-BD9E-9E05E1CEF8AB}"/>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“my-app” project, Tạo </a:t>
            </a:r>
            <a:r>
              <a:rPr lang="en-US" sz="2400" b="1">
                <a:latin typeface="Times New Roman" panose="02020603050405020304" pitchFamily="18" charset="0"/>
                <a:cs typeface="Times New Roman" panose="02020603050405020304" pitchFamily="18" charset="0"/>
              </a:rPr>
              <a:t>FashionAPIService </a:t>
            </a:r>
            <a:r>
              <a:rPr lang="en-US" sz="2400">
                <a:latin typeface="Times New Roman" panose="02020603050405020304" pitchFamily="18" charset="0"/>
                <a:cs typeface="Times New Roman" panose="02020603050405020304" pitchFamily="18" charset="0"/>
              </a:rPr>
              <a:t>service</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831F545-1674-707A-E3CD-681A3C0ADEAB}"/>
              </a:ext>
            </a:extLst>
          </p:cNvPr>
          <p:cNvPicPr>
            <a:picLocks noChangeAspect="1"/>
          </p:cNvPicPr>
          <p:nvPr/>
        </p:nvPicPr>
        <p:blipFill>
          <a:blip r:embed="rId3"/>
          <a:stretch>
            <a:fillRect/>
          </a:stretch>
        </p:blipFill>
        <p:spPr>
          <a:xfrm>
            <a:off x="462279" y="1354535"/>
            <a:ext cx="4216245" cy="2244642"/>
          </a:xfrm>
          <a:prstGeom prst="rect">
            <a:avLst/>
          </a:prstGeom>
        </p:spPr>
      </p:pic>
      <p:pic>
        <p:nvPicPr>
          <p:cNvPr id="10" name="Picture 9">
            <a:extLst>
              <a:ext uri="{FF2B5EF4-FFF2-40B4-BE49-F238E27FC236}">
                <a16:creationId xmlns:a16="http://schemas.microsoft.com/office/drawing/2014/main" id="{CE45D8AC-FCFB-852E-B9C3-72758A3DD965}"/>
              </a:ext>
            </a:extLst>
          </p:cNvPr>
          <p:cNvPicPr>
            <a:picLocks noChangeAspect="1"/>
          </p:cNvPicPr>
          <p:nvPr/>
        </p:nvPicPr>
        <p:blipFill>
          <a:blip r:embed="rId4"/>
          <a:stretch>
            <a:fillRect/>
          </a:stretch>
        </p:blipFill>
        <p:spPr>
          <a:xfrm>
            <a:off x="6522064" y="1678874"/>
            <a:ext cx="5476190" cy="590476"/>
          </a:xfrm>
          <a:prstGeom prst="rect">
            <a:avLst/>
          </a:prstGeom>
        </p:spPr>
      </p:pic>
      <p:pic>
        <p:nvPicPr>
          <p:cNvPr id="13" name="Picture 12">
            <a:extLst>
              <a:ext uri="{FF2B5EF4-FFF2-40B4-BE49-F238E27FC236}">
                <a16:creationId xmlns:a16="http://schemas.microsoft.com/office/drawing/2014/main" id="{3100BEBA-7C6B-4BF8-189B-60A95FE12DA8}"/>
              </a:ext>
            </a:extLst>
          </p:cNvPr>
          <p:cNvPicPr>
            <a:picLocks noChangeAspect="1"/>
          </p:cNvPicPr>
          <p:nvPr/>
        </p:nvPicPr>
        <p:blipFill>
          <a:blip r:embed="rId5"/>
          <a:stretch>
            <a:fillRect/>
          </a:stretch>
        </p:blipFill>
        <p:spPr>
          <a:xfrm>
            <a:off x="6522064" y="4131299"/>
            <a:ext cx="5504762" cy="1542857"/>
          </a:xfrm>
          <a:prstGeom prst="rect">
            <a:avLst/>
          </a:prstGeom>
        </p:spPr>
      </p:pic>
      <p:pic>
        <p:nvPicPr>
          <p:cNvPr id="15" name="Picture 14">
            <a:extLst>
              <a:ext uri="{FF2B5EF4-FFF2-40B4-BE49-F238E27FC236}">
                <a16:creationId xmlns:a16="http://schemas.microsoft.com/office/drawing/2014/main" id="{F4423E02-D207-B5F2-3A01-F2CB6A7F6DC3}"/>
              </a:ext>
            </a:extLst>
          </p:cNvPr>
          <p:cNvPicPr>
            <a:picLocks noChangeAspect="1"/>
          </p:cNvPicPr>
          <p:nvPr/>
        </p:nvPicPr>
        <p:blipFill>
          <a:blip r:embed="rId6"/>
          <a:stretch>
            <a:fillRect/>
          </a:stretch>
        </p:blipFill>
        <p:spPr>
          <a:xfrm>
            <a:off x="564686" y="3743649"/>
            <a:ext cx="2619048" cy="2685714"/>
          </a:xfrm>
          <a:prstGeom prst="rect">
            <a:avLst/>
          </a:prstGeom>
        </p:spPr>
      </p:pic>
      <p:cxnSp>
        <p:nvCxnSpPr>
          <p:cNvPr id="17" name="Connector: Elbow 16">
            <a:extLst>
              <a:ext uri="{FF2B5EF4-FFF2-40B4-BE49-F238E27FC236}">
                <a16:creationId xmlns:a16="http://schemas.microsoft.com/office/drawing/2014/main" id="{99F5B691-1008-AC00-5CA6-5C64FE86D2AF}"/>
              </a:ext>
            </a:extLst>
          </p:cNvPr>
          <p:cNvCxnSpPr>
            <a:endCxn id="10" idx="2"/>
          </p:cNvCxnSpPr>
          <p:nvPr/>
        </p:nvCxnSpPr>
        <p:spPr>
          <a:xfrm flipV="1">
            <a:off x="4208206" y="2269350"/>
            <a:ext cx="5051953" cy="1159650"/>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B7F7A02-C909-30AE-9899-A5670746DFBD}"/>
              </a:ext>
            </a:extLst>
          </p:cNvPr>
          <p:cNvCxnSpPr>
            <a:cxnSpLocks/>
          </p:cNvCxnSpPr>
          <p:nvPr/>
        </p:nvCxnSpPr>
        <p:spPr>
          <a:xfrm>
            <a:off x="10766323" y="2269350"/>
            <a:ext cx="0" cy="16143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C16E2E52-3F1D-CBAB-F1AC-00A69E0381AD}"/>
              </a:ext>
            </a:extLst>
          </p:cNvPr>
          <p:cNvCxnSpPr>
            <a:stCxn id="13" idx="2"/>
          </p:cNvCxnSpPr>
          <p:nvPr/>
        </p:nvCxnSpPr>
        <p:spPr>
          <a:xfrm rot="5400000">
            <a:off x="5887210" y="2885745"/>
            <a:ext cx="598825" cy="6175646"/>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01518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E924732-5E21-15E0-923F-06A74178FF0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CB8E3E7-3CE5-A69B-0B86-00178ABA173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0211662-081E-549D-6DBD-06883E65428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grpSp>
        <p:nvGrpSpPr>
          <p:cNvPr id="2" name="Group 1">
            <a:extLst>
              <a:ext uri="{FF2B5EF4-FFF2-40B4-BE49-F238E27FC236}">
                <a16:creationId xmlns:a16="http://schemas.microsoft.com/office/drawing/2014/main" id="{EA70C88A-E05E-51E9-7F79-56BE02DE78E6}"/>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EE4D0C38-1A41-A9DA-181F-1463D719E7FC}"/>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D04326-9052-543B-F768-6415C55C15D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5BEE905-8E43-3B79-0B6D-2D15E3E444B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EF81D7E-1B5A-9A88-5A77-7E1B4D15607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AAAFE6C-DA79-C2DB-3FA5-6A8390B332D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A92DBCA-BA0B-22B2-95CA-AC82F2317396}"/>
              </a:ext>
            </a:extLst>
          </p:cNvPr>
          <p:cNvSpPr txBox="1"/>
          <p:nvPr/>
        </p:nvSpPr>
        <p:spPr>
          <a:xfrm>
            <a:off x="462279" y="782020"/>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a:t>
            </a:r>
            <a:r>
              <a:rPr lang="en-US" sz="2400" b="1">
                <a:latin typeface="Times New Roman" panose="02020603050405020304" pitchFamily="18" charset="0"/>
                <a:cs typeface="Times New Roman" panose="02020603050405020304" pitchFamily="18" charset="0"/>
              </a:rPr>
              <a:t>FashionAPIService </a:t>
            </a:r>
            <a:r>
              <a:rPr lang="en-US" sz="2400">
                <a:latin typeface="Times New Roman" panose="02020603050405020304" pitchFamily="18" charset="0"/>
                <a:cs typeface="Times New Roman" panose="02020603050405020304" pitchFamily="18" charset="0"/>
              </a:rPr>
              <a:t>service bổ sung </a:t>
            </a:r>
            <a:r>
              <a:rPr lang="en-US" sz="2400" b="1">
                <a:latin typeface="Times New Roman" panose="02020603050405020304" pitchFamily="18" charset="0"/>
                <a:cs typeface="Times New Roman" panose="02020603050405020304" pitchFamily="18" charset="0"/>
              </a:rPr>
              <a:t>getFashions()</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55D836A-816F-8D93-8AA9-75CDED0854EF}"/>
              </a:ext>
            </a:extLst>
          </p:cNvPr>
          <p:cNvPicPr>
            <a:picLocks noChangeAspect="1"/>
          </p:cNvPicPr>
          <p:nvPr/>
        </p:nvPicPr>
        <p:blipFill>
          <a:blip r:embed="rId3"/>
          <a:stretch>
            <a:fillRect/>
          </a:stretch>
        </p:blipFill>
        <p:spPr>
          <a:xfrm>
            <a:off x="325186" y="1212308"/>
            <a:ext cx="7316017" cy="5634640"/>
          </a:xfrm>
          <a:prstGeom prst="rect">
            <a:avLst/>
          </a:prstGeom>
        </p:spPr>
      </p:pic>
    </p:spTree>
    <p:extLst>
      <p:ext uri="{BB962C8B-B14F-4D97-AF65-F5344CB8AC3E}">
        <p14:creationId xmlns:p14="http://schemas.microsoft.com/office/powerpoint/2010/main" val="12734924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B0B2C82-48CF-D2A6-F412-3CBD86FAA46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1C9A137-A2CA-C8D8-7EC2-9A649C78772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E60A2D9-D507-083A-28F5-F6CC0963894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grpSp>
        <p:nvGrpSpPr>
          <p:cNvPr id="2" name="Group 1">
            <a:extLst>
              <a:ext uri="{FF2B5EF4-FFF2-40B4-BE49-F238E27FC236}">
                <a16:creationId xmlns:a16="http://schemas.microsoft.com/office/drawing/2014/main" id="{14D6A79D-5C12-C013-2105-2420AD89E937}"/>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4500F150-7272-2FF9-BD1B-55A93D98A2A8}"/>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172F881-72FA-2A4E-7DCB-D625EEF8A27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34C10C4-AF5D-07D3-9DCA-27133E8F333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4ED821E-95C3-3BEB-22A4-0B1E52EFB33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12EEB62-7B59-85E2-F994-2D6EAF570C8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049D844-8BBF-8839-0978-A349439E1402}"/>
              </a:ext>
            </a:extLst>
          </p:cNvPr>
          <p:cNvSpPr txBox="1"/>
          <p:nvPr/>
        </p:nvSpPr>
        <p:spPr>
          <a:xfrm>
            <a:off x="462279" y="782020"/>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8: Tạo </a:t>
            </a:r>
            <a:r>
              <a:rPr lang="en-US" sz="2400" b="1">
                <a:latin typeface="Times New Roman" panose="02020603050405020304" pitchFamily="18" charset="0"/>
                <a:cs typeface="Times New Roman" panose="02020603050405020304" pitchFamily="18" charset="0"/>
              </a:rPr>
              <a:t>FashionComponent</a:t>
            </a:r>
            <a:r>
              <a:rPr lang="en-US" sz="2400">
                <a:latin typeface="Times New Roman" panose="02020603050405020304" pitchFamily="18" charset="0"/>
                <a:cs typeface="Times New Roman" panose="02020603050405020304" pitchFamily="18" charset="0"/>
              </a:rPr>
              <a:t> trong “my-app”</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3A5F0FB-C984-DED2-8DB3-09730EB5CED5}"/>
              </a:ext>
            </a:extLst>
          </p:cNvPr>
          <p:cNvPicPr>
            <a:picLocks noChangeAspect="1"/>
          </p:cNvPicPr>
          <p:nvPr/>
        </p:nvPicPr>
        <p:blipFill>
          <a:blip r:embed="rId3"/>
          <a:stretch>
            <a:fillRect/>
          </a:stretch>
        </p:blipFill>
        <p:spPr>
          <a:xfrm>
            <a:off x="542786" y="1310456"/>
            <a:ext cx="3429297" cy="2118544"/>
          </a:xfrm>
          <a:prstGeom prst="rect">
            <a:avLst/>
          </a:prstGeom>
        </p:spPr>
      </p:pic>
      <p:pic>
        <p:nvPicPr>
          <p:cNvPr id="17" name="Picture 16">
            <a:extLst>
              <a:ext uri="{FF2B5EF4-FFF2-40B4-BE49-F238E27FC236}">
                <a16:creationId xmlns:a16="http://schemas.microsoft.com/office/drawing/2014/main" id="{FA623751-E9B8-E45E-06C5-358F2D685CF4}"/>
              </a:ext>
            </a:extLst>
          </p:cNvPr>
          <p:cNvPicPr>
            <a:picLocks noChangeAspect="1"/>
          </p:cNvPicPr>
          <p:nvPr/>
        </p:nvPicPr>
        <p:blipFill>
          <a:blip r:embed="rId4"/>
          <a:stretch>
            <a:fillRect/>
          </a:stretch>
        </p:blipFill>
        <p:spPr>
          <a:xfrm>
            <a:off x="6096000" y="1419470"/>
            <a:ext cx="5273497" cy="716342"/>
          </a:xfrm>
          <a:prstGeom prst="rect">
            <a:avLst/>
          </a:prstGeom>
        </p:spPr>
      </p:pic>
      <p:pic>
        <p:nvPicPr>
          <p:cNvPr id="19" name="Picture 18">
            <a:extLst>
              <a:ext uri="{FF2B5EF4-FFF2-40B4-BE49-F238E27FC236}">
                <a16:creationId xmlns:a16="http://schemas.microsoft.com/office/drawing/2014/main" id="{973CBE0A-E92C-29DA-BF86-EB1393B7974E}"/>
              </a:ext>
            </a:extLst>
          </p:cNvPr>
          <p:cNvPicPr>
            <a:picLocks noChangeAspect="1"/>
          </p:cNvPicPr>
          <p:nvPr/>
        </p:nvPicPr>
        <p:blipFill>
          <a:blip r:embed="rId5"/>
          <a:stretch>
            <a:fillRect/>
          </a:stretch>
        </p:blipFill>
        <p:spPr>
          <a:xfrm>
            <a:off x="5737301" y="4024207"/>
            <a:ext cx="6454699" cy="2301439"/>
          </a:xfrm>
          <a:prstGeom prst="rect">
            <a:avLst/>
          </a:prstGeom>
        </p:spPr>
      </p:pic>
      <p:pic>
        <p:nvPicPr>
          <p:cNvPr id="21" name="Picture 20">
            <a:extLst>
              <a:ext uri="{FF2B5EF4-FFF2-40B4-BE49-F238E27FC236}">
                <a16:creationId xmlns:a16="http://schemas.microsoft.com/office/drawing/2014/main" id="{459D1A4C-BA70-F6CA-D4B2-ABF75121EDC0}"/>
              </a:ext>
            </a:extLst>
          </p:cNvPr>
          <p:cNvPicPr>
            <a:picLocks noChangeAspect="1"/>
          </p:cNvPicPr>
          <p:nvPr/>
        </p:nvPicPr>
        <p:blipFill>
          <a:blip r:embed="rId6"/>
          <a:stretch>
            <a:fillRect/>
          </a:stretch>
        </p:blipFill>
        <p:spPr>
          <a:xfrm>
            <a:off x="542786" y="3841311"/>
            <a:ext cx="2591025" cy="2484335"/>
          </a:xfrm>
          <a:prstGeom prst="rect">
            <a:avLst/>
          </a:prstGeom>
        </p:spPr>
      </p:pic>
      <p:cxnSp>
        <p:nvCxnSpPr>
          <p:cNvPr id="22" name="Connector: Elbow 21">
            <a:extLst>
              <a:ext uri="{FF2B5EF4-FFF2-40B4-BE49-F238E27FC236}">
                <a16:creationId xmlns:a16="http://schemas.microsoft.com/office/drawing/2014/main" id="{316C3C0D-1E0C-F6E0-90C2-57F10593ED6E}"/>
              </a:ext>
            </a:extLst>
          </p:cNvPr>
          <p:cNvCxnSpPr/>
          <p:nvPr/>
        </p:nvCxnSpPr>
        <p:spPr>
          <a:xfrm flipV="1">
            <a:off x="3786865" y="2099970"/>
            <a:ext cx="5051953" cy="1159650"/>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D864D01-5E21-5515-D2C1-4E442DD994A5}"/>
              </a:ext>
            </a:extLst>
          </p:cNvPr>
          <p:cNvCxnSpPr>
            <a:cxnSpLocks/>
          </p:cNvCxnSpPr>
          <p:nvPr/>
        </p:nvCxnSpPr>
        <p:spPr>
          <a:xfrm>
            <a:off x="9905711" y="2226919"/>
            <a:ext cx="0" cy="16143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BC083BA9-A023-D907-B299-62E109DECA0B}"/>
              </a:ext>
            </a:extLst>
          </p:cNvPr>
          <p:cNvCxnSpPr>
            <a:cxnSpLocks/>
            <a:stCxn id="19" idx="1"/>
          </p:cNvCxnSpPr>
          <p:nvPr/>
        </p:nvCxnSpPr>
        <p:spPr>
          <a:xfrm rot="10800000">
            <a:off x="3156729" y="5053493"/>
            <a:ext cx="2580572" cy="121435"/>
          </a:xfrm>
          <a:prstGeom prst="bent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80264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87C557A-762F-92DF-1CA8-FF87C02858F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FB83D1D-3A98-BACC-322C-D393461189B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9DD9DCD-C67A-31E1-ED75-A2206628D7A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grpSp>
        <p:nvGrpSpPr>
          <p:cNvPr id="2" name="Group 1">
            <a:extLst>
              <a:ext uri="{FF2B5EF4-FFF2-40B4-BE49-F238E27FC236}">
                <a16:creationId xmlns:a16="http://schemas.microsoft.com/office/drawing/2014/main" id="{3F999CC5-6C8C-340A-9172-EE5B1D4F7264}"/>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DF690888-6C0D-ECE1-E3E1-5B87A1BE031A}"/>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BB6BDAE-0A5B-E24E-E405-541ED822661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E9F24F7-0D5F-D2A0-87A2-7BC905CB9F6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D0332BF-69B7-DEE3-0F7B-9337FD76F7F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4CA1B3F-E47E-497D-4B0A-3BBCA74E700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2B9F852-30D2-1238-106B-BA2325B48BB0}"/>
              </a:ext>
            </a:extLst>
          </p:cNvPr>
          <p:cNvSpPr txBox="1"/>
          <p:nvPr/>
        </p:nvSpPr>
        <p:spPr>
          <a:xfrm>
            <a:off x="462279" y="782020"/>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9: </a:t>
            </a:r>
            <a:r>
              <a:rPr lang="en-US" sz="2400" b="1">
                <a:latin typeface="Times New Roman" panose="02020603050405020304" pitchFamily="18" charset="0"/>
                <a:cs typeface="Times New Roman" panose="02020603050405020304" pitchFamily="18" charset="0"/>
              </a:rPr>
              <a:t>FashionComponent</a:t>
            </a:r>
            <a:r>
              <a:rPr lang="en-US" sz="2400">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ts</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6E2AF7A-26E2-E78D-F124-BF9DB64C4E91}"/>
              </a:ext>
            </a:extLst>
          </p:cNvPr>
          <p:cNvPicPr>
            <a:picLocks noChangeAspect="1"/>
          </p:cNvPicPr>
          <p:nvPr/>
        </p:nvPicPr>
        <p:blipFill>
          <a:blip r:embed="rId3"/>
          <a:stretch>
            <a:fillRect/>
          </a:stretch>
        </p:blipFill>
        <p:spPr>
          <a:xfrm>
            <a:off x="564687" y="1221542"/>
            <a:ext cx="7100138" cy="5181892"/>
          </a:xfrm>
          <a:prstGeom prst="rect">
            <a:avLst/>
          </a:prstGeom>
        </p:spPr>
      </p:pic>
    </p:spTree>
    <p:extLst>
      <p:ext uri="{BB962C8B-B14F-4D97-AF65-F5344CB8AC3E}">
        <p14:creationId xmlns:p14="http://schemas.microsoft.com/office/powerpoint/2010/main" val="34307552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4DFDAD3-943A-6E85-7E8E-16B10A0CE31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2E14C30-2341-2135-4D0A-733B0460243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A04920D-056E-8C3F-57D6-7ED35C14565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grpSp>
        <p:nvGrpSpPr>
          <p:cNvPr id="2" name="Group 1">
            <a:extLst>
              <a:ext uri="{FF2B5EF4-FFF2-40B4-BE49-F238E27FC236}">
                <a16:creationId xmlns:a16="http://schemas.microsoft.com/office/drawing/2014/main" id="{2BAED9C6-590B-1BB3-AB2B-21F0A5AC794E}"/>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D6F69237-74F8-9038-4C51-3D75E5EDE649}"/>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15AE816-5D4C-1636-227F-E9A4496AB09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D3D5C9F-CEA3-30A8-E461-F120BA3A6BD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521DCC4-CF99-D133-F32F-F75CEEE676F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0DB68CF-9ED3-161A-333A-BB5BA48AF87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06F07D7-30D3-FBAE-AF17-B58B3A79BA5C}"/>
              </a:ext>
            </a:extLst>
          </p:cNvPr>
          <p:cNvSpPr txBox="1"/>
          <p:nvPr/>
        </p:nvSpPr>
        <p:spPr>
          <a:xfrm>
            <a:off x="462279" y="782020"/>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10: </a:t>
            </a:r>
            <a:r>
              <a:rPr lang="en-US" sz="2400" b="1">
                <a:latin typeface="Times New Roman" panose="02020603050405020304" pitchFamily="18" charset="0"/>
                <a:cs typeface="Times New Roman" panose="02020603050405020304" pitchFamily="18" charset="0"/>
              </a:rPr>
              <a:t>FashionComponent</a:t>
            </a:r>
            <a:r>
              <a:rPr lang="en-US" sz="2400">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html</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56A906C1-8C37-0C60-6949-5E3BC117ABA8}"/>
              </a:ext>
            </a:extLst>
          </p:cNvPr>
          <p:cNvPicPr>
            <a:picLocks noChangeAspect="1"/>
          </p:cNvPicPr>
          <p:nvPr/>
        </p:nvPicPr>
        <p:blipFill>
          <a:blip r:embed="rId3"/>
          <a:srcRect/>
          <a:stretch/>
        </p:blipFill>
        <p:spPr>
          <a:xfrm>
            <a:off x="575229" y="1243685"/>
            <a:ext cx="7549010" cy="5162909"/>
          </a:xfrm>
          <a:prstGeom prst="rect">
            <a:avLst/>
          </a:prstGeom>
        </p:spPr>
      </p:pic>
    </p:spTree>
    <p:extLst>
      <p:ext uri="{BB962C8B-B14F-4D97-AF65-F5344CB8AC3E}">
        <p14:creationId xmlns:p14="http://schemas.microsoft.com/office/powerpoint/2010/main" val="21049372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A27D4D2-B171-2714-3DEC-48F2E4D1CCE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A52951B-43B9-2AD0-E754-61C61B5BE55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41B1790-7641-4FD0-BD36-2033F8AB896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grpSp>
        <p:nvGrpSpPr>
          <p:cNvPr id="2" name="Group 1">
            <a:extLst>
              <a:ext uri="{FF2B5EF4-FFF2-40B4-BE49-F238E27FC236}">
                <a16:creationId xmlns:a16="http://schemas.microsoft.com/office/drawing/2014/main" id="{C8FFC4CE-2256-902B-510C-36D505C1D911}"/>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B66429AF-D3D6-5D16-A1DE-F9C4A22B5D1C}"/>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84865BE-BC9D-E7B8-7675-7B3B48F7FA1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88CF6F7-057B-80E2-31B2-97568BDDDF9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6F563CD-694B-F4F0-9ABC-6D616E3FFA8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90C0750-0630-05BD-A185-7B0602EBEAC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EF8F4A1-D1D4-19FE-8A08-CF931F87F643}"/>
              </a:ext>
            </a:extLst>
          </p:cNvPr>
          <p:cNvSpPr txBox="1"/>
          <p:nvPr/>
        </p:nvSpPr>
        <p:spPr>
          <a:xfrm>
            <a:off x="462279" y="782020"/>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11: Cấu hình Routing cho </a:t>
            </a:r>
            <a:r>
              <a:rPr lang="en-US" sz="2400" b="1">
                <a:latin typeface="Times New Roman" panose="02020603050405020304" pitchFamily="18" charset="0"/>
                <a:cs typeface="Times New Roman" panose="02020603050405020304" pitchFamily="18" charset="0"/>
              </a:rPr>
              <a:t>FashionComponent - </a:t>
            </a:r>
            <a:r>
              <a:rPr lang="en-US" sz="2400">
                <a:latin typeface="Times New Roman" panose="02020603050405020304" pitchFamily="18" charset="0"/>
                <a:cs typeface="Times New Roman" panose="02020603050405020304" pitchFamily="18" charset="0"/>
              </a:rPr>
              <a:t>app-routing-module.ts</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41D09B03-AB95-DA91-1E88-8ADB56B471B6}"/>
              </a:ext>
            </a:extLst>
          </p:cNvPr>
          <p:cNvPicPr>
            <a:picLocks noChangeAspect="1"/>
          </p:cNvPicPr>
          <p:nvPr/>
        </p:nvPicPr>
        <p:blipFill>
          <a:blip r:embed="rId3"/>
          <a:stretch>
            <a:fillRect/>
          </a:stretch>
        </p:blipFill>
        <p:spPr>
          <a:xfrm>
            <a:off x="728132" y="1429302"/>
            <a:ext cx="8420830" cy="3749365"/>
          </a:xfrm>
          <a:prstGeom prst="rect">
            <a:avLst/>
          </a:prstGeom>
        </p:spPr>
      </p:pic>
    </p:spTree>
    <p:extLst>
      <p:ext uri="{BB962C8B-B14F-4D97-AF65-F5344CB8AC3E}">
        <p14:creationId xmlns:p14="http://schemas.microsoft.com/office/powerpoint/2010/main" val="30795328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51D7B9D-40DC-A50F-89EB-F8A670D551D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F292670-9415-940B-E412-4C4B4A8F809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A300916-B2AA-D037-4209-346506A0D60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grpSp>
        <p:nvGrpSpPr>
          <p:cNvPr id="2" name="Group 1">
            <a:extLst>
              <a:ext uri="{FF2B5EF4-FFF2-40B4-BE49-F238E27FC236}">
                <a16:creationId xmlns:a16="http://schemas.microsoft.com/office/drawing/2014/main" id="{8E5358EB-20A5-1AF0-4F09-B1F32C2F51BE}"/>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E02CC378-18AF-B933-C154-7F1CC7C47D67}"/>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47522F9-8117-99A8-C5F7-858E563621F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4711C57-DB8D-69DE-A4EF-0E334374EF2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2EDA683-E772-C3BE-0BA8-B44DE54703B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1E57F03-203D-A1F8-831C-FBD950D0F6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C04046F-234C-9959-5910-EB4A7E9D39C8}"/>
              </a:ext>
            </a:extLst>
          </p:cNvPr>
          <p:cNvSpPr txBox="1"/>
          <p:nvPr/>
        </p:nvSpPr>
        <p:spPr>
          <a:xfrm>
            <a:off x="462279" y="782020"/>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12: app.html</a:t>
            </a:r>
            <a:endParaRPr lang="vi-VN" sz="240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0E9D9666-A623-B774-734E-865291AA10B5}"/>
              </a:ext>
            </a:extLst>
          </p:cNvPr>
          <p:cNvPicPr>
            <a:picLocks noChangeAspect="1"/>
          </p:cNvPicPr>
          <p:nvPr/>
        </p:nvPicPr>
        <p:blipFill>
          <a:blip r:embed="rId3"/>
          <a:stretch>
            <a:fillRect/>
          </a:stretch>
        </p:blipFill>
        <p:spPr>
          <a:xfrm>
            <a:off x="728132" y="1396895"/>
            <a:ext cx="8458933" cy="4679085"/>
          </a:xfrm>
          <a:prstGeom prst="rect">
            <a:avLst/>
          </a:prstGeom>
        </p:spPr>
      </p:pic>
    </p:spTree>
    <p:extLst>
      <p:ext uri="{BB962C8B-B14F-4D97-AF65-F5344CB8AC3E}">
        <p14:creationId xmlns:p14="http://schemas.microsoft.com/office/powerpoint/2010/main" val="24888154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B3ABCD9-8D6D-CB70-6AC5-4339EDC9199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1982BDC-ABC8-4D63-AB21-B69B43A66C9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E25208F-EF96-220F-AA7C-57D845C5343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grpSp>
        <p:nvGrpSpPr>
          <p:cNvPr id="2" name="Group 1">
            <a:extLst>
              <a:ext uri="{FF2B5EF4-FFF2-40B4-BE49-F238E27FC236}">
                <a16:creationId xmlns:a16="http://schemas.microsoft.com/office/drawing/2014/main" id="{50F2B603-67B2-FB54-3B99-82C764B8071A}"/>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7DA73E3A-4713-DE51-89B6-3B78C9724D49}"/>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8562604-80D0-8492-4DF0-FA7560E6BD7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57A4AE7-3830-E523-A8C3-504A68FA74E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0091154-000C-D4FE-61F4-D153A2AC545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FD47981-2446-5046-EE41-E4F230853FC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4DCBDBD-215A-00AD-2683-C3F2C210E852}"/>
              </a:ext>
            </a:extLst>
          </p:cNvPr>
          <p:cNvSpPr txBox="1"/>
          <p:nvPr/>
        </p:nvSpPr>
        <p:spPr>
          <a:xfrm>
            <a:off x="462279" y="782020"/>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13: Chạy chức năng xem Fashions</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49891E5-6892-857E-8B46-C2363D7DCCEF}"/>
              </a:ext>
            </a:extLst>
          </p:cNvPr>
          <p:cNvPicPr>
            <a:picLocks noChangeAspect="1"/>
          </p:cNvPicPr>
          <p:nvPr/>
        </p:nvPicPr>
        <p:blipFill>
          <a:blip r:embed="rId3"/>
          <a:stretch>
            <a:fillRect/>
          </a:stretch>
        </p:blipFill>
        <p:spPr>
          <a:xfrm>
            <a:off x="2754454" y="1243685"/>
            <a:ext cx="6980196" cy="5039834"/>
          </a:xfrm>
          <a:prstGeom prst="rect">
            <a:avLst/>
          </a:prstGeom>
        </p:spPr>
      </p:pic>
    </p:spTree>
    <p:extLst>
      <p:ext uri="{BB962C8B-B14F-4D97-AF65-F5344CB8AC3E}">
        <p14:creationId xmlns:p14="http://schemas.microsoft.com/office/powerpoint/2010/main" val="16740048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8C21159-3083-A336-70D0-A3613DA72D2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4FCBE28-E634-C9F2-6B05-0A07027B9BC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00BB335-3372-99A2-4667-44CA845E57C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grpSp>
        <p:nvGrpSpPr>
          <p:cNvPr id="2" name="Group 1">
            <a:extLst>
              <a:ext uri="{FF2B5EF4-FFF2-40B4-BE49-F238E27FC236}">
                <a16:creationId xmlns:a16="http://schemas.microsoft.com/office/drawing/2014/main" id="{E62FA14D-1348-0B8E-3F55-B2FD69FD4DF3}"/>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2208C9EA-45A5-891E-8DDC-4466EA45A041}"/>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r>
                <a:rPr lang="en-US" sz="2800" b="1">
                  <a:latin typeface="Times New Roman" panose="02020603050405020304" pitchFamily="18" charset="0"/>
                  <a:cs typeface="Times New Roman" panose="02020603050405020304" pitchFamily="18" charset="0"/>
                </a:rPr>
                <a:t> – a Fashion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468C1BC-65A2-3D7F-EE4C-0104426F198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C98234F-3482-2C23-EB03-E074ED4BD1F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17528A6-6C32-B675-2FF4-97583BA1058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A15F3E4-DA73-4E16-9AB2-AA3DDE7BB06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D60B733-9B28-0068-601E-B61AF131F08F}"/>
              </a:ext>
            </a:extLst>
          </p:cNvPr>
          <p:cNvSpPr txBox="1"/>
          <p:nvPr/>
        </p:nvSpPr>
        <p:spPr>
          <a:xfrm>
            <a:off x="498374" y="1413678"/>
            <a:ext cx="11564547" cy="1133965"/>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“index.js” trong “my-server-mongodb” bổ sung mã lệnh sau vào cuối tập tin: “index.js” trong “my-server-mongodb” bổ sung mã lệnh sau vào cuối tập tin:</a:t>
            </a:r>
            <a:endParaRPr lang="vi-VN" sz="240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82C3CDA-3275-4898-BBE3-13DB93037F31}"/>
              </a:ext>
            </a:extLst>
          </p:cNvPr>
          <p:cNvPicPr>
            <a:picLocks noChangeAspect="1"/>
          </p:cNvPicPr>
          <p:nvPr/>
        </p:nvPicPr>
        <p:blipFill>
          <a:blip r:embed="rId3"/>
          <a:stretch>
            <a:fillRect/>
          </a:stretch>
        </p:blipFill>
        <p:spPr>
          <a:xfrm>
            <a:off x="728132" y="2886049"/>
            <a:ext cx="10737510" cy="3071126"/>
          </a:xfrm>
          <a:prstGeom prst="rect">
            <a:avLst/>
          </a:prstGeom>
        </p:spPr>
      </p:pic>
      <p:sp>
        <p:nvSpPr>
          <p:cNvPr id="10" name="TextBox 9">
            <a:extLst>
              <a:ext uri="{FF2B5EF4-FFF2-40B4-BE49-F238E27FC236}">
                <a16:creationId xmlns:a16="http://schemas.microsoft.com/office/drawing/2014/main" id="{126C2F89-FFD6-8B85-4B5A-5F9FC808B365}"/>
              </a:ext>
            </a:extLst>
          </p:cNvPr>
          <p:cNvSpPr txBox="1"/>
          <p:nvPr/>
        </p:nvSpPr>
        <p:spPr>
          <a:xfrm>
            <a:off x="498374" y="842200"/>
            <a:ext cx="6301538"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API-HTTP GET</a:t>
            </a:r>
            <a:r>
              <a:rPr lang="en-US" sz="2400" b="1">
                <a:latin typeface="Times New Roman" panose="02020603050405020304" pitchFamily="18" charset="0"/>
                <a:cs typeface="Times New Roman" panose="02020603050405020304" pitchFamily="18" charset="0"/>
              </a:rPr>
              <a:t> – a Fashion</a:t>
            </a:r>
            <a:endParaRPr lang="en-US" sz="2400" b="1" kern="0">
              <a:solidFill>
                <a:srgbClr val="000000"/>
              </a:solidFill>
              <a:latin typeface="Cambria" panose="02040503050406030204" pitchFamily="18" charset="0"/>
            </a:endParaRPr>
          </a:p>
        </p:txBody>
      </p:sp>
    </p:spTree>
    <p:extLst>
      <p:ext uri="{BB962C8B-B14F-4D97-AF65-F5344CB8AC3E}">
        <p14:creationId xmlns:p14="http://schemas.microsoft.com/office/powerpoint/2010/main" val="37793218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E9B50D7-B4C5-F2D2-1882-475EEA202CC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A2FF806-23B6-0EBA-68FB-94F2693B3EF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0AD4065-73CC-4C61-0340-9F514827004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grpSp>
        <p:nvGrpSpPr>
          <p:cNvPr id="2" name="Group 1">
            <a:extLst>
              <a:ext uri="{FF2B5EF4-FFF2-40B4-BE49-F238E27FC236}">
                <a16:creationId xmlns:a16="http://schemas.microsoft.com/office/drawing/2014/main" id="{5C2838F5-7A2D-0DFF-EEFC-37480D45C633}"/>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9C8768AB-A0AF-AF9A-208E-26C4FF5B57A5}"/>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r>
                <a:rPr lang="en-US" sz="2800" b="1">
                  <a:latin typeface="Times New Roman" panose="02020603050405020304" pitchFamily="18" charset="0"/>
                  <a:cs typeface="Times New Roman" panose="02020603050405020304" pitchFamily="18" charset="0"/>
                </a:rPr>
                <a:t> – a Fashion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C36FAD5-19E4-9EBB-9666-28B524B99DD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6659E27-73F8-4344-06FE-7BE2DD496D1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FA49D73-D2D0-5F41-69B9-00FE425E25F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F1B654B-F31D-DCFF-7F74-06124FA72C9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786DCAA-F5A4-79A7-63BF-254A7AE4EECB}"/>
              </a:ext>
            </a:extLst>
          </p:cNvPr>
          <p:cNvSpPr txBox="1"/>
          <p:nvPr/>
        </p:nvSpPr>
        <p:spPr>
          <a:xfrm>
            <a:off x="415252" y="698674"/>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Kiểm thử Postman</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AB0558F-4F3B-60A6-BC8C-D28C2ADD48D8}"/>
              </a:ext>
            </a:extLst>
          </p:cNvPr>
          <p:cNvPicPr>
            <a:picLocks noChangeAspect="1"/>
          </p:cNvPicPr>
          <p:nvPr/>
        </p:nvPicPr>
        <p:blipFill>
          <a:blip r:embed="rId3"/>
          <a:stretch>
            <a:fillRect/>
          </a:stretch>
        </p:blipFill>
        <p:spPr>
          <a:xfrm>
            <a:off x="3612777" y="1277598"/>
            <a:ext cx="8163972" cy="5159538"/>
          </a:xfrm>
          <a:prstGeom prst="rect">
            <a:avLst/>
          </a:prstGeom>
        </p:spPr>
      </p:pic>
      <p:sp>
        <p:nvSpPr>
          <p:cNvPr id="13" name="TextBox 12">
            <a:extLst>
              <a:ext uri="{FF2B5EF4-FFF2-40B4-BE49-F238E27FC236}">
                <a16:creationId xmlns:a16="http://schemas.microsoft.com/office/drawing/2014/main" id="{2ADE5591-D168-4FD6-8542-FF87F79CF5B0}"/>
              </a:ext>
            </a:extLst>
          </p:cNvPr>
          <p:cNvSpPr txBox="1"/>
          <p:nvPr/>
        </p:nvSpPr>
        <p:spPr>
          <a:xfrm>
            <a:off x="4527086" y="877488"/>
            <a:ext cx="7763526" cy="400110"/>
          </a:xfrm>
          <a:prstGeom prst="rect">
            <a:avLst/>
          </a:prstGeom>
          <a:noFill/>
        </p:spPr>
        <p:txBody>
          <a:bodyPr wrap="square">
            <a:spAutoFit/>
          </a:bodyPr>
          <a:lstStyle/>
          <a:p>
            <a:r>
              <a:rPr lang="en-US" sz="2000"/>
              <a:t>http://localhost:3002/fashions/640b187e71d9faa9039ff97d</a:t>
            </a:r>
          </a:p>
        </p:txBody>
      </p:sp>
    </p:spTree>
    <p:extLst>
      <p:ext uri="{BB962C8B-B14F-4D97-AF65-F5344CB8AC3E}">
        <p14:creationId xmlns:p14="http://schemas.microsoft.com/office/powerpoint/2010/main" val="20538732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5437772-F3C6-74E1-9D33-F09DEA4A533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267217E-D4A5-33B1-BDA7-5E8FE5C5BF1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C30714E-F868-A92C-2673-A7D6C10D61C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grpSp>
        <p:nvGrpSpPr>
          <p:cNvPr id="2" name="Group 1">
            <a:extLst>
              <a:ext uri="{FF2B5EF4-FFF2-40B4-BE49-F238E27FC236}">
                <a16:creationId xmlns:a16="http://schemas.microsoft.com/office/drawing/2014/main" id="{D1A2BDBF-462B-8EFF-9913-665F5FE3CE3D}"/>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6702184B-CBA7-345D-8890-F9913B5A5FA6}"/>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r>
                <a:rPr lang="en-US" sz="2800" b="1">
                  <a:latin typeface="Times New Roman" panose="02020603050405020304" pitchFamily="18" charset="0"/>
                  <a:cs typeface="Times New Roman" panose="02020603050405020304" pitchFamily="18" charset="0"/>
                </a:rPr>
                <a:t> – a Fashion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2EF9C87-B5A6-1454-C492-7565E342C37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D465588-AA31-7CF1-4D6A-32509D3A3CB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E006ECD-B189-F670-74AB-FA80504BC1F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F8D8066-32A6-A4AA-CFC9-ADE941DCD66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46582D6-1701-F1AD-CE31-8744488B6031}"/>
              </a:ext>
            </a:extLst>
          </p:cNvPr>
          <p:cNvSpPr txBox="1"/>
          <p:nvPr/>
        </p:nvSpPr>
        <p:spPr>
          <a:xfrm>
            <a:off x="415252" y="903053"/>
            <a:ext cx="1156454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“my-app”, Bổ sung hàm getFashion(id:string) trong lớp FashionAPIService</a:t>
            </a:r>
          </a:p>
        </p:txBody>
      </p:sp>
      <p:pic>
        <p:nvPicPr>
          <p:cNvPr id="18" name="Picture 17">
            <a:extLst>
              <a:ext uri="{FF2B5EF4-FFF2-40B4-BE49-F238E27FC236}">
                <a16:creationId xmlns:a16="http://schemas.microsoft.com/office/drawing/2014/main" id="{98C84064-69E6-F43C-2D9F-2CB191B87771}"/>
              </a:ext>
            </a:extLst>
          </p:cNvPr>
          <p:cNvPicPr>
            <a:picLocks noChangeAspect="1"/>
          </p:cNvPicPr>
          <p:nvPr/>
        </p:nvPicPr>
        <p:blipFill>
          <a:blip r:embed="rId3"/>
          <a:stretch>
            <a:fillRect/>
          </a:stretch>
        </p:blipFill>
        <p:spPr>
          <a:xfrm>
            <a:off x="728132" y="1637291"/>
            <a:ext cx="9600000" cy="3142857"/>
          </a:xfrm>
          <a:prstGeom prst="rect">
            <a:avLst/>
          </a:prstGeom>
        </p:spPr>
      </p:pic>
    </p:spTree>
    <p:extLst>
      <p:ext uri="{BB962C8B-B14F-4D97-AF65-F5344CB8AC3E}">
        <p14:creationId xmlns:p14="http://schemas.microsoft.com/office/powerpoint/2010/main" val="40604748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CCAAA33-8796-E1AF-6906-9814FC8E54E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0B612B9-E770-4D65-7F30-CFF24CD675D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060121E-3478-32E8-FEC0-4B4672D01B0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grpSp>
        <p:nvGrpSpPr>
          <p:cNvPr id="2" name="Group 1">
            <a:extLst>
              <a:ext uri="{FF2B5EF4-FFF2-40B4-BE49-F238E27FC236}">
                <a16:creationId xmlns:a16="http://schemas.microsoft.com/office/drawing/2014/main" id="{B6C6D182-CD33-AD4D-26B3-0F04ADA2254A}"/>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1F24146A-1CE0-AC22-B5EF-415B6136888B}"/>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r>
                <a:rPr lang="en-US" sz="2800" b="1">
                  <a:latin typeface="Times New Roman" panose="02020603050405020304" pitchFamily="18" charset="0"/>
                  <a:cs typeface="Times New Roman" panose="02020603050405020304" pitchFamily="18" charset="0"/>
                </a:rPr>
                <a:t> – a Fashion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AA9F163-EAEB-A36B-B08C-7FFA20756CF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E5B51D7-C9A3-72F0-30D6-187A507FA5F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B636AF9-57AC-6EDE-10E8-D7BC7CB48F1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FBA1821-4326-E0E5-0ADF-D791283667D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70A37C8-4B61-5965-5E8C-2C3F036150F2}"/>
              </a:ext>
            </a:extLst>
          </p:cNvPr>
          <p:cNvSpPr txBox="1"/>
          <p:nvPr/>
        </p:nvSpPr>
        <p:spPr>
          <a:xfrm>
            <a:off x="415252" y="903053"/>
            <a:ext cx="1156454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Tạo FashionDetailComponent để triệu gọi service lấy chi tiết Fashion</a:t>
            </a:r>
          </a:p>
        </p:txBody>
      </p:sp>
      <p:pic>
        <p:nvPicPr>
          <p:cNvPr id="10" name="Picture 9">
            <a:extLst>
              <a:ext uri="{FF2B5EF4-FFF2-40B4-BE49-F238E27FC236}">
                <a16:creationId xmlns:a16="http://schemas.microsoft.com/office/drawing/2014/main" id="{BE0C912C-4E52-B7F1-65B1-FF3B053972F8}"/>
              </a:ext>
            </a:extLst>
          </p:cNvPr>
          <p:cNvPicPr>
            <a:picLocks noChangeAspect="1"/>
          </p:cNvPicPr>
          <p:nvPr/>
        </p:nvPicPr>
        <p:blipFill>
          <a:blip r:embed="rId3"/>
          <a:stretch>
            <a:fillRect/>
          </a:stretch>
        </p:blipFill>
        <p:spPr>
          <a:xfrm>
            <a:off x="577751" y="1690232"/>
            <a:ext cx="2800000" cy="1809524"/>
          </a:xfrm>
          <a:prstGeom prst="rect">
            <a:avLst/>
          </a:prstGeom>
        </p:spPr>
      </p:pic>
      <p:pic>
        <p:nvPicPr>
          <p:cNvPr id="12" name="Picture 11">
            <a:extLst>
              <a:ext uri="{FF2B5EF4-FFF2-40B4-BE49-F238E27FC236}">
                <a16:creationId xmlns:a16="http://schemas.microsoft.com/office/drawing/2014/main" id="{EB4A12D2-41DE-27E1-7ED7-C3B187B457BF}"/>
              </a:ext>
            </a:extLst>
          </p:cNvPr>
          <p:cNvPicPr>
            <a:picLocks noChangeAspect="1"/>
          </p:cNvPicPr>
          <p:nvPr/>
        </p:nvPicPr>
        <p:blipFill>
          <a:blip r:embed="rId4"/>
          <a:stretch>
            <a:fillRect/>
          </a:stretch>
        </p:blipFill>
        <p:spPr>
          <a:xfrm>
            <a:off x="5897873" y="1618412"/>
            <a:ext cx="4647619" cy="609524"/>
          </a:xfrm>
          <a:prstGeom prst="rect">
            <a:avLst/>
          </a:prstGeom>
        </p:spPr>
      </p:pic>
      <p:pic>
        <p:nvPicPr>
          <p:cNvPr id="15" name="Picture 14">
            <a:extLst>
              <a:ext uri="{FF2B5EF4-FFF2-40B4-BE49-F238E27FC236}">
                <a16:creationId xmlns:a16="http://schemas.microsoft.com/office/drawing/2014/main" id="{04B85BF9-4176-81B9-384B-2A38103CAD7A}"/>
              </a:ext>
            </a:extLst>
          </p:cNvPr>
          <p:cNvPicPr>
            <a:picLocks noChangeAspect="1"/>
          </p:cNvPicPr>
          <p:nvPr/>
        </p:nvPicPr>
        <p:blipFill>
          <a:blip r:embed="rId5"/>
          <a:stretch>
            <a:fillRect/>
          </a:stretch>
        </p:blipFill>
        <p:spPr>
          <a:xfrm>
            <a:off x="5872070" y="3997110"/>
            <a:ext cx="5904762" cy="2066667"/>
          </a:xfrm>
          <a:prstGeom prst="rect">
            <a:avLst/>
          </a:prstGeom>
        </p:spPr>
      </p:pic>
      <p:pic>
        <p:nvPicPr>
          <p:cNvPr id="17" name="Picture 16">
            <a:extLst>
              <a:ext uri="{FF2B5EF4-FFF2-40B4-BE49-F238E27FC236}">
                <a16:creationId xmlns:a16="http://schemas.microsoft.com/office/drawing/2014/main" id="{F31097C9-F857-7D6B-4D83-762048160B7C}"/>
              </a:ext>
            </a:extLst>
          </p:cNvPr>
          <p:cNvPicPr>
            <a:picLocks noChangeAspect="1"/>
          </p:cNvPicPr>
          <p:nvPr/>
        </p:nvPicPr>
        <p:blipFill>
          <a:blip r:embed="rId6"/>
          <a:stretch>
            <a:fillRect/>
          </a:stretch>
        </p:blipFill>
        <p:spPr>
          <a:xfrm>
            <a:off x="640876" y="3822482"/>
            <a:ext cx="2647619" cy="2580952"/>
          </a:xfrm>
          <a:prstGeom prst="rect">
            <a:avLst/>
          </a:prstGeom>
        </p:spPr>
      </p:pic>
      <p:cxnSp>
        <p:nvCxnSpPr>
          <p:cNvPr id="18" name="Connector: Elbow 17">
            <a:extLst>
              <a:ext uri="{FF2B5EF4-FFF2-40B4-BE49-F238E27FC236}">
                <a16:creationId xmlns:a16="http://schemas.microsoft.com/office/drawing/2014/main" id="{A31B80A1-816C-1581-052C-BD64233FEC30}"/>
              </a:ext>
            </a:extLst>
          </p:cNvPr>
          <p:cNvCxnSpPr/>
          <p:nvPr/>
        </p:nvCxnSpPr>
        <p:spPr>
          <a:xfrm flipV="1">
            <a:off x="3256839" y="2227936"/>
            <a:ext cx="5051953" cy="1159650"/>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5F5980F-48CB-3522-EC25-4BC1D37A579E}"/>
              </a:ext>
            </a:extLst>
          </p:cNvPr>
          <p:cNvCxnSpPr>
            <a:cxnSpLocks/>
          </p:cNvCxnSpPr>
          <p:nvPr/>
        </p:nvCxnSpPr>
        <p:spPr>
          <a:xfrm>
            <a:off x="9407341" y="2227936"/>
            <a:ext cx="0" cy="16143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16531C84-4CA2-49A8-7D59-421BF50FBD70}"/>
              </a:ext>
            </a:extLst>
          </p:cNvPr>
          <p:cNvCxnSpPr>
            <a:cxnSpLocks/>
          </p:cNvCxnSpPr>
          <p:nvPr/>
        </p:nvCxnSpPr>
        <p:spPr>
          <a:xfrm rot="10800000">
            <a:off x="3377751" y="5173676"/>
            <a:ext cx="2405064" cy="1"/>
          </a:xfrm>
          <a:prstGeom prst="bent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57793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B499C4B-D2C2-5510-96A1-1B3EDC7442C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B730CA7-8639-2BFE-060E-93253F16ECF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C8588FA-0DA4-BC84-F2D9-2E2DF05394F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grpSp>
        <p:nvGrpSpPr>
          <p:cNvPr id="2" name="Group 1">
            <a:extLst>
              <a:ext uri="{FF2B5EF4-FFF2-40B4-BE49-F238E27FC236}">
                <a16:creationId xmlns:a16="http://schemas.microsoft.com/office/drawing/2014/main" id="{210B846C-352D-1691-B310-D850C3CDF725}"/>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5BA5AF3E-F787-7731-F30F-6C8EEB13FEDA}"/>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r>
                <a:rPr lang="en-US" sz="2800" b="1">
                  <a:latin typeface="Times New Roman" panose="02020603050405020304" pitchFamily="18" charset="0"/>
                  <a:cs typeface="Times New Roman" panose="02020603050405020304" pitchFamily="18" charset="0"/>
                </a:rPr>
                <a:t> – a Fashion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0BEAD7E-4244-80AE-8279-1DEA3FFE1CF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D15B13E-1045-19E3-D595-3B2E846E000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A63CB6E-21C9-F32C-3697-B5749CBA39C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0741C94-802F-DEF1-8475-45CB0F6A2DC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29D3103-8DBA-3F3D-2679-C8C8236672BF}"/>
              </a:ext>
            </a:extLst>
          </p:cNvPr>
          <p:cNvSpPr txBox="1"/>
          <p:nvPr/>
        </p:nvSpPr>
        <p:spPr>
          <a:xfrm>
            <a:off x="415252" y="788752"/>
            <a:ext cx="1156454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Bổ sung hàm getBase64String() cho Fashion để tái sử dụng </a:t>
            </a:r>
          </a:p>
        </p:txBody>
      </p:sp>
      <p:pic>
        <p:nvPicPr>
          <p:cNvPr id="11" name="Picture 10">
            <a:extLst>
              <a:ext uri="{FF2B5EF4-FFF2-40B4-BE49-F238E27FC236}">
                <a16:creationId xmlns:a16="http://schemas.microsoft.com/office/drawing/2014/main" id="{909B9F3F-B282-3B05-F99B-027DDFB6DBF2}"/>
              </a:ext>
            </a:extLst>
          </p:cNvPr>
          <p:cNvPicPr>
            <a:picLocks noChangeAspect="1"/>
          </p:cNvPicPr>
          <p:nvPr/>
        </p:nvPicPr>
        <p:blipFill>
          <a:blip r:embed="rId3"/>
          <a:stretch>
            <a:fillRect/>
          </a:stretch>
        </p:blipFill>
        <p:spPr>
          <a:xfrm>
            <a:off x="582253" y="1234413"/>
            <a:ext cx="8863898" cy="5117163"/>
          </a:xfrm>
          <a:prstGeom prst="rect">
            <a:avLst/>
          </a:prstGeom>
        </p:spPr>
      </p:pic>
    </p:spTree>
    <p:extLst>
      <p:ext uri="{BB962C8B-B14F-4D97-AF65-F5344CB8AC3E}">
        <p14:creationId xmlns:p14="http://schemas.microsoft.com/office/powerpoint/2010/main" val="22118639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2C26656-7D74-F541-6F7B-BF3241C7BDD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AD9E017-C6B4-6334-E88A-8D6CCCE5828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8065626-D8C1-0785-8D86-1FD1F90EA5C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grpSp>
        <p:nvGrpSpPr>
          <p:cNvPr id="2" name="Group 1">
            <a:extLst>
              <a:ext uri="{FF2B5EF4-FFF2-40B4-BE49-F238E27FC236}">
                <a16:creationId xmlns:a16="http://schemas.microsoft.com/office/drawing/2014/main" id="{E5F70F3E-BB8A-8919-6833-C5CDAF28354C}"/>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2E5EF163-71CF-3E71-794C-E49ADDE2B2AF}"/>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r>
                <a:rPr lang="en-US" sz="2800" b="1">
                  <a:latin typeface="Times New Roman" panose="02020603050405020304" pitchFamily="18" charset="0"/>
                  <a:cs typeface="Times New Roman" panose="02020603050405020304" pitchFamily="18" charset="0"/>
                </a:rPr>
                <a:t> – a Fashion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B4D6B88-AFDF-C0A1-2F73-D21F0F56ACF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E3DD06F-A7C8-F36E-2BDA-EA2412C7964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738233B-15F9-C3B1-8C15-8ED7E115B61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F346016-68FA-4645-2E22-F35E3AE3C34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6150A6A-7CB1-C554-9F3B-58EE3394745F}"/>
              </a:ext>
            </a:extLst>
          </p:cNvPr>
          <p:cNvSpPr txBox="1"/>
          <p:nvPr/>
        </p:nvSpPr>
        <p:spPr>
          <a:xfrm>
            <a:off x="415252" y="781597"/>
            <a:ext cx="1156454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fashion-detail-component.ts</a:t>
            </a:r>
          </a:p>
        </p:txBody>
      </p:sp>
      <p:pic>
        <p:nvPicPr>
          <p:cNvPr id="15" name="Picture 14">
            <a:extLst>
              <a:ext uri="{FF2B5EF4-FFF2-40B4-BE49-F238E27FC236}">
                <a16:creationId xmlns:a16="http://schemas.microsoft.com/office/drawing/2014/main" id="{AC227558-B395-CF8D-9C54-0189ED7402A2}"/>
              </a:ext>
            </a:extLst>
          </p:cNvPr>
          <p:cNvPicPr>
            <a:picLocks noChangeAspect="1"/>
          </p:cNvPicPr>
          <p:nvPr/>
        </p:nvPicPr>
        <p:blipFill>
          <a:blip r:embed="rId3"/>
          <a:stretch>
            <a:fillRect/>
          </a:stretch>
        </p:blipFill>
        <p:spPr>
          <a:xfrm>
            <a:off x="564686" y="1212940"/>
            <a:ext cx="8230398" cy="5161280"/>
          </a:xfrm>
          <a:prstGeom prst="rect">
            <a:avLst/>
          </a:prstGeom>
        </p:spPr>
      </p:pic>
    </p:spTree>
    <p:extLst>
      <p:ext uri="{BB962C8B-B14F-4D97-AF65-F5344CB8AC3E}">
        <p14:creationId xmlns:p14="http://schemas.microsoft.com/office/powerpoint/2010/main" val="26923022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DC91946-0264-C184-0EF6-A00D635C268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E913ACF-FBD3-853B-EF0B-C94246EE3DF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F2FBD0A-10A6-74EC-0CB7-4949D609A25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grpSp>
        <p:nvGrpSpPr>
          <p:cNvPr id="2" name="Group 1">
            <a:extLst>
              <a:ext uri="{FF2B5EF4-FFF2-40B4-BE49-F238E27FC236}">
                <a16:creationId xmlns:a16="http://schemas.microsoft.com/office/drawing/2014/main" id="{86D27FEA-2637-73E7-F9EB-CF86745FAA45}"/>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9537489B-1652-5391-B6FF-B92820E18360}"/>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r>
                <a:rPr lang="en-US" sz="2800" b="1">
                  <a:latin typeface="Times New Roman" panose="02020603050405020304" pitchFamily="18" charset="0"/>
                  <a:cs typeface="Times New Roman" panose="02020603050405020304" pitchFamily="18" charset="0"/>
                </a:rPr>
                <a:t> – a Fashion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A83E978-AC29-1C52-2D84-43633E6E178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2397D4E-18FF-129D-5A0E-1670F8FFFC7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14F4ECC-952A-CABD-B92A-6CF8138F543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D1580C8-CF62-A139-26F7-E26EB2A628F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6587B2C-C4C7-69F9-1676-AFC6A4ADA0B2}"/>
              </a:ext>
            </a:extLst>
          </p:cNvPr>
          <p:cNvSpPr txBox="1"/>
          <p:nvPr/>
        </p:nvSpPr>
        <p:spPr>
          <a:xfrm>
            <a:off x="415252" y="818829"/>
            <a:ext cx="1156454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fashion-detail-component.html</a:t>
            </a:r>
          </a:p>
        </p:txBody>
      </p:sp>
      <p:pic>
        <p:nvPicPr>
          <p:cNvPr id="10" name="Picture 9">
            <a:extLst>
              <a:ext uri="{FF2B5EF4-FFF2-40B4-BE49-F238E27FC236}">
                <a16:creationId xmlns:a16="http://schemas.microsoft.com/office/drawing/2014/main" id="{4ABDCEAF-5171-D067-503A-5ED5BFBFF870}"/>
              </a:ext>
            </a:extLst>
          </p:cNvPr>
          <p:cNvPicPr>
            <a:picLocks noChangeAspect="1"/>
          </p:cNvPicPr>
          <p:nvPr/>
        </p:nvPicPr>
        <p:blipFill>
          <a:blip r:embed="rId3"/>
          <a:stretch>
            <a:fillRect/>
          </a:stretch>
        </p:blipFill>
        <p:spPr>
          <a:xfrm>
            <a:off x="564686" y="1332352"/>
            <a:ext cx="8232472" cy="4473411"/>
          </a:xfrm>
          <a:prstGeom prst="rect">
            <a:avLst/>
          </a:prstGeom>
        </p:spPr>
      </p:pic>
    </p:spTree>
    <p:extLst>
      <p:ext uri="{BB962C8B-B14F-4D97-AF65-F5344CB8AC3E}">
        <p14:creationId xmlns:p14="http://schemas.microsoft.com/office/powerpoint/2010/main" val="13113451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697A3C8-06B0-5329-31BB-E4815023DFD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9472DF7-7E1A-6E95-ECB5-9E378ECEB90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14ADA47-DF28-C007-7C00-F42C02665A1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grpSp>
        <p:nvGrpSpPr>
          <p:cNvPr id="2" name="Group 1">
            <a:extLst>
              <a:ext uri="{FF2B5EF4-FFF2-40B4-BE49-F238E27FC236}">
                <a16:creationId xmlns:a16="http://schemas.microsoft.com/office/drawing/2014/main" id="{ABF155D3-086E-15FC-53BD-5CCFA8DE13F6}"/>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55F1AA7D-983C-0D7E-70EF-8B34B1A5E0BC}"/>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r>
                <a:rPr lang="en-US" sz="2800" b="1">
                  <a:latin typeface="Times New Roman" panose="02020603050405020304" pitchFamily="18" charset="0"/>
                  <a:cs typeface="Times New Roman" panose="02020603050405020304" pitchFamily="18" charset="0"/>
                </a:rPr>
                <a:t> – a Fashion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8CAC93A-28EE-C47B-610E-20F3751964E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5652DAD-0E26-C787-5D6A-A0AB0569DC5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6C3DB24-2795-C0C2-93CA-EAA157E8310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39C8AF5-EE70-E4B1-E597-BC7BADB8DDD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46FB466-C832-2862-8DCC-971C67468021}"/>
              </a:ext>
            </a:extLst>
          </p:cNvPr>
          <p:cNvSpPr txBox="1"/>
          <p:nvPr/>
        </p:nvSpPr>
        <p:spPr>
          <a:xfrm>
            <a:off x="415252" y="818829"/>
            <a:ext cx="1156454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fashion-detail-component.html</a:t>
            </a:r>
          </a:p>
        </p:txBody>
      </p:sp>
      <p:pic>
        <p:nvPicPr>
          <p:cNvPr id="11" name="Picture 10">
            <a:extLst>
              <a:ext uri="{FF2B5EF4-FFF2-40B4-BE49-F238E27FC236}">
                <a16:creationId xmlns:a16="http://schemas.microsoft.com/office/drawing/2014/main" id="{2CB9FDAF-1A28-D4BF-59D6-DD348C712CD9}"/>
              </a:ext>
            </a:extLst>
          </p:cNvPr>
          <p:cNvPicPr>
            <a:picLocks noChangeAspect="1"/>
          </p:cNvPicPr>
          <p:nvPr/>
        </p:nvPicPr>
        <p:blipFill>
          <a:blip r:embed="rId3"/>
          <a:stretch>
            <a:fillRect/>
          </a:stretch>
        </p:blipFill>
        <p:spPr>
          <a:xfrm>
            <a:off x="676333" y="1362248"/>
            <a:ext cx="7699092" cy="4260693"/>
          </a:xfrm>
          <a:prstGeom prst="rect">
            <a:avLst/>
          </a:prstGeom>
        </p:spPr>
      </p:pic>
    </p:spTree>
    <p:extLst>
      <p:ext uri="{BB962C8B-B14F-4D97-AF65-F5344CB8AC3E}">
        <p14:creationId xmlns:p14="http://schemas.microsoft.com/office/powerpoint/2010/main" val="36607512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AF14817-F316-EB61-498E-0A7A360A2BB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7655DA6-E872-4334-75E5-FF4A219AB6D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98F1896-D3E5-8650-A7EC-C92C4045748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grpSp>
        <p:nvGrpSpPr>
          <p:cNvPr id="2" name="Group 1">
            <a:extLst>
              <a:ext uri="{FF2B5EF4-FFF2-40B4-BE49-F238E27FC236}">
                <a16:creationId xmlns:a16="http://schemas.microsoft.com/office/drawing/2014/main" id="{7F7B3388-5252-6767-0506-69C4B1BACD6B}"/>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9292E5E4-35E7-5575-7925-F5E666D83E8B}"/>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r>
                <a:rPr lang="en-US" sz="2800" b="1">
                  <a:latin typeface="Times New Roman" panose="02020603050405020304" pitchFamily="18" charset="0"/>
                  <a:cs typeface="Times New Roman" panose="02020603050405020304" pitchFamily="18" charset="0"/>
                </a:rPr>
                <a:t> – a Fashion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93D754B-BE41-CC4E-01BE-33E27F2FA51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C35A17E-2F70-7911-F8AC-836116A1110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1A81A1D-36D2-45B5-989B-A497B6F879E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520F9B3-A32E-8447-4594-FB38901C90F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D5B1484-FD49-A8DC-C20F-37EB7302DED1}"/>
              </a:ext>
            </a:extLst>
          </p:cNvPr>
          <p:cNvSpPr txBox="1"/>
          <p:nvPr/>
        </p:nvSpPr>
        <p:spPr>
          <a:xfrm>
            <a:off x="415252" y="818829"/>
            <a:ext cx="1156454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8:  Cấu hình Routing </a:t>
            </a:r>
            <a:r>
              <a:rPr lang="en-US" sz="2400" b="1">
                <a:latin typeface="Times New Roman" panose="02020603050405020304" pitchFamily="18" charset="0"/>
                <a:cs typeface="Times New Roman" panose="02020603050405020304" pitchFamily="18" charset="0"/>
              </a:rPr>
              <a:t>app-routing-module.ts</a:t>
            </a:r>
          </a:p>
        </p:txBody>
      </p:sp>
      <p:pic>
        <p:nvPicPr>
          <p:cNvPr id="10" name="Picture 9">
            <a:extLst>
              <a:ext uri="{FF2B5EF4-FFF2-40B4-BE49-F238E27FC236}">
                <a16:creationId xmlns:a16="http://schemas.microsoft.com/office/drawing/2014/main" id="{1455B5D3-1DC8-0691-4F55-26B261A901B3}"/>
              </a:ext>
            </a:extLst>
          </p:cNvPr>
          <p:cNvPicPr>
            <a:picLocks noChangeAspect="1"/>
          </p:cNvPicPr>
          <p:nvPr/>
        </p:nvPicPr>
        <p:blipFill>
          <a:blip r:embed="rId3"/>
          <a:stretch>
            <a:fillRect/>
          </a:stretch>
        </p:blipFill>
        <p:spPr>
          <a:xfrm>
            <a:off x="728132" y="1362248"/>
            <a:ext cx="7832437" cy="3000265"/>
          </a:xfrm>
          <a:prstGeom prst="rect">
            <a:avLst/>
          </a:prstGeom>
        </p:spPr>
      </p:pic>
    </p:spTree>
    <p:extLst>
      <p:ext uri="{BB962C8B-B14F-4D97-AF65-F5344CB8AC3E}">
        <p14:creationId xmlns:p14="http://schemas.microsoft.com/office/powerpoint/2010/main" val="32279607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E7ABFBD-4CB6-A644-20AD-30E9607EF09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E35ED84-AFC4-DFD3-110F-619C39DC15A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68916F3-9E13-A081-48C5-C8771F9545D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grpSp>
        <p:nvGrpSpPr>
          <p:cNvPr id="2" name="Group 1">
            <a:extLst>
              <a:ext uri="{FF2B5EF4-FFF2-40B4-BE49-F238E27FC236}">
                <a16:creationId xmlns:a16="http://schemas.microsoft.com/office/drawing/2014/main" id="{B9753E09-7868-7A59-2378-A9B76CFFB44E}"/>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9EF929CE-BABA-66F0-E907-7BF4DF4663C3}"/>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r>
                <a:rPr lang="en-US" sz="2800" b="1">
                  <a:latin typeface="Times New Roman" panose="02020603050405020304" pitchFamily="18" charset="0"/>
                  <a:cs typeface="Times New Roman" panose="02020603050405020304" pitchFamily="18" charset="0"/>
                </a:rPr>
                <a:t> – a Fashion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DECF1E0-6F7D-C21E-1F10-590E9E65ADA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166C50D-AB27-0D29-E5BA-9D66AFA2C6E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E94FF62-B862-0746-B168-6D0C22E1057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D7CB450-AC07-1422-9914-9ED2DD6BF48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6D3BCD4-CFA7-0949-3A09-37F6A5945774}"/>
              </a:ext>
            </a:extLst>
          </p:cNvPr>
          <p:cNvSpPr txBox="1"/>
          <p:nvPr/>
        </p:nvSpPr>
        <p:spPr>
          <a:xfrm>
            <a:off x="415252" y="818829"/>
            <a:ext cx="1156454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9:  app.html</a:t>
            </a:r>
          </a:p>
        </p:txBody>
      </p:sp>
      <p:pic>
        <p:nvPicPr>
          <p:cNvPr id="10" name="Picture 9">
            <a:extLst>
              <a:ext uri="{FF2B5EF4-FFF2-40B4-BE49-F238E27FC236}">
                <a16:creationId xmlns:a16="http://schemas.microsoft.com/office/drawing/2014/main" id="{705DCB5F-50E9-3FF1-281C-1BE2A6497E29}"/>
              </a:ext>
            </a:extLst>
          </p:cNvPr>
          <p:cNvPicPr>
            <a:picLocks noChangeAspect="1"/>
          </p:cNvPicPr>
          <p:nvPr/>
        </p:nvPicPr>
        <p:blipFill>
          <a:blip r:embed="rId3"/>
          <a:stretch>
            <a:fillRect/>
          </a:stretch>
        </p:blipFill>
        <p:spPr>
          <a:xfrm>
            <a:off x="728132" y="1510014"/>
            <a:ext cx="7435577" cy="2743099"/>
          </a:xfrm>
          <a:prstGeom prst="rect">
            <a:avLst/>
          </a:prstGeom>
        </p:spPr>
      </p:pic>
    </p:spTree>
    <p:extLst>
      <p:ext uri="{BB962C8B-B14F-4D97-AF65-F5344CB8AC3E}">
        <p14:creationId xmlns:p14="http://schemas.microsoft.com/office/powerpoint/2010/main" val="2673514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D30731F-0AC2-B97D-24DD-2E819B5119C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8658E24-2B06-88EF-2CA3-ED978805024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8B59FDF-3ED2-4404-A43E-147F13FFBE5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grpSp>
        <p:nvGrpSpPr>
          <p:cNvPr id="2" name="Group 1">
            <a:extLst>
              <a:ext uri="{FF2B5EF4-FFF2-40B4-BE49-F238E27FC236}">
                <a16:creationId xmlns:a16="http://schemas.microsoft.com/office/drawing/2014/main" id="{3F8FE90E-4B8C-CC21-489C-05E178D7B220}"/>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231FC5C3-8018-FF30-12E3-911C40186DF2}"/>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r>
                <a:rPr lang="en-US" sz="2800" b="1">
                  <a:latin typeface="Times New Roman" panose="02020603050405020304" pitchFamily="18" charset="0"/>
                  <a:cs typeface="Times New Roman" panose="02020603050405020304" pitchFamily="18" charset="0"/>
                </a:rPr>
                <a:t> – a Fashion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8F99970-1956-57DC-35FB-473DC511EAF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8AB9492-39B1-2E90-A912-7CFEE66C3DB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67D2227-B937-5F52-76B3-C8C985A9379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522D730-A8EE-C422-2BA9-1A8F67CF4E9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C79C5E7-CC8F-7E22-C92D-515AB126EA1C}"/>
              </a:ext>
            </a:extLst>
          </p:cNvPr>
          <p:cNvSpPr txBox="1"/>
          <p:nvPr/>
        </p:nvSpPr>
        <p:spPr>
          <a:xfrm>
            <a:off x="415252" y="818829"/>
            <a:ext cx="1156454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10:  Chạy chức năng</a:t>
            </a:r>
          </a:p>
        </p:txBody>
      </p:sp>
      <p:pic>
        <p:nvPicPr>
          <p:cNvPr id="10" name="Picture 9">
            <a:extLst>
              <a:ext uri="{FF2B5EF4-FFF2-40B4-BE49-F238E27FC236}">
                <a16:creationId xmlns:a16="http://schemas.microsoft.com/office/drawing/2014/main" id="{AA886905-BA62-417A-47C8-E2EDB1BE6631}"/>
              </a:ext>
            </a:extLst>
          </p:cNvPr>
          <p:cNvPicPr>
            <a:picLocks noChangeAspect="1"/>
          </p:cNvPicPr>
          <p:nvPr/>
        </p:nvPicPr>
        <p:blipFill>
          <a:blip r:embed="rId3"/>
          <a:stretch>
            <a:fillRect/>
          </a:stretch>
        </p:blipFill>
        <p:spPr>
          <a:xfrm>
            <a:off x="307914" y="1312218"/>
            <a:ext cx="9088749" cy="5545782"/>
          </a:xfrm>
          <a:prstGeom prst="rect">
            <a:avLst/>
          </a:prstGeom>
        </p:spPr>
      </p:pic>
    </p:spTree>
    <p:extLst>
      <p:ext uri="{BB962C8B-B14F-4D97-AF65-F5344CB8AC3E}">
        <p14:creationId xmlns:p14="http://schemas.microsoft.com/office/powerpoint/2010/main" val="38835813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49D5A08-5864-46DA-05D0-4F4E55C084D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F77AB6B-4463-8400-E9F6-BC2C54FDEFE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D545634-C344-6283-B519-A21FF7BFA28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grpSp>
        <p:nvGrpSpPr>
          <p:cNvPr id="2" name="Group 1">
            <a:extLst>
              <a:ext uri="{FF2B5EF4-FFF2-40B4-BE49-F238E27FC236}">
                <a16:creationId xmlns:a16="http://schemas.microsoft.com/office/drawing/2014/main" id="{06DA653E-6B8E-9835-28FF-DD2C9BC95831}"/>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FD3E58F8-8F86-65EE-A913-B7E81D72CBC7}"/>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7.4.1. API-HTTP GET</a:t>
              </a:r>
              <a:r>
                <a:rPr lang="en-US" sz="2800" b="1">
                  <a:latin typeface="Times New Roman" panose="02020603050405020304" pitchFamily="18" charset="0"/>
                  <a:cs typeface="Times New Roman" panose="02020603050405020304" pitchFamily="18" charset="0"/>
                </a:rPr>
                <a:t> – a Fashion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B603D22-05ED-C24E-C85F-4FBE8F50A5C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6CC6D74-5C87-5B6F-119D-5ACDC5FBFAE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388AF42-435F-E195-8FA5-32E3E0248EE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27DD129-609F-705C-8772-46AFEA859DB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6F7F4C6-A1A8-789C-BF3E-7AEA14C1F96B}"/>
              </a:ext>
            </a:extLst>
          </p:cNvPr>
          <p:cNvSpPr txBox="1"/>
          <p:nvPr/>
        </p:nvSpPr>
        <p:spPr>
          <a:xfrm>
            <a:off x="415252" y="818829"/>
            <a:ext cx="11564547" cy="2241960"/>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Câu hỏi mở rộng:</a:t>
            </a:r>
          </a:p>
          <a:p>
            <a:pPr marL="457200" indent="-457200">
              <a:lnSpc>
                <a:spcPct val="150000"/>
              </a:lnSpc>
              <a:buAutoNum type="arabicParenBoth"/>
            </a:pPr>
            <a:r>
              <a:rPr lang="en-US" sz="2400">
                <a:latin typeface="Times New Roman" panose="02020603050405020304" pitchFamily="18" charset="0"/>
                <a:cs typeface="Times New Roman" panose="02020603050405020304" pitchFamily="18" charset="0"/>
              </a:rPr>
              <a:t>Xây dựng chức năng tìm Fashion tương đối theo tên</a:t>
            </a:r>
          </a:p>
          <a:p>
            <a:pPr marL="457200" indent="-457200">
              <a:lnSpc>
                <a:spcPct val="150000"/>
              </a:lnSpc>
              <a:buFont typeface="Arial"/>
              <a:buAutoNum type="arabicParenBoth"/>
            </a:pPr>
            <a:r>
              <a:rPr lang="en-US" sz="2400">
                <a:latin typeface="Times New Roman" panose="02020603050405020304" pitchFamily="18" charset="0"/>
                <a:cs typeface="Times New Roman" panose="02020603050405020304" pitchFamily="18" charset="0"/>
              </a:rPr>
              <a:t>Xây dựng chức năng tìm Fashion tương đối theo mô tả</a:t>
            </a:r>
          </a:p>
          <a:p>
            <a:pPr marL="457200" indent="-457200">
              <a:lnSpc>
                <a:spcPct val="150000"/>
              </a:lnSpc>
              <a:buAutoNum type="arabicParenBoth"/>
            </a:pPr>
            <a:r>
              <a:rPr lang="en-US" sz="2400">
                <a:latin typeface="Times New Roman" panose="02020603050405020304" pitchFamily="18" charset="0"/>
                <a:cs typeface="Times New Roman" panose="02020603050405020304" pitchFamily="18" charset="0"/>
              </a:rPr>
              <a:t>Xây dựng Slug để hỗ trợ SEO tìm kiếm Fashion</a:t>
            </a:r>
          </a:p>
        </p:txBody>
      </p:sp>
    </p:spTree>
    <p:extLst>
      <p:ext uri="{BB962C8B-B14F-4D97-AF65-F5344CB8AC3E}">
        <p14:creationId xmlns:p14="http://schemas.microsoft.com/office/powerpoint/2010/main" val="30721198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D852FF6-8392-2938-4A5B-C38F1EF324F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285BB3B-4ED4-3DB8-822E-9122549DB6E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FCC703D-1303-E3DB-4C6A-4866FF1C88F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grpSp>
        <p:nvGrpSpPr>
          <p:cNvPr id="2" name="Group 1">
            <a:extLst>
              <a:ext uri="{FF2B5EF4-FFF2-40B4-BE49-F238E27FC236}">
                <a16:creationId xmlns:a16="http://schemas.microsoft.com/office/drawing/2014/main" id="{C5D2A894-B339-C63B-D885-D788BEF9A84B}"/>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9F97DC66-D105-AFCC-FF77-C7C6A81E03A4}"/>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AB6AE3F-4B84-7EFE-17B8-003EEB5F8C4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9540BFF-E961-BBEB-71EA-2FB97D05285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0B0CFD7-DE45-3549-F1CB-F9A5A621256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FCC06A8-4067-3FCF-82C0-425B3C681CD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3DD76CC-9AE2-170A-42F1-AABFD551AB85}"/>
              </a:ext>
            </a:extLst>
          </p:cNvPr>
          <p:cNvSpPr txBox="1"/>
          <p:nvPr/>
        </p:nvSpPr>
        <p:spPr>
          <a:xfrm>
            <a:off x="462279" y="841012"/>
            <a:ext cx="11564547" cy="1200329"/>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Tạo API thêm mới một Fashion</a:t>
            </a:r>
          </a:p>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Trong “my-server-mongodb”, bổ sung API Post a Fashion trong file index.js (bổ sung cuối file)</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31EE978-5EA5-A68A-E652-0D465E9DCF3F}"/>
              </a:ext>
            </a:extLst>
          </p:cNvPr>
          <p:cNvPicPr>
            <a:picLocks noChangeAspect="1"/>
          </p:cNvPicPr>
          <p:nvPr/>
        </p:nvPicPr>
        <p:blipFill>
          <a:blip r:embed="rId3"/>
          <a:stretch>
            <a:fillRect/>
          </a:stretch>
        </p:blipFill>
        <p:spPr>
          <a:xfrm>
            <a:off x="958730" y="2161871"/>
            <a:ext cx="9129551" cy="3071126"/>
          </a:xfrm>
          <a:prstGeom prst="rect">
            <a:avLst/>
          </a:prstGeom>
        </p:spPr>
      </p:pic>
    </p:spTree>
    <p:extLst>
      <p:ext uri="{BB962C8B-B14F-4D97-AF65-F5344CB8AC3E}">
        <p14:creationId xmlns:p14="http://schemas.microsoft.com/office/powerpoint/2010/main" val="35536785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0FC1DAE-CD29-A319-B49E-616B6065E75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F0BBDA9-6242-29AB-EEF4-2D5E5402F07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A081A43-310B-8BB9-60A8-BCF8CADC82A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grpSp>
        <p:nvGrpSpPr>
          <p:cNvPr id="2" name="Group 1">
            <a:extLst>
              <a:ext uri="{FF2B5EF4-FFF2-40B4-BE49-F238E27FC236}">
                <a16:creationId xmlns:a16="http://schemas.microsoft.com/office/drawing/2014/main" id="{06FA85C3-818A-ADC1-04B5-70D96817B976}"/>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B71A7911-FD0B-C4AB-EA7D-DF8BEEC64FE3}"/>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B0F8AC9-CA73-894D-C1CA-10BB2388614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B219A8D-CF56-9B29-0340-53DA16653B2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5B03393-5525-9CE2-0EF8-D79F795A89D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9831625-CA03-3D12-160B-960D32EB591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348F880-AC04-4292-D07F-89BEE4F550CB}"/>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Kiểm thử Postman</a:t>
            </a:r>
            <a:endParaRPr lang="vi-VN"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E12F486-1A33-89B4-C7B3-0513D46B6D26}"/>
              </a:ext>
            </a:extLst>
          </p:cNvPr>
          <p:cNvSpPr txBox="1"/>
          <p:nvPr/>
        </p:nvSpPr>
        <p:spPr>
          <a:xfrm>
            <a:off x="785262" y="1406614"/>
            <a:ext cx="11173500" cy="1687963"/>
          </a:xfrm>
          <a:prstGeom prst="rect">
            <a:avLst/>
          </a:prstGeom>
          <a:noFill/>
        </p:spPr>
        <p:txBody>
          <a:bodyPr wrap="square">
            <a:spAutoFit/>
          </a:bodyPr>
          <a:lstStyle/>
          <a:p>
            <a:pPr>
              <a:lnSpc>
                <a:spcPct val="150000"/>
              </a:lnSpc>
            </a:pPr>
            <a:r>
              <a:rPr lang="en-US" sz="2400">
                <a:latin typeface="Times New Roman" panose="02020603050405020304" pitchFamily="18" charset="0"/>
                <a:cs typeface="Times New Roman" panose="02020603050405020304" pitchFamily="18" charset="0"/>
              </a:rPr>
              <a:t>Lưu ý đầu vào là 1 Json không có _id (vì nó tự động tạo ra), đầu ra chương trình sẽ trả về cấu trúc input đồng thời có thêm _id cùng với giá trị của nó. Việc lập trình như vậy giúp chúng ta dễ dàng truy cập tới dữ liệu vừa đưa vào thông qua _id.</a:t>
            </a:r>
          </a:p>
        </p:txBody>
      </p:sp>
      <p:sp>
        <p:nvSpPr>
          <p:cNvPr id="15" name="TextBox 14">
            <a:extLst>
              <a:ext uri="{FF2B5EF4-FFF2-40B4-BE49-F238E27FC236}">
                <a16:creationId xmlns:a16="http://schemas.microsoft.com/office/drawing/2014/main" id="{8072F281-946B-3176-4BC1-2E4FF2788A95}"/>
              </a:ext>
            </a:extLst>
          </p:cNvPr>
          <p:cNvSpPr txBox="1"/>
          <p:nvPr/>
        </p:nvSpPr>
        <p:spPr>
          <a:xfrm>
            <a:off x="3157475" y="3356514"/>
            <a:ext cx="5000563" cy="1754326"/>
          </a:xfrm>
          <a:prstGeom prst="rect">
            <a:avLst/>
          </a:prstGeom>
          <a:noFill/>
          <a:ln>
            <a:solidFill>
              <a:schemeClr val="accent1"/>
            </a:solidFill>
          </a:ln>
        </p:spPr>
        <p:txBody>
          <a:bodyPr wrap="square">
            <a:spAutoFit/>
          </a:bodyPr>
          <a:lstStyle/>
          <a:p>
            <a:r>
              <a:rPr lang="en-US" sz="1800"/>
              <a:t> {</a:t>
            </a:r>
          </a:p>
          <a:p>
            <a:r>
              <a:rPr lang="en-US" sz="1800"/>
              <a:t>        "style": "NEW STYLE",</a:t>
            </a:r>
          </a:p>
          <a:p>
            <a:r>
              <a:rPr lang="en-US" sz="1800"/>
              <a:t>        "fashion_subject": "new subject",</a:t>
            </a:r>
          </a:p>
          <a:p>
            <a:r>
              <a:rPr lang="en-US" sz="1800"/>
              <a:t>        "fashion_detail": " new subject  detail",</a:t>
            </a:r>
          </a:p>
          <a:p>
            <a:r>
              <a:rPr lang="en-US" sz="1800"/>
              <a:t>        "fashion_image": ""</a:t>
            </a:r>
          </a:p>
          <a:p>
            <a:r>
              <a:rPr lang="en-US" sz="1800"/>
              <a:t> }</a:t>
            </a:r>
          </a:p>
        </p:txBody>
      </p:sp>
    </p:spTree>
    <p:extLst>
      <p:ext uri="{BB962C8B-B14F-4D97-AF65-F5344CB8AC3E}">
        <p14:creationId xmlns:p14="http://schemas.microsoft.com/office/powerpoint/2010/main" val="35852852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E561CD8-7887-F16E-74B5-EA41F63AE5A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11C60FA-B89D-73CF-4215-7CACEBDF35C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87C0EF7-D072-3A44-01AC-9A011D937D4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grpSp>
        <p:nvGrpSpPr>
          <p:cNvPr id="2" name="Group 1">
            <a:extLst>
              <a:ext uri="{FF2B5EF4-FFF2-40B4-BE49-F238E27FC236}">
                <a16:creationId xmlns:a16="http://schemas.microsoft.com/office/drawing/2014/main" id="{8A29C395-2E16-8F36-7101-AB0EC699EC65}"/>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D86F7607-C6CB-5843-F03B-82089F507940}"/>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137EEBC-D5E1-9CE9-7711-105F6519BC6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C20D8D7-6848-BE99-E9B5-4CF6A0238C3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B7BCC70-4AD6-4BFE-DB04-E96A05F9CC3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6B2F158-7A37-92CB-21C7-9BA01E099FC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FC88FAE-194F-02EA-E397-D4CA75AAF230}"/>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Kiểm thử Postman</a:t>
            </a:r>
            <a:endParaRPr lang="vi-VN" sz="240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29DB46C1-5A60-0C7A-DF54-9FF755633C28}"/>
              </a:ext>
            </a:extLst>
          </p:cNvPr>
          <p:cNvPicPr>
            <a:picLocks noChangeAspect="1"/>
          </p:cNvPicPr>
          <p:nvPr/>
        </p:nvPicPr>
        <p:blipFill>
          <a:blip r:embed="rId3"/>
          <a:stretch>
            <a:fillRect/>
          </a:stretch>
        </p:blipFill>
        <p:spPr>
          <a:xfrm>
            <a:off x="2884975" y="1265309"/>
            <a:ext cx="6953712" cy="5164054"/>
          </a:xfrm>
          <a:prstGeom prst="rect">
            <a:avLst/>
          </a:prstGeom>
        </p:spPr>
      </p:pic>
      <p:cxnSp>
        <p:nvCxnSpPr>
          <p:cNvPr id="16" name="Straight Arrow Connector 15">
            <a:extLst>
              <a:ext uri="{FF2B5EF4-FFF2-40B4-BE49-F238E27FC236}">
                <a16:creationId xmlns:a16="http://schemas.microsoft.com/office/drawing/2014/main" id="{D7D944D1-8715-A440-B493-4D0A9785D543}"/>
              </a:ext>
            </a:extLst>
          </p:cNvPr>
          <p:cNvCxnSpPr/>
          <p:nvPr/>
        </p:nvCxnSpPr>
        <p:spPr>
          <a:xfrm flipV="1">
            <a:off x="3363402" y="2520563"/>
            <a:ext cx="0" cy="4770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1A1056C-2ABA-4EC3-06B4-A4943E380EA9}"/>
              </a:ext>
            </a:extLst>
          </p:cNvPr>
          <p:cNvCxnSpPr/>
          <p:nvPr/>
        </p:nvCxnSpPr>
        <p:spPr>
          <a:xfrm flipV="1">
            <a:off x="9128098" y="2496709"/>
            <a:ext cx="0" cy="4770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3C78593-9A47-D860-C1C4-65E1EDB32EBD}"/>
              </a:ext>
            </a:extLst>
          </p:cNvPr>
          <p:cNvCxnSpPr>
            <a:cxnSpLocks/>
          </p:cNvCxnSpPr>
          <p:nvPr/>
        </p:nvCxnSpPr>
        <p:spPr>
          <a:xfrm flipH="1">
            <a:off x="6321287" y="5287618"/>
            <a:ext cx="74742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D828B9A-B137-DA94-460D-046CA3A05203}"/>
              </a:ext>
            </a:extLst>
          </p:cNvPr>
          <p:cNvCxnSpPr/>
          <p:nvPr/>
        </p:nvCxnSpPr>
        <p:spPr>
          <a:xfrm flipV="1">
            <a:off x="5780599" y="2759102"/>
            <a:ext cx="0" cy="4770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73A5A7E-9007-C907-B057-27A8195809B0}"/>
              </a:ext>
            </a:extLst>
          </p:cNvPr>
          <p:cNvCxnSpPr/>
          <p:nvPr/>
        </p:nvCxnSpPr>
        <p:spPr>
          <a:xfrm flipV="1">
            <a:off x="7816133" y="3118899"/>
            <a:ext cx="0" cy="4770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55328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ECA89CB-B8A6-9A2B-7563-B6C21EB797D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500C626-1CA6-4883-5707-66A6AF7F066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98AE61D-CF8D-FF75-4EE8-D4137D99CAC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grpSp>
        <p:nvGrpSpPr>
          <p:cNvPr id="2" name="Group 1">
            <a:extLst>
              <a:ext uri="{FF2B5EF4-FFF2-40B4-BE49-F238E27FC236}">
                <a16:creationId xmlns:a16="http://schemas.microsoft.com/office/drawing/2014/main" id="{1D932FF9-E275-0B24-8B5F-9454C7A40F07}"/>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023C2F1C-67B9-9323-125A-4778F2707FF3}"/>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103169B-3849-252C-F0AF-CF49B58B325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16126CE-E2EA-3E40-C437-E04F7A87DF5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8819CAA-F2F1-2EC6-81A7-2C7E47153C6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E0A6AD8-E6C9-4AB4-B95F-6F32B703581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E629594-B1C0-EE7E-A79F-88A61BD1FE75}"/>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Kiểm thử Postman</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53289966-B5EC-2F1F-FE4A-14D3FB5A31E9}"/>
              </a:ext>
            </a:extLst>
          </p:cNvPr>
          <p:cNvPicPr>
            <a:picLocks noChangeAspect="1"/>
          </p:cNvPicPr>
          <p:nvPr/>
        </p:nvPicPr>
        <p:blipFill>
          <a:blip r:embed="rId3"/>
          <a:stretch>
            <a:fillRect/>
          </a:stretch>
        </p:blipFill>
        <p:spPr>
          <a:xfrm>
            <a:off x="4275359" y="803118"/>
            <a:ext cx="5393428" cy="5939512"/>
          </a:xfrm>
          <a:prstGeom prst="rect">
            <a:avLst/>
          </a:prstGeom>
        </p:spPr>
      </p:pic>
      <p:cxnSp>
        <p:nvCxnSpPr>
          <p:cNvPr id="11" name="Straight Arrow Connector 10">
            <a:extLst>
              <a:ext uri="{FF2B5EF4-FFF2-40B4-BE49-F238E27FC236}">
                <a16:creationId xmlns:a16="http://schemas.microsoft.com/office/drawing/2014/main" id="{6B5972A0-D8FF-10F8-4162-E1446CE3BAEC}"/>
              </a:ext>
            </a:extLst>
          </p:cNvPr>
          <p:cNvCxnSpPr/>
          <p:nvPr/>
        </p:nvCxnSpPr>
        <p:spPr>
          <a:xfrm flipV="1">
            <a:off x="4603805" y="1979874"/>
            <a:ext cx="0" cy="4770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5DC2290-76D2-05E9-AC27-CD8C06857C7E}"/>
              </a:ext>
            </a:extLst>
          </p:cNvPr>
          <p:cNvCxnSpPr/>
          <p:nvPr/>
        </p:nvCxnSpPr>
        <p:spPr>
          <a:xfrm flipV="1">
            <a:off x="8921364" y="1979873"/>
            <a:ext cx="0" cy="4770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80A857A-B96A-5BBA-796A-60D85639A477}"/>
              </a:ext>
            </a:extLst>
          </p:cNvPr>
          <p:cNvCxnSpPr>
            <a:cxnSpLocks/>
          </p:cNvCxnSpPr>
          <p:nvPr/>
        </p:nvCxnSpPr>
        <p:spPr>
          <a:xfrm flipH="1">
            <a:off x="8325015" y="5239910"/>
            <a:ext cx="74742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8DA0280-CBF6-BC99-96DA-30A501ECDF11}"/>
              </a:ext>
            </a:extLst>
          </p:cNvPr>
          <p:cNvCxnSpPr/>
          <p:nvPr/>
        </p:nvCxnSpPr>
        <p:spPr>
          <a:xfrm flipV="1">
            <a:off x="7021002" y="2218413"/>
            <a:ext cx="0" cy="4770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736B08F-E77A-995F-896E-1C1B8642D7B3}"/>
              </a:ext>
            </a:extLst>
          </p:cNvPr>
          <p:cNvCxnSpPr/>
          <p:nvPr/>
        </p:nvCxnSpPr>
        <p:spPr>
          <a:xfrm flipV="1">
            <a:off x="5136543" y="2546405"/>
            <a:ext cx="0" cy="4770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90350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D37576F-80D8-7831-643D-622D9E558AE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2312D01-FB25-A023-5748-5B54874DEDD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44395B5-8AAC-09E1-71DC-CDF0763DC19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grpSp>
        <p:nvGrpSpPr>
          <p:cNvPr id="2" name="Group 1">
            <a:extLst>
              <a:ext uri="{FF2B5EF4-FFF2-40B4-BE49-F238E27FC236}">
                <a16:creationId xmlns:a16="http://schemas.microsoft.com/office/drawing/2014/main" id="{8322F93E-BF2D-4155-083D-F771B2EFBCB3}"/>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A203940E-7468-FA58-2648-124CF544DBB9}"/>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6995AC7-B049-8765-3B3C-0265714AB4D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3AC67F1-87F3-1492-B329-D7C8FF377AC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FD1D732-AF0B-E8C5-EE63-AE1161DB84D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3451231-7975-F6B4-5199-6635767F0BB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714145B-3C98-0D4D-061B-5B371B754EBB}"/>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Kiểm thử List Fashion</a:t>
            </a:r>
            <a:endParaRPr lang="vi-VN" sz="240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108723AC-7843-5E79-6C31-1377D45CC34E}"/>
              </a:ext>
            </a:extLst>
          </p:cNvPr>
          <p:cNvPicPr>
            <a:picLocks noChangeAspect="1"/>
          </p:cNvPicPr>
          <p:nvPr/>
        </p:nvPicPr>
        <p:blipFill>
          <a:blip r:embed="rId3"/>
          <a:stretch>
            <a:fillRect/>
          </a:stretch>
        </p:blipFill>
        <p:spPr>
          <a:xfrm>
            <a:off x="1009959" y="1347270"/>
            <a:ext cx="9938987" cy="5004306"/>
          </a:xfrm>
          <a:prstGeom prst="rect">
            <a:avLst/>
          </a:prstGeom>
        </p:spPr>
      </p:pic>
    </p:spTree>
    <p:extLst>
      <p:ext uri="{BB962C8B-B14F-4D97-AF65-F5344CB8AC3E}">
        <p14:creationId xmlns:p14="http://schemas.microsoft.com/office/powerpoint/2010/main" val="8989269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185A7F5-D370-3482-B8E2-6D3B029228E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F8F618E-3CAC-9F44-2EB6-AFA50E6592D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94A47CA-70CF-D133-309A-5FDA69DE48C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grpSp>
        <p:nvGrpSpPr>
          <p:cNvPr id="2" name="Group 1">
            <a:extLst>
              <a:ext uri="{FF2B5EF4-FFF2-40B4-BE49-F238E27FC236}">
                <a16:creationId xmlns:a16="http://schemas.microsoft.com/office/drawing/2014/main" id="{C1EE6A88-4C41-04DD-63E8-8F554046861B}"/>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6CE96653-B4C2-7735-647B-E2750BD20116}"/>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169DE89-D729-63DF-121C-0895B9CCB35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B6D6C41-6A07-D25F-CAAF-70AC69CD75D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25E446E-A657-BE74-2D49-0066DBE0694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91EB43D-25D7-8E68-B173-DA9277CFA39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EB19507-7ABA-6EA9-0778-C0CCEC66915F}"/>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Trong “my-app”, thêm hàm </a:t>
            </a:r>
            <a:r>
              <a:rPr lang="en-US" sz="2400" b="1">
                <a:latin typeface="Times New Roman" panose="02020603050405020304" pitchFamily="18" charset="0"/>
                <a:cs typeface="Times New Roman" panose="02020603050405020304" pitchFamily="18" charset="0"/>
              </a:rPr>
              <a:t>postFashion</a:t>
            </a:r>
            <a:r>
              <a:rPr lang="en-US" sz="2400">
                <a:latin typeface="Times New Roman" panose="02020603050405020304" pitchFamily="18" charset="0"/>
                <a:cs typeface="Times New Roman" panose="02020603050405020304" pitchFamily="18" charset="0"/>
              </a:rPr>
              <a:t> trong </a:t>
            </a:r>
            <a:r>
              <a:rPr lang="en-US" sz="2400" b="1">
                <a:latin typeface="Times New Roman" panose="02020603050405020304" pitchFamily="18" charset="0"/>
                <a:cs typeface="Times New Roman" panose="02020603050405020304" pitchFamily="18" charset="0"/>
              </a:rPr>
              <a:t>FashionAPIService</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893E167-699C-43DF-BB20-171E8C776A76}"/>
              </a:ext>
            </a:extLst>
          </p:cNvPr>
          <p:cNvPicPr>
            <a:picLocks noChangeAspect="1"/>
          </p:cNvPicPr>
          <p:nvPr/>
        </p:nvPicPr>
        <p:blipFill>
          <a:blip r:embed="rId3"/>
          <a:stretch>
            <a:fillRect/>
          </a:stretch>
        </p:blipFill>
        <p:spPr>
          <a:xfrm>
            <a:off x="0" y="1354535"/>
            <a:ext cx="12192000" cy="3982572"/>
          </a:xfrm>
          <a:prstGeom prst="rect">
            <a:avLst/>
          </a:prstGeom>
        </p:spPr>
      </p:pic>
    </p:spTree>
    <p:extLst>
      <p:ext uri="{BB962C8B-B14F-4D97-AF65-F5344CB8AC3E}">
        <p14:creationId xmlns:p14="http://schemas.microsoft.com/office/powerpoint/2010/main" val="14818168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EC2F1A0-3FC0-4F80-B965-7F1FF3EE81B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541F468-15B1-D4F1-90DD-BC7175B38E7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3EC4365-35FD-CED5-A437-E873865224E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grpSp>
        <p:nvGrpSpPr>
          <p:cNvPr id="2" name="Group 1">
            <a:extLst>
              <a:ext uri="{FF2B5EF4-FFF2-40B4-BE49-F238E27FC236}">
                <a16:creationId xmlns:a16="http://schemas.microsoft.com/office/drawing/2014/main" id="{94156302-BB03-2AED-CD79-273329ABCA34}"/>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B4A6BEC9-9316-C0E3-B7F4-5E76071CA838}"/>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2306611-3D0A-BABC-BE82-F6B1927D2DF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EB1F21B-FD80-4E11-F0FC-C1C25C755F4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38FE968-0595-388D-C0BC-C90EC86A083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3A2CE0D-5D06-A614-E4DB-D6798049A64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987A3A2-27F6-94BC-7965-56A971E83159}"/>
              </a:ext>
            </a:extLst>
          </p:cNvPr>
          <p:cNvSpPr txBox="1"/>
          <p:nvPr/>
        </p:nvSpPr>
        <p:spPr>
          <a:xfrm>
            <a:off x="462279" y="8410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Bổ sung </a:t>
            </a:r>
            <a:r>
              <a:rPr lang="en-US" sz="2400" b="1">
                <a:latin typeface="Times New Roman" panose="02020603050405020304" pitchFamily="18" charset="0"/>
                <a:cs typeface="Times New Roman" panose="02020603050405020304" pitchFamily="18" charset="0"/>
              </a:rPr>
              <a:t>FashionNewComponent</a:t>
            </a:r>
            <a:r>
              <a:rPr lang="en-US" sz="2400">
                <a:latin typeface="Times New Roman" panose="02020603050405020304" pitchFamily="18" charset="0"/>
                <a:cs typeface="Times New Roman" panose="02020603050405020304" pitchFamily="18" charset="0"/>
              </a:rPr>
              <a:t> trong “my-app”, thiết kế giao diện và xử lý triệu gọi thêm mới một Fashion:</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011D206-72A9-40AD-BD3C-F9F4D450FEAB}"/>
              </a:ext>
            </a:extLst>
          </p:cNvPr>
          <p:cNvPicPr>
            <a:picLocks noChangeAspect="1"/>
          </p:cNvPicPr>
          <p:nvPr/>
        </p:nvPicPr>
        <p:blipFill>
          <a:blip r:embed="rId3"/>
          <a:stretch>
            <a:fillRect/>
          </a:stretch>
        </p:blipFill>
        <p:spPr>
          <a:xfrm>
            <a:off x="542786" y="1736068"/>
            <a:ext cx="3086367" cy="2194750"/>
          </a:xfrm>
          <a:prstGeom prst="rect">
            <a:avLst/>
          </a:prstGeom>
        </p:spPr>
      </p:pic>
      <p:pic>
        <p:nvPicPr>
          <p:cNvPr id="13" name="Picture 12">
            <a:extLst>
              <a:ext uri="{FF2B5EF4-FFF2-40B4-BE49-F238E27FC236}">
                <a16:creationId xmlns:a16="http://schemas.microsoft.com/office/drawing/2014/main" id="{97CE8F87-124D-2E5A-0287-D76C8ACC284E}"/>
              </a:ext>
            </a:extLst>
          </p:cNvPr>
          <p:cNvPicPr>
            <a:picLocks noChangeAspect="1"/>
          </p:cNvPicPr>
          <p:nvPr/>
        </p:nvPicPr>
        <p:blipFill>
          <a:blip r:embed="rId4"/>
          <a:stretch>
            <a:fillRect/>
          </a:stretch>
        </p:blipFill>
        <p:spPr>
          <a:xfrm>
            <a:off x="5924308" y="1829103"/>
            <a:ext cx="5578323" cy="723963"/>
          </a:xfrm>
          <a:prstGeom prst="rect">
            <a:avLst/>
          </a:prstGeom>
        </p:spPr>
      </p:pic>
      <p:pic>
        <p:nvPicPr>
          <p:cNvPr id="15" name="Picture 14">
            <a:extLst>
              <a:ext uri="{FF2B5EF4-FFF2-40B4-BE49-F238E27FC236}">
                <a16:creationId xmlns:a16="http://schemas.microsoft.com/office/drawing/2014/main" id="{CACE225E-C415-9D7F-86DA-01E1E9AFE1D6}"/>
              </a:ext>
            </a:extLst>
          </p:cNvPr>
          <p:cNvPicPr>
            <a:picLocks noChangeAspect="1"/>
          </p:cNvPicPr>
          <p:nvPr/>
        </p:nvPicPr>
        <p:blipFill>
          <a:blip r:embed="rId5"/>
          <a:stretch>
            <a:fillRect/>
          </a:stretch>
        </p:blipFill>
        <p:spPr>
          <a:xfrm>
            <a:off x="5042594" y="3916032"/>
            <a:ext cx="6835732" cy="2461473"/>
          </a:xfrm>
          <a:prstGeom prst="rect">
            <a:avLst/>
          </a:prstGeom>
        </p:spPr>
      </p:pic>
      <p:pic>
        <p:nvPicPr>
          <p:cNvPr id="17" name="Picture 16">
            <a:extLst>
              <a:ext uri="{FF2B5EF4-FFF2-40B4-BE49-F238E27FC236}">
                <a16:creationId xmlns:a16="http://schemas.microsoft.com/office/drawing/2014/main" id="{D720100E-0A32-3252-5529-C28690AC62EF}"/>
              </a:ext>
            </a:extLst>
          </p:cNvPr>
          <p:cNvPicPr>
            <a:picLocks noChangeAspect="1"/>
          </p:cNvPicPr>
          <p:nvPr/>
        </p:nvPicPr>
        <p:blipFill>
          <a:blip r:embed="rId6"/>
          <a:stretch>
            <a:fillRect/>
          </a:stretch>
        </p:blipFill>
        <p:spPr>
          <a:xfrm>
            <a:off x="462279" y="4316833"/>
            <a:ext cx="3269263" cy="1996613"/>
          </a:xfrm>
          <a:prstGeom prst="rect">
            <a:avLst/>
          </a:prstGeom>
        </p:spPr>
      </p:pic>
      <p:cxnSp>
        <p:nvCxnSpPr>
          <p:cNvPr id="18" name="Connector: Elbow 17">
            <a:extLst>
              <a:ext uri="{FF2B5EF4-FFF2-40B4-BE49-F238E27FC236}">
                <a16:creationId xmlns:a16="http://schemas.microsoft.com/office/drawing/2014/main" id="{28F6336F-F60F-9674-3CB8-47CB97E8A500}"/>
              </a:ext>
            </a:extLst>
          </p:cNvPr>
          <p:cNvCxnSpPr/>
          <p:nvPr/>
        </p:nvCxnSpPr>
        <p:spPr>
          <a:xfrm flipV="1">
            <a:off x="3496732" y="2528361"/>
            <a:ext cx="5051953" cy="1159650"/>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8F98590-E146-F64A-354E-DBDD3FB7044C}"/>
              </a:ext>
            </a:extLst>
          </p:cNvPr>
          <p:cNvCxnSpPr>
            <a:cxnSpLocks/>
          </p:cNvCxnSpPr>
          <p:nvPr/>
        </p:nvCxnSpPr>
        <p:spPr>
          <a:xfrm>
            <a:off x="9677686" y="2702441"/>
            <a:ext cx="0" cy="16143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38F6C01E-0851-9733-30F7-8C70B20A864F}"/>
              </a:ext>
            </a:extLst>
          </p:cNvPr>
          <p:cNvCxnSpPr>
            <a:cxnSpLocks/>
          </p:cNvCxnSpPr>
          <p:nvPr/>
        </p:nvCxnSpPr>
        <p:spPr>
          <a:xfrm rot="10800000">
            <a:off x="2956332" y="5170536"/>
            <a:ext cx="2405064" cy="1"/>
          </a:xfrm>
          <a:prstGeom prst="bent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53592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71DBC1A-0CDF-9235-1052-501D1B9BFB1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3EBEDB6-50CD-0E10-04D8-0518309BB46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4FF9929-F7D6-1E82-7EF0-A497F87450C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grpSp>
        <p:nvGrpSpPr>
          <p:cNvPr id="2" name="Group 1">
            <a:extLst>
              <a:ext uri="{FF2B5EF4-FFF2-40B4-BE49-F238E27FC236}">
                <a16:creationId xmlns:a16="http://schemas.microsoft.com/office/drawing/2014/main" id="{FF73852C-46CE-AF96-97D7-B31765B28A7C}"/>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083A8C94-852C-01F9-CAA4-9B7EC0724439}"/>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7F12104-2B20-0DD9-2569-249241BBC65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5936FDD-D881-97D2-8AE1-7E3D2B54BE5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6DEB796-43B2-43A5-9757-FD2DAE6CC05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ACE7C5E-05C3-F078-2112-283F9BF7091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AEE90F9-BBD7-6D29-4230-CA1E1E5A8C5B}"/>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a:t>
            </a:r>
            <a:r>
              <a:rPr lang="en-US" sz="2400" b="1">
                <a:latin typeface="Times New Roman" panose="02020603050405020304" pitchFamily="18" charset="0"/>
                <a:cs typeface="Times New Roman" panose="02020603050405020304" pitchFamily="18" charset="0"/>
              </a:rPr>
              <a:t>FashionNewComponent.ts</a:t>
            </a:r>
            <a:endParaRPr lang="vi-VN" sz="2400" b="1">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4155FED0-4D16-7D2A-569A-F51D879C98FF}"/>
              </a:ext>
            </a:extLst>
          </p:cNvPr>
          <p:cNvPicPr>
            <a:picLocks noChangeAspect="1"/>
          </p:cNvPicPr>
          <p:nvPr/>
        </p:nvPicPr>
        <p:blipFill>
          <a:blip r:embed="rId3"/>
          <a:stretch>
            <a:fillRect/>
          </a:stretch>
        </p:blipFill>
        <p:spPr>
          <a:xfrm>
            <a:off x="462279" y="1282452"/>
            <a:ext cx="8952065" cy="5030967"/>
          </a:xfrm>
          <a:prstGeom prst="rect">
            <a:avLst/>
          </a:prstGeom>
        </p:spPr>
      </p:pic>
    </p:spTree>
    <p:extLst>
      <p:ext uri="{BB962C8B-B14F-4D97-AF65-F5344CB8AC3E}">
        <p14:creationId xmlns:p14="http://schemas.microsoft.com/office/powerpoint/2010/main" val="24688864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4E68836-B18B-2841-B36E-2D3FB4F8338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FDC67EE-DF9E-27B8-E03C-71463561B19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DDD3654-4ED9-1639-0F1B-9E408F88B9A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grpSp>
        <p:nvGrpSpPr>
          <p:cNvPr id="2" name="Group 1">
            <a:extLst>
              <a:ext uri="{FF2B5EF4-FFF2-40B4-BE49-F238E27FC236}">
                <a16:creationId xmlns:a16="http://schemas.microsoft.com/office/drawing/2014/main" id="{6448A59A-E463-561E-56FE-692D20913C21}"/>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85F3884B-EBBF-4E2D-BB5E-12F49916E901}"/>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02FA03C-1658-08D5-50CD-EBC1B862B99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1C52BFA-0979-3BB1-6C44-B164DFFF9DC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CE8DABE-01D0-564F-1A86-30DB0DEC360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7746C5A-C448-CE9E-0B6A-FCBA0E3AD20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a:extLst>
              <a:ext uri="{FF2B5EF4-FFF2-40B4-BE49-F238E27FC236}">
                <a16:creationId xmlns:a16="http://schemas.microsoft.com/office/drawing/2014/main" id="{43F7A7A7-C6ED-F7CE-DCAC-202A0E74D53B}"/>
              </a:ext>
            </a:extLst>
          </p:cNvPr>
          <p:cNvPicPr>
            <a:picLocks noChangeAspect="1"/>
          </p:cNvPicPr>
          <p:nvPr/>
        </p:nvPicPr>
        <p:blipFill>
          <a:blip r:embed="rId3"/>
          <a:srcRect t="13766"/>
          <a:stretch>
            <a:fillRect/>
          </a:stretch>
        </p:blipFill>
        <p:spPr>
          <a:xfrm>
            <a:off x="388797" y="841012"/>
            <a:ext cx="7461782" cy="5588351"/>
          </a:xfrm>
          <a:prstGeom prst="rect">
            <a:avLst/>
          </a:prstGeom>
        </p:spPr>
      </p:pic>
    </p:spTree>
    <p:extLst>
      <p:ext uri="{BB962C8B-B14F-4D97-AF65-F5344CB8AC3E}">
        <p14:creationId xmlns:p14="http://schemas.microsoft.com/office/powerpoint/2010/main" val="7524393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F58360E-C4A1-4C07-8919-334C1AB4821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41E73CF-52DE-4E7A-F208-94552036C10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E50BFB9-53CF-3FCF-B7C2-43C09D55C23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grpSp>
        <p:nvGrpSpPr>
          <p:cNvPr id="2" name="Group 1">
            <a:extLst>
              <a:ext uri="{FF2B5EF4-FFF2-40B4-BE49-F238E27FC236}">
                <a16:creationId xmlns:a16="http://schemas.microsoft.com/office/drawing/2014/main" id="{3D8788FB-C4D9-8EA1-0F52-1F274F61263D}"/>
              </a:ext>
            </a:extLst>
          </p:cNvPr>
          <p:cNvGrpSpPr/>
          <p:nvPr/>
        </p:nvGrpSpPr>
        <p:grpSpPr>
          <a:xfrm>
            <a:off x="214276" y="229075"/>
            <a:ext cx="6814677" cy="508000"/>
            <a:chOff x="789624" y="1191463"/>
            <a:chExt cx="6814677" cy="508000"/>
          </a:xfrm>
        </p:grpSpPr>
        <p:sp>
          <p:nvSpPr>
            <p:cNvPr id="3" name="AutoShape 52">
              <a:extLst>
                <a:ext uri="{FF2B5EF4-FFF2-40B4-BE49-F238E27FC236}">
                  <a16:creationId xmlns:a16="http://schemas.microsoft.com/office/drawing/2014/main" id="{B5B6544D-F656-37C0-4EFE-2E5C7E8FA6CA}"/>
                </a:ext>
              </a:extLst>
            </p:cNvPr>
            <p:cNvSpPr>
              <a:spLocks noChangeArrowheads="1"/>
            </p:cNvSpPr>
            <p:nvPr/>
          </p:nvSpPr>
          <p:spPr bwMode="gray">
            <a:xfrm>
              <a:off x="990600" y="1191463"/>
              <a:ext cx="661370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550D94A-792D-7281-6944-AE6FC093C7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6682432-3794-8915-2891-D173E36197E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391F409-EF2A-452D-15FE-8BED8D48E79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4566238-2278-0781-EC96-36245668395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62AAAC4-C617-3411-C881-30B27B42C783}"/>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a:t>
            </a:r>
            <a:r>
              <a:rPr lang="en-US" sz="2400" b="1">
                <a:latin typeface="Times New Roman" panose="02020603050405020304" pitchFamily="18" charset="0"/>
                <a:cs typeface="Times New Roman" panose="02020603050405020304" pitchFamily="18" charset="0"/>
              </a:rPr>
              <a:t>FashionNewComponent.html</a:t>
            </a:r>
            <a:endParaRPr lang="vi-VN" sz="2400" b="1">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BE6EE9EF-3402-022E-0BC1-BEB451498918}"/>
              </a:ext>
            </a:extLst>
          </p:cNvPr>
          <p:cNvPicPr>
            <a:picLocks noChangeAspect="1"/>
          </p:cNvPicPr>
          <p:nvPr/>
        </p:nvPicPr>
        <p:blipFill>
          <a:blip r:embed="rId3"/>
          <a:stretch>
            <a:fillRect/>
          </a:stretch>
        </p:blipFill>
        <p:spPr>
          <a:xfrm>
            <a:off x="234808" y="1302677"/>
            <a:ext cx="10098156" cy="5507522"/>
          </a:xfrm>
          <a:prstGeom prst="rect">
            <a:avLst/>
          </a:prstGeom>
        </p:spPr>
      </p:pic>
    </p:spTree>
    <p:extLst>
      <p:ext uri="{BB962C8B-B14F-4D97-AF65-F5344CB8AC3E}">
        <p14:creationId xmlns:p14="http://schemas.microsoft.com/office/powerpoint/2010/main" val="8757937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E2C36A6-58E4-7E11-21F4-91B1577847B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BEE85FD-07A4-EF26-ADB5-799986941A9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A2CE2C4-0ABD-0351-4B2A-B15F00AC345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grpSp>
        <p:nvGrpSpPr>
          <p:cNvPr id="2" name="Group 1">
            <a:extLst>
              <a:ext uri="{FF2B5EF4-FFF2-40B4-BE49-F238E27FC236}">
                <a16:creationId xmlns:a16="http://schemas.microsoft.com/office/drawing/2014/main" id="{20258036-A343-1DBD-1692-0BA434E88329}"/>
              </a:ext>
            </a:extLst>
          </p:cNvPr>
          <p:cNvGrpSpPr/>
          <p:nvPr/>
        </p:nvGrpSpPr>
        <p:grpSpPr>
          <a:xfrm>
            <a:off x="214276" y="229075"/>
            <a:ext cx="6814677" cy="508000"/>
            <a:chOff x="789624" y="1191463"/>
            <a:chExt cx="6814677" cy="508000"/>
          </a:xfrm>
        </p:grpSpPr>
        <p:sp>
          <p:nvSpPr>
            <p:cNvPr id="3" name="AutoShape 52">
              <a:extLst>
                <a:ext uri="{FF2B5EF4-FFF2-40B4-BE49-F238E27FC236}">
                  <a16:creationId xmlns:a16="http://schemas.microsoft.com/office/drawing/2014/main" id="{86F87EC4-3EB3-47C8-AF3A-03302D939EC5}"/>
                </a:ext>
              </a:extLst>
            </p:cNvPr>
            <p:cNvSpPr>
              <a:spLocks noChangeArrowheads="1"/>
            </p:cNvSpPr>
            <p:nvPr/>
          </p:nvSpPr>
          <p:spPr bwMode="gray">
            <a:xfrm>
              <a:off x="990600" y="1191463"/>
              <a:ext cx="661370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ACBE3E8-1117-C681-9872-3162A1CF13B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1D25222-5989-A5C2-768A-1301287B0BE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9F8E140-5A98-6D18-0CD7-85CF11AE8D4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C00EE3F-C79E-53CC-DB78-9196D351813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a:extLst>
              <a:ext uri="{FF2B5EF4-FFF2-40B4-BE49-F238E27FC236}">
                <a16:creationId xmlns:a16="http://schemas.microsoft.com/office/drawing/2014/main" id="{A41BE4D9-B498-EA94-2A66-37732B31811F}"/>
              </a:ext>
            </a:extLst>
          </p:cNvPr>
          <p:cNvPicPr>
            <a:picLocks noChangeAspect="1"/>
          </p:cNvPicPr>
          <p:nvPr/>
        </p:nvPicPr>
        <p:blipFill>
          <a:blip r:embed="rId3"/>
          <a:stretch>
            <a:fillRect/>
          </a:stretch>
        </p:blipFill>
        <p:spPr>
          <a:xfrm>
            <a:off x="318222" y="825746"/>
            <a:ext cx="8905291" cy="6032254"/>
          </a:xfrm>
          <a:prstGeom prst="rect">
            <a:avLst/>
          </a:prstGeom>
        </p:spPr>
      </p:pic>
    </p:spTree>
    <p:extLst>
      <p:ext uri="{BB962C8B-B14F-4D97-AF65-F5344CB8AC3E}">
        <p14:creationId xmlns:p14="http://schemas.microsoft.com/office/powerpoint/2010/main" val="23669122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068E75E-9D7C-8B62-57D3-5C58C5EA5F0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4B9D0FA-60F6-F58B-AA37-ADB1DCEF551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F173871-462F-C983-A5A5-41FB64361F3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grpSp>
        <p:nvGrpSpPr>
          <p:cNvPr id="2" name="Group 1">
            <a:extLst>
              <a:ext uri="{FF2B5EF4-FFF2-40B4-BE49-F238E27FC236}">
                <a16:creationId xmlns:a16="http://schemas.microsoft.com/office/drawing/2014/main" id="{88069245-8491-88DF-0FBF-F3AE570EFDF7}"/>
              </a:ext>
            </a:extLst>
          </p:cNvPr>
          <p:cNvGrpSpPr/>
          <p:nvPr/>
        </p:nvGrpSpPr>
        <p:grpSpPr>
          <a:xfrm>
            <a:off x="214276" y="229075"/>
            <a:ext cx="6814677" cy="508000"/>
            <a:chOff x="789624" y="1191463"/>
            <a:chExt cx="6814677" cy="508000"/>
          </a:xfrm>
        </p:grpSpPr>
        <p:sp>
          <p:nvSpPr>
            <p:cNvPr id="3" name="AutoShape 52">
              <a:extLst>
                <a:ext uri="{FF2B5EF4-FFF2-40B4-BE49-F238E27FC236}">
                  <a16:creationId xmlns:a16="http://schemas.microsoft.com/office/drawing/2014/main" id="{013263FF-36B8-A8B7-59C4-891ABB24E8BF}"/>
                </a:ext>
              </a:extLst>
            </p:cNvPr>
            <p:cNvSpPr>
              <a:spLocks noChangeArrowheads="1"/>
            </p:cNvSpPr>
            <p:nvPr/>
          </p:nvSpPr>
          <p:spPr bwMode="gray">
            <a:xfrm>
              <a:off x="990600" y="1191463"/>
              <a:ext cx="661370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327E983-3E4C-DB62-CA87-15663F7539E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6267E28-5BC4-DA11-3B39-B9DD79CEC77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CB650F3-EB48-3CDF-AF05-382AC600719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0AC6908-BD22-7FDF-4A38-9B7357A838B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a:extLst>
              <a:ext uri="{FF2B5EF4-FFF2-40B4-BE49-F238E27FC236}">
                <a16:creationId xmlns:a16="http://schemas.microsoft.com/office/drawing/2014/main" id="{AB8A4CBC-FE33-C644-2758-5A6F421F4C6F}"/>
              </a:ext>
            </a:extLst>
          </p:cNvPr>
          <p:cNvPicPr>
            <a:picLocks noChangeAspect="1"/>
          </p:cNvPicPr>
          <p:nvPr/>
        </p:nvPicPr>
        <p:blipFill>
          <a:blip r:embed="rId3"/>
          <a:stretch>
            <a:fillRect/>
          </a:stretch>
        </p:blipFill>
        <p:spPr>
          <a:xfrm>
            <a:off x="299455" y="838718"/>
            <a:ext cx="8598055" cy="6019282"/>
          </a:xfrm>
          <a:prstGeom prst="rect">
            <a:avLst/>
          </a:prstGeom>
        </p:spPr>
      </p:pic>
      <p:pic>
        <p:nvPicPr>
          <p:cNvPr id="11" name="Picture 10">
            <a:extLst>
              <a:ext uri="{FF2B5EF4-FFF2-40B4-BE49-F238E27FC236}">
                <a16:creationId xmlns:a16="http://schemas.microsoft.com/office/drawing/2014/main" id="{B3912C15-E10A-28E3-80F7-ACBF7CDE1605}"/>
              </a:ext>
            </a:extLst>
          </p:cNvPr>
          <p:cNvPicPr>
            <a:picLocks noChangeAspect="1"/>
          </p:cNvPicPr>
          <p:nvPr/>
        </p:nvPicPr>
        <p:blipFill>
          <a:blip r:embed="rId4"/>
          <a:stretch>
            <a:fillRect/>
          </a:stretch>
        </p:blipFill>
        <p:spPr>
          <a:xfrm>
            <a:off x="7245006" y="449450"/>
            <a:ext cx="4968671" cy="6241321"/>
          </a:xfrm>
          <a:prstGeom prst="rect">
            <a:avLst/>
          </a:prstGeom>
        </p:spPr>
      </p:pic>
    </p:spTree>
    <p:extLst>
      <p:ext uri="{BB962C8B-B14F-4D97-AF65-F5344CB8AC3E}">
        <p14:creationId xmlns:p14="http://schemas.microsoft.com/office/powerpoint/2010/main" val="16296346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BC38182-65D7-0295-2E10-377D4A09D8E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47A6654-A6FE-E4F8-FC28-564131AEA1E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C33EE12-5AA0-5C82-2693-596BB6495EC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grpSp>
        <p:nvGrpSpPr>
          <p:cNvPr id="2" name="Group 1">
            <a:extLst>
              <a:ext uri="{FF2B5EF4-FFF2-40B4-BE49-F238E27FC236}">
                <a16:creationId xmlns:a16="http://schemas.microsoft.com/office/drawing/2014/main" id="{132DF046-FC7E-8CE6-4745-6B95799346F3}"/>
              </a:ext>
            </a:extLst>
          </p:cNvPr>
          <p:cNvGrpSpPr/>
          <p:nvPr/>
        </p:nvGrpSpPr>
        <p:grpSpPr>
          <a:xfrm>
            <a:off x="214276" y="229075"/>
            <a:ext cx="6814677" cy="508000"/>
            <a:chOff x="789624" y="1191463"/>
            <a:chExt cx="6814677" cy="508000"/>
          </a:xfrm>
        </p:grpSpPr>
        <p:sp>
          <p:nvSpPr>
            <p:cNvPr id="3" name="AutoShape 52">
              <a:extLst>
                <a:ext uri="{FF2B5EF4-FFF2-40B4-BE49-F238E27FC236}">
                  <a16:creationId xmlns:a16="http://schemas.microsoft.com/office/drawing/2014/main" id="{CFF190F8-268D-E49B-34E9-CC3AFF33FA16}"/>
                </a:ext>
              </a:extLst>
            </p:cNvPr>
            <p:cNvSpPr>
              <a:spLocks noChangeArrowheads="1"/>
            </p:cNvSpPr>
            <p:nvPr/>
          </p:nvSpPr>
          <p:spPr bwMode="gray">
            <a:xfrm>
              <a:off x="990600" y="1191463"/>
              <a:ext cx="661370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94FB56F-EB43-9378-3A9F-2E7A3B8F174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C2690F9-754D-D54C-9207-14F652255DE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2C5DED7-2EB8-AA63-4BD7-445A3F7F8DB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D4FF635-AC6E-FC48-4C02-23779DB2C26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EB34BAF-2B0C-783C-62A8-B3DB26FAC4F0}"/>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Cấu hình Routing </a:t>
            </a:r>
            <a:r>
              <a:rPr lang="en-US" sz="2400" b="1">
                <a:latin typeface="Times New Roman" panose="02020603050405020304" pitchFamily="18" charset="0"/>
                <a:cs typeface="Times New Roman" panose="02020603050405020304" pitchFamily="18" charset="0"/>
              </a:rPr>
              <a:t>app-routing-module.ts</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B65069E-9F66-0E51-464E-965BFE522288}"/>
              </a:ext>
            </a:extLst>
          </p:cNvPr>
          <p:cNvPicPr>
            <a:picLocks noChangeAspect="1"/>
          </p:cNvPicPr>
          <p:nvPr/>
        </p:nvPicPr>
        <p:blipFill>
          <a:blip r:embed="rId3"/>
          <a:stretch>
            <a:fillRect/>
          </a:stretch>
        </p:blipFill>
        <p:spPr>
          <a:xfrm>
            <a:off x="985402" y="1406614"/>
            <a:ext cx="9076207" cy="2895851"/>
          </a:xfrm>
          <a:prstGeom prst="rect">
            <a:avLst/>
          </a:prstGeom>
        </p:spPr>
      </p:pic>
    </p:spTree>
    <p:extLst>
      <p:ext uri="{BB962C8B-B14F-4D97-AF65-F5344CB8AC3E}">
        <p14:creationId xmlns:p14="http://schemas.microsoft.com/office/powerpoint/2010/main" val="18098681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E090F1E-8DEC-1E49-42AE-360F202DC0B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D328FED-A9D3-49E1-BC1C-4FA05EA656D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5C654AD-B9A6-B060-74E4-8FD834337AB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grpSp>
        <p:nvGrpSpPr>
          <p:cNvPr id="2" name="Group 1">
            <a:extLst>
              <a:ext uri="{FF2B5EF4-FFF2-40B4-BE49-F238E27FC236}">
                <a16:creationId xmlns:a16="http://schemas.microsoft.com/office/drawing/2014/main" id="{BE31C369-A5C5-339A-4E9B-6809F0381048}"/>
              </a:ext>
            </a:extLst>
          </p:cNvPr>
          <p:cNvGrpSpPr/>
          <p:nvPr/>
        </p:nvGrpSpPr>
        <p:grpSpPr>
          <a:xfrm>
            <a:off x="214276" y="229075"/>
            <a:ext cx="6814677" cy="508000"/>
            <a:chOff x="789624" y="1191463"/>
            <a:chExt cx="6814677" cy="508000"/>
          </a:xfrm>
        </p:grpSpPr>
        <p:sp>
          <p:nvSpPr>
            <p:cNvPr id="3" name="AutoShape 52">
              <a:extLst>
                <a:ext uri="{FF2B5EF4-FFF2-40B4-BE49-F238E27FC236}">
                  <a16:creationId xmlns:a16="http://schemas.microsoft.com/office/drawing/2014/main" id="{082F26ED-9B5E-F706-DC77-D9155D4B1C22}"/>
                </a:ext>
              </a:extLst>
            </p:cNvPr>
            <p:cNvSpPr>
              <a:spLocks noChangeArrowheads="1"/>
            </p:cNvSpPr>
            <p:nvPr/>
          </p:nvSpPr>
          <p:spPr bwMode="gray">
            <a:xfrm>
              <a:off x="990600" y="1191463"/>
              <a:ext cx="661370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8A04530-2825-6D82-B1AE-4F186E7BDEA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BC3DDFD-3805-EE7B-E7A6-CEAB5D44133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D385FA3-8EF1-50BD-11E2-E085D5F3543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98CFDB7-15C9-C8EC-C318-20BF49CF291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F73DBC6-68CF-D92C-AF7F-CB68592E676D}"/>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8: app.html</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B68745F-67AE-D659-586B-6D6F9E6BF75D}"/>
              </a:ext>
            </a:extLst>
          </p:cNvPr>
          <p:cNvPicPr>
            <a:picLocks noChangeAspect="1"/>
          </p:cNvPicPr>
          <p:nvPr/>
        </p:nvPicPr>
        <p:blipFill>
          <a:blip r:embed="rId3"/>
          <a:stretch>
            <a:fillRect/>
          </a:stretch>
        </p:blipFill>
        <p:spPr>
          <a:xfrm>
            <a:off x="832832" y="1354535"/>
            <a:ext cx="9190516" cy="4099915"/>
          </a:xfrm>
          <a:prstGeom prst="rect">
            <a:avLst/>
          </a:prstGeom>
        </p:spPr>
      </p:pic>
    </p:spTree>
    <p:extLst>
      <p:ext uri="{BB962C8B-B14F-4D97-AF65-F5344CB8AC3E}">
        <p14:creationId xmlns:p14="http://schemas.microsoft.com/office/powerpoint/2010/main" val="42123113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00A8D6C-7F5B-15F7-FC4A-46CAAC0CD45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45B3A64-4773-9FC1-81D9-B96825A583A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2DB8E91-C07A-501F-27B2-F8B6D93BBA8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grpSp>
        <p:nvGrpSpPr>
          <p:cNvPr id="2" name="Group 1">
            <a:extLst>
              <a:ext uri="{FF2B5EF4-FFF2-40B4-BE49-F238E27FC236}">
                <a16:creationId xmlns:a16="http://schemas.microsoft.com/office/drawing/2014/main" id="{E3791593-35A5-893C-321B-B4D0F84750C2}"/>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21FB3625-5E1B-D07B-06E7-76F0F313E347}"/>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7.4.2. API-HTTP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ABF8DEC-70AC-A683-06E2-D1C692C0AF3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27BE9DB-9789-C09F-C8E8-EA10CD29D47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02C433E-273D-69C0-5561-4094ECC7B3F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ABEEB17-5489-DF62-5B95-C6990B7E3AF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A8A9D7F-75E6-D370-239C-70CC901A9961}"/>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9: Chạy chức năng HTTP POST</a:t>
            </a:r>
            <a:endParaRPr lang="vi-VN" sz="240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2F6F6B1-B80F-54F7-E47D-E7F4242F6DB3}"/>
              </a:ext>
            </a:extLst>
          </p:cNvPr>
          <p:cNvPicPr>
            <a:picLocks noChangeAspect="1"/>
          </p:cNvPicPr>
          <p:nvPr/>
        </p:nvPicPr>
        <p:blipFill>
          <a:blip r:embed="rId3"/>
          <a:stretch>
            <a:fillRect/>
          </a:stretch>
        </p:blipFill>
        <p:spPr>
          <a:xfrm>
            <a:off x="328269" y="1582310"/>
            <a:ext cx="3170392" cy="3982440"/>
          </a:xfrm>
          <a:prstGeom prst="rect">
            <a:avLst/>
          </a:prstGeom>
        </p:spPr>
      </p:pic>
      <p:pic>
        <p:nvPicPr>
          <p:cNvPr id="13" name="Picture 12">
            <a:extLst>
              <a:ext uri="{FF2B5EF4-FFF2-40B4-BE49-F238E27FC236}">
                <a16:creationId xmlns:a16="http://schemas.microsoft.com/office/drawing/2014/main" id="{DBD5CA50-645F-860F-1FAA-4142E8E659FB}"/>
              </a:ext>
            </a:extLst>
          </p:cNvPr>
          <p:cNvPicPr>
            <a:picLocks noChangeAspect="1"/>
          </p:cNvPicPr>
          <p:nvPr/>
        </p:nvPicPr>
        <p:blipFill>
          <a:blip r:embed="rId4"/>
          <a:stretch>
            <a:fillRect/>
          </a:stretch>
        </p:blipFill>
        <p:spPr>
          <a:xfrm>
            <a:off x="3496732" y="1549830"/>
            <a:ext cx="8582025" cy="4000500"/>
          </a:xfrm>
          <a:prstGeom prst="rect">
            <a:avLst/>
          </a:prstGeom>
        </p:spPr>
      </p:pic>
      <p:sp>
        <p:nvSpPr>
          <p:cNvPr id="15" name="Arrow: Right 14">
            <a:extLst>
              <a:ext uri="{FF2B5EF4-FFF2-40B4-BE49-F238E27FC236}">
                <a16:creationId xmlns:a16="http://schemas.microsoft.com/office/drawing/2014/main" id="{7D65DCA3-B030-84BB-CA83-D9EF10448106}"/>
              </a:ext>
            </a:extLst>
          </p:cNvPr>
          <p:cNvSpPr/>
          <p:nvPr/>
        </p:nvSpPr>
        <p:spPr>
          <a:xfrm>
            <a:off x="2918973" y="3116911"/>
            <a:ext cx="757584" cy="25643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31929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6178220-FD15-8363-AA2F-44EAA01A11D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F6AA844-54F1-9BDF-8571-31B8E6E903A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BE87147-3893-C651-626A-A378C4FBB0E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grpSp>
        <p:nvGrpSpPr>
          <p:cNvPr id="2" name="Group 1">
            <a:extLst>
              <a:ext uri="{FF2B5EF4-FFF2-40B4-BE49-F238E27FC236}">
                <a16:creationId xmlns:a16="http://schemas.microsoft.com/office/drawing/2014/main" id="{332CE7E5-B3E7-9914-3665-83D921BA7D38}"/>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B7AC389B-0011-9F57-E9F7-BC4CD11FDFF7}"/>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7.4.3. API-HTTP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FC6B6D0-80A1-6FC5-57D1-8BB2D2E1D15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B31A6D0-2231-974D-054D-F304EDB4733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8A5DC8F-9AAB-AB1D-384D-E1192A76105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7A4B9D-8072-4B9D-81A4-F3EE6E6C8BD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C2694B3-C669-CD73-DFC3-DD1234196776}"/>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Thêm API PUT vào cuối file </a:t>
            </a:r>
            <a:r>
              <a:rPr lang="en-US" sz="2400" b="1">
                <a:latin typeface="Times New Roman" panose="02020603050405020304" pitchFamily="18" charset="0"/>
                <a:cs typeface="Times New Roman" panose="02020603050405020304" pitchFamily="18" charset="0"/>
              </a:rPr>
              <a:t>index.js </a:t>
            </a:r>
            <a:r>
              <a:rPr lang="en-US" sz="2400">
                <a:latin typeface="Times New Roman" panose="02020603050405020304" pitchFamily="18" charset="0"/>
                <a:cs typeface="Times New Roman" panose="02020603050405020304" pitchFamily="18" charset="0"/>
              </a:rPr>
              <a:t>của “my-server-mongodb”</a:t>
            </a:r>
            <a:endParaRPr lang="vi-VN" sz="240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5812A076-A109-59BF-0FA0-1EE5E861B760}"/>
              </a:ext>
            </a:extLst>
          </p:cNvPr>
          <p:cNvPicPr>
            <a:picLocks noChangeAspect="1"/>
          </p:cNvPicPr>
          <p:nvPr/>
        </p:nvPicPr>
        <p:blipFill>
          <a:blip r:embed="rId3"/>
          <a:stretch>
            <a:fillRect/>
          </a:stretch>
        </p:blipFill>
        <p:spPr>
          <a:xfrm>
            <a:off x="234808" y="1277438"/>
            <a:ext cx="8952381" cy="5409524"/>
          </a:xfrm>
          <a:prstGeom prst="rect">
            <a:avLst/>
          </a:prstGeom>
        </p:spPr>
      </p:pic>
    </p:spTree>
    <p:extLst>
      <p:ext uri="{BB962C8B-B14F-4D97-AF65-F5344CB8AC3E}">
        <p14:creationId xmlns:p14="http://schemas.microsoft.com/office/powerpoint/2010/main" val="12141284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9DB6C4F-7A3F-7504-C2AE-1B6D5102D3C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271EC7E-DAEA-7699-41D7-3273F2C0C76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FF08026-9206-4A1F-5A80-2A8A3454FA0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grpSp>
        <p:nvGrpSpPr>
          <p:cNvPr id="2" name="Group 1">
            <a:extLst>
              <a:ext uri="{FF2B5EF4-FFF2-40B4-BE49-F238E27FC236}">
                <a16:creationId xmlns:a16="http://schemas.microsoft.com/office/drawing/2014/main" id="{CCFF6852-113A-AA9B-7C1C-CB9977B1C88E}"/>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8EDFC414-4D11-F7F1-BE72-2B4D9822C807}"/>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7.4.3. API-HTTP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3C8FB27-AEDC-F01A-55A0-E1EFCB1E621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C3799E2-FC07-9721-0010-F02D729FF09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A82DE7E-1E22-4918-BE77-21A76DC4B54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BC0FB6F-0641-C26C-E631-86BF7CA132A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482FBD0-9F9B-348A-97EA-97675C4BD8D3}"/>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Kiểm thử</a:t>
            </a:r>
            <a:endParaRPr lang="vi-VN" sz="240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48CC31EA-42F9-2A48-B614-784980A3E025}"/>
              </a:ext>
            </a:extLst>
          </p:cNvPr>
          <p:cNvPicPr>
            <a:picLocks noChangeAspect="1"/>
          </p:cNvPicPr>
          <p:nvPr/>
        </p:nvPicPr>
        <p:blipFill>
          <a:blip r:embed="rId3"/>
          <a:stretch>
            <a:fillRect/>
          </a:stretch>
        </p:blipFill>
        <p:spPr>
          <a:xfrm>
            <a:off x="234808" y="1406614"/>
            <a:ext cx="8022463" cy="5436985"/>
          </a:xfrm>
          <a:prstGeom prst="rect">
            <a:avLst/>
          </a:prstGeom>
        </p:spPr>
      </p:pic>
      <p:pic>
        <p:nvPicPr>
          <p:cNvPr id="10" name="Picture 9">
            <a:extLst>
              <a:ext uri="{FF2B5EF4-FFF2-40B4-BE49-F238E27FC236}">
                <a16:creationId xmlns:a16="http://schemas.microsoft.com/office/drawing/2014/main" id="{167FB793-97B4-B070-0726-F590E104E51D}"/>
              </a:ext>
            </a:extLst>
          </p:cNvPr>
          <p:cNvPicPr>
            <a:picLocks noChangeAspect="1"/>
          </p:cNvPicPr>
          <p:nvPr/>
        </p:nvPicPr>
        <p:blipFill>
          <a:blip r:embed="rId4"/>
          <a:stretch>
            <a:fillRect/>
          </a:stretch>
        </p:blipFill>
        <p:spPr>
          <a:xfrm>
            <a:off x="6392000" y="2934529"/>
            <a:ext cx="5800000" cy="2647619"/>
          </a:xfrm>
          <a:prstGeom prst="rect">
            <a:avLst/>
          </a:prstGeom>
          <a:ln>
            <a:solidFill>
              <a:schemeClr val="accent1"/>
            </a:solidFill>
          </a:ln>
        </p:spPr>
      </p:pic>
    </p:spTree>
    <p:extLst>
      <p:ext uri="{BB962C8B-B14F-4D97-AF65-F5344CB8AC3E}">
        <p14:creationId xmlns:p14="http://schemas.microsoft.com/office/powerpoint/2010/main" val="41932198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517A099-8A91-5AB2-A92B-565CFFCDB27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81B1B27-DE91-C9CE-A353-B0372CD4BCE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764B3AA-875A-59F9-5100-F79F928D94E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grpSp>
        <p:nvGrpSpPr>
          <p:cNvPr id="2" name="Group 1">
            <a:extLst>
              <a:ext uri="{FF2B5EF4-FFF2-40B4-BE49-F238E27FC236}">
                <a16:creationId xmlns:a16="http://schemas.microsoft.com/office/drawing/2014/main" id="{BFF109C8-21C5-E34E-7A78-CDBACB37A548}"/>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557B0933-A4A4-A354-B9BF-4CA28D82658E}"/>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7.4.3. API-HTTP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4F21DB6-7606-67A4-03FF-CF6B6BADDC1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FC556B4-B448-6C9C-1F3E-8A20702A8BF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6E35531-8AD9-412E-7788-94CCC332FBF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1BDA7DB-6AA6-DF2C-8DAB-E63B2AEA689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77FE136-7BDB-0DE2-60D1-61040E95865C}"/>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Kiểm thử</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8951AADA-BCE3-5E55-97EE-F0BEE4546B01}"/>
              </a:ext>
            </a:extLst>
          </p:cNvPr>
          <p:cNvPicPr>
            <a:picLocks noChangeAspect="1"/>
          </p:cNvPicPr>
          <p:nvPr/>
        </p:nvPicPr>
        <p:blipFill>
          <a:blip r:embed="rId3"/>
          <a:stretch>
            <a:fillRect/>
          </a:stretch>
        </p:blipFill>
        <p:spPr>
          <a:xfrm>
            <a:off x="105228" y="1302677"/>
            <a:ext cx="5842221" cy="5473943"/>
          </a:xfrm>
          <a:prstGeom prst="rect">
            <a:avLst/>
          </a:prstGeom>
        </p:spPr>
      </p:pic>
      <p:pic>
        <p:nvPicPr>
          <p:cNvPr id="13" name="Picture 12">
            <a:extLst>
              <a:ext uri="{FF2B5EF4-FFF2-40B4-BE49-F238E27FC236}">
                <a16:creationId xmlns:a16="http://schemas.microsoft.com/office/drawing/2014/main" id="{26639762-B957-F6C3-59D0-EA726C3B75F9}"/>
              </a:ext>
            </a:extLst>
          </p:cNvPr>
          <p:cNvPicPr>
            <a:picLocks noChangeAspect="1"/>
          </p:cNvPicPr>
          <p:nvPr/>
        </p:nvPicPr>
        <p:blipFill>
          <a:blip r:embed="rId4"/>
          <a:stretch>
            <a:fillRect/>
          </a:stretch>
        </p:blipFill>
        <p:spPr>
          <a:xfrm>
            <a:off x="7376661" y="841013"/>
            <a:ext cx="4839992" cy="4709182"/>
          </a:xfrm>
          <a:prstGeom prst="rect">
            <a:avLst/>
          </a:prstGeom>
        </p:spPr>
      </p:pic>
      <p:sp>
        <p:nvSpPr>
          <p:cNvPr id="15" name="Arrow: Right 14">
            <a:extLst>
              <a:ext uri="{FF2B5EF4-FFF2-40B4-BE49-F238E27FC236}">
                <a16:creationId xmlns:a16="http://schemas.microsoft.com/office/drawing/2014/main" id="{94E5BDC4-35D1-E105-5641-B31398FC5D3E}"/>
              </a:ext>
            </a:extLst>
          </p:cNvPr>
          <p:cNvSpPr/>
          <p:nvPr/>
        </p:nvSpPr>
        <p:spPr>
          <a:xfrm>
            <a:off x="6174729" y="2349794"/>
            <a:ext cx="974651" cy="461665"/>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21812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818516D-8C50-32A7-6A63-C4887F1E9A5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C1D50A4-654C-6A17-E029-35E14944CBE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CD403FF-8E77-203D-6B96-4B17B298496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84</a:t>
            </a:fld>
            <a:endParaRPr/>
          </a:p>
        </p:txBody>
      </p:sp>
      <p:grpSp>
        <p:nvGrpSpPr>
          <p:cNvPr id="2" name="Group 1">
            <a:extLst>
              <a:ext uri="{FF2B5EF4-FFF2-40B4-BE49-F238E27FC236}">
                <a16:creationId xmlns:a16="http://schemas.microsoft.com/office/drawing/2014/main" id="{BB8FF14B-F8E4-A491-1CB8-A983963516CF}"/>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B402B4D6-C83A-DC76-FAA8-1E359A314637}"/>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7.4.3. API-HTTP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FCFD27D-C217-1118-9F63-233539E0672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2AF10B1-2C09-752F-79F5-95AADC693E5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95FE347-472F-A0E9-AE74-D69B8FAE685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F691F3A-7725-559D-62BA-6232D4F8518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12E3504-B802-D822-D3ED-1DCBD5DEBF23}"/>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“my-app”, Bổ sung </a:t>
            </a:r>
            <a:r>
              <a:rPr lang="en-US" sz="2400" b="1">
                <a:latin typeface="Times New Roman" panose="02020603050405020304" pitchFamily="18" charset="0"/>
                <a:cs typeface="Times New Roman" panose="02020603050405020304" pitchFamily="18" charset="0"/>
              </a:rPr>
              <a:t>putFashion</a:t>
            </a:r>
            <a:r>
              <a:rPr lang="en-US" sz="2400">
                <a:latin typeface="Times New Roman" panose="02020603050405020304" pitchFamily="18" charset="0"/>
                <a:cs typeface="Times New Roman" panose="02020603050405020304" pitchFamily="18" charset="0"/>
              </a:rPr>
              <a:t> vào fashion-apiservice.ts</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6A8FC98-9320-3B65-486E-4F408616841C}"/>
              </a:ext>
            </a:extLst>
          </p:cNvPr>
          <p:cNvPicPr>
            <a:picLocks noChangeAspect="1"/>
          </p:cNvPicPr>
          <p:nvPr/>
        </p:nvPicPr>
        <p:blipFill>
          <a:blip r:embed="rId3"/>
          <a:stretch>
            <a:fillRect/>
          </a:stretch>
        </p:blipFill>
        <p:spPr>
          <a:xfrm>
            <a:off x="564686" y="1354535"/>
            <a:ext cx="10333333" cy="3447619"/>
          </a:xfrm>
          <a:prstGeom prst="rect">
            <a:avLst/>
          </a:prstGeom>
        </p:spPr>
      </p:pic>
    </p:spTree>
    <p:extLst>
      <p:ext uri="{BB962C8B-B14F-4D97-AF65-F5344CB8AC3E}">
        <p14:creationId xmlns:p14="http://schemas.microsoft.com/office/powerpoint/2010/main" val="15980765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0CBC605-0829-34FC-608A-8769017A8AD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0849C24-14FD-DA4C-7C88-510416EE5AA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0E1EAF8-5468-C837-C001-5514B95C54E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85</a:t>
            </a:fld>
            <a:endParaRPr/>
          </a:p>
        </p:txBody>
      </p:sp>
      <p:grpSp>
        <p:nvGrpSpPr>
          <p:cNvPr id="2" name="Group 1">
            <a:extLst>
              <a:ext uri="{FF2B5EF4-FFF2-40B4-BE49-F238E27FC236}">
                <a16:creationId xmlns:a16="http://schemas.microsoft.com/office/drawing/2014/main" id="{0A0A3461-B3B4-7078-EF3A-98700CC28935}"/>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7AAAA747-F7C1-47B2-2EDA-001E89237FBF}"/>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7.4.3. API-HTTP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EEDAB4B-FE12-081E-C524-F3EB5D7A1E4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699F313-7614-491D-DB16-FEC09D7B4FF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F4E8DE1-6E27-75E9-32D4-FAA0BDC4BEE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9D53387-22EE-6E56-FEA1-547A71FDF72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356289C-0B95-969A-FD7B-D524487DB646}"/>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Tạo </a:t>
            </a:r>
            <a:r>
              <a:rPr lang="en-US" sz="2400" b="1">
                <a:latin typeface="Times New Roman" panose="02020603050405020304" pitchFamily="18" charset="0"/>
                <a:cs typeface="Times New Roman" panose="02020603050405020304" pitchFamily="18" charset="0"/>
              </a:rPr>
              <a:t>fashion-update-component </a:t>
            </a:r>
            <a:r>
              <a:rPr lang="en-US" sz="2400">
                <a:latin typeface="Times New Roman" panose="02020603050405020304" pitchFamily="18" charset="0"/>
                <a:cs typeface="Times New Roman" panose="02020603050405020304" pitchFamily="18" charset="0"/>
              </a:rPr>
              <a:t>Component để triệu gọi các service</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3DB10E2-BF17-844D-E0B7-C0718102BAB4}"/>
              </a:ext>
            </a:extLst>
          </p:cNvPr>
          <p:cNvPicPr>
            <a:picLocks noChangeAspect="1"/>
          </p:cNvPicPr>
          <p:nvPr/>
        </p:nvPicPr>
        <p:blipFill>
          <a:blip r:embed="rId3"/>
          <a:stretch>
            <a:fillRect/>
          </a:stretch>
        </p:blipFill>
        <p:spPr>
          <a:xfrm>
            <a:off x="1043921" y="1904047"/>
            <a:ext cx="2647619" cy="1666667"/>
          </a:xfrm>
          <a:prstGeom prst="rect">
            <a:avLst/>
          </a:prstGeom>
        </p:spPr>
      </p:pic>
      <p:pic>
        <p:nvPicPr>
          <p:cNvPr id="12" name="Picture 11">
            <a:extLst>
              <a:ext uri="{FF2B5EF4-FFF2-40B4-BE49-F238E27FC236}">
                <a16:creationId xmlns:a16="http://schemas.microsoft.com/office/drawing/2014/main" id="{D58D7301-34B2-4A87-0750-10464DA7EEF2}"/>
              </a:ext>
            </a:extLst>
          </p:cNvPr>
          <p:cNvPicPr>
            <a:picLocks noChangeAspect="1"/>
          </p:cNvPicPr>
          <p:nvPr/>
        </p:nvPicPr>
        <p:blipFill>
          <a:blip r:embed="rId4"/>
          <a:stretch>
            <a:fillRect/>
          </a:stretch>
        </p:blipFill>
        <p:spPr>
          <a:xfrm>
            <a:off x="7115047" y="1649471"/>
            <a:ext cx="4819048" cy="590476"/>
          </a:xfrm>
          <a:prstGeom prst="rect">
            <a:avLst/>
          </a:prstGeom>
        </p:spPr>
      </p:pic>
      <p:pic>
        <p:nvPicPr>
          <p:cNvPr id="14" name="Picture 13">
            <a:extLst>
              <a:ext uri="{FF2B5EF4-FFF2-40B4-BE49-F238E27FC236}">
                <a16:creationId xmlns:a16="http://schemas.microsoft.com/office/drawing/2014/main" id="{F2A828C6-5FD2-3104-0B25-F83704106B2F}"/>
              </a:ext>
            </a:extLst>
          </p:cNvPr>
          <p:cNvPicPr>
            <a:picLocks noChangeAspect="1"/>
          </p:cNvPicPr>
          <p:nvPr/>
        </p:nvPicPr>
        <p:blipFill>
          <a:blip r:embed="rId5"/>
          <a:stretch>
            <a:fillRect/>
          </a:stretch>
        </p:blipFill>
        <p:spPr>
          <a:xfrm>
            <a:off x="6096000" y="3955061"/>
            <a:ext cx="5838095" cy="2038095"/>
          </a:xfrm>
          <a:prstGeom prst="rect">
            <a:avLst/>
          </a:prstGeom>
        </p:spPr>
      </p:pic>
      <p:pic>
        <p:nvPicPr>
          <p:cNvPr id="16" name="Picture 15">
            <a:extLst>
              <a:ext uri="{FF2B5EF4-FFF2-40B4-BE49-F238E27FC236}">
                <a16:creationId xmlns:a16="http://schemas.microsoft.com/office/drawing/2014/main" id="{B34F5CC0-3A27-D6CE-AFAE-D2263D5770EB}"/>
              </a:ext>
            </a:extLst>
          </p:cNvPr>
          <p:cNvPicPr>
            <a:picLocks noChangeAspect="1"/>
          </p:cNvPicPr>
          <p:nvPr/>
        </p:nvPicPr>
        <p:blipFill>
          <a:blip r:embed="rId6"/>
          <a:stretch>
            <a:fillRect/>
          </a:stretch>
        </p:blipFill>
        <p:spPr>
          <a:xfrm>
            <a:off x="462279" y="4093157"/>
            <a:ext cx="3076190" cy="1761905"/>
          </a:xfrm>
          <a:prstGeom prst="rect">
            <a:avLst/>
          </a:prstGeom>
        </p:spPr>
      </p:pic>
      <p:cxnSp>
        <p:nvCxnSpPr>
          <p:cNvPr id="17" name="Connector: Elbow 16">
            <a:extLst>
              <a:ext uri="{FF2B5EF4-FFF2-40B4-BE49-F238E27FC236}">
                <a16:creationId xmlns:a16="http://schemas.microsoft.com/office/drawing/2014/main" id="{A0F879A7-0062-E772-0B53-A242E0EF7C7C}"/>
              </a:ext>
            </a:extLst>
          </p:cNvPr>
          <p:cNvCxnSpPr/>
          <p:nvPr/>
        </p:nvCxnSpPr>
        <p:spPr>
          <a:xfrm flipV="1">
            <a:off x="3496732" y="2178949"/>
            <a:ext cx="5051953" cy="1159650"/>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AD1590D-A30E-F7C6-BE6B-1DF5CE56EE46}"/>
              </a:ext>
            </a:extLst>
          </p:cNvPr>
          <p:cNvCxnSpPr>
            <a:cxnSpLocks/>
          </p:cNvCxnSpPr>
          <p:nvPr/>
        </p:nvCxnSpPr>
        <p:spPr>
          <a:xfrm>
            <a:off x="10049826" y="2239947"/>
            <a:ext cx="0" cy="16143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D3CEB75A-3294-F20D-6417-EC575696FC5D}"/>
              </a:ext>
            </a:extLst>
          </p:cNvPr>
          <p:cNvCxnSpPr>
            <a:cxnSpLocks/>
          </p:cNvCxnSpPr>
          <p:nvPr/>
        </p:nvCxnSpPr>
        <p:spPr>
          <a:xfrm rot="10800000">
            <a:off x="3691540" y="4863654"/>
            <a:ext cx="2405064" cy="1"/>
          </a:xfrm>
          <a:prstGeom prst="bent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5904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9C0D1DB-260E-2653-5DC4-AB464C59F2F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463ADD2-CEFF-C72C-5CAA-5E354129357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DFB9408-4DA9-5AE6-9022-FFA51294CAA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86</a:t>
            </a:fld>
            <a:endParaRPr/>
          </a:p>
        </p:txBody>
      </p:sp>
      <p:grpSp>
        <p:nvGrpSpPr>
          <p:cNvPr id="2" name="Group 1">
            <a:extLst>
              <a:ext uri="{FF2B5EF4-FFF2-40B4-BE49-F238E27FC236}">
                <a16:creationId xmlns:a16="http://schemas.microsoft.com/office/drawing/2014/main" id="{A59601E9-C1DA-30C9-CD46-75A3E9C85DF0}"/>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7A29B2FE-3C04-E636-AC70-322DC9A3CEA6}"/>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7.4.3. API-HTTP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16947FD-E74A-B990-E90D-B7C6BF564EE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D309302-6785-1ACB-E7F6-A61B3522C19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FA2A102-9266-5DC3-56C6-C3BF951041D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B0A8EAC-421D-B5DD-A44A-E1C2ABDADC4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91FD61F-5305-61F7-E05A-9112A2369928}"/>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a:t>
            </a:r>
            <a:r>
              <a:rPr lang="en-US" sz="2400" b="1">
                <a:latin typeface="Times New Roman" panose="02020603050405020304" pitchFamily="18" charset="0"/>
                <a:cs typeface="Times New Roman" panose="02020603050405020304" pitchFamily="18" charset="0"/>
              </a:rPr>
              <a:t>fashion-update-component.ts</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E81432B-E6F6-F3A2-3114-174A9659227B}"/>
              </a:ext>
            </a:extLst>
          </p:cNvPr>
          <p:cNvPicPr>
            <a:picLocks noChangeAspect="1"/>
          </p:cNvPicPr>
          <p:nvPr/>
        </p:nvPicPr>
        <p:blipFill>
          <a:blip r:embed="rId3"/>
          <a:stretch>
            <a:fillRect/>
          </a:stretch>
        </p:blipFill>
        <p:spPr>
          <a:xfrm>
            <a:off x="5819348" y="61846"/>
            <a:ext cx="6372652" cy="6628925"/>
          </a:xfrm>
          <a:prstGeom prst="rect">
            <a:avLst/>
          </a:prstGeom>
        </p:spPr>
      </p:pic>
    </p:spTree>
    <p:extLst>
      <p:ext uri="{BB962C8B-B14F-4D97-AF65-F5344CB8AC3E}">
        <p14:creationId xmlns:p14="http://schemas.microsoft.com/office/powerpoint/2010/main" val="3979022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133651E-A115-EEEF-9012-27BFCAFAF7E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D183C12-1E99-F81E-9DD6-A21A3C7BBA3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D75087E-4527-6162-EB1F-44751EB4E02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87</a:t>
            </a:fld>
            <a:endParaRPr/>
          </a:p>
        </p:txBody>
      </p:sp>
      <p:grpSp>
        <p:nvGrpSpPr>
          <p:cNvPr id="2" name="Group 1">
            <a:extLst>
              <a:ext uri="{FF2B5EF4-FFF2-40B4-BE49-F238E27FC236}">
                <a16:creationId xmlns:a16="http://schemas.microsoft.com/office/drawing/2014/main" id="{09727884-4964-1093-0D2E-BEB74E115EA7}"/>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E1BC267F-3FD0-63C1-7703-692CD706131A}"/>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7.4.3. API-HTTP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07420B8-F151-5CD9-F603-2DB7E075331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D0FA54E-BBDE-E643-4639-3991A08CDBE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CE1599E-945B-42CC-0650-3BB837E9F59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B040026-B5A0-4036-0E13-867685E63E8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17EFD04-6DC2-4C8E-EAA9-FAA103A4F93D}"/>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Tạo </a:t>
            </a:r>
            <a:r>
              <a:rPr lang="en-US" sz="2400" b="1">
                <a:latin typeface="Times New Roman" panose="02020603050405020304" pitchFamily="18" charset="0"/>
                <a:cs typeface="Times New Roman" panose="02020603050405020304" pitchFamily="18" charset="0"/>
              </a:rPr>
              <a:t>fashion-update-component.html</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5E527DE8-BE5C-77CD-B2C2-A5273D158EAF}"/>
              </a:ext>
            </a:extLst>
          </p:cNvPr>
          <p:cNvPicPr>
            <a:picLocks noChangeAspect="1"/>
          </p:cNvPicPr>
          <p:nvPr/>
        </p:nvPicPr>
        <p:blipFill>
          <a:blip r:embed="rId3"/>
          <a:stretch>
            <a:fillRect/>
          </a:stretch>
        </p:blipFill>
        <p:spPr>
          <a:xfrm>
            <a:off x="462280" y="1222744"/>
            <a:ext cx="9337578" cy="5154760"/>
          </a:xfrm>
          <a:prstGeom prst="rect">
            <a:avLst/>
          </a:prstGeom>
        </p:spPr>
      </p:pic>
    </p:spTree>
    <p:extLst>
      <p:ext uri="{BB962C8B-B14F-4D97-AF65-F5344CB8AC3E}">
        <p14:creationId xmlns:p14="http://schemas.microsoft.com/office/powerpoint/2010/main" val="28622244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528C6F4-33F2-8F20-A9AD-E2A0CD7DCF7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C36475A-90D0-268C-69B7-22756FB08D4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AA2F90F-D25D-5FEF-493C-3A17361DE37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88</a:t>
            </a:fld>
            <a:endParaRPr/>
          </a:p>
        </p:txBody>
      </p:sp>
      <p:grpSp>
        <p:nvGrpSpPr>
          <p:cNvPr id="2" name="Group 1">
            <a:extLst>
              <a:ext uri="{FF2B5EF4-FFF2-40B4-BE49-F238E27FC236}">
                <a16:creationId xmlns:a16="http://schemas.microsoft.com/office/drawing/2014/main" id="{E3794AC4-992E-A1D9-686E-64B9496B4A9C}"/>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D65FD197-87D3-F72A-7297-5A22BCC0E98A}"/>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7.4.3. API-HTTP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F3C2619-5481-1E55-D436-E3101C39CF3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974E4F3-B5D1-E78F-76AE-CCADFDF21E4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3904181-3565-25AD-F86C-14CC410093C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1082C7B-FC32-70AB-E157-6AA8B4F5FE9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EAC470B8-7801-65BC-E08E-4B0A993A8E5A}"/>
              </a:ext>
            </a:extLst>
          </p:cNvPr>
          <p:cNvPicPr>
            <a:picLocks noChangeAspect="1"/>
          </p:cNvPicPr>
          <p:nvPr/>
        </p:nvPicPr>
        <p:blipFill>
          <a:blip r:embed="rId3"/>
          <a:srcRect t="10476"/>
          <a:stretch/>
        </p:blipFill>
        <p:spPr>
          <a:xfrm>
            <a:off x="372720" y="814526"/>
            <a:ext cx="8691408" cy="6054107"/>
          </a:xfrm>
          <a:prstGeom prst="rect">
            <a:avLst/>
          </a:prstGeom>
        </p:spPr>
      </p:pic>
    </p:spTree>
    <p:extLst>
      <p:ext uri="{BB962C8B-B14F-4D97-AF65-F5344CB8AC3E}">
        <p14:creationId xmlns:p14="http://schemas.microsoft.com/office/powerpoint/2010/main" val="31524757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57E036A-C327-DDAB-B08B-3A26C4EABEF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40AB70C-6FA2-90D9-C340-87A030D7959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7FD7CCB-617A-2460-A67C-5F1B84A870C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89</a:t>
            </a:fld>
            <a:endParaRPr/>
          </a:p>
        </p:txBody>
      </p:sp>
      <p:grpSp>
        <p:nvGrpSpPr>
          <p:cNvPr id="2" name="Group 1">
            <a:extLst>
              <a:ext uri="{FF2B5EF4-FFF2-40B4-BE49-F238E27FC236}">
                <a16:creationId xmlns:a16="http://schemas.microsoft.com/office/drawing/2014/main" id="{21D1EEB3-51B2-2A5D-D757-02F2B916A0F4}"/>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A8BC9EEC-D391-27A4-08D8-48EC194AADD8}"/>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7.4.3. API-HTTP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F2E1A7C-8478-C718-6837-3181B6E70B2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16664E0-6072-0027-74F2-8D7E113E5AE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77609C6-5D44-10E4-A4DF-98368319796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02CCB69-AA86-FE19-E6FE-E591DC990EC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a:extLst>
              <a:ext uri="{FF2B5EF4-FFF2-40B4-BE49-F238E27FC236}">
                <a16:creationId xmlns:a16="http://schemas.microsoft.com/office/drawing/2014/main" id="{029492D0-5A6C-466F-AE76-1955CD580F37}"/>
              </a:ext>
            </a:extLst>
          </p:cNvPr>
          <p:cNvPicPr>
            <a:picLocks noChangeAspect="1"/>
          </p:cNvPicPr>
          <p:nvPr/>
        </p:nvPicPr>
        <p:blipFill>
          <a:blip r:embed="rId3"/>
          <a:stretch>
            <a:fillRect/>
          </a:stretch>
        </p:blipFill>
        <p:spPr>
          <a:xfrm>
            <a:off x="234808" y="748571"/>
            <a:ext cx="7063907" cy="6008381"/>
          </a:xfrm>
          <a:prstGeom prst="rect">
            <a:avLst/>
          </a:prstGeom>
        </p:spPr>
      </p:pic>
    </p:spTree>
    <p:extLst>
      <p:ext uri="{BB962C8B-B14F-4D97-AF65-F5344CB8AC3E}">
        <p14:creationId xmlns:p14="http://schemas.microsoft.com/office/powerpoint/2010/main" val="404635285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32BFC92-E94F-070D-C77B-AADC6C9CCF3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2CF7B59-86FB-3D7B-DCD2-989A06DCEA0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EB77BF0-C7DC-B2DC-B7D6-CE2FBC21226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90</a:t>
            </a:fld>
            <a:endParaRPr/>
          </a:p>
        </p:txBody>
      </p:sp>
      <p:grpSp>
        <p:nvGrpSpPr>
          <p:cNvPr id="2" name="Group 1">
            <a:extLst>
              <a:ext uri="{FF2B5EF4-FFF2-40B4-BE49-F238E27FC236}">
                <a16:creationId xmlns:a16="http://schemas.microsoft.com/office/drawing/2014/main" id="{8B305E79-CBA7-F8D4-D281-6301A7EA82DB}"/>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53429803-66EC-4F5B-356B-6C54721E524A}"/>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7.4.3. API-HTTP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CB49F41-0720-D015-AC89-987A35C9EAD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F62F66D-A97A-98CC-AE32-FBBD8EBEC73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DC242F1-6958-3041-0E53-FFBBF59F750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D0FF222-D711-9A64-7F6D-7E5E62FB1E5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8863DB7-5B1D-C774-AD1F-FA29CA27C406}"/>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Cấu hình Routing </a:t>
            </a:r>
            <a:r>
              <a:rPr lang="en-US" sz="2400" b="1">
                <a:latin typeface="Times New Roman" panose="02020603050405020304" pitchFamily="18" charset="0"/>
                <a:cs typeface="Times New Roman" panose="02020603050405020304" pitchFamily="18" charset="0"/>
              </a:rPr>
              <a:t>app-routing-module.ts</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28360AF-3BE4-5EA9-2F90-90CFDC63903D}"/>
              </a:ext>
            </a:extLst>
          </p:cNvPr>
          <p:cNvPicPr>
            <a:picLocks noChangeAspect="1"/>
          </p:cNvPicPr>
          <p:nvPr/>
        </p:nvPicPr>
        <p:blipFill>
          <a:blip r:embed="rId3"/>
          <a:stretch>
            <a:fillRect/>
          </a:stretch>
        </p:blipFill>
        <p:spPr>
          <a:xfrm>
            <a:off x="848991" y="1406614"/>
            <a:ext cx="7857143" cy="2676190"/>
          </a:xfrm>
          <a:prstGeom prst="rect">
            <a:avLst/>
          </a:prstGeom>
        </p:spPr>
      </p:pic>
    </p:spTree>
    <p:extLst>
      <p:ext uri="{BB962C8B-B14F-4D97-AF65-F5344CB8AC3E}">
        <p14:creationId xmlns:p14="http://schemas.microsoft.com/office/powerpoint/2010/main" val="344907130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66880D2-A53C-6006-5CD4-610E0BB0F2D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6653190-0211-9BF9-DD49-A81317CEB68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C78818A-14D3-9045-2957-469C9DCE142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91</a:t>
            </a:fld>
            <a:endParaRPr/>
          </a:p>
        </p:txBody>
      </p:sp>
      <p:grpSp>
        <p:nvGrpSpPr>
          <p:cNvPr id="2" name="Group 1">
            <a:extLst>
              <a:ext uri="{FF2B5EF4-FFF2-40B4-BE49-F238E27FC236}">
                <a16:creationId xmlns:a16="http://schemas.microsoft.com/office/drawing/2014/main" id="{6E0AA0A3-F2FC-1EEE-5428-DE4E356E9F32}"/>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969325D9-AC26-232A-8C18-5003334050B5}"/>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7.4.3. API-HTTP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4F0C86D-2C60-C081-1622-B9DC2DADF3A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6F5EAA8-6A3A-0BBA-AD8F-CCADD77B95B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4A7D61E-8BEC-EA79-86B0-0545EFB8CE0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386EC23-A263-97E2-83CF-135BA26FA12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BFB2144-2B66-C7B4-F708-E3E167F7175E}"/>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8: app.html</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10EA201E-B96B-1B67-EE74-F354CEB76961}"/>
              </a:ext>
            </a:extLst>
          </p:cNvPr>
          <p:cNvPicPr>
            <a:picLocks noChangeAspect="1"/>
          </p:cNvPicPr>
          <p:nvPr/>
        </p:nvPicPr>
        <p:blipFill>
          <a:blip r:embed="rId3"/>
          <a:stretch>
            <a:fillRect/>
          </a:stretch>
        </p:blipFill>
        <p:spPr>
          <a:xfrm>
            <a:off x="728132" y="1406614"/>
            <a:ext cx="7714286" cy="4076190"/>
          </a:xfrm>
          <a:prstGeom prst="rect">
            <a:avLst/>
          </a:prstGeom>
        </p:spPr>
      </p:pic>
    </p:spTree>
    <p:extLst>
      <p:ext uri="{BB962C8B-B14F-4D97-AF65-F5344CB8AC3E}">
        <p14:creationId xmlns:p14="http://schemas.microsoft.com/office/powerpoint/2010/main" val="4828210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AB62333-138A-9D9E-5614-587326CE7E2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79D28C8-14C3-107D-1287-2E2941C6C45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3BEFE98-096D-2B81-AED1-4CE15CFA8F5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92</a:t>
            </a:fld>
            <a:endParaRPr/>
          </a:p>
        </p:txBody>
      </p:sp>
      <p:grpSp>
        <p:nvGrpSpPr>
          <p:cNvPr id="2" name="Group 1">
            <a:extLst>
              <a:ext uri="{FF2B5EF4-FFF2-40B4-BE49-F238E27FC236}">
                <a16:creationId xmlns:a16="http://schemas.microsoft.com/office/drawing/2014/main" id="{70DFA5B8-1CFE-0A25-7C75-2C804021A62A}"/>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771C835F-D09C-F51B-52C7-93D29CBA468D}"/>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7.4.3. API-HTTP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F530CE5-804C-A3ED-C872-BCC0A4CB066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A08404E-A528-FA3E-2DEF-61B1FF3D3C5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BA6DAE6-B20B-0771-FD51-4359757AC87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9B2DDD7-40D6-C7AA-B3BB-21BE534DF29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05CE589-E845-E82F-DE20-9441D5B34DFA}"/>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9: Thực thi chức năng Update</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6AF5394-3246-1769-17E2-55C48E5FDBBC}"/>
              </a:ext>
            </a:extLst>
          </p:cNvPr>
          <p:cNvPicPr>
            <a:picLocks noChangeAspect="1"/>
          </p:cNvPicPr>
          <p:nvPr/>
        </p:nvPicPr>
        <p:blipFill>
          <a:blip r:embed="rId3"/>
          <a:stretch>
            <a:fillRect/>
          </a:stretch>
        </p:blipFill>
        <p:spPr>
          <a:xfrm>
            <a:off x="6096000" y="841012"/>
            <a:ext cx="5541154" cy="5653664"/>
          </a:xfrm>
          <a:prstGeom prst="rect">
            <a:avLst/>
          </a:prstGeom>
        </p:spPr>
      </p:pic>
      <p:pic>
        <p:nvPicPr>
          <p:cNvPr id="11" name="Picture 10">
            <a:extLst>
              <a:ext uri="{FF2B5EF4-FFF2-40B4-BE49-F238E27FC236}">
                <a16:creationId xmlns:a16="http://schemas.microsoft.com/office/drawing/2014/main" id="{79CE5E0F-A90D-2685-7B97-5B4FE2E6B7D1}"/>
              </a:ext>
            </a:extLst>
          </p:cNvPr>
          <p:cNvPicPr>
            <a:picLocks noChangeAspect="1"/>
          </p:cNvPicPr>
          <p:nvPr/>
        </p:nvPicPr>
        <p:blipFill>
          <a:blip r:embed="rId4"/>
          <a:stretch>
            <a:fillRect/>
          </a:stretch>
        </p:blipFill>
        <p:spPr>
          <a:xfrm>
            <a:off x="388797" y="1544085"/>
            <a:ext cx="4839992" cy="4709182"/>
          </a:xfrm>
          <a:prstGeom prst="rect">
            <a:avLst/>
          </a:prstGeom>
        </p:spPr>
      </p:pic>
      <p:sp>
        <p:nvSpPr>
          <p:cNvPr id="12" name="Arrow: Right 11">
            <a:extLst>
              <a:ext uri="{FF2B5EF4-FFF2-40B4-BE49-F238E27FC236}">
                <a16:creationId xmlns:a16="http://schemas.microsoft.com/office/drawing/2014/main" id="{E7D0B949-CA4A-05AF-C67D-69E41090A9AA}"/>
              </a:ext>
            </a:extLst>
          </p:cNvPr>
          <p:cNvSpPr/>
          <p:nvPr/>
        </p:nvSpPr>
        <p:spPr>
          <a:xfrm>
            <a:off x="5323556" y="3162953"/>
            <a:ext cx="616688" cy="340242"/>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98595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36DF73D-3880-25C0-A1CB-4B73A7FFF18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3637640-4A2C-C845-6287-AF015C2403D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88CBACE-0782-3752-12D0-CC79C632F33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93</a:t>
            </a:fld>
            <a:endParaRPr/>
          </a:p>
        </p:txBody>
      </p:sp>
      <p:grpSp>
        <p:nvGrpSpPr>
          <p:cNvPr id="2" name="Group 1">
            <a:extLst>
              <a:ext uri="{FF2B5EF4-FFF2-40B4-BE49-F238E27FC236}">
                <a16:creationId xmlns:a16="http://schemas.microsoft.com/office/drawing/2014/main" id="{2E52D071-886A-CCB5-87B3-DF3F75EEEE7F}"/>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7C8D530C-0F26-5E86-79E5-43FD2447C7C2}"/>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7.4.4. API-HTTP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7C41DC-5AF2-74B9-27EA-7FB58BB3DC1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34DDC41-4124-D124-C750-125F43B4463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5284D02-E2E3-58BD-A279-6190E000ED8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060E68E-1426-00DC-AC67-230B03AEE05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B8843AE-2D7D-A60A-0489-BC92FF4B0830}"/>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Trong “my-server-mongodb” bổ sung API DELETE ở cuối “index.js”</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2AAC958-8EDD-B46A-FF1D-F22A44F90A58}"/>
              </a:ext>
            </a:extLst>
          </p:cNvPr>
          <p:cNvPicPr>
            <a:picLocks noChangeAspect="1"/>
          </p:cNvPicPr>
          <p:nvPr/>
        </p:nvPicPr>
        <p:blipFill>
          <a:blip r:embed="rId3"/>
          <a:stretch>
            <a:fillRect/>
          </a:stretch>
        </p:blipFill>
        <p:spPr>
          <a:xfrm>
            <a:off x="728132" y="1354535"/>
            <a:ext cx="9000000" cy="3733333"/>
          </a:xfrm>
          <a:prstGeom prst="rect">
            <a:avLst/>
          </a:prstGeom>
        </p:spPr>
      </p:pic>
    </p:spTree>
    <p:extLst>
      <p:ext uri="{BB962C8B-B14F-4D97-AF65-F5344CB8AC3E}">
        <p14:creationId xmlns:p14="http://schemas.microsoft.com/office/powerpoint/2010/main" val="4440190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657167A-A556-D8C4-2433-6A0FF6A941D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764AC02-74A2-5201-61D2-0D188B94B86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65A4DE0-31EA-BDDA-6869-6F9DF1C0AF1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94</a:t>
            </a:fld>
            <a:endParaRPr/>
          </a:p>
        </p:txBody>
      </p:sp>
      <p:grpSp>
        <p:nvGrpSpPr>
          <p:cNvPr id="2" name="Group 1">
            <a:extLst>
              <a:ext uri="{FF2B5EF4-FFF2-40B4-BE49-F238E27FC236}">
                <a16:creationId xmlns:a16="http://schemas.microsoft.com/office/drawing/2014/main" id="{184C4544-9AB5-8019-FBAD-EF4D9C00C222}"/>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EF66AA7F-9B4D-4B18-433A-8A492F6E6929}"/>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7.4.4. API-HTTP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8DE1E41-EA49-77C8-0C9B-EFA46EBEE88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6423C4E-6CEC-A5F4-EB62-4C8A5F26203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455E654-BC2A-B26D-2A1B-F415D162C9F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4D14B01-A2AA-06FD-DFEF-631B7E39A1E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A3B64DE-6E7A-630B-A548-BDB199D14E95}"/>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Kiểm thử Postman</a:t>
            </a:r>
            <a:endParaRPr lang="vi-VN" sz="240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8BB53BFD-A3AA-E44A-29F5-B29A678CE7DD}"/>
              </a:ext>
            </a:extLst>
          </p:cNvPr>
          <p:cNvPicPr>
            <a:picLocks noChangeAspect="1"/>
          </p:cNvPicPr>
          <p:nvPr/>
        </p:nvPicPr>
        <p:blipFill>
          <a:blip r:embed="rId3"/>
          <a:stretch>
            <a:fillRect/>
          </a:stretch>
        </p:blipFill>
        <p:spPr>
          <a:xfrm>
            <a:off x="234808" y="1335125"/>
            <a:ext cx="7458031" cy="5407505"/>
          </a:xfrm>
          <a:prstGeom prst="rect">
            <a:avLst/>
          </a:prstGeom>
        </p:spPr>
      </p:pic>
    </p:spTree>
    <p:extLst>
      <p:ext uri="{BB962C8B-B14F-4D97-AF65-F5344CB8AC3E}">
        <p14:creationId xmlns:p14="http://schemas.microsoft.com/office/powerpoint/2010/main" val="11733656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3436A04-A29E-509C-8503-B176A5F95FB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0960186-0421-2DAE-EFB1-12CDA68FF15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C76CD9B-7E30-037B-28D2-AA65E59A456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grpSp>
        <p:nvGrpSpPr>
          <p:cNvPr id="2" name="Group 1">
            <a:extLst>
              <a:ext uri="{FF2B5EF4-FFF2-40B4-BE49-F238E27FC236}">
                <a16:creationId xmlns:a16="http://schemas.microsoft.com/office/drawing/2014/main" id="{87AF46FB-99CA-7845-1A01-1A4C9B452A9C}"/>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888E9E6F-55E0-1CA6-545B-8F805AA5C4F8}"/>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7.4.4. API-HTTP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62E534B-4F59-6E1C-4414-DE01145C680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4579A5C-AEE4-09CB-958C-3B1A8B8DF4B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7F339DE-AA22-E2F5-0FD7-DD10522BAB1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6B55081-41A8-9E43-9EFC-0176170D256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8016A11-C151-E1D0-6109-5FECBB0D19D4}"/>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a:t>
            </a:r>
            <a:r>
              <a:rPr lang="en-US" sz="2400" b="1">
                <a:latin typeface="Times New Roman" panose="02020603050405020304" pitchFamily="18" charset="0"/>
                <a:cs typeface="Times New Roman" panose="02020603050405020304" pitchFamily="18" charset="0"/>
              </a:rPr>
              <a:t>fashion-apiservice.ts </a:t>
            </a:r>
            <a:r>
              <a:rPr lang="en-US" sz="2400">
                <a:latin typeface="Times New Roman" panose="02020603050405020304" pitchFamily="18" charset="0"/>
                <a:cs typeface="Times New Roman" panose="02020603050405020304" pitchFamily="18" charset="0"/>
              </a:rPr>
              <a:t>bổ sung hàm triệu gọi API Delete</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48C5095-864F-54F4-526F-5AC465EF6575}"/>
              </a:ext>
            </a:extLst>
          </p:cNvPr>
          <p:cNvPicPr>
            <a:picLocks noChangeAspect="1"/>
          </p:cNvPicPr>
          <p:nvPr/>
        </p:nvPicPr>
        <p:blipFill>
          <a:blip r:embed="rId3"/>
          <a:stretch>
            <a:fillRect/>
          </a:stretch>
        </p:blipFill>
        <p:spPr>
          <a:xfrm>
            <a:off x="728132" y="1406614"/>
            <a:ext cx="10685714" cy="3123809"/>
          </a:xfrm>
          <a:prstGeom prst="rect">
            <a:avLst/>
          </a:prstGeom>
        </p:spPr>
      </p:pic>
    </p:spTree>
    <p:extLst>
      <p:ext uri="{BB962C8B-B14F-4D97-AF65-F5344CB8AC3E}">
        <p14:creationId xmlns:p14="http://schemas.microsoft.com/office/powerpoint/2010/main" val="191969766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834AD56-E8E4-2D38-542F-30DBB0137E7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7D2AF7C-A4EF-B7CF-4723-78374CDD7AC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383407E-304B-CC5F-EA51-DC262708B4F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96</a:t>
            </a:fld>
            <a:endParaRPr/>
          </a:p>
        </p:txBody>
      </p:sp>
      <p:grpSp>
        <p:nvGrpSpPr>
          <p:cNvPr id="2" name="Group 1">
            <a:extLst>
              <a:ext uri="{FF2B5EF4-FFF2-40B4-BE49-F238E27FC236}">
                <a16:creationId xmlns:a16="http://schemas.microsoft.com/office/drawing/2014/main" id="{4C24CD05-40CB-4317-053E-CDE10E99B89A}"/>
              </a:ext>
            </a:extLst>
          </p:cNvPr>
          <p:cNvGrpSpPr/>
          <p:nvPr/>
        </p:nvGrpSpPr>
        <p:grpSpPr>
          <a:xfrm>
            <a:off x="214276" y="229075"/>
            <a:ext cx="7238428" cy="508000"/>
            <a:chOff x="789624" y="1191463"/>
            <a:chExt cx="7238428" cy="508000"/>
          </a:xfrm>
        </p:grpSpPr>
        <p:sp>
          <p:nvSpPr>
            <p:cNvPr id="3" name="AutoShape 52">
              <a:extLst>
                <a:ext uri="{FF2B5EF4-FFF2-40B4-BE49-F238E27FC236}">
                  <a16:creationId xmlns:a16="http://schemas.microsoft.com/office/drawing/2014/main" id="{FF55A5BE-76E2-DD02-D0B7-A824FF85D6C7}"/>
                </a:ext>
              </a:extLst>
            </p:cNvPr>
            <p:cNvSpPr>
              <a:spLocks noChangeArrowheads="1"/>
            </p:cNvSpPr>
            <p:nvPr/>
          </p:nvSpPr>
          <p:spPr bwMode="gray">
            <a:xfrm>
              <a:off x="990600" y="1191463"/>
              <a:ext cx="703745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7.4.4. API-HTTP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FDEA3F9-E746-8A18-14AA-06D39BEA1B6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7E173AC-6E78-B02A-FC4B-F9D2BB7B565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C87F3D5-96A4-3E18-4DAF-2BDE80F07AE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E357BA1-F1C3-B526-9884-4D6A185A355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89085B6-4801-5548-6AA7-C8E0E051FF25}"/>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Tạo component </a:t>
            </a:r>
            <a:r>
              <a:rPr lang="en-US" sz="2400" b="1">
                <a:latin typeface="Times New Roman" panose="02020603050405020304" pitchFamily="18" charset="0"/>
                <a:cs typeface="Times New Roman" panose="02020603050405020304" pitchFamily="18" charset="0"/>
              </a:rPr>
              <a:t>FashionDeleteComponent</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C1FBBC5E-D9B7-32DA-A937-877D40B27265}"/>
              </a:ext>
            </a:extLst>
          </p:cNvPr>
          <p:cNvPicPr>
            <a:picLocks noChangeAspect="1"/>
          </p:cNvPicPr>
          <p:nvPr/>
        </p:nvPicPr>
        <p:blipFill>
          <a:blip r:embed="rId3"/>
          <a:stretch>
            <a:fillRect/>
          </a:stretch>
        </p:blipFill>
        <p:spPr>
          <a:xfrm>
            <a:off x="855942" y="2007168"/>
            <a:ext cx="2819048" cy="1580952"/>
          </a:xfrm>
          <a:prstGeom prst="rect">
            <a:avLst/>
          </a:prstGeom>
        </p:spPr>
      </p:pic>
      <p:pic>
        <p:nvPicPr>
          <p:cNvPr id="13" name="Picture 12">
            <a:extLst>
              <a:ext uri="{FF2B5EF4-FFF2-40B4-BE49-F238E27FC236}">
                <a16:creationId xmlns:a16="http://schemas.microsoft.com/office/drawing/2014/main" id="{7A229EC0-7ED9-42AB-2102-2BCF00293402}"/>
              </a:ext>
            </a:extLst>
          </p:cNvPr>
          <p:cNvPicPr>
            <a:picLocks noChangeAspect="1"/>
          </p:cNvPicPr>
          <p:nvPr/>
        </p:nvPicPr>
        <p:blipFill>
          <a:blip r:embed="rId4"/>
          <a:stretch>
            <a:fillRect/>
          </a:stretch>
        </p:blipFill>
        <p:spPr>
          <a:xfrm>
            <a:off x="6524571" y="1706614"/>
            <a:ext cx="4590476" cy="533333"/>
          </a:xfrm>
          <a:prstGeom prst="rect">
            <a:avLst/>
          </a:prstGeom>
        </p:spPr>
      </p:pic>
      <p:pic>
        <p:nvPicPr>
          <p:cNvPr id="15" name="Picture 14">
            <a:extLst>
              <a:ext uri="{FF2B5EF4-FFF2-40B4-BE49-F238E27FC236}">
                <a16:creationId xmlns:a16="http://schemas.microsoft.com/office/drawing/2014/main" id="{8573530B-4929-F908-C077-694C2E8E5849}"/>
              </a:ext>
            </a:extLst>
          </p:cNvPr>
          <p:cNvPicPr>
            <a:picLocks noChangeAspect="1"/>
          </p:cNvPicPr>
          <p:nvPr/>
        </p:nvPicPr>
        <p:blipFill>
          <a:blip r:embed="rId5"/>
          <a:stretch>
            <a:fillRect/>
          </a:stretch>
        </p:blipFill>
        <p:spPr>
          <a:xfrm>
            <a:off x="6063501" y="4234836"/>
            <a:ext cx="5933333" cy="2009524"/>
          </a:xfrm>
          <a:prstGeom prst="rect">
            <a:avLst/>
          </a:prstGeom>
        </p:spPr>
      </p:pic>
      <p:pic>
        <p:nvPicPr>
          <p:cNvPr id="17" name="Picture 16">
            <a:extLst>
              <a:ext uri="{FF2B5EF4-FFF2-40B4-BE49-F238E27FC236}">
                <a16:creationId xmlns:a16="http://schemas.microsoft.com/office/drawing/2014/main" id="{145044D6-466C-663B-F918-C3F1B8132C8C}"/>
              </a:ext>
            </a:extLst>
          </p:cNvPr>
          <p:cNvPicPr>
            <a:picLocks noChangeAspect="1"/>
          </p:cNvPicPr>
          <p:nvPr/>
        </p:nvPicPr>
        <p:blipFill>
          <a:blip r:embed="rId6"/>
          <a:stretch>
            <a:fillRect/>
          </a:stretch>
        </p:blipFill>
        <p:spPr>
          <a:xfrm>
            <a:off x="1072491" y="4255083"/>
            <a:ext cx="2619048" cy="1761905"/>
          </a:xfrm>
          <a:prstGeom prst="rect">
            <a:avLst/>
          </a:prstGeom>
        </p:spPr>
      </p:pic>
      <p:cxnSp>
        <p:nvCxnSpPr>
          <p:cNvPr id="18" name="Connector: Elbow 17">
            <a:extLst>
              <a:ext uri="{FF2B5EF4-FFF2-40B4-BE49-F238E27FC236}">
                <a16:creationId xmlns:a16="http://schemas.microsoft.com/office/drawing/2014/main" id="{481E81AD-2084-DBA9-FDDC-B5EB51AE6D22}"/>
              </a:ext>
            </a:extLst>
          </p:cNvPr>
          <p:cNvCxnSpPr/>
          <p:nvPr/>
        </p:nvCxnSpPr>
        <p:spPr>
          <a:xfrm flipV="1">
            <a:off x="3496732" y="2178949"/>
            <a:ext cx="5051953" cy="1159650"/>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D439C85-FC6F-48DA-12E7-4274F934C1CE}"/>
              </a:ext>
            </a:extLst>
          </p:cNvPr>
          <p:cNvCxnSpPr>
            <a:cxnSpLocks/>
          </p:cNvCxnSpPr>
          <p:nvPr/>
        </p:nvCxnSpPr>
        <p:spPr>
          <a:xfrm>
            <a:off x="10049826" y="2239947"/>
            <a:ext cx="0" cy="16143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258CE256-5853-92E4-AA62-E9A607D20F33}"/>
              </a:ext>
            </a:extLst>
          </p:cNvPr>
          <p:cNvCxnSpPr>
            <a:cxnSpLocks/>
          </p:cNvCxnSpPr>
          <p:nvPr/>
        </p:nvCxnSpPr>
        <p:spPr>
          <a:xfrm rot="10800000">
            <a:off x="3691540" y="4863654"/>
            <a:ext cx="2405064" cy="1"/>
          </a:xfrm>
          <a:prstGeom prst="bent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35758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354C2D2-9046-D6FB-360C-6C764B648E3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8166FCF-0A9A-87E9-7E83-80EC6BD2ABC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413CEC7-A12C-F5F0-8596-0DB224AFE57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97</a:t>
            </a:fld>
            <a:endParaRPr/>
          </a:p>
        </p:txBody>
      </p:sp>
      <p:grpSp>
        <p:nvGrpSpPr>
          <p:cNvPr id="2" name="Group 1">
            <a:extLst>
              <a:ext uri="{FF2B5EF4-FFF2-40B4-BE49-F238E27FC236}">
                <a16:creationId xmlns:a16="http://schemas.microsoft.com/office/drawing/2014/main" id="{5591AD4F-E906-20DC-38DD-A66D970CAC08}"/>
              </a:ext>
            </a:extLst>
          </p:cNvPr>
          <p:cNvGrpSpPr/>
          <p:nvPr/>
        </p:nvGrpSpPr>
        <p:grpSpPr>
          <a:xfrm>
            <a:off x="214276" y="229075"/>
            <a:ext cx="5686937" cy="508000"/>
            <a:chOff x="789624" y="1191463"/>
            <a:chExt cx="5686937" cy="508000"/>
          </a:xfrm>
        </p:grpSpPr>
        <p:sp>
          <p:nvSpPr>
            <p:cNvPr id="3" name="AutoShape 52">
              <a:extLst>
                <a:ext uri="{FF2B5EF4-FFF2-40B4-BE49-F238E27FC236}">
                  <a16:creationId xmlns:a16="http://schemas.microsoft.com/office/drawing/2014/main" id="{106C60FF-1FBB-781D-96EA-0FEAE026FCE4}"/>
                </a:ext>
              </a:extLst>
            </p:cNvPr>
            <p:cNvSpPr>
              <a:spLocks noChangeArrowheads="1"/>
            </p:cNvSpPr>
            <p:nvPr/>
          </p:nvSpPr>
          <p:spPr bwMode="gray">
            <a:xfrm>
              <a:off x="990600" y="1191463"/>
              <a:ext cx="548596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7.4.4. API-HTTP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D946517-94CB-0DD9-354A-ECB11A0272B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CD77D9D-4B54-3742-CBE7-069396331C4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FF0E8EF-2A6F-6148-34B9-941EC51BE1B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CC6F039-0FAF-21EF-2AD7-38D097E84E8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a:extLst>
              <a:ext uri="{FF2B5EF4-FFF2-40B4-BE49-F238E27FC236}">
                <a16:creationId xmlns:a16="http://schemas.microsoft.com/office/drawing/2014/main" id="{A7815151-441E-B328-F68C-D2D78A6803B1}"/>
              </a:ext>
            </a:extLst>
          </p:cNvPr>
          <p:cNvPicPr>
            <a:picLocks noChangeAspect="1"/>
          </p:cNvPicPr>
          <p:nvPr/>
        </p:nvPicPr>
        <p:blipFill>
          <a:blip r:embed="rId3"/>
          <a:stretch>
            <a:fillRect/>
          </a:stretch>
        </p:blipFill>
        <p:spPr>
          <a:xfrm>
            <a:off x="3801687" y="788934"/>
            <a:ext cx="5701923" cy="5953696"/>
          </a:xfrm>
          <a:prstGeom prst="rect">
            <a:avLst/>
          </a:prstGeom>
        </p:spPr>
      </p:pic>
    </p:spTree>
    <p:extLst>
      <p:ext uri="{BB962C8B-B14F-4D97-AF65-F5344CB8AC3E}">
        <p14:creationId xmlns:p14="http://schemas.microsoft.com/office/powerpoint/2010/main" val="8046190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FE56001-0477-118E-5DAD-CE5CC87ECA2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5FD9366-1DFD-37E7-03AB-100D65BFA87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9581999-3406-53C3-8F3A-A41FFA73064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98</a:t>
            </a:fld>
            <a:endParaRPr/>
          </a:p>
        </p:txBody>
      </p:sp>
      <p:grpSp>
        <p:nvGrpSpPr>
          <p:cNvPr id="2" name="Group 1">
            <a:extLst>
              <a:ext uri="{FF2B5EF4-FFF2-40B4-BE49-F238E27FC236}">
                <a16:creationId xmlns:a16="http://schemas.microsoft.com/office/drawing/2014/main" id="{2FF80239-E8CA-8F3C-6CC7-52EF38B747DC}"/>
              </a:ext>
            </a:extLst>
          </p:cNvPr>
          <p:cNvGrpSpPr/>
          <p:nvPr/>
        </p:nvGrpSpPr>
        <p:grpSpPr>
          <a:xfrm>
            <a:off x="214276" y="229075"/>
            <a:ext cx="5686937" cy="508000"/>
            <a:chOff x="789624" y="1191463"/>
            <a:chExt cx="5686937" cy="508000"/>
          </a:xfrm>
        </p:grpSpPr>
        <p:sp>
          <p:nvSpPr>
            <p:cNvPr id="3" name="AutoShape 52">
              <a:extLst>
                <a:ext uri="{FF2B5EF4-FFF2-40B4-BE49-F238E27FC236}">
                  <a16:creationId xmlns:a16="http://schemas.microsoft.com/office/drawing/2014/main" id="{2C643F44-7747-BB4C-C492-E55F2F38AB07}"/>
                </a:ext>
              </a:extLst>
            </p:cNvPr>
            <p:cNvSpPr>
              <a:spLocks noChangeArrowheads="1"/>
            </p:cNvSpPr>
            <p:nvPr/>
          </p:nvSpPr>
          <p:spPr bwMode="gray">
            <a:xfrm>
              <a:off x="990600" y="1191463"/>
              <a:ext cx="548596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7.4.4. API-HTTP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08AF302-FF0B-C886-0488-745F9AC3D16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0F4B040-DD6A-0C43-EC98-EC837C0E042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CC9E886-5720-011D-9CDC-B33CB9B1EAF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DBB31F4-38D0-7C07-D75C-66F9D444D78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0B534D9-22AE-87CD-FF1C-331CC8C41D2C}"/>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a:t>
            </a:r>
            <a:r>
              <a:rPr lang="en-US" sz="2400" b="1">
                <a:latin typeface="Times New Roman" panose="02020603050405020304" pitchFamily="18" charset="0"/>
                <a:cs typeface="Times New Roman" panose="02020603050405020304" pitchFamily="18" charset="0"/>
              </a:rPr>
              <a:t>FashionDeleteComponent.ts</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03C90A93-8A0B-D930-F989-04D7C9532F21}"/>
              </a:ext>
            </a:extLst>
          </p:cNvPr>
          <p:cNvPicPr>
            <a:picLocks noChangeAspect="1"/>
          </p:cNvPicPr>
          <p:nvPr/>
        </p:nvPicPr>
        <p:blipFill>
          <a:blip r:embed="rId3"/>
          <a:stretch>
            <a:fillRect/>
          </a:stretch>
        </p:blipFill>
        <p:spPr>
          <a:xfrm>
            <a:off x="388797" y="1331100"/>
            <a:ext cx="8085352" cy="5471817"/>
          </a:xfrm>
          <a:prstGeom prst="rect">
            <a:avLst/>
          </a:prstGeom>
        </p:spPr>
      </p:pic>
    </p:spTree>
    <p:extLst>
      <p:ext uri="{BB962C8B-B14F-4D97-AF65-F5344CB8AC3E}">
        <p14:creationId xmlns:p14="http://schemas.microsoft.com/office/powerpoint/2010/main" val="17530858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910B27B-305D-0C62-16A6-FA088F17010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D100427-205B-99FD-EF89-7EB7AF38EBD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5584BC1-7892-3D30-CA20-8F2883565A2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99</a:t>
            </a:fld>
            <a:endParaRPr/>
          </a:p>
        </p:txBody>
      </p:sp>
      <p:grpSp>
        <p:nvGrpSpPr>
          <p:cNvPr id="2" name="Group 1">
            <a:extLst>
              <a:ext uri="{FF2B5EF4-FFF2-40B4-BE49-F238E27FC236}">
                <a16:creationId xmlns:a16="http://schemas.microsoft.com/office/drawing/2014/main" id="{8772E776-845D-CAEC-2457-56B46C1E8B79}"/>
              </a:ext>
            </a:extLst>
          </p:cNvPr>
          <p:cNvGrpSpPr/>
          <p:nvPr/>
        </p:nvGrpSpPr>
        <p:grpSpPr>
          <a:xfrm>
            <a:off x="214276" y="229075"/>
            <a:ext cx="5686937" cy="508000"/>
            <a:chOff x="789624" y="1191463"/>
            <a:chExt cx="5686937" cy="508000"/>
          </a:xfrm>
        </p:grpSpPr>
        <p:sp>
          <p:nvSpPr>
            <p:cNvPr id="3" name="AutoShape 52">
              <a:extLst>
                <a:ext uri="{FF2B5EF4-FFF2-40B4-BE49-F238E27FC236}">
                  <a16:creationId xmlns:a16="http://schemas.microsoft.com/office/drawing/2014/main" id="{00A99E93-A994-7659-7936-084F1ADE854D}"/>
                </a:ext>
              </a:extLst>
            </p:cNvPr>
            <p:cNvSpPr>
              <a:spLocks noChangeArrowheads="1"/>
            </p:cNvSpPr>
            <p:nvPr/>
          </p:nvSpPr>
          <p:spPr bwMode="gray">
            <a:xfrm>
              <a:off x="990600" y="1191463"/>
              <a:ext cx="548596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7.4.4. API-HTTP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52862AD-C143-48A7-66C4-E6A02ADB095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6AFD4C4-B466-3AD9-1C94-81CB9FFCEC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4344CCA-B509-B1A8-07CA-BF5FB797545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14C0EDB-64CD-9200-189D-21BE6898C51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F5D0D7A-87A7-82BB-9923-7E6C8165AD63}"/>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a:t>
            </a:r>
            <a:r>
              <a:rPr lang="en-US" sz="2400" b="1">
                <a:latin typeface="Times New Roman" panose="02020603050405020304" pitchFamily="18" charset="0"/>
                <a:cs typeface="Times New Roman" panose="02020603050405020304" pitchFamily="18" charset="0"/>
              </a:rPr>
              <a:t>FashionDeleteComponent.ts</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DAB7547-3BAF-4B24-B39E-8338AE0656F4}"/>
              </a:ext>
            </a:extLst>
          </p:cNvPr>
          <p:cNvPicPr>
            <a:picLocks noChangeAspect="1"/>
          </p:cNvPicPr>
          <p:nvPr/>
        </p:nvPicPr>
        <p:blipFill>
          <a:blip r:embed="rId3"/>
          <a:stretch>
            <a:fillRect/>
          </a:stretch>
        </p:blipFill>
        <p:spPr>
          <a:xfrm>
            <a:off x="234809" y="1322405"/>
            <a:ext cx="10429648" cy="5535595"/>
          </a:xfrm>
          <a:prstGeom prst="rect">
            <a:avLst/>
          </a:prstGeom>
        </p:spPr>
      </p:pic>
    </p:spTree>
    <p:extLst>
      <p:ext uri="{BB962C8B-B14F-4D97-AF65-F5344CB8AC3E}">
        <p14:creationId xmlns:p14="http://schemas.microsoft.com/office/powerpoint/2010/main" val="13831842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3343584-1CB1-A241-3D43-D6F45DA4CD4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E531810-14FA-CCC8-A4B6-B08E0458C29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EC43AB6-295A-754E-24D9-2427DDCF5B9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100</a:t>
            </a:fld>
            <a:endParaRPr/>
          </a:p>
        </p:txBody>
      </p:sp>
      <p:grpSp>
        <p:nvGrpSpPr>
          <p:cNvPr id="2" name="Group 1">
            <a:extLst>
              <a:ext uri="{FF2B5EF4-FFF2-40B4-BE49-F238E27FC236}">
                <a16:creationId xmlns:a16="http://schemas.microsoft.com/office/drawing/2014/main" id="{5C552280-63B2-9300-0174-5745980BAAD7}"/>
              </a:ext>
            </a:extLst>
          </p:cNvPr>
          <p:cNvGrpSpPr/>
          <p:nvPr/>
        </p:nvGrpSpPr>
        <p:grpSpPr>
          <a:xfrm>
            <a:off x="214276" y="229075"/>
            <a:ext cx="5686937" cy="508000"/>
            <a:chOff x="789624" y="1191463"/>
            <a:chExt cx="5686937" cy="508000"/>
          </a:xfrm>
        </p:grpSpPr>
        <p:sp>
          <p:nvSpPr>
            <p:cNvPr id="3" name="AutoShape 52">
              <a:extLst>
                <a:ext uri="{FF2B5EF4-FFF2-40B4-BE49-F238E27FC236}">
                  <a16:creationId xmlns:a16="http://schemas.microsoft.com/office/drawing/2014/main" id="{7C1E1758-FF81-EE1F-54EC-9677D3731CBE}"/>
                </a:ext>
              </a:extLst>
            </p:cNvPr>
            <p:cNvSpPr>
              <a:spLocks noChangeArrowheads="1"/>
            </p:cNvSpPr>
            <p:nvPr/>
          </p:nvSpPr>
          <p:spPr bwMode="gray">
            <a:xfrm>
              <a:off x="990600" y="1191463"/>
              <a:ext cx="548596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7.4.4. API-HTTP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076F425-E848-3224-5BD1-2D1D9B9C557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AA647C0-42D8-C79A-A16C-EE615986243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CA0AC72-B276-9297-BF0F-1BD7B63E898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7ABB574-7F31-6FCA-79C8-D516C4E4124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051C47C-D83E-4FE8-7CD9-496A8F5D6D9D}"/>
              </a:ext>
            </a:extLst>
          </p:cNvPr>
          <p:cNvSpPr txBox="1"/>
          <p:nvPr/>
        </p:nvSpPr>
        <p:spPr>
          <a:xfrm>
            <a:off x="415252" y="770128"/>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a:t>
            </a:r>
            <a:r>
              <a:rPr lang="en-US" sz="2400" b="1">
                <a:latin typeface="Times New Roman" panose="02020603050405020304" pitchFamily="18" charset="0"/>
                <a:cs typeface="Times New Roman" panose="02020603050405020304" pitchFamily="18" charset="0"/>
              </a:rPr>
              <a:t>FashionDeleteComponent.html</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4A72F4C1-3AE0-765C-CC93-6B62C65986DC}"/>
              </a:ext>
            </a:extLst>
          </p:cNvPr>
          <p:cNvPicPr>
            <a:picLocks noChangeAspect="1"/>
          </p:cNvPicPr>
          <p:nvPr/>
        </p:nvPicPr>
        <p:blipFill>
          <a:blip r:embed="rId3"/>
          <a:stretch>
            <a:fillRect/>
          </a:stretch>
        </p:blipFill>
        <p:spPr>
          <a:xfrm>
            <a:off x="388797" y="1220236"/>
            <a:ext cx="7330440" cy="5637763"/>
          </a:xfrm>
          <a:prstGeom prst="rect">
            <a:avLst/>
          </a:prstGeom>
        </p:spPr>
      </p:pic>
    </p:spTree>
    <p:extLst>
      <p:ext uri="{BB962C8B-B14F-4D97-AF65-F5344CB8AC3E}">
        <p14:creationId xmlns:p14="http://schemas.microsoft.com/office/powerpoint/2010/main" val="29036430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3C746AE-BBE1-6848-EE53-982613D1302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81D60D3-F8A2-CE8B-A7F4-3557F8F1F0F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EE08DCA-8BBC-05B0-5CFE-18489F6BB89D}"/>
              </a:ext>
            </a:extLst>
          </p:cNvPr>
          <p:cNvSpPr txBox="1">
            <a:spLocks noGrp="1"/>
          </p:cNvSpPr>
          <p:nvPr>
            <p:ph type="sldNum" idx="12"/>
          </p:nvPr>
        </p:nvSpPr>
        <p:spPr>
          <a:xfrm>
            <a:off x="3021497" y="6377505"/>
            <a:ext cx="475236"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101</a:t>
            </a:fld>
            <a:endParaRPr/>
          </a:p>
        </p:txBody>
      </p:sp>
      <p:grpSp>
        <p:nvGrpSpPr>
          <p:cNvPr id="2" name="Group 1">
            <a:extLst>
              <a:ext uri="{FF2B5EF4-FFF2-40B4-BE49-F238E27FC236}">
                <a16:creationId xmlns:a16="http://schemas.microsoft.com/office/drawing/2014/main" id="{C0970A5C-913F-FB53-9173-3F77AA450C51}"/>
              </a:ext>
            </a:extLst>
          </p:cNvPr>
          <p:cNvGrpSpPr/>
          <p:nvPr/>
        </p:nvGrpSpPr>
        <p:grpSpPr>
          <a:xfrm>
            <a:off x="214276" y="229075"/>
            <a:ext cx="5686937" cy="508000"/>
            <a:chOff x="789624" y="1191463"/>
            <a:chExt cx="5686937" cy="508000"/>
          </a:xfrm>
        </p:grpSpPr>
        <p:sp>
          <p:nvSpPr>
            <p:cNvPr id="3" name="AutoShape 52">
              <a:extLst>
                <a:ext uri="{FF2B5EF4-FFF2-40B4-BE49-F238E27FC236}">
                  <a16:creationId xmlns:a16="http://schemas.microsoft.com/office/drawing/2014/main" id="{306BAA8E-59F3-26D9-778B-67DDB5D26B8F}"/>
                </a:ext>
              </a:extLst>
            </p:cNvPr>
            <p:cNvSpPr>
              <a:spLocks noChangeArrowheads="1"/>
            </p:cNvSpPr>
            <p:nvPr/>
          </p:nvSpPr>
          <p:spPr bwMode="gray">
            <a:xfrm>
              <a:off x="990600" y="1191463"/>
              <a:ext cx="548596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7.4.4. API-HTTP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8E5FFBB-00C9-F62E-B1E2-ED89AE9E586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B5934F1-26E6-A7B2-74D0-807107287E9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DBD8BEB-C284-0926-8138-C4702DEA310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D71CD0A-2A58-5CFC-86B4-8F083D696C4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59919EE-C917-C853-9779-AF5F07E54498}"/>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Cấu hình Routing </a:t>
            </a:r>
            <a:r>
              <a:rPr lang="en-US" sz="2400" b="1">
                <a:latin typeface="Times New Roman" panose="02020603050405020304" pitchFamily="18" charset="0"/>
                <a:cs typeface="Times New Roman" panose="02020603050405020304" pitchFamily="18" charset="0"/>
              </a:rPr>
              <a:t>app-routing-module.ts</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0517D58-E616-A922-AB23-F622973CD3BA}"/>
              </a:ext>
            </a:extLst>
          </p:cNvPr>
          <p:cNvPicPr>
            <a:picLocks noChangeAspect="1"/>
          </p:cNvPicPr>
          <p:nvPr/>
        </p:nvPicPr>
        <p:blipFill>
          <a:blip r:embed="rId3"/>
          <a:stretch>
            <a:fillRect/>
          </a:stretch>
        </p:blipFill>
        <p:spPr>
          <a:xfrm>
            <a:off x="663964" y="1406618"/>
            <a:ext cx="7971428" cy="4457143"/>
          </a:xfrm>
          <a:prstGeom prst="rect">
            <a:avLst/>
          </a:prstGeom>
        </p:spPr>
      </p:pic>
    </p:spTree>
    <p:extLst>
      <p:ext uri="{BB962C8B-B14F-4D97-AF65-F5344CB8AC3E}">
        <p14:creationId xmlns:p14="http://schemas.microsoft.com/office/powerpoint/2010/main" val="13197555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430E0B3-A297-30F7-84FA-872A7B39D9A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F08707A-6BF6-84EC-CC84-539D077DACF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10D81DA-9819-ABFD-F13B-B347D7154B84}"/>
              </a:ext>
            </a:extLst>
          </p:cNvPr>
          <p:cNvSpPr txBox="1">
            <a:spLocks noGrp="1"/>
          </p:cNvSpPr>
          <p:nvPr>
            <p:ph type="sldNum" idx="12"/>
          </p:nvPr>
        </p:nvSpPr>
        <p:spPr>
          <a:xfrm>
            <a:off x="3021497" y="6377505"/>
            <a:ext cx="475236"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102</a:t>
            </a:fld>
            <a:endParaRPr/>
          </a:p>
        </p:txBody>
      </p:sp>
      <p:grpSp>
        <p:nvGrpSpPr>
          <p:cNvPr id="2" name="Group 1">
            <a:extLst>
              <a:ext uri="{FF2B5EF4-FFF2-40B4-BE49-F238E27FC236}">
                <a16:creationId xmlns:a16="http://schemas.microsoft.com/office/drawing/2014/main" id="{F851D125-377D-8DCB-CF41-40E917C78B03}"/>
              </a:ext>
            </a:extLst>
          </p:cNvPr>
          <p:cNvGrpSpPr/>
          <p:nvPr/>
        </p:nvGrpSpPr>
        <p:grpSpPr>
          <a:xfrm>
            <a:off x="214276" y="229075"/>
            <a:ext cx="5686937" cy="508000"/>
            <a:chOff x="789624" y="1191463"/>
            <a:chExt cx="5686937" cy="508000"/>
          </a:xfrm>
        </p:grpSpPr>
        <p:sp>
          <p:nvSpPr>
            <p:cNvPr id="3" name="AutoShape 52">
              <a:extLst>
                <a:ext uri="{FF2B5EF4-FFF2-40B4-BE49-F238E27FC236}">
                  <a16:creationId xmlns:a16="http://schemas.microsoft.com/office/drawing/2014/main" id="{B2BB8F58-B714-6757-6C0C-FB9416C7B582}"/>
                </a:ext>
              </a:extLst>
            </p:cNvPr>
            <p:cNvSpPr>
              <a:spLocks noChangeArrowheads="1"/>
            </p:cNvSpPr>
            <p:nvPr/>
          </p:nvSpPr>
          <p:spPr bwMode="gray">
            <a:xfrm>
              <a:off x="990600" y="1191463"/>
              <a:ext cx="548596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7.4.4. API-HTTP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3F3B7E2-5E7D-2D9E-4901-8D92E8ACDED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07FF35D-7DCB-7D2D-5164-DEDD78A9580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D4BE886-C7D9-D050-4FE0-D173A4101B4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8868908-6C39-79D8-D22C-A5552FBBD25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241EC3-C9A6-A8C1-86C8-0E8C40D5A586}"/>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8: app.html</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49F29B0A-66E8-131A-EAA2-8EFD33DD8AA5}"/>
              </a:ext>
            </a:extLst>
          </p:cNvPr>
          <p:cNvPicPr>
            <a:picLocks noChangeAspect="1"/>
          </p:cNvPicPr>
          <p:nvPr/>
        </p:nvPicPr>
        <p:blipFill>
          <a:blip r:embed="rId3"/>
          <a:stretch>
            <a:fillRect/>
          </a:stretch>
        </p:blipFill>
        <p:spPr>
          <a:xfrm>
            <a:off x="728132" y="1354535"/>
            <a:ext cx="7990476" cy="4580952"/>
          </a:xfrm>
          <a:prstGeom prst="rect">
            <a:avLst/>
          </a:prstGeom>
        </p:spPr>
      </p:pic>
    </p:spTree>
    <p:extLst>
      <p:ext uri="{BB962C8B-B14F-4D97-AF65-F5344CB8AC3E}">
        <p14:creationId xmlns:p14="http://schemas.microsoft.com/office/powerpoint/2010/main" val="38355071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12C8FD0-8803-C78F-1137-CE55D77B4E2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F851026-31D7-5065-C98B-0C0E4815650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D81D953-B6D0-2048-1E7B-B501DCEAF1E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103</a:t>
            </a:fld>
            <a:endParaRPr/>
          </a:p>
        </p:txBody>
      </p:sp>
      <p:grpSp>
        <p:nvGrpSpPr>
          <p:cNvPr id="2" name="Group 1">
            <a:extLst>
              <a:ext uri="{FF2B5EF4-FFF2-40B4-BE49-F238E27FC236}">
                <a16:creationId xmlns:a16="http://schemas.microsoft.com/office/drawing/2014/main" id="{990F530A-6EAC-C867-457A-76A9B7DB4624}"/>
              </a:ext>
            </a:extLst>
          </p:cNvPr>
          <p:cNvGrpSpPr/>
          <p:nvPr/>
        </p:nvGrpSpPr>
        <p:grpSpPr>
          <a:xfrm>
            <a:off x="214276" y="229075"/>
            <a:ext cx="5686937" cy="508000"/>
            <a:chOff x="789624" y="1191463"/>
            <a:chExt cx="5686937" cy="508000"/>
          </a:xfrm>
        </p:grpSpPr>
        <p:sp>
          <p:nvSpPr>
            <p:cNvPr id="3" name="AutoShape 52">
              <a:extLst>
                <a:ext uri="{FF2B5EF4-FFF2-40B4-BE49-F238E27FC236}">
                  <a16:creationId xmlns:a16="http://schemas.microsoft.com/office/drawing/2014/main" id="{47BC110D-191A-723C-305A-C84E32835B12}"/>
                </a:ext>
              </a:extLst>
            </p:cNvPr>
            <p:cNvSpPr>
              <a:spLocks noChangeArrowheads="1"/>
            </p:cNvSpPr>
            <p:nvPr/>
          </p:nvSpPr>
          <p:spPr bwMode="gray">
            <a:xfrm>
              <a:off x="990600" y="1191463"/>
              <a:ext cx="548596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7.4.4. API-HTTP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76EF07D-89B9-D67B-2F84-CC002D87FD3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3FA47E8-7EB6-0D29-645B-6003CFC86B0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891225D-74B3-203D-8835-1BE65C397A9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7C4B5E5-6857-30B8-AC1F-2F3545C7A75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F167AD0-037B-9F35-2627-99E4B54D6DA6}"/>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9: Chạy chức năng DELETE</a:t>
            </a:r>
            <a:endParaRPr lang="vi-VN" sz="2400" b="1">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25E179E8-B051-7513-0DBD-B32FCD6A1CBA}"/>
              </a:ext>
            </a:extLst>
          </p:cNvPr>
          <p:cNvPicPr>
            <a:picLocks noChangeAspect="1"/>
          </p:cNvPicPr>
          <p:nvPr/>
        </p:nvPicPr>
        <p:blipFill>
          <a:blip r:embed="rId3"/>
          <a:stretch>
            <a:fillRect/>
          </a:stretch>
        </p:blipFill>
        <p:spPr>
          <a:xfrm>
            <a:off x="388797" y="1302677"/>
            <a:ext cx="5331346" cy="5566756"/>
          </a:xfrm>
          <a:prstGeom prst="rect">
            <a:avLst/>
          </a:prstGeom>
        </p:spPr>
      </p:pic>
      <p:pic>
        <p:nvPicPr>
          <p:cNvPr id="14" name="Picture 13">
            <a:extLst>
              <a:ext uri="{FF2B5EF4-FFF2-40B4-BE49-F238E27FC236}">
                <a16:creationId xmlns:a16="http://schemas.microsoft.com/office/drawing/2014/main" id="{63E64F0E-EF63-84F9-92D8-26BD476E7E6B}"/>
              </a:ext>
            </a:extLst>
          </p:cNvPr>
          <p:cNvPicPr>
            <a:picLocks noChangeAspect="1"/>
          </p:cNvPicPr>
          <p:nvPr/>
        </p:nvPicPr>
        <p:blipFill>
          <a:blip r:embed="rId4"/>
          <a:stretch>
            <a:fillRect/>
          </a:stretch>
        </p:blipFill>
        <p:spPr>
          <a:xfrm>
            <a:off x="6582894" y="997935"/>
            <a:ext cx="5443932" cy="5684313"/>
          </a:xfrm>
          <a:prstGeom prst="rect">
            <a:avLst/>
          </a:prstGeom>
        </p:spPr>
      </p:pic>
    </p:spTree>
    <p:extLst>
      <p:ext uri="{BB962C8B-B14F-4D97-AF65-F5344CB8AC3E}">
        <p14:creationId xmlns:p14="http://schemas.microsoft.com/office/powerpoint/2010/main" val="323369376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2965837" y="6377505"/>
            <a:ext cx="53089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104</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65650"/>
            <a:ext cx="7286554" cy="508000"/>
            <a:chOff x="789624" y="1191463"/>
            <a:chExt cx="7286554"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708557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Bài học tiếp theo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F6B772B-0C49-CABB-98B1-734F0D21D642}"/>
              </a:ext>
            </a:extLst>
          </p:cNvPr>
          <p:cNvSpPr txBox="1"/>
          <p:nvPr/>
        </p:nvSpPr>
        <p:spPr>
          <a:xfrm>
            <a:off x="462279" y="841012"/>
            <a:ext cx="11564547" cy="1938992"/>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8.1. Giới thiệu Cookie</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8.2.</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Cách tạo và đọc Cookie</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8.3.</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Giới thiệu Session</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8.4.</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Cách tạo và đọc Sesion</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8.5.</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Thực hiện minh họa Cook</a:t>
            </a:r>
            <a:r>
              <a:rPr lang="en-US" sz="2400" b="1">
                <a:latin typeface="Times New Roman" panose="02020603050405020304" pitchFamily="18" charset="0"/>
                <a:cs typeface="Times New Roman" panose="02020603050405020304" pitchFamily="18" charset="0"/>
              </a:rPr>
              <a:t>i</a:t>
            </a:r>
            <a:r>
              <a:rPr lang="vi-VN" sz="2400" b="1">
                <a:latin typeface="Times New Roman" panose="02020603050405020304" pitchFamily="18" charset="0"/>
                <a:cs typeface="Times New Roman" panose="02020603050405020304" pitchFamily="18" charset="0"/>
              </a:rPr>
              <a:t>e+Session</a:t>
            </a:r>
          </a:p>
        </p:txBody>
      </p:sp>
    </p:spTree>
    <p:extLst>
      <p:ext uri="{BB962C8B-B14F-4D97-AF65-F5344CB8AC3E}">
        <p14:creationId xmlns:p14="http://schemas.microsoft.com/office/powerpoint/2010/main" val="263589991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2003</TotalTime>
  <Words>8494</Words>
  <Application>Microsoft Office PowerPoint</Application>
  <PresentationFormat>Widescreen</PresentationFormat>
  <Paragraphs>1077</Paragraphs>
  <Slides>105</Slides>
  <Notes>105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105</vt:i4>
      </vt:variant>
    </vt:vector>
  </HeadingPairs>
  <TitlesOfParts>
    <vt:vector size="114" baseType="lpstr">
      <vt:lpstr>Lato Black</vt:lpstr>
      <vt:lpstr>Calibri</vt:lpstr>
      <vt:lpstr>Lato</vt:lpstr>
      <vt:lpstr>Cambria</vt:lpstr>
      <vt:lpstr>Consolas</vt:lpstr>
      <vt:lpstr>Wingdings</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 Trần</cp:lastModifiedBy>
  <cp:revision>1085</cp:revision>
  <dcterms:created xsi:type="dcterms:W3CDTF">2022-12-02T04:21:00Z</dcterms:created>
  <dcterms:modified xsi:type="dcterms:W3CDTF">2026-05-21T22:57:36Z</dcterms:modified>
</cp:coreProperties>
</file>