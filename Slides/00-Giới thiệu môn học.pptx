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
  </p:notesMasterIdLst>
  <p:sldIdLst>
    <p:sldId id="256" r:id="rId2"/>
    <p:sldId id="267" r:id="rId3"/>
    <p:sldId id="274" r:id="rId4"/>
    <p:sldId id="280" r:id="rId5"/>
    <p:sldId id="276" r:id="rId6"/>
    <p:sldId id="277" r:id="rId7"/>
    <p:sldId id="279" r:id="rId8"/>
    <p:sldId id="270" r:id="rId9"/>
    <p:sldId id="271" r:id="rId10"/>
    <p:sldId id="275" r:id="rId11"/>
    <p:sldId id="272" r:id="rId12"/>
    <p:sldId id="263" r:id="rId13"/>
  </p:sldIdLst>
  <p:sldSz cx="12192000" cy="6858000"/>
  <p:notesSz cx="6858000" cy="9144000"/>
  <p:embeddedFontLst>
    <p:embeddedFont>
      <p:font typeface="Cambria" panose="02040503050406030204" pitchFamily="18" charset="0"/>
      <p:regular r:id="rId15"/>
      <p:bold r:id="rId16"/>
      <p:italic r:id="rId17"/>
      <p:boldItalic r:id="rId18"/>
    </p:embeddedFont>
    <p:embeddedFont>
      <p:font typeface="Lato" panose="020F0502020204030203" pitchFamily="34" charset="0"/>
      <p:regular r:id="rId19"/>
      <p:bold r:id="rId20"/>
      <p:italic r:id="rId21"/>
      <p:boldItalic r:id="rId22"/>
    </p:embeddedFont>
    <p:embeddedFont>
      <p:font typeface="Lato Black" panose="020F0502020204030203" pitchFamily="34" charset="0"/>
      <p:bold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2" roundtripDataSignature="AMtx7mh4VrLQLvjXUsQeVJWWu9hsLYoG6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792" y="86"/>
      </p:cViewPr>
      <p:guideLst/>
    </p:cSldViewPr>
  </p:slideViewPr>
  <p:notesTextViewPr>
    <p:cViewPr>
      <p:scale>
        <a:sx n="3" d="2"/>
        <a:sy n="3" d="2"/>
      </p:scale>
      <p:origin x="0" y="0"/>
    </p:cViewPr>
  </p:notesTextViewPr>
  <p:notesViewPr>
    <p:cSldViewPr snapToGrid="0">
      <p:cViewPr varScale="1">
        <p:scale>
          <a:sx n="84" d="100"/>
          <a:sy n="84" d="100"/>
        </p:scale>
        <p:origin x="3912"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font" Target="fonts/font7.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32" Type="http://customschemas.google.com/relationships/presentationmetadata" Target="meta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 name="Google Shape;9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782133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045816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C1869E8-FC02-39EC-9FBC-A8BC349E21B3}"/>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8AAC735D-D86C-A868-D38F-99DCE1B9ABF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361C98AC-3296-64D7-EDAC-3E41CEA41C1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499506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96831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050021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777947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406820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418764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23678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318201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Blank">
  <p:cSld name="2_Blank">
    <p:spTree>
      <p:nvGrpSpPr>
        <p:cNvPr id="1" name="Shape 15"/>
        <p:cNvGrpSpPr/>
        <p:nvPr/>
      </p:nvGrpSpPr>
      <p:grpSpPr>
        <a:xfrm>
          <a:off x="0" y="0"/>
          <a:ext cx="0" cy="0"/>
          <a:chOff x="0" y="0"/>
          <a:chExt cx="0" cy="0"/>
        </a:xfrm>
      </p:grpSpPr>
      <p:pic>
        <p:nvPicPr>
          <p:cNvPr id="17" name="Google Shape;17;p10"/>
          <p:cNvPicPr preferRelativeResize="0"/>
          <p:nvPr/>
        </p:nvPicPr>
        <p:blipFill rotWithShape="1">
          <a:blip r:embed="rId2">
            <a:alphaModFix/>
          </a:blip>
          <a:srcRect r="-3333" b="87407"/>
          <a:stretch/>
        </p:blipFill>
        <p:spPr>
          <a:xfrm>
            <a:off x="0" y="0"/>
            <a:ext cx="12598400" cy="431800"/>
          </a:xfrm>
          <a:prstGeom prst="rect">
            <a:avLst/>
          </a:prstGeom>
          <a:noFill/>
          <a:ln>
            <a:noFill/>
          </a:ln>
        </p:spPr>
      </p:pic>
      <p:sp>
        <p:nvSpPr>
          <p:cNvPr id="18" name="Google Shape;18;p10"/>
          <p:cNvSpPr txBox="1">
            <a:spLocks noGrp="1"/>
          </p:cNvSpPr>
          <p:nvPr>
            <p:ph type="title"/>
          </p:nvPr>
        </p:nvSpPr>
        <p:spPr>
          <a:xfrm>
            <a:off x="1595351" y="2187196"/>
            <a:ext cx="9001297" cy="77858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rgbClr val="144E8C"/>
              </a:buClr>
              <a:buSzPts val="4400"/>
              <a:buFont typeface="Lato Black"/>
              <a:buNone/>
              <a:defRPr sz="4400">
                <a:latin typeface="Lato Black"/>
                <a:ea typeface="Lato Black"/>
                <a:cs typeface="Lato Black"/>
                <a:sym typeface="Lato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0" name="Google Shape;20;p10"/>
          <p:cNvSpPr txBox="1"/>
          <p:nvPr/>
        </p:nvSpPr>
        <p:spPr>
          <a:xfrm>
            <a:off x="1795462" y="1047420"/>
            <a:ext cx="9144000" cy="778583"/>
          </a:xfrm>
          <a:prstGeom prst="rect">
            <a:avLst/>
          </a:prstGeom>
          <a:noFill/>
          <a:ln>
            <a:noFill/>
          </a:ln>
        </p:spPr>
        <p:txBody>
          <a:bodyPr spcFirstLastPara="1" wrap="square" lIns="91425" tIns="45700" rIns="91425" bIns="45700" anchor="b" anchorCtr="0">
            <a:noAutofit/>
          </a:bodyPr>
          <a:lstStyle/>
          <a:p>
            <a:pPr marL="0" marR="0" lvl="0" indent="0" algn="ctr" rtl="0">
              <a:lnSpc>
                <a:spcPct val="120000"/>
              </a:lnSpc>
              <a:spcBef>
                <a:spcPts val="0"/>
              </a:spcBef>
              <a:spcAft>
                <a:spcPts val="0"/>
              </a:spcAft>
              <a:buClr>
                <a:srgbClr val="144E8C"/>
              </a:buClr>
              <a:buSzPts val="2000"/>
              <a:buFont typeface="Lato Black"/>
              <a:buNone/>
            </a:pPr>
            <a:r>
              <a:rPr lang="en-US" sz="22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t>ĐẠI HỌC QUỐC GIA THÀNH PHỐ HỒ CHÍ MINH</a:t>
            </a:r>
            <a:br>
              <a:rPr lang="en-US" sz="22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br>
            <a:r>
              <a:rPr lang="en-US" sz="22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t>TRƯỜNG ĐẠI HỌC KINH TẾ - LUẬT</a:t>
            </a:r>
            <a:endParaRPr sz="2200" dirty="0">
              <a:latin typeface="Cambria" panose="02040503050406030204" pitchFamily="18" charset="0"/>
              <a:ea typeface="Cambria" panose="02040503050406030204" pitchFamily="18" charset="0"/>
            </a:endParaRPr>
          </a:p>
        </p:txBody>
      </p:sp>
      <p:pic>
        <p:nvPicPr>
          <p:cNvPr id="9" name="Picture 8" descr="A black background with orange and blue letters&#10;&#10;AI-generated content may be incorrect.">
            <a:extLst>
              <a:ext uri="{FF2B5EF4-FFF2-40B4-BE49-F238E27FC236}">
                <a16:creationId xmlns:a16="http://schemas.microsoft.com/office/drawing/2014/main" id="{50547913-6722-D6E7-E44D-4E515D7A8FF4}"/>
              </a:ext>
            </a:extLst>
          </p:cNvPr>
          <p:cNvPicPr>
            <a:picLocks noChangeAspect="1"/>
          </p:cNvPicPr>
          <p:nvPr userDrawn="1"/>
        </p:nvPicPr>
        <p:blipFill>
          <a:blip r:embed="rId3"/>
          <a:stretch>
            <a:fillRect/>
          </a:stretch>
        </p:blipFill>
        <p:spPr>
          <a:xfrm>
            <a:off x="4810125" y="157529"/>
            <a:ext cx="3114675" cy="837297"/>
          </a:xfrm>
          <a:prstGeom prst="rect">
            <a:avLst/>
          </a:prstGeom>
        </p:spPr>
      </p:pic>
      <p:pic>
        <p:nvPicPr>
          <p:cNvPr id="3" name="Picture 2" descr="A building with trees in the background&#10;&#10;AI-generated content may be incorrect.">
            <a:extLst>
              <a:ext uri="{FF2B5EF4-FFF2-40B4-BE49-F238E27FC236}">
                <a16:creationId xmlns:a16="http://schemas.microsoft.com/office/drawing/2014/main" id="{6DB4ADA3-8D58-FD0D-1C18-5213711602FE}"/>
              </a:ext>
            </a:extLst>
          </p:cNvPr>
          <p:cNvPicPr>
            <a:picLocks noChangeAspect="1"/>
          </p:cNvPicPr>
          <p:nvPr userDrawn="1"/>
        </p:nvPicPr>
        <p:blipFill>
          <a:blip r:embed="rId4"/>
          <a:stretch>
            <a:fillRect/>
          </a:stretch>
        </p:blipFill>
        <p:spPr>
          <a:xfrm>
            <a:off x="0" y="3378635"/>
            <a:ext cx="8673016" cy="347936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0"/>
        <p:cNvGrpSpPr/>
        <p:nvPr/>
      </p:nvGrpSpPr>
      <p:grpSpPr>
        <a:xfrm>
          <a:off x="0" y="0"/>
          <a:ext cx="0" cy="0"/>
          <a:chOff x="0" y="0"/>
          <a:chExt cx="0" cy="0"/>
        </a:xfrm>
      </p:grpSpPr>
      <p:sp>
        <p:nvSpPr>
          <p:cNvPr id="31" name="Google Shape;31;p12"/>
          <p:cNvSpPr txBox="1">
            <a:spLocks noGrp="1"/>
          </p:cNvSpPr>
          <p:nvPr>
            <p:ph type="title"/>
          </p:nvPr>
        </p:nvSpPr>
        <p:spPr>
          <a:xfrm>
            <a:off x="839788" y="659342"/>
            <a:ext cx="3932237" cy="10702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44E8C"/>
              </a:buClr>
              <a:buSzPts val="3200"/>
              <a:buFont typeface="Lato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12"/>
          <p:cNvSpPr>
            <a:spLocks noGrp="1"/>
          </p:cNvSpPr>
          <p:nvPr>
            <p:ph type="pic" idx="2"/>
          </p:nvPr>
        </p:nvSpPr>
        <p:spPr>
          <a:xfrm>
            <a:off x="5183188" y="987425"/>
            <a:ext cx="6172200" cy="4873625"/>
          </a:xfrm>
          <a:prstGeom prst="rect">
            <a:avLst/>
          </a:prstGeom>
          <a:noFill/>
          <a:ln>
            <a:noFill/>
          </a:ln>
        </p:spPr>
        <p:txBody>
          <a:bodyPr/>
          <a:lstStyle/>
          <a:p>
            <a:endParaRPr lang="en-US"/>
          </a:p>
        </p:txBody>
      </p:sp>
      <p:sp>
        <p:nvSpPr>
          <p:cNvPr id="33" name="Google Shape;33;p1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34" name="Google Shape;34;p12"/>
          <p:cNvPicPr preferRelativeResize="0"/>
          <p:nvPr/>
        </p:nvPicPr>
        <p:blipFill rotWithShape="1">
          <a:blip r:embed="rId2">
            <a:alphaModFix/>
          </a:blip>
          <a:srcRect r="-3333" b="87407"/>
          <a:stretch/>
        </p:blipFill>
        <p:spPr>
          <a:xfrm flipH="1">
            <a:off x="-406400" y="-1"/>
            <a:ext cx="12598400" cy="431800"/>
          </a:xfrm>
          <a:prstGeom prst="rect">
            <a:avLst/>
          </a:prstGeom>
          <a:noFill/>
          <a:ln>
            <a:noFill/>
          </a:ln>
        </p:spPr>
      </p:pic>
      <p:pic>
        <p:nvPicPr>
          <p:cNvPr id="35" name="Google Shape;35;p12"/>
          <p:cNvPicPr preferRelativeResize="0"/>
          <p:nvPr/>
        </p:nvPicPr>
        <p:blipFill rotWithShape="1">
          <a:blip r:embed="rId3">
            <a:alphaModFix/>
          </a:blip>
          <a:srcRect l="15000" t="43307" r="32291" b="37052"/>
          <a:stretch/>
        </p:blipFill>
        <p:spPr>
          <a:xfrm>
            <a:off x="211666" y="6201820"/>
            <a:ext cx="3590248" cy="656180"/>
          </a:xfrm>
          <a:prstGeom prst="rect">
            <a:avLst/>
          </a:prstGeom>
          <a:noFill/>
          <a:ln>
            <a:noFill/>
          </a:ln>
        </p:spPr>
      </p:pic>
      <p:sp>
        <p:nvSpPr>
          <p:cNvPr id="36" name="Google Shape;36;p12"/>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i="1">
                <a:solidFill>
                  <a:schemeClr val="lt2"/>
                </a:solidFill>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2"/>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chemeClr val="lt1"/>
                </a:solidFill>
                <a:latin typeface="Lato"/>
                <a:ea typeface="Lato"/>
                <a:cs typeface="Lato"/>
                <a:sym typeface="Lato"/>
              </a:defRPr>
            </a:lvl1pPr>
            <a:lvl2pPr marL="0" lvl="1" indent="0" algn="r">
              <a:spcBef>
                <a:spcPts val="0"/>
              </a:spcBef>
              <a:buNone/>
              <a:defRPr sz="1200" b="1" i="0" u="none" strike="noStrike" cap="none">
                <a:solidFill>
                  <a:schemeClr val="lt1"/>
                </a:solidFill>
                <a:latin typeface="Lato"/>
                <a:ea typeface="Lato"/>
                <a:cs typeface="Lato"/>
                <a:sym typeface="Lato"/>
              </a:defRPr>
            </a:lvl2pPr>
            <a:lvl3pPr marL="0" lvl="2" indent="0" algn="r">
              <a:spcBef>
                <a:spcPts val="0"/>
              </a:spcBef>
              <a:buNone/>
              <a:defRPr sz="1200" b="1" i="0" u="none" strike="noStrike" cap="none">
                <a:solidFill>
                  <a:schemeClr val="lt1"/>
                </a:solidFill>
                <a:latin typeface="Lato"/>
                <a:ea typeface="Lato"/>
                <a:cs typeface="Lato"/>
                <a:sym typeface="Lato"/>
              </a:defRPr>
            </a:lvl3pPr>
            <a:lvl4pPr marL="0" lvl="3" indent="0" algn="r">
              <a:spcBef>
                <a:spcPts val="0"/>
              </a:spcBef>
              <a:buNone/>
              <a:defRPr sz="1200" b="1" i="0" u="none" strike="noStrike" cap="none">
                <a:solidFill>
                  <a:schemeClr val="lt1"/>
                </a:solidFill>
                <a:latin typeface="Lato"/>
                <a:ea typeface="Lato"/>
                <a:cs typeface="Lato"/>
                <a:sym typeface="Lato"/>
              </a:defRPr>
            </a:lvl4pPr>
            <a:lvl5pPr marL="0" lvl="4" indent="0" algn="r">
              <a:spcBef>
                <a:spcPts val="0"/>
              </a:spcBef>
              <a:buNone/>
              <a:defRPr sz="1200" b="1" i="0" u="none" strike="noStrike" cap="none">
                <a:solidFill>
                  <a:schemeClr val="lt1"/>
                </a:solidFill>
                <a:latin typeface="Lato"/>
                <a:ea typeface="Lato"/>
                <a:cs typeface="Lato"/>
                <a:sym typeface="Lato"/>
              </a:defRPr>
            </a:lvl5pPr>
            <a:lvl6pPr marL="0" lvl="5" indent="0" algn="r">
              <a:spcBef>
                <a:spcPts val="0"/>
              </a:spcBef>
              <a:buNone/>
              <a:defRPr sz="1200" b="1" i="0" u="none" strike="noStrike" cap="none">
                <a:solidFill>
                  <a:schemeClr val="lt1"/>
                </a:solidFill>
                <a:latin typeface="Lato"/>
                <a:ea typeface="Lato"/>
                <a:cs typeface="Lato"/>
                <a:sym typeface="Lato"/>
              </a:defRPr>
            </a:lvl6pPr>
            <a:lvl7pPr marL="0" lvl="6" indent="0" algn="r">
              <a:spcBef>
                <a:spcPts val="0"/>
              </a:spcBef>
              <a:buNone/>
              <a:defRPr sz="1200" b="1" i="0" u="none" strike="noStrike" cap="none">
                <a:solidFill>
                  <a:schemeClr val="lt1"/>
                </a:solidFill>
                <a:latin typeface="Lato"/>
                <a:ea typeface="Lato"/>
                <a:cs typeface="Lato"/>
                <a:sym typeface="Lato"/>
              </a:defRPr>
            </a:lvl7pPr>
            <a:lvl8pPr marL="0" lvl="7" indent="0" algn="r">
              <a:spcBef>
                <a:spcPts val="0"/>
              </a:spcBef>
              <a:buNone/>
              <a:defRPr sz="1200" b="1" i="0" u="none" strike="noStrike" cap="none">
                <a:solidFill>
                  <a:schemeClr val="lt1"/>
                </a:solidFill>
                <a:latin typeface="Lato"/>
                <a:ea typeface="Lato"/>
                <a:cs typeface="Lato"/>
                <a:sym typeface="Lato"/>
              </a:defRPr>
            </a:lvl8pPr>
            <a:lvl9pPr marL="0" lvl="8" indent="0" algn="r">
              <a:spcBef>
                <a:spcPts val="0"/>
              </a:spcBef>
              <a:buNone/>
              <a:defRPr sz="1200" b="1"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70"/>
        <p:cNvGrpSpPr/>
        <p:nvPr/>
      </p:nvGrpSpPr>
      <p:grpSpPr>
        <a:xfrm>
          <a:off x="0" y="0"/>
          <a:ext cx="0" cy="0"/>
          <a:chOff x="0" y="0"/>
          <a:chExt cx="0" cy="0"/>
        </a:xfrm>
      </p:grpSpPr>
      <p:pic>
        <p:nvPicPr>
          <p:cNvPr id="71" name="Google Shape;71;p17"/>
          <p:cNvPicPr preferRelativeResize="0"/>
          <p:nvPr/>
        </p:nvPicPr>
        <p:blipFill rotWithShape="1">
          <a:blip r:embed="rId2">
            <a:alphaModFix/>
          </a:blip>
          <a:srcRect r="-3333" b="87407"/>
          <a:stretch/>
        </p:blipFill>
        <p:spPr>
          <a:xfrm>
            <a:off x="0" y="0"/>
            <a:ext cx="12598400" cy="431800"/>
          </a:xfrm>
          <a:prstGeom prst="rect">
            <a:avLst/>
          </a:prstGeom>
          <a:noFill/>
          <a:ln>
            <a:noFill/>
          </a:ln>
        </p:spPr>
      </p:pic>
      <p:sp>
        <p:nvSpPr>
          <p:cNvPr id="73" name="Google Shape;73;p17"/>
          <p:cNvSpPr txBox="1">
            <a:spLocks noGrp="1"/>
          </p:cNvSpPr>
          <p:nvPr>
            <p:ph type="title"/>
          </p:nvPr>
        </p:nvSpPr>
        <p:spPr>
          <a:xfrm>
            <a:off x="838200" y="2581306"/>
            <a:ext cx="10515600" cy="1566745"/>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rgbClr val="144E8C"/>
              </a:buClr>
              <a:buSzPts val="9600"/>
              <a:buFont typeface="Lato Black"/>
              <a:buNone/>
              <a:defRPr sz="9600">
                <a:latin typeface="Lato Black"/>
                <a:ea typeface="Lato Black"/>
                <a:cs typeface="Lato Black"/>
                <a:sym typeface="Lato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7"/>
          <p:cNvSpPr txBox="1"/>
          <p:nvPr/>
        </p:nvSpPr>
        <p:spPr>
          <a:xfrm>
            <a:off x="2805445" y="1276338"/>
            <a:ext cx="6410498" cy="688410"/>
          </a:xfrm>
          <a:prstGeom prst="rect">
            <a:avLst/>
          </a:prstGeom>
          <a:noFill/>
          <a:ln>
            <a:noFill/>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Clr>
                <a:srgbClr val="144E8C"/>
              </a:buClr>
              <a:buSzPts val="2000"/>
              <a:buFont typeface="Lato Black"/>
              <a:buNone/>
            </a:pPr>
            <a:r>
              <a:rPr lang="en-US" sz="20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t>ĐẠI HỌC QUỐC GIA THÀNH PHỐ HỒ CHÍ MINH</a:t>
            </a:r>
            <a:br>
              <a:rPr lang="en-US" sz="20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br>
            <a:r>
              <a:rPr lang="en-US" sz="20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t>TRƯỜNG ĐẠI HỌC KINH TẾ - LUẬT</a:t>
            </a:r>
            <a:endParaRPr dirty="0">
              <a:latin typeface="Cambria" panose="02040503050406030204" pitchFamily="18" charset="0"/>
              <a:ea typeface="Cambria" panose="02040503050406030204" pitchFamily="18" charset="0"/>
            </a:endParaRPr>
          </a:p>
        </p:txBody>
      </p:sp>
      <p:pic>
        <p:nvPicPr>
          <p:cNvPr id="2" name="Picture 1" descr="A black background with orange and blue letters&#10;&#10;AI-generated content may be incorrect.">
            <a:extLst>
              <a:ext uri="{FF2B5EF4-FFF2-40B4-BE49-F238E27FC236}">
                <a16:creationId xmlns:a16="http://schemas.microsoft.com/office/drawing/2014/main" id="{ED53AD9A-C69E-70AE-0C10-4BD9BD469474}"/>
              </a:ext>
            </a:extLst>
          </p:cNvPr>
          <p:cNvPicPr>
            <a:picLocks noChangeAspect="1"/>
          </p:cNvPicPr>
          <p:nvPr userDrawn="1"/>
        </p:nvPicPr>
        <p:blipFill>
          <a:blip r:embed="rId3"/>
          <a:stretch>
            <a:fillRect/>
          </a:stretch>
        </p:blipFill>
        <p:spPr>
          <a:xfrm>
            <a:off x="4810125" y="282112"/>
            <a:ext cx="3114675" cy="837297"/>
          </a:xfrm>
          <a:prstGeom prst="rect">
            <a:avLst/>
          </a:prstGeom>
        </p:spPr>
      </p:pic>
      <p:pic>
        <p:nvPicPr>
          <p:cNvPr id="4" name="Picture 3" descr="A building with many windows&#10;&#10;AI-generated content may be incorrect.">
            <a:extLst>
              <a:ext uri="{FF2B5EF4-FFF2-40B4-BE49-F238E27FC236}">
                <a16:creationId xmlns:a16="http://schemas.microsoft.com/office/drawing/2014/main" id="{EC1E6BDF-4BEB-2008-DF3B-361BBA44A129}"/>
              </a:ext>
            </a:extLst>
          </p:cNvPr>
          <p:cNvPicPr>
            <a:picLocks noChangeAspect="1"/>
          </p:cNvPicPr>
          <p:nvPr userDrawn="1"/>
        </p:nvPicPr>
        <p:blipFill>
          <a:blip r:embed="rId4"/>
          <a:stretch>
            <a:fillRect/>
          </a:stretch>
        </p:blipFill>
        <p:spPr>
          <a:xfrm>
            <a:off x="175386" y="4743155"/>
            <a:ext cx="11841227" cy="211484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6"/>
        <p:cNvGrpSpPr/>
        <p:nvPr/>
      </p:nvGrpSpPr>
      <p:grpSpPr>
        <a:xfrm>
          <a:off x="0" y="0"/>
          <a:ext cx="0" cy="0"/>
          <a:chOff x="0" y="0"/>
          <a:chExt cx="0" cy="0"/>
        </a:xfrm>
      </p:grpSpPr>
      <p:sp>
        <p:nvSpPr>
          <p:cNvPr id="77" name="Google Shape;77;p18"/>
          <p:cNvSpPr txBox="1">
            <a:spLocks noGrp="1"/>
          </p:cNvSpPr>
          <p:nvPr>
            <p:ph type="title"/>
          </p:nvPr>
        </p:nvSpPr>
        <p:spPr>
          <a:xfrm>
            <a:off x="839788" y="577547"/>
            <a:ext cx="3932237" cy="129225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44E8C"/>
              </a:buClr>
              <a:buSzPts val="3200"/>
              <a:buFont typeface="Lato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1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9" name="Google Shape;79;p18"/>
          <p:cNvSpPr txBox="1">
            <a:spLocks noGrp="1"/>
          </p:cNvSpPr>
          <p:nvPr>
            <p:ph type="body" idx="2"/>
          </p:nvPr>
        </p:nvSpPr>
        <p:spPr>
          <a:xfrm>
            <a:off x="839788" y="2201630"/>
            <a:ext cx="3932237" cy="366735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80" name="Google Shape;80;p18"/>
          <p:cNvPicPr preferRelativeResize="0"/>
          <p:nvPr/>
        </p:nvPicPr>
        <p:blipFill rotWithShape="1">
          <a:blip r:embed="rId2">
            <a:alphaModFix/>
          </a:blip>
          <a:srcRect r="-3333" b="87407"/>
          <a:stretch/>
        </p:blipFill>
        <p:spPr>
          <a:xfrm flipH="1">
            <a:off x="-406400" y="-1"/>
            <a:ext cx="12598400" cy="431800"/>
          </a:xfrm>
          <a:prstGeom prst="rect">
            <a:avLst/>
          </a:prstGeom>
          <a:noFill/>
          <a:ln>
            <a:noFill/>
          </a:ln>
        </p:spPr>
      </p:pic>
      <p:pic>
        <p:nvPicPr>
          <p:cNvPr id="81" name="Google Shape;81;p18"/>
          <p:cNvPicPr preferRelativeResize="0"/>
          <p:nvPr/>
        </p:nvPicPr>
        <p:blipFill rotWithShape="1">
          <a:blip r:embed="rId3">
            <a:alphaModFix/>
          </a:blip>
          <a:srcRect l="24127" t="66898" r="25919" b="25925"/>
          <a:stretch/>
        </p:blipFill>
        <p:spPr>
          <a:xfrm>
            <a:off x="810734" y="1911095"/>
            <a:ext cx="2855494" cy="115369"/>
          </a:xfrm>
          <a:prstGeom prst="rect">
            <a:avLst/>
          </a:prstGeom>
          <a:noFill/>
          <a:ln>
            <a:noFill/>
          </a:ln>
        </p:spPr>
      </p:pic>
      <p:pic>
        <p:nvPicPr>
          <p:cNvPr id="82" name="Google Shape;82;p18"/>
          <p:cNvPicPr preferRelativeResize="0"/>
          <p:nvPr/>
        </p:nvPicPr>
        <p:blipFill rotWithShape="1">
          <a:blip r:embed="rId4">
            <a:alphaModFix/>
          </a:blip>
          <a:srcRect l="15000" t="43307" r="32291" b="37052"/>
          <a:stretch/>
        </p:blipFill>
        <p:spPr>
          <a:xfrm>
            <a:off x="211666" y="6160255"/>
            <a:ext cx="3590248" cy="656180"/>
          </a:xfrm>
          <a:prstGeom prst="rect">
            <a:avLst/>
          </a:prstGeom>
          <a:noFill/>
          <a:ln>
            <a:noFill/>
          </a:ln>
        </p:spPr>
      </p:pic>
      <p:sp>
        <p:nvSpPr>
          <p:cNvPr id="83" name="Google Shape;83;p18"/>
          <p:cNvSpPr txBox="1">
            <a:spLocks noGrp="1"/>
          </p:cNvSpPr>
          <p:nvPr>
            <p:ph type="ftr" idx="11"/>
          </p:nvPr>
        </p:nvSpPr>
        <p:spPr>
          <a:xfrm>
            <a:off x="728132" y="6387798"/>
            <a:ext cx="2370667" cy="26140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i="1">
                <a:solidFill>
                  <a:schemeClr val="lt2"/>
                </a:solidFill>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8"/>
          <p:cNvSpPr txBox="1">
            <a:spLocks noGrp="1"/>
          </p:cNvSpPr>
          <p:nvPr>
            <p:ph type="sldNum" idx="12"/>
          </p:nvPr>
        </p:nvSpPr>
        <p:spPr>
          <a:xfrm>
            <a:off x="3098799" y="6335940"/>
            <a:ext cx="39793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chemeClr val="lt1"/>
                </a:solidFill>
                <a:latin typeface="Lato"/>
                <a:ea typeface="Lato"/>
                <a:cs typeface="Lato"/>
                <a:sym typeface="Lato"/>
              </a:defRPr>
            </a:lvl1pPr>
            <a:lvl2pPr marL="0" lvl="1" indent="0" algn="r">
              <a:spcBef>
                <a:spcPts val="0"/>
              </a:spcBef>
              <a:buNone/>
              <a:defRPr sz="1200" b="1" i="0" u="none" strike="noStrike" cap="none">
                <a:solidFill>
                  <a:schemeClr val="lt1"/>
                </a:solidFill>
                <a:latin typeface="Lato"/>
                <a:ea typeface="Lato"/>
                <a:cs typeface="Lato"/>
                <a:sym typeface="Lato"/>
              </a:defRPr>
            </a:lvl2pPr>
            <a:lvl3pPr marL="0" lvl="2" indent="0" algn="r">
              <a:spcBef>
                <a:spcPts val="0"/>
              </a:spcBef>
              <a:buNone/>
              <a:defRPr sz="1200" b="1" i="0" u="none" strike="noStrike" cap="none">
                <a:solidFill>
                  <a:schemeClr val="lt1"/>
                </a:solidFill>
                <a:latin typeface="Lato"/>
                <a:ea typeface="Lato"/>
                <a:cs typeface="Lato"/>
                <a:sym typeface="Lato"/>
              </a:defRPr>
            </a:lvl3pPr>
            <a:lvl4pPr marL="0" lvl="3" indent="0" algn="r">
              <a:spcBef>
                <a:spcPts val="0"/>
              </a:spcBef>
              <a:buNone/>
              <a:defRPr sz="1200" b="1" i="0" u="none" strike="noStrike" cap="none">
                <a:solidFill>
                  <a:schemeClr val="lt1"/>
                </a:solidFill>
                <a:latin typeface="Lato"/>
                <a:ea typeface="Lato"/>
                <a:cs typeface="Lato"/>
                <a:sym typeface="Lato"/>
              </a:defRPr>
            </a:lvl4pPr>
            <a:lvl5pPr marL="0" lvl="4" indent="0" algn="r">
              <a:spcBef>
                <a:spcPts val="0"/>
              </a:spcBef>
              <a:buNone/>
              <a:defRPr sz="1200" b="1" i="0" u="none" strike="noStrike" cap="none">
                <a:solidFill>
                  <a:schemeClr val="lt1"/>
                </a:solidFill>
                <a:latin typeface="Lato"/>
                <a:ea typeface="Lato"/>
                <a:cs typeface="Lato"/>
                <a:sym typeface="Lato"/>
              </a:defRPr>
            </a:lvl5pPr>
            <a:lvl6pPr marL="0" lvl="5" indent="0" algn="r">
              <a:spcBef>
                <a:spcPts val="0"/>
              </a:spcBef>
              <a:buNone/>
              <a:defRPr sz="1200" b="1" i="0" u="none" strike="noStrike" cap="none">
                <a:solidFill>
                  <a:schemeClr val="lt1"/>
                </a:solidFill>
                <a:latin typeface="Lato"/>
                <a:ea typeface="Lato"/>
                <a:cs typeface="Lato"/>
                <a:sym typeface="Lato"/>
              </a:defRPr>
            </a:lvl6pPr>
            <a:lvl7pPr marL="0" lvl="6" indent="0" algn="r">
              <a:spcBef>
                <a:spcPts val="0"/>
              </a:spcBef>
              <a:buNone/>
              <a:defRPr sz="1200" b="1" i="0" u="none" strike="noStrike" cap="none">
                <a:solidFill>
                  <a:schemeClr val="lt1"/>
                </a:solidFill>
                <a:latin typeface="Lato"/>
                <a:ea typeface="Lato"/>
                <a:cs typeface="Lato"/>
                <a:sym typeface="Lato"/>
              </a:defRPr>
            </a:lvl7pPr>
            <a:lvl8pPr marL="0" lvl="7" indent="0" algn="r">
              <a:spcBef>
                <a:spcPts val="0"/>
              </a:spcBef>
              <a:buNone/>
              <a:defRPr sz="1200" b="1" i="0" u="none" strike="noStrike" cap="none">
                <a:solidFill>
                  <a:schemeClr val="lt1"/>
                </a:solidFill>
                <a:latin typeface="Lato"/>
                <a:ea typeface="Lato"/>
                <a:cs typeface="Lato"/>
                <a:sym typeface="Lato"/>
              </a:defRPr>
            </a:lvl8pPr>
            <a:lvl9pPr marL="0" lvl="8" indent="0" algn="r">
              <a:spcBef>
                <a:spcPts val="0"/>
              </a:spcBef>
              <a:buNone/>
              <a:defRPr sz="1200" b="1"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Blank" type="blank">
  <p:cSld name="BLANK">
    <p:spTree>
      <p:nvGrpSpPr>
        <p:cNvPr id="1" name="Shape 85"/>
        <p:cNvGrpSpPr/>
        <p:nvPr/>
      </p:nvGrpSpPr>
      <p:grpSpPr>
        <a:xfrm>
          <a:off x="0" y="0"/>
          <a:ext cx="0" cy="0"/>
          <a:chOff x="0" y="0"/>
          <a:chExt cx="0" cy="0"/>
        </a:xfrm>
      </p:grpSpPr>
      <p:sp>
        <p:nvSpPr>
          <p:cNvPr id="86" name="Google Shape;86;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9"/>
          <p:cNvSpPr txBox="1">
            <a:spLocks noGrp="1"/>
          </p:cNvSpPr>
          <p:nvPr>
            <p:ph type="ftr" idx="11"/>
          </p:nvPr>
        </p:nvSpPr>
        <p:spPr>
          <a:xfrm>
            <a:off x="3581400" y="6356350"/>
            <a:ext cx="5029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144E8C"/>
              </a:buClr>
              <a:buSzPts val="4400"/>
              <a:buFont typeface="Lato Black"/>
              <a:buNone/>
              <a:defRPr sz="4400" b="1" i="0" u="none" strike="noStrike" cap="none">
                <a:solidFill>
                  <a:srgbClr val="144E8C"/>
                </a:solidFill>
                <a:latin typeface="Lato Black"/>
                <a:ea typeface="Lato Black"/>
                <a:cs typeface="Lato Black"/>
                <a:sym typeface="Lato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1"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1"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1"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1"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1"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9"/>
          <p:cNvSpPr txBox="1">
            <a:spLocks noGrp="1"/>
          </p:cNvSpPr>
          <p:nvPr>
            <p:ph type="ftr" idx="11"/>
          </p:nvPr>
        </p:nvSpPr>
        <p:spPr>
          <a:xfrm>
            <a:off x="3581400" y="6356350"/>
            <a:ext cx="50292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6" r:id="rId3"/>
    <p:sldLayoutId id="2147483657" r:id="rId4"/>
    <p:sldLayoutId id="2147483658"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thanhtd@uel.edu.v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tranduythanh.com/"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lms.uel.edu.vn/"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tranduythanh.com/webmaterials/Bai-Tap-Phat-Trien-Web-Kinh-Doanh-Nang-Cao.pdf"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scikit-learn.org/" TargetMode="External"/><Relationship Id="rId7" Type="http://schemas.openxmlformats.org/officeDocument/2006/relationships/hyperlink" Target="https://tranduythanh.com/"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s://colab.research.google.com/" TargetMode="External"/><Relationship Id="rId5" Type="http://schemas.openxmlformats.org/officeDocument/2006/relationships/hyperlink" Target="https://www.kaggle.com/" TargetMode="External"/><Relationship Id="rId4" Type="http://schemas.openxmlformats.org/officeDocument/2006/relationships/hyperlink" Target="https://dotnet.microsoft.com/en-us/apps/machinelearning-ai/ml-dotnet"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mailto:thanhtd@uel.edu.vn"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hyperlink" Target="https://tranduythanh.com/"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6" name="Title 1">
            <a:extLst>
              <a:ext uri="{FF2B5EF4-FFF2-40B4-BE49-F238E27FC236}">
                <a16:creationId xmlns:a16="http://schemas.microsoft.com/office/drawing/2014/main" id="{7F9BAC58-9AA6-A91A-085E-F1421DCCF43A}"/>
              </a:ext>
            </a:extLst>
          </p:cNvPr>
          <p:cNvSpPr txBox="1">
            <a:spLocks/>
          </p:cNvSpPr>
          <p:nvPr/>
        </p:nvSpPr>
        <p:spPr bwMode="auto">
          <a:xfrm>
            <a:off x="2003449" y="2025748"/>
            <a:ext cx="8763000" cy="151298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lnSpc>
                <a:spcPct val="150000"/>
              </a:lnSpc>
              <a:defRPr/>
            </a:pPr>
            <a:r>
              <a:rPr lang="en-US" sz="2800" b="0" u="sng" dirty="0" err="1">
                <a:solidFill>
                  <a:srgbClr val="002060"/>
                </a:solidFill>
                <a:latin typeface="Times New Roman" panose="02020603050405020304" pitchFamily="18" charset="0"/>
                <a:cs typeface="Times New Roman" panose="02020603050405020304" pitchFamily="18" charset="0"/>
              </a:rPr>
              <a:t>Giới</a:t>
            </a:r>
            <a:r>
              <a:rPr lang="en-US" sz="2800" b="0" u="sng" dirty="0">
                <a:solidFill>
                  <a:srgbClr val="002060"/>
                </a:solidFill>
                <a:latin typeface="Times New Roman" panose="02020603050405020304" pitchFamily="18" charset="0"/>
                <a:cs typeface="Times New Roman" panose="02020603050405020304" pitchFamily="18" charset="0"/>
              </a:rPr>
              <a:t> </a:t>
            </a:r>
            <a:r>
              <a:rPr lang="en-US" sz="2800" b="0" u="sng" dirty="0" err="1">
                <a:solidFill>
                  <a:srgbClr val="002060"/>
                </a:solidFill>
                <a:latin typeface="Times New Roman" panose="02020603050405020304" pitchFamily="18" charset="0"/>
                <a:cs typeface="Times New Roman" panose="02020603050405020304" pitchFamily="18" charset="0"/>
              </a:rPr>
              <a:t>thiệu</a:t>
            </a:r>
            <a:r>
              <a:rPr lang="en-US" sz="2800" b="0" u="sng" dirty="0">
                <a:solidFill>
                  <a:srgbClr val="002060"/>
                </a:solidFill>
                <a:latin typeface="Times New Roman" panose="02020603050405020304" pitchFamily="18" charset="0"/>
                <a:cs typeface="Times New Roman" panose="02020603050405020304" pitchFamily="18" charset="0"/>
              </a:rPr>
              <a:t> </a:t>
            </a:r>
            <a:r>
              <a:rPr lang="en-US" sz="2800" b="0" u="sng" dirty="0" err="1">
                <a:solidFill>
                  <a:srgbClr val="002060"/>
                </a:solidFill>
                <a:latin typeface="Times New Roman" panose="02020603050405020304" pitchFamily="18" charset="0"/>
                <a:cs typeface="Times New Roman" panose="02020603050405020304" pitchFamily="18" charset="0"/>
              </a:rPr>
              <a:t>môn</a:t>
            </a:r>
            <a:r>
              <a:rPr lang="en-US" sz="2800" b="0" u="sng" dirty="0">
                <a:solidFill>
                  <a:srgbClr val="002060"/>
                </a:solidFill>
                <a:latin typeface="Times New Roman" panose="02020603050405020304" pitchFamily="18" charset="0"/>
                <a:cs typeface="Times New Roman" panose="02020603050405020304" pitchFamily="18" charset="0"/>
              </a:rPr>
              <a:t> </a:t>
            </a:r>
            <a:r>
              <a:rPr lang="en-US" sz="2800" b="0" u="sng" dirty="0" err="1">
                <a:solidFill>
                  <a:srgbClr val="002060"/>
                </a:solidFill>
                <a:latin typeface="Times New Roman" panose="02020603050405020304" pitchFamily="18" charset="0"/>
                <a:cs typeface="Times New Roman" panose="02020603050405020304" pitchFamily="18" charset="0"/>
              </a:rPr>
              <a:t>học</a:t>
            </a:r>
            <a:r>
              <a:rPr lang="en-US" sz="2800" b="0" u="sng" dirty="0">
                <a:solidFill>
                  <a:srgbClr val="002060"/>
                </a:solidFill>
                <a:latin typeface="Times New Roman" panose="02020603050405020304" pitchFamily="18" charset="0"/>
                <a:cs typeface="Times New Roman" panose="02020603050405020304" pitchFamily="18" charset="0"/>
              </a:rPr>
              <a:t>:</a:t>
            </a:r>
            <a:endParaRPr lang="en-US" sz="2800" u="sng" dirty="0">
              <a:solidFill>
                <a:srgbClr val="002060"/>
              </a:solidFill>
              <a:latin typeface="Times New Roman" panose="02020603050405020304" pitchFamily="18" charset="0"/>
              <a:cs typeface="Times New Roman" panose="02020603050405020304" pitchFamily="18" charset="0"/>
            </a:endParaRPr>
          </a:p>
          <a:p>
            <a:pPr>
              <a:lnSpc>
                <a:spcPct val="150000"/>
              </a:lnSpc>
              <a:defRPr/>
            </a:pPr>
            <a:r>
              <a:rPr lang="en-US" sz="2800" kern="0">
                <a:solidFill>
                  <a:srgbClr val="002060"/>
                </a:solidFill>
                <a:latin typeface="Times New Roman" panose="02020603050405020304" pitchFamily="18" charset="0"/>
                <a:cs typeface="Times New Roman" panose="02020603050405020304" pitchFamily="18" charset="0"/>
              </a:rPr>
              <a:t>PHÁT TRIỂN WEB KINH DOANH NÂNG CAO</a:t>
            </a:r>
            <a:endParaRPr lang="en-US" sz="2800" kern="0" dirty="0">
              <a:solidFill>
                <a:srgbClr val="00206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9B20803-11F7-E1E5-2F3E-F97179298A37}"/>
              </a:ext>
            </a:extLst>
          </p:cNvPr>
          <p:cNvSpPr txBox="1"/>
          <p:nvPr/>
        </p:nvSpPr>
        <p:spPr>
          <a:xfrm>
            <a:off x="7720040" y="4262543"/>
            <a:ext cx="3852337" cy="1785104"/>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200" u="sng" dirty="0" err="1">
                <a:latin typeface="Times New Roman" panose="02020603050405020304" pitchFamily="18" charset="0"/>
                <a:cs typeface="Times New Roman" panose="02020603050405020304" pitchFamily="18" charset="0"/>
              </a:rPr>
              <a:t>Giảng</a:t>
            </a:r>
            <a:r>
              <a:rPr lang="en-US" sz="2200" u="sng" dirty="0">
                <a:latin typeface="Times New Roman" panose="02020603050405020304" pitchFamily="18" charset="0"/>
                <a:cs typeface="Times New Roman" panose="02020603050405020304" pitchFamily="18" charset="0"/>
              </a:rPr>
              <a:t> </a:t>
            </a:r>
            <a:r>
              <a:rPr lang="en-US" sz="2200" u="sng" dirty="0" err="1">
                <a:latin typeface="Times New Roman" panose="02020603050405020304" pitchFamily="18" charset="0"/>
                <a:cs typeface="Times New Roman" panose="02020603050405020304" pitchFamily="18" charset="0"/>
              </a:rPr>
              <a:t>viên</a:t>
            </a:r>
            <a:r>
              <a:rPr lang="en-US" sz="2200" u="sng" dirty="0">
                <a:latin typeface="Times New Roman" panose="02020603050405020304" pitchFamily="18" charset="0"/>
                <a:cs typeface="Times New Roman" panose="02020603050405020304" pitchFamily="18" charset="0"/>
              </a:rPr>
              <a:t>:</a:t>
            </a:r>
          </a:p>
          <a:p>
            <a:r>
              <a:rPr lang="en-US" sz="2200" b="1" dirty="0">
                <a:solidFill>
                  <a:srgbClr val="002060"/>
                </a:solidFill>
                <a:latin typeface="Times New Roman" panose="02020603050405020304" pitchFamily="18" charset="0"/>
                <a:cs typeface="Times New Roman" panose="02020603050405020304" pitchFamily="18" charset="0"/>
              </a:rPr>
              <a:t>TS. Trần Duy Thanh</a:t>
            </a:r>
          </a:p>
          <a:p>
            <a:r>
              <a:rPr lang="en-US" sz="2200" dirty="0">
                <a:latin typeface="Times New Roman" panose="02020603050405020304" pitchFamily="18" charset="0"/>
                <a:cs typeface="Times New Roman" panose="02020603050405020304" pitchFamily="18" charset="0"/>
              </a:rPr>
              <a:t>Email: </a:t>
            </a:r>
            <a:r>
              <a:rPr lang="en-US" sz="2200" dirty="0">
                <a:latin typeface="Times New Roman" panose="02020603050405020304" pitchFamily="18" charset="0"/>
                <a:cs typeface="Times New Roman" panose="02020603050405020304" pitchFamily="18" charset="0"/>
                <a:hlinkClick r:id="rId3"/>
              </a:rPr>
              <a:t>thanhtd@uel.edu.vn</a:t>
            </a:r>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Phone: 0987773061</a:t>
            </a:r>
          </a:p>
          <a:p>
            <a:r>
              <a:rPr lang="en-US" sz="2200" dirty="0">
                <a:latin typeface="Times New Roman" panose="02020603050405020304" pitchFamily="18" charset="0"/>
                <a:cs typeface="Times New Roman" panose="02020603050405020304" pitchFamily="18" charset="0"/>
              </a:rPr>
              <a:t>Blog: </a:t>
            </a:r>
            <a:r>
              <a:rPr lang="en-US" sz="2200" dirty="0">
                <a:latin typeface="Times New Roman" panose="02020603050405020304" pitchFamily="18" charset="0"/>
                <a:cs typeface="Times New Roman" panose="02020603050405020304" pitchFamily="18" charset="0"/>
                <a:hlinkClick r:id="rId4"/>
              </a:rPr>
              <a:t>https://tranduythanh.com</a:t>
            </a:r>
            <a:r>
              <a:rPr lang="en-US" sz="2200" dirty="0">
                <a:latin typeface="Times New Roman" panose="02020603050405020304" pitchFamily="18" charset="0"/>
                <a:cs typeface="Times New Roman" panose="02020603050405020304" pitchFamily="18" charset="0"/>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Khoa </a:t>
            </a:r>
            <a:r>
              <a:rPr lang="en-US" dirty="0" err="1"/>
              <a:t>Hệ</a:t>
            </a:r>
            <a:r>
              <a:rPr lang="en-US" dirty="0"/>
              <a:t> </a:t>
            </a:r>
            <a:r>
              <a:rPr lang="en-US" dirty="0" err="1"/>
              <a:t>Thống</a:t>
            </a:r>
            <a:r>
              <a:rPr lang="en-US" dirty="0"/>
              <a:t> Thông Tin</a:t>
            </a:r>
            <a:endParaRPr dirty="0"/>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220327" y="261944"/>
            <a:ext cx="4620576" cy="508000"/>
            <a:chOff x="789624" y="1191463"/>
            <a:chExt cx="4620576"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Thông Tin môn học</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421303" y="923658"/>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buFont typeface="Wingdings" panose="05000000000000000000" pitchFamily="2" charset="2"/>
              <a:buChar char="ü"/>
            </a:pPr>
            <a:r>
              <a:rPr lang="vi-VN" sz="2800" b="1" dirty="0">
                <a:latin typeface="Cambria" panose="02040503050406030204" pitchFamily="18" charset="0"/>
              </a:rPr>
              <a:t>Tên môn học: </a:t>
            </a:r>
            <a:endParaRPr lang="en-US" sz="2800" b="1" dirty="0">
              <a:latin typeface="Cambria" panose="02040503050406030204" pitchFamily="18" charset="0"/>
            </a:endParaRPr>
          </a:p>
          <a:p>
            <a:pPr marL="0" indent="0" algn="ctr">
              <a:buNone/>
            </a:pPr>
            <a:r>
              <a:rPr lang="en-US" sz="2800" b="1">
                <a:latin typeface="Cambria" panose="02040503050406030204" pitchFamily="18" charset="0"/>
              </a:rPr>
              <a:t>PHÁT TRIỂN WEB KINH DOANH NÂNG CAO</a:t>
            </a:r>
            <a:endParaRPr lang="en-US" sz="2800" b="1" dirty="0">
              <a:latin typeface="Cambria" panose="02040503050406030204" pitchFamily="18" charset="0"/>
            </a:endParaRPr>
          </a:p>
          <a:p>
            <a:pPr algn="just">
              <a:buFont typeface="Wingdings" panose="05000000000000000000" pitchFamily="2" charset="2"/>
              <a:buChar char="ü"/>
            </a:pPr>
            <a:r>
              <a:rPr lang="en-US" sz="2800" b="1" dirty="0" err="1">
                <a:latin typeface="Cambria" panose="02040503050406030204" pitchFamily="18" charset="0"/>
              </a:rPr>
              <a:t>Số</a:t>
            </a:r>
            <a:r>
              <a:rPr lang="en-US" sz="2800" b="1" dirty="0">
                <a:latin typeface="Cambria" panose="02040503050406030204" pitchFamily="18" charset="0"/>
              </a:rPr>
              <a:t> </a:t>
            </a:r>
            <a:r>
              <a:rPr lang="en-US" sz="2800" b="1" dirty="0" err="1">
                <a:latin typeface="Cambria" panose="02040503050406030204" pitchFamily="18" charset="0"/>
              </a:rPr>
              <a:t>tín</a:t>
            </a:r>
            <a:r>
              <a:rPr lang="en-US" sz="2800" b="1" dirty="0">
                <a:latin typeface="Cambria" panose="02040503050406030204" pitchFamily="18" charset="0"/>
              </a:rPr>
              <a:t> </a:t>
            </a:r>
            <a:r>
              <a:rPr lang="en-US" sz="2800" b="1" dirty="0" err="1">
                <a:latin typeface="Cambria" panose="02040503050406030204" pitchFamily="18" charset="0"/>
              </a:rPr>
              <a:t>chỉ</a:t>
            </a:r>
            <a:r>
              <a:rPr lang="en-US" sz="2800" b="1">
                <a:latin typeface="Cambria" panose="02040503050406030204" pitchFamily="18" charset="0"/>
              </a:rPr>
              <a:t>: </a:t>
            </a:r>
            <a:r>
              <a:rPr lang="en-US" sz="2800">
                <a:latin typeface="Cambria" panose="02040503050406030204" pitchFamily="18" charset="0"/>
              </a:rPr>
              <a:t>2 </a:t>
            </a:r>
            <a:r>
              <a:rPr lang="en-US" sz="2800" dirty="0" err="1">
                <a:latin typeface="Cambria" panose="02040503050406030204" pitchFamily="18" charset="0"/>
              </a:rPr>
              <a:t>tín</a:t>
            </a:r>
            <a:r>
              <a:rPr lang="en-US" sz="2800" dirty="0">
                <a:latin typeface="Cambria" panose="02040503050406030204" pitchFamily="18" charset="0"/>
              </a:rPr>
              <a:t> </a:t>
            </a:r>
            <a:r>
              <a:rPr lang="en-US" sz="2800" err="1">
                <a:latin typeface="Cambria" panose="02040503050406030204" pitchFamily="18" charset="0"/>
              </a:rPr>
              <a:t>chỉ</a:t>
            </a:r>
            <a:r>
              <a:rPr lang="en-US" sz="2800">
                <a:latin typeface="Cambria" panose="02040503050406030204" pitchFamily="18" charset="0"/>
              </a:rPr>
              <a:t> (1 </a:t>
            </a:r>
            <a:r>
              <a:rPr lang="en-US" sz="2800" dirty="0">
                <a:latin typeface="Cambria" panose="02040503050406030204" pitchFamily="18" charset="0"/>
              </a:rPr>
              <a:t>TC </a:t>
            </a:r>
            <a:r>
              <a:rPr lang="en-US" sz="2800" err="1">
                <a:latin typeface="Cambria" panose="02040503050406030204" pitchFamily="18" charset="0"/>
              </a:rPr>
              <a:t>lý</a:t>
            </a:r>
            <a:r>
              <a:rPr lang="en-US" sz="2800">
                <a:latin typeface="Cambria" panose="02040503050406030204" pitchFamily="18" charset="0"/>
              </a:rPr>
              <a:t> thuyết – 1 Thực hành)</a:t>
            </a:r>
            <a:endParaRPr lang="en-US" sz="2800" dirty="0">
              <a:latin typeface="Cambria" panose="02040503050406030204" pitchFamily="18" charset="0"/>
            </a:endParaRPr>
          </a:p>
          <a:p>
            <a:pPr algn="just">
              <a:buFont typeface="Wingdings" panose="05000000000000000000" pitchFamily="2" charset="2"/>
              <a:buChar char="ü"/>
            </a:pPr>
            <a:r>
              <a:rPr lang="en-US" sz="2800" b="1" dirty="0" err="1">
                <a:latin typeface="Cambria" panose="02040503050406030204" pitchFamily="18" charset="0"/>
              </a:rPr>
              <a:t>Hệ</a:t>
            </a:r>
            <a:r>
              <a:rPr lang="en-US" sz="2800" b="1" dirty="0">
                <a:latin typeface="Cambria" panose="02040503050406030204" pitchFamily="18" charset="0"/>
              </a:rPr>
              <a:t> </a:t>
            </a:r>
            <a:r>
              <a:rPr lang="en-US" sz="2800" b="1" dirty="0" err="1">
                <a:latin typeface="Cambria" panose="02040503050406030204" pitchFamily="18" charset="0"/>
              </a:rPr>
              <a:t>đào</a:t>
            </a:r>
            <a:r>
              <a:rPr lang="en-US" sz="2800" b="1" dirty="0">
                <a:latin typeface="Cambria" panose="02040503050406030204" pitchFamily="18" charset="0"/>
              </a:rPr>
              <a:t> </a:t>
            </a:r>
            <a:r>
              <a:rPr lang="en-US" sz="2800" b="1" dirty="0" err="1">
                <a:latin typeface="Cambria" panose="02040503050406030204" pitchFamily="18" charset="0"/>
              </a:rPr>
              <a:t>tạo</a:t>
            </a:r>
            <a:r>
              <a:rPr lang="en-US" sz="2800" b="1">
                <a:latin typeface="Cambria" panose="02040503050406030204" pitchFamily="18" charset="0"/>
              </a:rPr>
              <a:t>: Đại học</a:t>
            </a:r>
            <a:endParaRPr lang="en-US" sz="2800" dirty="0">
              <a:latin typeface="Cambria" panose="02040503050406030204" pitchFamily="18" charset="0"/>
            </a:endParaRPr>
          </a:p>
          <a:p>
            <a:pPr algn="just">
              <a:buFont typeface="Wingdings" panose="05000000000000000000" pitchFamily="2" charset="2"/>
              <a:buChar char="ü"/>
            </a:pPr>
            <a:r>
              <a:rPr lang="en-US" sz="2800" b="1" dirty="0">
                <a:latin typeface="Cambria" panose="02040503050406030204" pitchFamily="18" charset="0"/>
              </a:rPr>
              <a:t>Khoa </a:t>
            </a:r>
            <a:r>
              <a:rPr lang="en-US" sz="2800" b="1" dirty="0" err="1">
                <a:latin typeface="Cambria" panose="02040503050406030204" pitchFamily="18" charset="0"/>
              </a:rPr>
              <a:t>chủ</a:t>
            </a:r>
            <a:r>
              <a:rPr lang="en-US" sz="2800" b="1" dirty="0">
                <a:latin typeface="Cambria" panose="02040503050406030204" pitchFamily="18" charset="0"/>
              </a:rPr>
              <a:t> </a:t>
            </a:r>
            <a:r>
              <a:rPr lang="en-US" sz="2800" b="1" dirty="0" err="1">
                <a:latin typeface="Cambria" panose="02040503050406030204" pitchFamily="18" charset="0"/>
              </a:rPr>
              <a:t>quản</a:t>
            </a:r>
            <a:r>
              <a:rPr lang="en-US" sz="2800" b="1" dirty="0">
                <a:latin typeface="Cambria" panose="02040503050406030204" pitchFamily="18" charset="0"/>
              </a:rPr>
              <a:t>: </a:t>
            </a:r>
            <a:r>
              <a:rPr lang="en-US" sz="2800" dirty="0" err="1">
                <a:latin typeface="Cambria" panose="02040503050406030204" pitchFamily="18" charset="0"/>
              </a:rPr>
              <a:t>Hệ</a:t>
            </a:r>
            <a:r>
              <a:rPr lang="en-US" sz="2800" dirty="0">
                <a:latin typeface="Cambria" panose="02040503050406030204" pitchFamily="18" charset="0"/>
              </a:rPr>
              <a:t> </a:t>
            </a:r>
            <a:r>
              <a:rPr lang="en-US" sz="2800" dirty="0" err="1">
                <a:latin typeface="Cambria" panose="02040503050406030204" pitchFamily="18" charset="0"/>
              </a:rPr>
              <a:t>thống</a:t>
            </a:r>
            <a:r>
              <a:rPr lang="en-US" sz="2800" dirty="0">
                <a:latin typeface="Cambria" panose="02040503050406030204" pitchFamily="18" charset="0"/>
              </a:rPr>
              <a:t> </a:t>
            </a:r>
            <a:r>
              <a:rPr lang="en-US" sz="2800" dirty="0" err="1">
                <a:latin typeface="Cambria" panose="02040503050406030204" pitchFamily="18" charset="0"/>
              </a:rPr>
              <a:t>thông</a:t>
            </a:r>
            <a:r>
              <a:rPr lang="en-US" sz="2800" dirty="0">
                <a:latin typeface="Cambria" panose="02040503050406030204" pitchFamily="18" charset="0"/>
              </a:rPr>
              <a:t> tin </a:t>
            </a:r>
          </a:p>
          <a:p>
            <a:pPr algn="just">
              <a:buFont typeface="Wingdings" panose="05000000000000000000" pitchFamily="2" charset="2"/>
              <a:buChar char="ü"/>
            </a:pPr>
            <a:r>
              <a:rPr lang="vi-VN" sz="2800" b="1" dirty="0">
                <a:latin typeface="Cambria" panose="02040503050406030204" pitchFamily="18" charset="0"/>
              </a:rPr>
              <a:t>M</a:t>
            </a:r>
            <a:r>
              <a:rPr lang="en-US" sz="2800" b="1" dirty="0" err="1">
                <a:latin typeface="Cambria" panose="02040503050406030204" pitchFamily="18" charset="0"/>
              </a:rPr>
              <a:t>ôn</a:t>
            </a:r>
            <a:r>
              <a:rPr lang="en-US" sz="2800" b="1" dirty="0">
                <a:latin typeface="Cambria" panose="02040503050406030204" pitchFamily="18" charset="0"/>
              </a:rPr>
              <a:t> </a:t>
            </a:r>
            <a:r>
              <a:rPr lang="en-US" sz="2800" b="1" dirty="0" err="1">
                <a:latin typeface="Cambria" panose="02040503050406030204" pitchFamily="18" charset="0"/>
              </a:rPr>
              <a:t>học</a:t>
            </a:r>
            <a:r>
              <a:rPr lang="vi-VN" sz="2800" b="1" dirty="0">
                <a:latin typeface="Cambria" panose="02040503050406030204" pitchFamily="18" charset="0"/>
              </a:rPr>
              <a:t> trước:</a:t>
            </a:r>
            <a:endParaRPr lang="vi-VN" sz="2800" dirty="0">
              <a:latin typeface="Cambria" panose="02040503050406030204" pitchFamily="18" charset="0"/>
            </a:endParaRPr>
          </a:p>
          <a:p>
            <a:pPr algn="just">
              <a:buFont typeface="Wingdings" panose="05000000000000000000" pitchFamily="2" charset="2"/>
              <a:buChar char="ü"/>
            </a:pPr>
            <a:r>
              <a:rPr lang="vi-VN" sz="2800" b="1" dirty="0">
                <a:latin typeface="Cambria" panose="02040503050406030204" pitchFamily="18" charset="0"/>
              </a:rPr>
              <a:t>M</a:t>
            </a:r>
            <a:r>
              <a:rPr lang="en-US" sz="2800" b="1" dirty="0" err="1">
                <a:latin typeface="Cambria" panose="02040503050406030204" pitchFamily="18" charset="0"/>
              </a:rPr>
              <a:t>ôn</a:t>
            </a:r>
            <a:r>
              <a:rPr lang="en-US" sz="2800" b="1" dirty="0">
                <a:latin typeface="Cambria" panose="02040503050406030204" pitchFamily="18" charset="0"/>
              </a:rPr>
              <a:t> </a:t>
            </a:r>
            <a:r>
              <a:rPr lang="en-US" sz="2800" b="1" dirty="0" err="1">
                <a:latin typeface="Cambria" panose="02040503050406030204" pitchFamily="18" charset="0"/>
              </a:rPr>
              <a:t>học</a:t>
            </a:r>
            <a:r>
              <a:rPr lang="vi-VN" sz="2800" b="1" dirty="0">
                <a:latin typeface="Cambria" panose="02040503050406030204" pitchFamily="18" charset="0"/>
              </a:rPr>
              <a:t> song hành:</a:t>
            </a:r>
            <a:endParaRPr lang="vi-VN" sz="2800" dirty="0">
              <a:latin typeface="Cambria" panose="02040503050406030204" pitchFamily="18" charset="0"/>
            </a:endParaRPr>
          </a:p>
          <a:p>
            <a:pPr algn="just">
              <a:buFont typeface="Wingdings" panose="05000000000000000000" pitchFamily="2" charset="2"/>
              <a:buChar char="ü"/>
            </a:pPr>
            <a:r>
              <a:rPr lang="vi-VN" sz="2800" b="1" dirty="0">
                <a:latin typeface="Cambria" panose="02040503050406030204" pitchFamily="18" charset="0"/>
              </a:rPr>
              <a:t>Yêu cầu khác: </a:t>
            </a:r>
            <a:r>
              <a:rPr lang="en-US" sz="2800" dirty="0">
                <a:latin typeface="Cambria" panose="02040503050406030204" pitchFamily="18" charset="0"/>
              </a:rPr>
              <a:t>Học </a:t>
            </a:r>
            <a:r>
              <a:rPr lang="en-US" sz="2800" dirty="0" err="1">
                <a:latin typeface="Cambria" panose="02040503050406030204" pitchFamily="18" charset="0"/>
              </a:rPr>
              <a:t>viên</a:t>
            </a:r>
            <a:r>
              <a:rPr lang="en-US" sz="2800" dirty="0">
                <a:latin typeface="Cambria" panose="02040503050406030204" pitchFamily="18" charset="0"/>
              </a:rPr>
              <a:t> </a:t>
            </a:r>
            <a:r>
              <a:rPr lang="en-US" sz="2800" dirty="0" err="1">
                <a:latin typeface="Cambria" panose="02040503050406030204" pitchFamily="18" charset="0"/>
              </a:rPr>
              <a:t>cần</a:t>
            </a:r>
            <a:r>
              <a:rPr lang="en-US" sz="2800" dirty="0">
                <a:latin typeface="Cambria" panose="02040503050406030204" pitchFamily="18" charset="0"/>
              </a:rPr>
              <a:t> </a:t>
            </a:r>
            <a:r>
              <a:rPr lang="en-US" sz="2800" dirty="0" err="1">
                <a:latin typeface="Cambria" panose="02040503050406030204" pitchFamily="18" charset="0"/>
              </a:rPr>
              <a:t>đi</a:t>
            </a:r>
            <a:r>
              <a:rPr lang="en-US" sz="2800" dirty="0">
                <a:latin typeface="Cambria" panose="02040503050406030204" pitchFamily="18" charset="0"/>
              </a:rPr>
              <a:t> </a:t>
            </a:r>
            <a:r>
              <a:rPr lang="en-US" sz="2800" dirty="0" err="1">
                <a:latin typeface="Cambria" panose="02040503050406030204" pitchFamily="18" charset="0"/>
              </a:rPr>
              <a:t>học</a:t>
            </a:r>
            <a:r>
              <a:rPr lang="en-US" sz="2800" dirty="0">
                <a:latin typeface="Cambria" panose="02040503050406030204" pitchFamily="18" charset="0"/>
              </a:rPr>
              <a:t> </a:t>
            </a:r>
            <a:r>
              <a:rPr lang="en-US" sz="2800" dirty="0" err="1">
                <a:latin typeface="Cambria" panose="02040503050406030204" pitchFamily="18" charset="0"/>
              </a:rPr>
              <a:t>đầy</a:t>
            </a:r>
            <a:r>
              <a:rPr lang="en-US" sz="2800" dirty="0">
                <a:latin typeface="Cambria" panose="02040503050406030204" pitchFamily="18" charset="0"/>
              </a:rPr>
              <a:t> </a:t>
            </a:r>
            <a:r>
              <a:rPr lang="en-US" sz="2800" dirty="0" err="1">
                <a:latin typeface="Cambria" panose="02040503050406030204" pitchFamily="18" charset="0"/>
              </a:rPr>
              <a:t>đủ</a:t>
            </a:r>
            <a:r>
              <a:rPr lang="vi-VN" sz="2800" dirty="0">
                <a:latin typeface="Cambria" panose="02040503050406030204" pitchFamily="18" charset="0"/>
              </a:rPr>
              <a:t>;</a:t>
            </a:r>
            <a:r>
              <a:rPr lang="en-US" sz="2800" dirty="0">
                <a:latin typeface="Cambria" panose="02040503050406030204" pitchFamily="18" charset="0"/>
              </a:rPr>
              <a:t> </a:t>
            </a:r>
            <a:r>
              <a:rPr lang="en-US" sz="2800" dirty="0" err="1">
                <a:latin typeface="Cambria" panose="02040503050406030204" pitchFamily="18" charset="0"/>
              </a:rPr>
              <a:t>chuẩn</a:t>
            </a:r>
            <a:r>
              <a:rPr lang="en-US" sz="2800" dirty="0">
                <a:latin typeface="Cambria" panose="02040503050406030204" pitchFamily="18" charset="0"/>
              </a:rPr>
              <a:t> </a:t>
            </a:r>
            <a:r>
              <a:rPr lang="en-US" sz="2800" dirty="0" err="1">
                <a:latin typeface="Cambria" panose="02040503050406030204" pitchFamily="18" charset="0"/>
              </a:rPr>
              <a:t>bị</a:t>
            </a:r>
            <a:r>
              <a:rPr lang="en-US" sz="2800" dirty="0">
                <a:latin typeface="Cambria" panose="02040503050406030204" pitchFamily="18" charset="0"/>
              </a:rPr>
              <a:t> </a:t>
            </a:r>
            <a:r>
              <a:rPr lang="en-US" sz="2800" dirty="0" err="1">
                <a:latin typeface="Cambria" panose="02040503050406030204" pitchFamily="18" charset="0"/>
              </a:rPr>
              <a:t>trước</a:t>
            </a:r>
            <a:r>
              <a:rPr lang="en-US" sz="2800" dirty="0">
                <a:latin typeface="Cambria" panose="02040503050406030204" pitchFamily="18" charset="0"/>
              </a:rPr>
              <a:t> </a:t>
            </a:r>
            <a:r>
              <a:rPr lang="en-US" sz="2800" dirty="0" err="1">
                <a:latin typeface="Cambria" panose="02040503050406030204" pitchFamily="18" charset="0"/>
              </a:rPr>
              <a:t>tài</a:t>
            </a:r>
            <a:r>
              <a:rPr lang="en-US" sz="2800" dirty="0">
                <a:latin typeface="Cambria" panose="02040503050406030204" pitchFamily="18" charset="0"/>
              </a:rPr>
              <a:t> </a:t>
            </a:r>
            <a:r>
              <a:rPr lang="en-US" sz="2800" dirty="0" err="1">
                <a:latin typeface="Cambria" panose="02040503050406030204" pitchFamily="18" charset="0"/>
              </a:rPr>
              <a:t>liệu</a:t>
            </a:r>
            <a:r>
              <a:rPr lang="en-US" sz="2800" dirty="0">
                <a:latin typeface="Cambria" panose="02040503050406030204" pitchFamily="18" charset="0"/>
              </a:rPr>
              <a:t>;</a:t>
            </a:r>
            <a:r>
              <a:rPr lang="vi-VN" sz="2800" dirty="0">
                <a:latin typeface="Cambria" panose="02040503050406030204" pitchFamily="18" charset="0"/>
              </a:rPr>
              <a:t> đọc và hiểu </a:t>
            </a:r>
            <a:r>
              <a:rPr lang="en-US" sz="2800" dirty="0" err="1">
                <a:latin typeface="Cambria" panose="02040503050406030204" pitchFamily="18" charset="0"/>
              </a:rPr>
              <a:t>được</a:t>
            </a:r>
            <a:r>
              <a:rPr lang="en-US" sz="2800" dirty="0">
                <a:latin typeface="Cambria" panose="02040503050406030204" pitchFamily="18" charset="0"/>
              </a:rPr>
              <a:t> </a:t>
            </a:r>
            <a:r>
              <a:rPr lang="vi-VN" sz="2800" dirty="0">
                <a:latin typeface="Cambria" panose="02040503050406030204" pitchFamily="18" charset="0"/>
              </a:rPr>
              <a:t>các tài liệu bằng tiếng Anh.</a:t>
            </a:r>
            <a:r>
              <a:rPr lang="en-US" sz="2800" dirty="0">
                <a:latin typeface="Cambria" panose="02040503050406030204" pitchFamily="18" charset="0"/>
              </a:rPr>
              <a:t> </a:t>
            </a:r>
            <a:r>
              <a:rPr lang="en-US" sz="2800" dirty="0" err="1">
                <a:latin typeface="Cambria" panose="02040503050406030204" pitchFamily="18" charset="0"/>
              </a:rPr>
              <a:t>Làm</a:t>
            </a:r>
            <a:r>
              <a:rPr lang="en-US" sz="2800" dirty="0">
                <a:latin typeface="Cambria" panose="02040503050406030204" pitchFamily="18" charset="0"/>
              </a:rPr>
              <a:t> </a:t>
            </a:r>
            <a:r>
              <a:rPr lang="en-US" sz="2800" dirty="0" err="1">
                <a:latin typeface="Cambria" panose="02040503050406030204" pitchFamily="18" charset="0"/>
              </a:rPr>
              <a:t>và</a:t>
            </a:r>
            <a:r>
              <a:rPr lang="en-US" sz="2800" dirty="0">
                <a:latin typeface="Cambria" panose="02040503050406030204" pitchFamily="18" charset="0"/>
              </a:rPr>
              <a:t> </a:t>
            </a:r>
            <a:r>
              <a:rPr lang="en-US" sz="2800" dirty="0" err="1">
                <a:latin typeface="Cambria" panose="02040503050406030204" pitchFamily="18" charset="0"/>
              </a:rPr>
              <a:t>nộp</a:t>
            </a:r>
            <a:r>
              <a:rPr lang="en-US" sz="2800" dirty="0">
                <a:latin typeface="Cambria" panose="02040503050406030204" pitchFamily="18" charset="0"/>
              </a:rPr>
              <a:t> </a:t>
            </a:r>
            <a:r>
              <a:rPr lang="en-US" sz="2800" dirty="0" err="1">
                <a:latin typeface="Cambria" panose="02040503050406030204" pitchFamily="18" charset="0"/>
              </a:rPr>
              <a:t>bài</a:t>
            </a:r>
            <a:r>
              <a:rPr lang="en-US" sz="2800" dirty="0">
                <a:latin typeface="Cambria" panose="02040503050406030204" pitchFamily="18" charset="0"/>
              </a:rPr>
              <a:t> </a:t>
            </a:r>
            <a:r>
              <a:rPr lang="en-US" sz="2800" dirty="0" err="1">
                <a:latin typeface="Cambria" panose="02040503050406030204" pitchFamily="18" charset="0"/>
              </a:rPr>
              <a:t>tập</a:t>
            </a:r>
            <a:r>
              <a:rPr lang="en-US" sz="2800" dirty="0">
                <a:latin typeface="Cambria" panose="02040503050406030204" pitchFamily="18" charset="0"/>
              </a:rPr>
              <a:t> </a:t>
            </a:r>
            <a:r>
              <a:rPr lang="en-US" sz="2800" dirty="0" err="1">
                <a:latin typeface="Cambria" panose="02040503050406030204" pitchFamily="18" charset="0"/>
              </a:rPr>
              <a:t>đầy</a:t>
            </a:r>
            <a:r>
              <a:rPr lang="en-US" sz="2800" dirty="0">
                <a:latin typeface="Cambria" panose="02040503050406030204" pitchFamily="18" charset="0"/>
              </a:rPr>
              <a:t> </a:t>
            </a:r>
            <a:r>
              <a:rPr lang="en-US" sz="2800" dirty="0" err="1">
                <a:latin typeface="Cambria" panose="02040503050406030204" pitchFamily="18" charset="0"/>
              </a:rPr>
              <a:t>đủ</a:t>
            </a:r>
            <a:r>
              <a:rPr lang="en-US" sz="2800" dirty="0">
                <a:latin typeface="Cambria" panose="02040503050406030204" pitchFamily="18" charset="0"/>
              </a:rPr>
              <a:t>.</a:t>
            </a:r>
            <a:endParaRPr lang="vi-VN" sz="2800" dirty="0">
              <a:latin typeface="Cambria" panose="02040503050406030204" pitchFamily="18" charset="0"/>
            </a:endParaRPr>
          </a:p>
          <a:p>
            <a:pPr algn="just">
              <a:buFont typeface="Wingdings" panose="05000000000000000000" pitchFamily="2" charset="2"/>
              <a:buChar char="ü"/>
            </a:pPr>
            <a:endParaRPr lang="en-US" sz="2800" dirty="0">
              <a:latin typeface="Cambria" panose="02040503050406030204" pitchFamily="18" charset="0"/>
            </a:endParaRPr>
          </a:p>
          <a:p>
            <a:pPr algn="just">
              <a:buFont typeface="Wingdings" panose="05000000000000000000" pitchFamily="2" charset="2"/>
              <a:buChar char="ü"/>
            </a:pPr>
            <a:endParaRPr lang="en-US" sz="2800" dirty="0">
              <a:latin typeface="Cambria" panose="02040503050406030204" pitchFamily="18" charset="0"/>
            </a:endParaRPr>
          </a:p>
        </p:txBody>
      </p:sp>
    </p:spTree>
    <p:extLst>
      <p:ext uri="{BB962C8B-B14F-4D97-AF65-F5344CB8AC3E}">
        <p14:creationId xmlns:p14="http://schemas.microsoft.com/office/powerpoint/2010/main" val="37031455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262128" y="261944"/>
            <a:ext cx="4620576" cy="508000"/>
            <a:chOff x="789624" y="1191463"/>
            <a:chExt cx="4620576"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Mô tả tóm tắt </a:t>
              </a:r>
              <a:r>
                <a:rPr lang="en-US" sz="2800" b="1" dirty="0" err="1">
                  <a:latin typeface="Cambria" panose="02040503050406030204" pitchFamily="18" charset="0"/>
                </a:rPr>
                <a:t>môn</a:t>
              </a:r>
              <a:r>
                <a:rPr lang="en-US" sz="2800" b="1" dirty="0">
                  <a:latin typeface="Cambria" panose="02040503050406030204" pitchFamily="18" charset="0"/>
                </a:rPr>
                <a:t> </a:t>
              </a:r>
              <a:r>
                <a:rPr lang="en-US" sz="2800" b="1" dirty="0" err="1">
                  <a:latin typeface="Cambria" panose="02040503050406030204" pitchFamily="18" charset="0"/>
                </a:rPr>
                <a:t>học</a:t>
              </a:r>
              <a:endParaRPr lang="en-US" sz="2800" b="1"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381000" y="821802"/>
            <a:ext cx="11430000" cy="5503844"/>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50000"/>
              </a:lnSpc>
              <a:buNone/>
            </a:pPr>
            <a:r>
              <a:rPr lang="vi-VN" sz="2400">
                <a:latin typeface="Cambria" panose="02040503050406030204" pitchFamily="18" charset="0"/>
              </a:rPr>
              <a:t>Môn học cung cấp kiến thức và kỹ năng xây dựng ứng dụng web hiện đại dựa trên Angular Framework – một nền tảng phát triển ứng dụng phía client phổ biến. Sinh viên sẽ được học từ cơ bản đến nâng cao về kiến trúc Angular, thao tác với Components, Modules, Services, kỹ thuật Binding, xử lý Form, Routing, và bảo mật. Môn học cũng hướng dẫn tích hợp Angular với các dịch vụ RESTful API xây dựng bằng NodeJS – ExpressJS – MongoDB, qua đó giúp sinh viên phát triển ứng dụng toàn diện full-stack. Học phần nhấn mạnh phương pháp thực hành "học làm ngay", giúp sinh viên vừa học vừa xây dựng được ứng dụng Angular thực tế, sẵn sàng cho công việc lập trình web hiện đại.</a:t>
            </a:r>
            <a:endParaRPr lang="en-US" sz="2400" dirty="0">
              <a:latin typeface="Cambria" panose="02040503050406030204" pitchFamily="18" charset="0"/>
            </a:endParaRPr>
          </a:p>
        </p:txBody>
      </p:sp>
    </p:spTree>
    <p:extLst>
      <p:ext uri="{BB962C8B-B14F-4D97-AF65-F5344CB8AC3E}">
        <p14:creationId xmlns:p14="http://schemas.microsoft.com/office/powerpoint/2010/main" val="27034598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D98241D-6274-52A3-B692-DEF806D8112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DF44BB29-D3E8-0D76-08CA-4D92805E0EE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7CAC05B6-150A-9A0B-4600-FC8C00EF6B34}"/>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grpSp>
        <p:nvGrpSpPr>
          <p:cNvPr id="2" name="Group 1">
            <a:extLst>
              <a:ext uri="{FF2B5EF4-FFF2-40B4-BE49-F238E27FC236}">
                <a16:creationId xmlns:a16="http://schemas.microsoft.com/office/drawing/2014/main" id="{92E2C193-9634-DF7E-5428-4BA22E64962E}"/>
              </a:ext>
            </a:extLst>
          </p:cNvPr>
          <p:cNvGrpSpPr/>
          <p:nvPr/>
        </p:nvGrpSpPr>
        <p:grpSpPr>
          <a:xfrm>
            <a:off x="262128" y="261944"/>
            <a:ext cx="4620576" cy="508000"/>
            <a:chOff x="789624" y="1191463"/>
            <a:chExt cx="4620576" cy="508000"/>
          </a:xfrm>
        </p:grpSpPr>
        <p:sp>
          <p:nvSpPr>
            <p:cNvPr id="3" name="AutoShape 52">
              <a:extLst>
                <a:ext uri="{FF2B5EF4-FFF2-40B4-BE49-F238E27FC236}">
                  <a16:creationId xmlns:a16="http://schemas.microsoft.com/office/drawing/2014/main" id="{65E0D51A-42F0-57B6-72CD-BCE755E5C209}"/>
                </a:ext>
              </a:extLst>
            </p:cNvPr>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dirty="0" err="1">
                  <a:latin typeface="Cambria" panose="02040503050406030204" pitchFamily="18" charset="0"/>
                </a:rPr>
                <a:t>Mục</a:t>
              </a:r>
              <a:r>
                <a:rPr lang="en-US" sz="2800" b="1" dirty="0">
                  <a:latin typeface="Cambria" panose="02040503050406030204" pitchFamily="18" charset="0"/>
                </a:rPr>
                <a:t> </a:t>
              </a:r>
              <a:r>
                <a:rPr lang="en-US" sz="2800" b="1" dirty="0" err="1">
                  <a:latin typeface="Cambria" panose="02040503050406030204" pitchFamily="18" charset="0"/>
                </a:rPr>
                <a:t>tiêu</a:t>
              </a:r>
              <a:r>
                <a:rPr lang="en-US" sz="2800" b="1" dirty="0">
                  <a:latin typeface="Cambria" panose="02040503050406030204" pitchFamily="18" charset="0"/>
                </a:rPr>
                <a:t> </a:t>
              </a:r>
              <a:r>
                <a:rPr lang="en-US" sz="2800" b="1" dirty="0" err="1">
                  <a:latin typeface="Cambria" panose="02040503050406030204" pitchFamily="18" charset="0"/>
                </a:rPr>
                <a:t>môn</a:t>
              </a:r>
              <a:r>
                <a:rPr lang="en-US" sz="2800" b="1" dirty="0">
                  <a:latin typeface="Cambria" panose="02040503050406030204" pitchFamily="18" charset="0"/>
                </a:rPr>
                <a:t> </a:t>
              </a:r>
              <a:r>
                <a:rPr lang="en-US" sz="2800" b="1" dirty="0" err="1">
                  <a:latin typeface="Cambria" panose="02040503050406030204" pitchFamily="18" charset="0"/>
                </a:rPr>
                <a:t>học</a:t>
              </a:r>
              <a:endParaRPr lang="en-US" sz="2800" b="1"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0AEBF66F-8A45-DA1E-846A-A3ACF98A43C9}"/>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A5FEF9A-E2C2-9FA6-FBA8-903DAB723E44}"/>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7E981D2-F9AE-78B0-1632-50DD4F11761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E4BD9E2A-54CA-66E5-79D4-8BC324A6F27E}"/>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E05E0E56-CC12-18DC-83BB-806B028CDA74}"/>
              </a:ext>
            </a:extLst>
          </p:cNvPr>
          <p:cNvSpPr txBox="1">
            <a:spLocks/>
          </p:cNvSpPr>
          <p:nvPr/>
        </p:nvSpPr>
        <p:spPr>
          <a:xfrm>
            <a:off x="381000" y="821802"/>
            <a:ext cx="11430000" cy="5503844"/>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50000"/>
              </a:lnSpc>
              <a:buNone/>
            </a:pPr>
            <a:r>
              <a:rPr lang="en-US" sz="2400" dirty="0">
                <a:latin typeface="Cambria" panose="02040503050406030204" pitchFamily="18" charset="0"/>
              </a:rPr>
              <a:t>Sau </a:t>
            </a:r>
            <a:r>
              <a:rPr lang="en-US" sz="2400" dirty="0" err="1">
                <a:latin typeface="Cambria" panose="02040503050406030204" pitchFamily="18" charset="0"/>
              </a:rPr>
              <a:t>khi</a:t>
            </a:r>
            <a:r>
              <a:rPr lang="en-US" sz="2400" dirty="0">
                <a:latin typeface="Cambria" panose="02040503050406030204" pitchFamily="18" charset="0"/>
              </a:rPr>
              <a:t> </a:t>
            </a:r>
            <a:r>
              <a:rPr lang="en-US" sz="2400" dirty="0" err="1">
                <a:latin typeface="Cambria" panose="02040503050406030204" pitchFamily="18" charset="0"/>
              </a:rPr>
              <a:t>học</a:t>
            </a:r>
            <a:r>
              <a:rPr lang="en-US" sz="2400" dirty="0">
                <a:latin typeface="Cambria" panose="02040503050406030204" pitchFamily="18" charset="0"/>
              </a:rPr>
              <a:t> </a:t>
            </a:r>
            <a:r>
              <a:rPr lang="en-US" sz="2400" dirty="0" err="1">
                <a:latin typeface="Cambria" panose="02040503050406030204" pitchFamily="18" charset="0"/>
              </a:rPr>
              <a:t>xong</a:t>
            </a:r>
            <a:r>
              <a:rPr lang="en-US" sz="2400" dirty="0">
                <a:latin typeface="Cambria" panose="02040503050406030204" pitchFamily="18" charset="0"/>
              </a:rPr>
              <a:t> </a:t>
            </a:r>
            <a:r>
              <a:rPr lang="en-US" sz="2400" dirty="0" err="1">
                <a:latin typeface="Cambria" panose="02040503050406030204" pitchFamily="18" charset="0"/>
              </a:rPr>
              <a:t>môn</a:t>
            </a:r>
            <a:r>
              <a:rPr lang="en-US" sz="2400" dirty="0">
                <a:latin typeface="Cambria" panose="02040503050406030204" pitchFamily="18" charset="0"/>
              </a:rPr>
              <a:t> </a:t>
            </a:r>
            <a:r>
              <a:rPr lang="en-US" sz="2400" dirty="0" err="1">
                <a:latin typeface="Cambria" panose="02040503050406030204" pitchFamily="18" charset="0"/>
              </a:rPr>
              <a:t>học</a:t>
            </a:r>
            <a:r>
              <a:rPr lang="en-US" sz="2400" dirty="0">
                <a:latin typeface="Cambria" panose="02040503050406030204" pitchFamily="18" charset="0"/>
              </a:rPr>
              <a:t>, Học </a:t>
            </a:r>
            <a:r>
              <a:rPr lang="en-US" sz="2400" dirty="0" err="1">
                <a:latin typeface="Cambria" panose="02040503050406030204" pitchFamily="18" charset="0"/>
              </a:rPr>
              <a:t>viên</a:t>
            </a:r>
            <a:r>
              <a:rPr lang="en-US" sz="2400" dirty="0">
                <a:latin typeface="Cambria" panose="02040503050406030204" pitchFamily="18" charset="0"/>
              </a:rPr>
              <a:t> </a:t>
            </a:r>
            <a:r>
              <a:rPr lang="en-US" sz="2400" dirty="0" err="1">
                <a:latin typeface="Cambria" panose="02040503050406030204" pitchFamily="18" charset="0"/>
              </a:rPr>
              <a:t>nắm</a:t>
            </a:r>
            <a:r>
              <a:rPr lang="en-US" sz="2400" dirty="0">
                <a:latin typeface="Cambria" panose="02040503050406030204" pitchFamily="18" charset="0"/>
              </a:rPr>
              <a:t> </a:t>
            </a:r>
            <a:r>
              <a:rPr lang="en-US" sz="2400" dirty="0" err="1">
                <a:latin typeface="Cambria" panose="02040503050406030204" pitchFamily="18" charset="0"/>
              </a:rPr>
              <a:t>rõ</a:t>
            </a:r>
            <a:r>
              <a:rPr lang="en-US" sz="2400" dirty="0">
                <a:latin typeface="Cambria" panose="02040503050406030204" pitchFamily="18" charset="0"/>
              </a:rPr>
              <a:t> </a:t>
            </a:r>
            <a:r>
              <a:rPr lang="en-US" sz="2400" dirty="0" err="1">
                <a:latin typeface="Cambria" panose="02040503050406030204" pitchFamily="18" charset="0"/>
              </a:rPr>
              <a:t>và</a:t>
            </a:r>
            <a:r>
              <a:rPr lang="en-US" sz="2400" dirty="0">
                <a:latin typeface="Cambria" panose="02040503050406030204" pitchFamily="18" charset="0"/>
              </a:rPr>
              <a:t> </a:t>
            </a:r>
            <a:r>
              <a:rPr lang="en-US" sz="2400" dirty="0" err="1">
                <a:latin typeface="Cambria" panose="02040503050406030204" pitchFamily="18" charset="0"/>
              </a:rPr>
              <a:t>thực</a:t>
            </a:r>
            <a:r>
              <a:rPr lang="en-US" sz="2400" dirty="0">
                <a:latin typeface="Cambria" panose="02040503050406030204" pitchFamily="18" charset="0"/>
              </a:rPr>
              <a:t> </a:t>
            </a:r>
            <a:r>
              <a:rPr lang="en-US" sz="2400" dirty="0" err="1">
                <a:latin typeface="Cambria" panose="02040503050406030204" pitchFamily="18" charset="0"/>
              </a:rPr>
              <a:t>hiện</a:t>
            </a:r>
            <a:r>
              <a:rPr lang="en-US" sz="2400" dirty="0">
                <a:latin typeface="Cambria" panose="02040503050406030204" pitchFamily="18" charset="0"/>
              </a:rPr>
              <a:t> </a:t>
            </a:r>
            <a:r>
              <a:rPr lang="en-US" sz="2400" dirty="0" err="1">
                <a:latin typeface="Cambria" panose="02040503050406030204" pitchFamily="18" charset="0"/>
              </a:rPr>
              <a:t>tốt</a:t>
            </a:r>
            <a:r>
              <a:rPr lang="en-US" sz="2400" dirty="0">
                <a:latin typeface="Cambria" panose="02040503050406030204" pitchFamily="18" charset="0"/>
              </a:rPr>
              <a:t> </a:t>
            </a:r>
            <a:r>
              <a:rPr lang="en-US" sz="2400" dirty="0" err="1">
                <a:latin typeface="Cambria" panose="02040503050406030204" pitchFamily="18" charset="0"/>
              </a:rPr>
              <a:t>các</a:t>
            </a:r>
            <a:r>
              <a:rPr lang="en-US" sz="2400" dirty="0">
                <a:latin typeface="Cambria" panose="02040503050406030204" pitchFamily="18" charset="0"/>
              </a:rPr>
              <a:t> </a:t>
            </a:r>
            <a:r>
              <a:rPr lang="en-US" sz="2400" dirty="0" err="1">
                <a:latin typeface="Cambria" panose="02040503050406030204" pitchFamily="18" charset="0"/>
              </a:rPr>
              <a:t>mục</a:t>
            </a:r>
            <a:r>
              <a:rPr lang="en-US" sz="2400" dirty="0">
                <a:latin typeface="Cambria" panose="02040503050406030204" pitchFamily="18" charset="0"/>
              </a:rPr>
              <a:t> </a:t>
            </a:r>
            <a:r>
              <a:rPr lang="en-US" sz="2400" dirty="0" err="1">
                <a:latin typeface="Cambria" panose="02040503050406030204" pitchFamily="18" charset="0"/>
              </a:rPr>
              <a:t>tiêu</a:t>
            </a:r>
            <a:r>
              <a:rPr lang="en-US" sz="2400" dirty="0">
                <a:latin typeface="Cambria" panose="02040503050406030204" pitchFamily="18" charset="0"/>
              </a:rPr>
              <a:t> </a:t>
            </a:r>
            <a:r>
              <a:rPr lang="en-US" sz="2400" dirty="0" err="1">
                <a:latin typeface="Cambria" panose="02040503050406030204" pitchFamily="18" charset="0"/>
              </a:rPr>
              <a:t>dưới</a:t>
            </a:r>
            <a:r>
              <a:rPr lang="en-US" sz="2400" dirty="0">
                <a:latin typeface="Cambria" panose="02040503050406030204" pitchFamily="18" charset="0"/>
              </a:rPr>
              <a:t> </a:t>
            </a:r>
            <a:r>
              <a:rPr lang="en-US" sz="2400" dirty="0" err="1">
                <a:latin typeface="Cambria" panose="02040503050406030204" pitchFamily="18" charset="0"/>
              </a:rPr>
              <a:t>đây</a:t>
            </a:r>
            <a:r>
              <a:rPr lang="en-US" sz="2400" dirty="0">
                <a:latin typeface="Cambria" panose="02040503050406030204" pitchFamily="18" charset="0"/>
              </a:rPr>
              <a:t>:</a:t>
            </a:r>
          </a:p>
          <a:p>
            <a:pPr algn="just">
              <a:lnSpc>
                <a:spcPct val="150000"/>
              </a:lnSpc>
              <a:buFont typeface="Wingdings" panose="05000000000000000000" pitchFamily="2" charset="2"/>
              <a:buChar char="ü"/>
            </a:pPr>
            <a:r>
              <a:rPr lang="en-US" sz="2400" b="1">
                <a:latin typeface="Cambria" panose="02040503050406030204" pitchFamily="18" charset="0"/>
              </a:rPr>
              <a:t>CO1: </a:t>
            </a:r>
            <a:r>
              <a:rPr lang="vi-VN" sz="2400">
                <a:latin typeface="Cambria" panose="02040503050406030204" pitchFamily="18" charset="0"/>
              </a:rPr>
              <a:t>Hiểu và áp dụng thành thạo kiến trúc Angular để xây dựng các ứng dụng web hiện đại, dễ bảo trì với cấu trúc component, module, service và routing chuẩn hóa.</a:t>
            </a:r>
          </a:p>
          <a:p>
            <a:pPr algn="just">
              <a:lnSpc>
                <a:spcPct val="150000"/>
              </a:lnSpc>
              <a:buFont typeface="Wingdings" panose="05000000000000000000" pitchFamily="2" charset="2"/>
              <a:buChar char="ü"/>
            </a:pPr>
            <a:r>
              <a:rPr lang="en-US" sz="2400" b="1">
                <a:latin typeface="Cambria" panose="02040503050406030204" pitchFamily="18" charset="0"/>
              </a:rPr>
              <a:t>CO2: </a:t>
            </a:r>
            <a:r>
              <a:rPr lang="vi-VN" sz="2400">
                <a:latin typeface="Cambria" panose="02040503050406030204" pitchFamily="18" charset="0"/>
              </a:rPr>
              <a:t>Phát triển ứng dụng full-stack bằng cách kết nối Angular với RESTful API sử dụng NodeJS, ExpressJS và MongoDB, từ đó tạo nên hệ thống hoàn chỉnh từ frontend đến backend.</a:t>
            </a:r>
          </a:p>
          <a:p>
            <a:pPr algn="just">
              <a:lnSpc>
                <a:spcPct val="150000"/>
              </a:lnSpc>
              <a:buFont typeface="Wingdings" panose="05000000000000000000" pitchFamily="2" charset="2"/>
              <a:buChar char="ü"/>
            </a:pPr>
            <a:r>
              <a:rPr lang="en-US" sz="2400" b="1">
                <a:latin typeface="Cambria" panose="02040503050406030204" pitchFamily="18" charset="0"/>
              </a:rPr>
              <a:t>CO3: </a:t>
            </a:r>
            <a:r>
              <a:rPr lang="vi-VN" sz="2400">
                <a:latin typeface="Cambria" panose="02040503050406030204" pitchFamily="18" charset="0"/>
              </a:rPr>
              <a:t>Vận dụng công nghệ máy học tích hợp vào website Angular, giúp nâng cao trải nghiệm người dùng và tăng hiệu quả tương tác trong các hệ thống thương mại điện tử và đề xuất sản phẩm.</a:t>
            </a:r>
          </a:p>
          <a:p>
            <a:pPr algn="just">
              <a:lnSpc>
                <a:spcPct val="150000"/>
              </a:lnSpc>
              <a:buFont typeface="Wingdings" panose="05000000000000000000" pitchFamily="2" charset="2"/>
              <a:buChar char="ü"/>
            </a:pPr>
            <a:endParaRPr lang="en-US" sz="2400" dirty="0">
              <a:latin typeface="Cambria" panose="02040503050406030204" pitchFamily="18" charset="0"/>
            </a:endParaRPr>
          </a:p>
        </p:txBody>
      </p:sp>
    </p:spTree>
    <p:extLst>
      <p:ext uri="{BB962C8B-B14F-4D97-AF65-F5344CB8AC3E}">
        <p14:creationId xmlns:p14="http://schemas.microsoft.com/office/powerpoint/2010/main" val="1189858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63881" y="234477"/>
            <a:ext cx="4620576" cy="508000"/>
            <a:chOff x="789624" y="1191463"/>
            <a:chExt cx="4620576"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dirty="0" err="1">
                  <a:latin typeface="Cambria" panose="02040503050406030204" pitchFamily="18" charset="0"/>
                </a:rPr>
                <a:t>Chuẩn</a:t>
              </a:r>
              <a:r>
                <a:rPr lang="en-US" sz="2800" b="1" dirty="0">
                  <a:latin typeface="Cambria" panose="02040503050406030204" pitchFamily="18" charset="0"/>
                </a:rPr>
                <a:t> </a:t>
              </a:r>
              <a:r>
                <a:rPr lang="en-US" sz="2800" b="1" dirty="0" err="1">
                  <a:latin typeface="Cambria" panose="02040503050406030204" pitchFamily="18" charset="0"/>
                </a:rPr>
                <a:t>đầu</a:t>
              </a:r>
              <a:r>
                <a:rPr lang="en-US" sz="2800" b="1" dirty="0">
                  <a:latin typeface="Cambria" panose="02040503050406030204" pitchFamily="18" charset="0"/>
                </a:rPr>
                <a:t> </a:t>
              </a:r>
              <a:r>
                <a:rPr lang="en-US" sz="2800" b="1" dirty="0" err="1">
                  <a:latin typeface="Cambria" panose="02040503050406030204" pitchFamily="18" charset="0"/>
                </a:rPr>
                <a:t>ra</a:t>
              </a:r>
              <a:r>
                <a:rPr lang="en-US" sz="2800" b="1" dirty="0">
                  <a:latin typeface="Cambria" panose="02040503050406030204" pitchFamily="18" charset="0"/>
                </a:rPr>
                <a:t> </a:t>
              </a:r>
              <a:r>
                <a:rPr lang="en-US" sz="2800" b="1" dirty="0" err="1">
                  <a:latin typeface="Cambria" panose="02040503050406030204" pitchFamily="18" charset="0"/>
                </a:rPr>
                <a:t>môn</a:t>
              </a:r>
              <a:r>
                <a:rPr lang="en-US" sz="2800" b="1" dirty="0">
                  <a:latin typeface="Cambria" panose="02040503050406030204" pitchFamily="18" charset="0"/>
                </a:rPr>
                <a:t> </a:t>
              </a:r>
              <a:r>
                <a:rPr lang="en-US" sz="2800" b="1" dirty="0" err="1">
                  <a:latin typeface="Cambria" panose="02040503050406030204" pitchFamily="18" charset="0"/>
                </a:rPr>
                <a:t>học</a:t>
              </a:r>
              <a:endParaRPr lang="en-US" sz="2800" b="1"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graphicFrame>
        <p:nvGraphicFramePr>
          <p:cNvPr id="9" name="Table 8">
            <a:extLst>
              <a:ext uri="{FF2B5EF4-FFF2-40B4-BE49-F238E27FC236}">
                <a16:creationId xmlns:a16="http://schemas.microsoft.com/office/drawing/2014/main" id="{1A4AF577-1841-3CE1-9745-B27E6AEA8D9B}"/>
              </a:ext>
            </a:extLst>
          </p:cNvPr>
          <p:cNvGraphicFramePr>
            <a:graphicFrameLocks noGrp="1"/>
          </p:cNvGraphicFramePr>
          <p:nvPr>
            <p:extLst>
              <p:ext uri="{D42A27DB-BD31-4B8C-83A1-F6EECF244321}">
                <p14:modId xmlns:p14="http://schemas.microsoft.com/office/powerpoint/2010/main" val="1777066323"/>
              </p:ext>
            </p:extLst>
          </p:nvPr>
        </p:nvGraphicFramePr>
        <p:xfrm>
          <a:off x="364857" y="1032785"/>
          <a:ext cx="11505279" cy="3793803"/>
        </p:xfrm>
        <a:graphic>
          <a:graphicData uri="http://schemas.openxmlformats.org/drawingml/2006/table">
            <a:tbl>
              <a:tblPr/>
              <a:tblGrid>
                <a:gridCol w="988455">
                  <a:extLst>
                    <a:ext uri="{9D8B030D-6E8A-4147-A177-3AD203B41FA5}">
                      <a16:colId xmlns:a16="http://schemas.microsoft.com/office/drawing/2014/main" val="4215702996"/>
                    </a:ext>
                  </a:extLst>
                </a:gridCol>
                <a:gridCol w="7252498">
                  <a:extLst>
                    <a:ext uri="{9D8B030D-6E8A-4147-A177-3AD203B41FA5}">
                      <a16:colId xmlns:a16="http://schemas.microsoft.com/office/drawing/2014/main" val="3825843969"/>
                    </a:ext>
                  </a:extLst>
                </a:gridCol>
                <a:gridCol w="1959429">
                  <a:extLst>
                    <a:ext uri="{9D8B030D-6E8A-4147-A177-3AD203B41FA5}">
                      <a16:colId xmlns:a16="http://schemas.microsoft.com/office/drawing/2014/main" val="3286163364"/>
                    </a:ext>
                  </a:extLst>
                </a:gridCol>
                <a:gridCol w="1304897">
                  <a:extLst>
                    <a:ext uri="{9D8B030D-6E8A-4147-A177-3AD203B41FA5}">
                      <a16:colId xmlns:a16="http://schemas.microsoft.com/office/drawing/2014/main" val="3408221615"/>
                    </a:ext>
                  </a:extLst>
                </a:gridCol>
              </a:tblGrid>
              <a:tr h="667270">
                <a:tc>
                  <a:txBody>
                    <a:bodyPr/>
                    <a:lstStyle/>
                    <a:p>
                      <a:pPr marL="635" marR="0" indent="-1905" algn="ctr">
                        <a:spcBef>
                          <a:spcPts val="0"/>
                        </a:spcBef>
                        <a:spcAft>
                          <a:spcPts val="0"/>
                        </a:spcAft>
                        <a:tabLst>
                          <a:tab pos="180340" algn="l"/>
                        </a:tabLst>
                      </a:pPr>
                      <a:r>
                        <a:rPr lang="en-US" sz="2400" b="1" dirty="0">
                          <a:effectLst/>
                          <a:latin typeface="Cambria" panose="02040503050406030204" pitchFamily="18" charset="0"/>
                          <a:ea typeface="Cambria" panose="02040503050406030204" pitchFamily="18" charset="0"/>
                          <a:cs typeface="Times New Roman" panose="02020603050405020304" pitchFamily="18" charset="0"/>
                        </a:rPr>
                        <a:t>CĐR</a:t>
                      </a:r>
                      <a:endParaRPr lang="en-US" sz="2400" dirty="0">
                        <a:effectLst/>
                        <a:latin typeface="Cambria" panose="02040503050406030204" pitchFamily="18" charset="0"/>
                        <a:ea typeface="Cambria" panose="02040503050406030204" pitchFamily="18" charset="0"/>
                        <a:cs typeface="Times New Roman" panose="02020603050405020304" pitchFamily="18" charset="0"/>
                      </a:endParaRPr>
                    </a:p>
                  </a:txBody>
                  <a:tcPr marL="57234" marR="572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635" marR="0" indent="-1905" algn="ctr">
                        <a:spcBef>
                          <a:spcPts val="0"/>
                        </a:spcBef>
                        <a:spcAft>
                          <a:spcPts val="0"/>
                        </a:spcAft>
                        <a:tabLst>
                          <a:tab pos="180340" algn="l"/>
                        </a:tabLst>
                      </a:pPr>
                      <a:r>
                        <a:rPr lang="en-US" sz="2400" b="1" dirty="0" err="1">
                          <a:effectLst/>
                          <a:latin typeface="Cambria" panose="02040503050406030204" pitchFamily="18" charset="0"/>
                          <a:ea typeface="Cambria" panose="02040503050406030204" pitchFamily="18" charset="0"/>
                          <a:cs typeface="Times New Roman" panose="02020603050405020304" pitchFamily="18" charset="0"/>
                        </a:rPr>
                        <a:t>Mô</a:t>
                      </a:r>
                      <a:r>
                        <a:rPr lang="en-US" sz="2400" b="1" dirty="0">
                          <a:effectLst/>
                          <a:latin typeface="Cambria" panose="02040503050406030204" pitchFamily="18" charset="0"/>
                          <a:ea typeface="Cambria" panose="02040503050406030204" pitchFamily="18" charset="0"/>
                          <a:cs typeface="Times New Roman" panose="02020603050405020304" pitchFamily="18" charset="0"/>
                        </a:rPr>
                        <a:t> </a:t>
                      </a:r>
                      <a:r>
                        <a:rPr lang="en-US" sz="2400" b="1" dirty="0" err="1">
                          <a:effectLst/>
                          <a:latin typeface="Cambria" panose="02040503050406030204" pitchFamily="18" charset="0"/>
                          <a:ea typeface="Cambria" panose="02040503050406030204" pitchFamily="18" charset="0"/>
                          <a:cs typeface="Times New Roman" panose="02020603050405020304" pitchFamily="18" charset="0"/>
                        </a:rPr>
                        <a:t>tả</a:t>
                      </a:r>
                      <a:r>
                        <a:rPr lang="en-US" sz="2400" b="1" dirty="0">
                          <a:effectLst/>
                          <a:latin typeface="Cambria" panose="02040503050406030204" pitchFamily="18" charset="0"/>
                          <a:ea typeface="Cambria" panose="02040503050406030204" pitchFamily="18" charset="0"/>
                          <a:cs typeface="Times New Roman" panose="02020603050405020304" pitchFamily="18" charset="0"/>
                        </a:rPr>
                        <a:t> CĐR</a:t>
                      </a:r>
                      <a:endParaRPr lang="en-US" sz="2400" dirty="0">
                        <a:effectLst/>
                        <a:latin typeface="Cambria" panose="02040503050406030204" pitchFamily="18" charset="0"/>
                        <a:ea typeface="Cambria" panose="02040503050406030204" pitchFamily="18" charset="0"/>
                        <a:cs typeface="Times New Roman" panose="02020603050405020304" pitchFamily="18" charset="0"/>
                      </a:endParaRPr>
                    </a:p>
                  </a:txBody>
                  <a:tcPr marL="57234" marR="572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635" marR="0" indent="-1905" algn="ctr">
                        <a:spcBef>
                          <a:spcPts val="0"/>
                        </a:spcBef>
                        <a:spcAft>
                          <a:spcPts val="0"/>
                        </a:spcAft>
                        <a:tabLst>
                          <a:tab pos="180340" algn="l"/>
                        </a:tabLst>
                      </a:pPr>
                      <a:r>
                        <a:rPr lang="en-US" sz="2400" b="1" dirty="0">
                          <a:effectLst/>
                          <a:latin typeface="Cambria" panose="02040503050406030204" pitchFamily="18" charset="0"/>
                          <a:ea typeface="Cambria" panose="02040503050406030204" pitchFamily="18" charset="0"/>
                          <a:cs typeface="Times New Roman" panose="02020603050405020304" pitchFamily="18" charset="0"/>
                        </a:rPr>
                        <a:t>CĐR (PLOs)</a:t>
                      </a:r>
                      <a:endParaRPr lang="en-US" sz="2400" dirty="0">
                        <a:effectLst/>
                        <a:latin typeface="Cambria" panose="02040503050406030204" pitchFamily="18" charset="0"/>
                        <a:ea typeface="Cambria" panose="02040503050406030204" pitchFamily="18" charset="0"/>
                        <a:cs typeface="Times New Roman" panose="02020603050405020304" pitchFamily="18" charset="0"/>
                      </a:endParaRPr>
                    </a:p>
                  </a:txBody>
                  <a:tcPr marL="57234" marR="572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marL="635" marR="0" indent="-1905" algn="ctr">
                        <a:spcBef>
                          <a:spcPts val="0"/>
                        </a:spcBef>
                        <a:spcAft>
                          <a:spcPts val="0"/>
                        </a:spcAft>
                        <a:tabLst>
                          <a:tab pos="180340" algn="l"/>
                        </a:tabLst>
                      </a:pPr>
                      <a:r>
                        <a:rPr lang="en-US" sz="2400" b="1" dirty="0" err="1">
                          <a:effectLst/>
                          <a:latin typeface="Cambria" panose="02040503050406030204" pitchFamily="18" charset="0"/>
                          <a:ea typeface="Cambria" panose="02040503050406030204" pitchFamily="18" charset="0"/>
                          <a:cs typeface="Times New Roman" panose="02020603050405020304" pitchFamily="18" charset="0"/>
                        </a:rPr>
                        <a:t>Mức</a:t>
                      </a:r>
                      <a:r>
                        <a:rPr lang="en-US" sz="2400" b="1" dirty="0">
                          <a:effectLst/>
                          <a:latin typeface="Cambria" panose="02040503050406030204" pitchFamily="18" charset="0"/>
                          <a:ea typeface="Cambria" panose="02040503050406030204" pitchFamily="18" charset="0"/>
                          <a:cs typeface="Times New Roman" panose="02020603050405020304" pitchFamily="18" charset="0"/>
                        </a:rPr>
                        <a:t> </a:t>
                      </a:r>
                      <a:r>
                        <a:rPr lang="en-US" sz="2400" b="1" dirty="0" err="1">
                          <a:effectLst/>
                          <a:latin typeface="Cambria" panose="02040503050406030204" pitchFamily="18" charset="0"/>
                          <a:ea typeface="Cambria" panose="02040503050406030204" pitchFamily="18" charset="0"/>
                          <a:cs typeface="Times New Roman" panose="02020603050405020304" pitchFamily="18" charset="0"/>
                        </a:rPr>
                        <a:t>độ</a:t>
                      </a:r>
                      <a:endParaRPr lang="en-US" sz="2400" dirty="0">
                        <a:effectLst/>
                        <a:latin typeface="Cambria" panose="02040503050406030204" pitchFamily="18" charset="0"/>
                        <a:ea typeface="Cambria" panose="02040503050406030204" pitchFamily="18" charset="0"/>
                        <a:cs typeface="Times New Roman" panose="02020603050405020304" pitchFamily="18" charset="0"/>
                      </a:endParaRPr>
                    </a:p>
                  </a:txBody>
                  <a:tcPr marL="57234" marR="5723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180772054"/>
                  </a:ext>
                </a:extLst>
              </a:tr>
              <a:tr h="1072658">
                <a:tc>
                  <a:txBody>
                    <a:bodyPr/>
                    <a:lstStyle/>
                    <a:p>
                      <a:pPr marL="635" marR="0" indent="-1905" algn="just">
                        <a:buNone/>
                        <a:tabLst>
                          <a:tab pos="180340" algn="l"/>
                        </a:tabLst>
                      </a:pPr>
                      <a:r>
                        <a:rPr lang="en-US" sz="2400">
                          <a:effectLst/>
                          <a:latin typeface="Times New Roman" panose="02020603050405020304" pitchFamily="18" charset="0"/>
                          <a:ea typeface="Malgun Gothic" panose="020B0503020000020004" pitchFamily="34" charset="-127"/>
                        </a:rPr>
                        <a:t>CLO 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35" marR="0" indent="-1905" algn="just">
                        <a:buNone/>
                        <a:tabLst>
                          <a:tab pos="180340" algn="l"/>
                        </a:tabLst>
                      </a:pPr>
                      <a:r>
                        <a:rPr lang="en-US" sz="2400">
                          <a:effectLst/>
                          <a:latin typeface="Times New Roman" panose="02020603050405020304" pitchFamily="18" charset="0"/>
                          <a:ea typeface="Malgun Gothic" panose="020B0503020000020004" pitchFamily="34" charset="-127"/>
                        </a:rPr>
                        <a:t>Hiểu và áp dụng thành thạo kiến trúc Angular để xây dựng các ứng dụng web hiện đại</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35" marR="0" indent="-1905" algn="just">
                        <a:buNone/>
                        <a:tabLst>
                          <a:tab pos="180340" algn="l"/>
                        </a:tabLst>
                      </a:pPr>
                      <a:r>
                        <a:rPr lang="en-US" sz="2400">
                          <a:effectLst/>
                          <a:latin typeface="Times New Roman" panose="02020603050405020304" pitchFamily="18" charset="0"/>
                          <a:ea typeface="Malgun Gothic" panose="020B0503020000020004" pitchFamily="34" charset="-127"/>
                        </a:rPr>
                        <a:t>PLO2, PLO3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35" marR="0" indent="-1905" algn="ctr">
                        <a:buNone/>
                        <a:tabLst>
                          <a:tab pos="180340" algn="l"/>
                        </a:tabLst>
                      </a:pPr>
                      <a:r>
                        <a:rPr lang="en-US" sz="2400">
                          <a:effectLst/>
                          <a:latin typeface="Times New Roman" panose="02020603050405020304" pitchFamily="18" charset="0"/>
                          <a:ea typeface="Malgun Gothic" panose="020B0503020000020004" pitchFamily="34" charset="-127"/>
                        </a:rPr>
                        <a:t>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76789104"/>
                  </a:ext>
                </a:extLst>
              </a:tr>
              <a:tr h="759370">
                <a:tc>
                  <a:txBody>
                    <a:bodyPr/>
                    <a:lstStyle/>
                    <a:p>
                      <a:pPr marL="635" marR="0" indent="-1905" algn="just">
                        <a:buNone/>
                        <a:tabLst>
                          <a:tab pos="180340" algn="l"/>
                        </a:tabLst>
                      </a:pPr>
                      <a:r>
                        <a:rPr lang="en-US" sz="2400">
                          <a:effectLst/>
                          <a:latin typeface="Times New Roman" panose="02020603050405020304" pitchFamily="18" charset="0"/>
                          <a:ea typeface="Malgun Gothic" panose="020B0503020000020004" pitchFamily="34" charset="-127"/>
                        </a:rPr>
                        <a:t>CLO 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35" marR="0" indent="-1905" algn="just">
                        <a:buNone/>
                        <a:tabLst>
                          <a:tab pos="180340" algn="l"/>
                        </a:tabLst>
                      </a:pPr>
                      <a:r>
                        <a:rPr lang="en-US" sz="2400">
                          <a:effectLst/>
                          <a:latin typeface="Times New Roman" panose="02020603050405020304" pitchFamily="18" charset="0"/>
                          <a:ea typeface="Malgun Gothic" panose="020B0503020000020004" pitchFamily="34" charset="-127"/>
                        </a:rPr>
                        <a:t>Phát triển ứng dụng full-stack bằng cách kết nối Angular với RESTful API sử dụng NodeJS, ExpressJS và MongoDB</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35" marR="0" indent="-1905" algn="just">
                        <a:buNone/>
                        <a:tabLst>
                          <a:tab pos="180340" algn="l"/>
                        </a:tabLst>
                      </a:pPr>
                      <a:r>
                        <a:rPr lang="en-US" sz="2400">
                          <a:effectLst/>
                          <a:latin typeface="Times New Roman" panose="02020603050405020304" pitchFamily="18" charset="0"/>
                          <a:ea typeface="Malgun Gothic" panose="020B0503020000020004" pitchFamily="34" charset="-127"/>
                        </a:rPr>
                        <a:t>PLO3, PLO5, PLO7, PLO10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35" marR="0" indent="-1905" algn="ctr">
                        <a:buNone/>
                        <a:tabLst>
                          <a:tab pos="180340" algn="l"/>
                        </a:tabLst>
                      </a:pPr>
                      <a:r>
                        <a:rPr lang="en-US" sz="2400">
                          <a:effectLst/>
                          <a:latin typeface="Times New Roman" panose="02020603050405020304" pitchFamily="18" charset="0"/>
                          <a:ea typeface="Malgun Gothic" panose="020B0503020000020004" pitchFamily="34" charset="-127"/>
                        </a:rPr>
                        <a:t>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96932102"/>
                  </a:ext>
                </a:extLst>
              </a:tr>
              <a:tr h="956595">
                <a:tc>
                  <a:txBody>
                    <a:bodyPr/>
                    <a:lstStyle/>
                    <a:p>
                      <a:pPr marL="635" marR="0" indent="-1905" algn="just">
                        <a:buNone/>
                        <a:tabLst>
                          <a:tab pos="180340" algn="l"/>
                        </a:tabLst>
                      </a:pPr>
                      <a:r>
                        <a:rPr lang="en-US" sz="2400">
                          <a:effectLst/>
                          <a:latin typeface="Times New Roman" panose="02020603050405020304" pitchFamily="18" charset="0"/>
                          <a:ea typeface="Malgun Gothic" panose="020B0503020000020004" pitchFamily="34" charset="-127"/>
                        </a:rPr>
                        <a:t>CLO 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35" marR="0" indent="-1905" algn="just">
                        <a:buNone/>
                        <a:tabLst>
                          <a:tab pos="180340" algn="l"/>
                        </a:tabLst>
                      </a:pPr>
                      <a:r>
                        <a:rPr lang="en-US" sz="2400">
                          <a:effectLst/>
                          <a:latin typeface="Times New Roman" panose="02020603050405020304" pitchFamily="18" charset="0"/>
                          <a:ea typeface="Malgun Gothic" panose="020B0503020000020004" pitchFamily="34" charset="-127"/>
                        </a:rPr>
                        <a:t>Vận dụng công nghệ máy học tích hợp vào website Angular, giúp nâng cao trải nghiệm người dùng</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35" marR="0" indent="-1905" algn="just">
                        <a:buNone/>
                        <a:tabLst>
                          <a:tab pos="180340" algn="l"/>
                        </a:tabLst>
                      </a:pPr>
                      <a:r>
                        <a:rPr lang="en-US" sz="2400">
                          <a:effectLst/>
                          <a:latin typeface="Times New Roman" panose="02020603050405020304" pitchFamily="18" charset="0"/>
                          <a:ea typeface="Malgun Gothic" panose="020B0503020000020004" pitchFamily="34" charset="-127"/>
                        </a:rPr>
                        <a:t>PLO7, PLO10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35" marR="0" indent="-1905" algn="ctr">
                        <a:buNone/>
                        <a:tabLst>
                          <a:tab pos="180340" algn="l"/>
                        </a:tabLst>
                      </a:pPr>
                      <a:r>
                        <a:rPr lang="en-US" sz="2400">
                          <a:effectLst/>
                          <a:latin typeface="Times New Roman" panose="02020603050405020304" pitchFamily="18" charset="0"/>
                          <a:ea typeface="Malgun Gothic" panose="020B0503020000020004" pitchFamily="34" charset="-127"/>
                        </a:rPr>
                        <a:t>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2731482"/>
                  </a:ext>
                </a:extLst>
              </a:tr>
            </a:tbl>
          </a:graphicData>
        </a:graphic>
      </p:graphicFrame>
    </p:spTree>
    <p:extLst>
      <p:ext uri="{BB962C8B-B14F-4D97-AF65-F5344CB8AC3E}">
        <p14:creationId xmlns:p14="http://schemas.microsoft.com/office/powerpoint/2010/main" val="26953751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145525" y="249598"/>
            <a:ext cx="4620576" cy="508000"/>
            <a:chOff x="789624" y="1191463"/>
            <a:chExt cx="4620576"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dirty="0" err="1">
                  <a:latin typeface="Cambria" panose="02040503050406030204" pitchFamily="18" charset="0"/>
                </a:rPr>
                <a:t>Nội</a:t>
              </a:r>
              <a:r>
                <a:rPr lang="en-US" sz="2800" b="1" dirty="0">
                  <a:latin typeface="Cambria" panose="02040503050406030204" pitchFamily="18" charset="0"/>
                </a:rPr>
                <a:t> dung </a:t>
              </a:r>
              <a:r>
                <a:rPr lang="en-US" sz="2800" b="1" dirty="0" err="1">
                  <a:latin typeface="Cambria" panose="02040503050406030204" pitchFamily="18" charset="0"/>
                </a:rPr>
                <a:t>môn</a:t>
              </a:r>
              <a:r>
                <a:rPr lang="en-US" sz="2800" b="1" dirty="0">
                  <a:latin typeface="Cambria" panose="02040503050406030204" pitchFamily="18" charset="0"/>
                </a:rPr>
                <a:t> </a:t>
              </a:r>
              <a:r>
                <a:rPr lang="en-US" sz="2800" b="1" dirty="0" err="1">
                  <a:latin typeface="Cambria" panose="02040503050406030204" pitchFamily="18" charset="0"/>
                </a:rPr>
                <a:t>học</a:t>
              </a:r>
              <a:endParaRPr lang="en-US" sz="2800" b="1"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graphicFrame>
        <p:nvGraphicFramePr>
          <p:cNvPr id="9" name="Table 8">
            <a:extLst>
              <a:ext uri="{FF2B5EF4-FFF2-40B4-BE49-F238E27FC236}">
                <a16:creationId xmlns:a16="http://schemas.microsoft.com/office/drawing/2014/main" id="{2BA84587-3E97-E76E-20DF-2AE6AA44A04F}"/>
              </a:ext>
            </a:extLst>
          </p:cNvPr>
          <p:cNvGraphicFramePr>
            <a:graphicFrameLocks noGrp="1"/>
          </p:cNvGraphicFramePr>
          <p:nvPr>
            <p:extLst>
              <p:ext uri="{D42A27DB-BD31-4B8C-83A1-F6EECF244321}">
                <p14:modId xmlns:p14="http://schemas.microsoft.com/office/powerpoint/2010/main" val="705642907"/>
              </p:ext>
            </p:extLst>
          </p:nvPr>
        </p:nvGraphicFramePr>
        <p:xfrm>
          <a:off x="320046" y="861636"/>
          <a:ext cx="11577274" cy="5149791"/>
        </p:xfrm>
        <a:graphic>
          <a:graphicData uri="http://schemas.openxmlformats.org/drawingml/2006/table">
            <a:tbl>
              <a:tblPr firstRow="1" bandRow="1">
                <a:tableStyleId>{5940675A-B579-460E-94D1-54222C63F5DA}</a:tableStyleId>
              </a:tblPr>
              <a:tblGrid>
                <a:gridCol w="787744">
                  <a:extLst>
                    <a:ext uri="{9D8B030D-6E8A-4147-A177-3AD203B41FA5}">
                      <a16:colId xmlns:a16="http://schemas.microsoft.com/office/drawing/2014/main" val="2731830621"/>
                    </a:ext>
                  </a:extLst>
                </a:gridCol>
                <a:gridCol w="6929786">
                  <a:extLst>
                    <a:ext uri="{9D8B030D-6E8A-4147-A177-3AD203B41FA5}">
                      <a16:colId xmlns:a16="http://schemas.microsoft.com/office/drawing/2014/main" val="1862645094"/>
                    </a:ext>
                  </a:extLst>
                </a:gridCol>
                <a:gridCol w="1856232">
                  <a:extLst>
                    <a:ext uri="{9D8B030D-6E8A-4147-A177-3AD203B41FA5}">
                      <a16:colId xmlns:a16="http://schemas.microsoft.com/office/drawing/2014/main" val="1076433222"/>
                    </a:ext>
                  </a:extLst>
                </a:gridCol>
                <a:gridCol w="2003512">
                  <a:extLst>
                    <a:ext uri="{9D8B030D-6E8A-4147-A177-3AD203B41FA5}">
                      <a16:colId xmlns:a16="http://schemas.microsoft.com/office/drawing/2014/main" val="43227049"/>
                    </a:ext>
                  </a:extLst>
                </a:gridCol>
              </a:tblGrid>
              <a:tr h="414190">
                <a:tc>
                  <a:txBody>
                    <a:bodyPr/>
                    <a:lstStyle/>
                    <a:p>
                      <a:pPr>
                        <a:lnSpc>
                          <a:spcPct val="150000"/>
                        </a:lnSpc>
                      </a:pPr>
                      <a:r>
                        <a:rPr lang="en-US" sz="2400" b="1">
                          <a:latin typeface="Cambria" panose="02040503050406030204" pitchFamily="18" charset="0"/>
                          <a:ea typeface="Cambria" panose="02040503050406030204" pitchFamily="18" charset="0"/>
                          <a:cs typeface="Times New Roman" panose="02020603050405020304" pitchFamily="18" charset="0"/>
                        </a:rPr>
                        <a:t>STT</a:t>
                      </a:r>
                    </a:p>
                  </a:txBody>
                  <a:tcPr>
                    <a:solidFill>
                      <a:srgbClr val="FFFF00"/>
                    </a:solidFill>
                  </a:tcPr>
                </a:tc>
                <a:tc>
                  <a:txBody>
                    <a:bodyPr/>
                    <a:lstStyle/>
                    <a:p>
                      <a:pPr>
                        <a:lnSpc>
                          <a:spcPct val="150000"/>
                        </a:lnSpc>
                      </a:pPr>
                      <a:r>
                        <a:rPr lang="en-US" sz="2400" b="1" dirty="0" err="1">
                          <a:latin typeface="Cambria" panose="02040503050406030204" pitchFamily="18" charset="0"/>
                          <a:ea typeface="Cambria" panose="02040503050406030204" pitchFamily="18" charset="0"/>
                          <a:cs typeface="Times New Roman" panose="02020603050405020304" pitchFamily="18" charset="0"/>
                        </a:rPr>
                        <a:t>Nội</a:t>
                      </a:r>
                      <a:r>
                        <a:rPr lang="en-US" sz="2400" b="1" dirty="0">
                          <a:latin typeface="Cambria" panose="02040503050406030204" pitchFamily="18" charset="0"/>
                          <a:ea typeface="Cambria" panose="02040503050406030204" pitchFamily="18" charset="0"/>
                          <a:cs typeface="Times New Roman" panose="02020603050405020304" pitchFamily="18" charset="0"/>
                        </a:rPr>
                        <a:t> dung</a:t>
                      </a:r>
                    </a:p>
                  </a:txBody>
                  <a:tcPr>
                    <a:solidFill>
                      <a:srgbClr val="FFFF00"/>
                    </a:solidFill>
                  </a:tcPr>
                </a:tc>
                <a:tc>
                  <a:txBody>
                    <a:bodyPr/>
                    <a:lstStyle/>
                    <a:p>
                      <a:pPr algn="ctr">
                        <a:lnSpc>
                          <a:spcPct val="150000"/>
                        </a:lnSpc>
                      </a:pPr>
                      <a:r>
                        <a:rPr lang="en-US" sz="2400" b="1">
                          <a:latin typeface="Cambria" panose="02040503050406030204" pitchFamily="18" charset="0"/>
                          <a:ea typeface="Cambria" panose="02040503050406030204" pitchFamily="18" charset="0"/>
                          <a:cs typeface="Times New Roman" panose="02020603050405020304" pitchFamily="18" charset="0"/>
                        </a:rPr>
                        <a:t>Lý thuyết</a:t>
                      </a:r>
                      <a:endParaRPr lang="en-US" sz="2400" b="1" dirty="0">
                        <a:latin typeface="Cambria" panose="02040503050406030204" pitchFamily="18" charset="0"/>
                        <a:ea typeface="Cambria" panose="02040503050406030204" pitchFamily="18" charset="0"/>
                        <a:cs typeface="Times New Roman" panose="02020603050405020304" pitchFamily="18" charset="0"/>
                      </a:endParaRPr>
                    </a:p>
                  </a:txBody>
                  <a:tcPr>
                    <a:solidFill>
                      <a:srgbClr val="FFFF00"/>
                    </a:solidFill>
                  </a:tcPr>
                </a:tc>
                <a:tc>
                  <a:txBody>
                    <a:bodyPr/>
                    <a:lstStyle/>
                    <a:p>
                      <a:pPr algn="ctr">
                        <a:lnSpc>
                          <a:spcPct val="150000"/>
                        </a:lnSpc>
                      </a:pPr>
                      <a:r>
                        <a:rPr lang="en-US" sz="2400" b="1">
                          <a:latin typeface="Cambria" panose="02040503050406030204" pitchFamily="18" charset="0"/>
                          <a:ea typeface="Cambria" panose="02040503050406030204" pitchFamily="18" charset="0"/>
                          <a:cs typeface="Times New Roman" panose="02020603050405020304" pitchFamily="18" charset="0"/>
                        </a:rPr>
                        <a:t>Thực hành</a:t>
                      </a:r>
                      <a:endParaRPr lang="en-US" sz="2400" b="1" dirty="0">
                        <a:latin typeface="Cambria" panose="02040503050406030204" pitchFamily="18" charset="0"/>
                        <a:ea typeface="Cambria" panose="02040503050406030204" pitchFamily="18" charset="0"/>
                        <a:cs typeface="Times New Roman" panose="02020603050405020304" pitchFamily="18" charset="0"/>
                      </a:endParaRPr>
                    </a:p>
                  </a:txBody>
                  <a:tcPr>
                    <a:solidFill>
                      <a:srgbClr val="FFFF00"/>
                    </a:solidFill>
                  </a:tcPr>
                </a:tc>
                <a:extLst>
                  <a:ext uri="{0D108BD9-81ED-4DB2-BD59-A6C34878D82A}">
                    <a16:rowId xmlns:a16="http://schemas.microsoft.com/office/drawing/2014/main" val="3251949661"/>
                  </a:ext>
                </a:extLst>
              </a:tr>
              <a:tr h="414190">
                <a:tc>
                  <a:txBody>
                    <a:bodyPr/>
                    <a:lstStyle/>
                    <a:p>
                      <a:pPr algn="ctr">
                        <a:lnSpc>
                          <a:spcPct val="150000"/>
                        </a:lnSpc>
                      </a:pPr>
                      <a:r>
                        <a:rPr lang="en-US" sz="2400">
                          <a:latin typeface="Cambria" panose="02040503050406030204" pitchFamily="18" charset="0"/>
                          <a:ea typeface="Cambria" panose="02040503050406030204" pitchFamily="18" charset="0"/>
                          <a:cs typeface="Times New Roman" panose="02020603050405020304" pitchFamily="18" charset="0"/>
                        </a:rPr>
                        <a:t>1</a:t>
                      </a:r>
                    </a:p>
                  </a:txBody>
                  <a:tcPr/>
                </a:tc>
                <a:tc>
                  <a:txBody>
                    <a:bodyPr/>
                    <a:lstStyle/>
                    <a:p>
                      <a:pPr>
                        <a:lnSpc>
                          <a:spcPct val="150000"/>
                        </a:lnSpc>
                      </a:pPr>
                      <a:r>
                        <a:rPr lang="vi-VN" sz="2400" b="1">
                          <a:latin typeface="Cambria" panose="02040503050406030204" pitchFamily="18" charset="0"/>
                          <a:ea typeface="Cambria" panose="02040503050406030204" pitchFamily="18" charset="0"/>
                          <a:cs typeface="Times New Roman" panose="02020603050405020304" pitchFamily="18" charset="0"/>
                        </a:rPr>
                        <a:t>Chương I: Giới thiệu Angular Framework </a:t>
                      </a:r>
                      <a:endParaRPr lang="en-US" sz="2400" b="0"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lnSpc>
                          <a:spcPct val="150000"/>
                        </a:lnSpc>
                      </a:pPr>
                      <a:r>
                        <a:rPr lang="en-US" sz="2400">
                          <a:latin typeface="Cambria" panose="02040503050406030204" pitchFamily="18" charset="0"/>
                          <a:ea typeface="Cambria" panose="02040503050406030204" pitchFamily="18" charset="0"/>
                          <a:cs typeface="Times New Roman" panose="02020603050405020304" pitchFamily="18" charset="0"/>
                        </a:rPr>
                        <a:t>3</a:t>
                      </a:r>
                      <a:endParaRPr lang="en-US" sz="2400"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lnSpc>
                          <a:spcPct val="150000"/>
                        </a:lnSpc>
                      </a:pPr>
                      <a:r>
                        <a:rPr lang="en-US" sz="2400">
                          <a:latin typeface="Cambria" panose="02040503050406030204" pitchFamily="18" charset="0"/>
                          <a:ea typeface="Cambria" panose="02040503050406030204" pitchFamily="18" charset="0"/>
                          <a:cs typeface="Times New Roman" panose="02020603050405020304" pitchFamily="18" charset="0"/>
                        </a:rPr>
                        <a:t>3</a:t>
                      </a:r>
                      <a:endParaRPr lang="en-US" sz="2400" dirty="0">
                        <a:latin typeface="Cambria" panose="02040503050406030204" pitchFamily="18" charset="0"/>
                        <a:ea typeface="Cambria" panose="02040503050406030204" pitchFamily="18" charset="0"/>
                        <a:cs typeface="Times New Roman" panose="02020603050405020304" pitchFamily="18" charset="0"/>
                      </a:endParaRPr>
                    </a:p>
                  </a:txBody>
                  <a:tcPr/>
                </a:tc>
                <a:extLst>
                  <a:ext uri="{0D108BD9-81ED-4DB2-BD59-A6C34878D82A}">
                    <a16:rowId xmlns:a16="http://schemas.microsoft.com/office/drawing/2014/main" val="2827160860"/>
                  </a:ext>
                </a:extLst>
              </a:tr>
              <a:tr h="414190">
                <a:tc>
                  <a:txBody>
                    <a:bodyPr/>
                    <a:lstStyle/>
                    <a:p>
                      <a:pPr algn="ctr">
                        <a:lnSpc>
                          <a:spcPct val="150000"/>
                        </a:lnSpc>
                      </a:pPr>
                      <a:r>
                        <a:rPr lang="en-US" sz="2400">
                          <a:latin typeface="Cambria" panose="02040503050406030204" pitchFamily="18" charset="0"/>
                          <a:ea typeface="Cambria" panose="02040503050406030204" pitchFamily="18" charset="0"/>
                          <a:cs typeface="Times New Roman" panose="02020603050405020304" pitchFamily="18" charset="0"/>
                        </a:rPr>
                        <a:t>2</a:t>
                      </a:r>
                    </a:p>
                  </a:txBody>
                  <a:tcPr/>
                </a:tc>
                <a:tc>
                  <a:txBody>
                    <a:bodyPr/>
                    <a:lstStyle/>
                    <a:p>
                      <a:pPr>
                        <a:lnSpc>
                          <a:spcPct val="150000"/>
                        </a:lnSpc>
                      </a:pPr>
                      <a:r>
                        <a:rPr lang="vi-VN" sz="2400" b="1">
                          <a:latin typeface="Cambria" panose="02040503050406030204" pitchFamily="18" charset="0"/>
                          <a:ea typeface="Cambria" panose="02040503050406030204" pitchFamily="18" charset="0"/>
                          <a:cs typeface="Times New Roman" panose="02020603050405020304" pitchFamily="18" charset="0"/>
                        </a:rPr>
                        <a:t>Chương II: Các kỹ thuật lõi trong Angular</a:t>
                      </a:r>
                      <a:endParaRPr lang="en-US" sz="2400" b="0"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lnSpc>
                          <a:spcPct val="150000"/>
                        </a:lnSpc>
                      </a:pPr>
                      <a:r>
                        <a:rPr lang="en-US" sz="2400">
                          <a:latin typeface="Cambria" panose="02040503050406030204" pitchFamily="18" charset="0"/>
                          <a:ea typeface="Cambria" panose="02040503050406030204" pitchFamily="18" charset="0"/>
                          <a:cs typeface="Times New Roman" panose="02020603050405020304" pitchFamily="18" charset="0"/>
                        </a:rPr>
                        <a:t>3</a:t>
                      </a:r>
                      <a:endParaRPr lang="en-US" sz="2400"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lnSpc>
                          <a:spcPct val="150000"/>
                        </a:lnSpc>
                      </a:pPr>
                      <a:r>
                        <a:rPr lang="en-US" sz="2400">
                          <a:latin typeface="Cambria" panose="02040503050406030204" pitchFamily="18" charset="0"/>
                          <a:ea typeface="Cambria" panose="02040503050406030204" pitchFamily="18" charset="0"/>
                          <a:cs typeface="Times New Roman" panose="02020603050405020304" pitchFamily="18" charset="0"/>
                        </a:rPr>
                        <a:t>3</a:t>
                      </a:r>
                      <a:endParaRPr lang="en-US" sz="2400" dirty="0">
                        <a:latin typeface="Cambria" panose="02040503050406030204" pitchFamily="18" charset="0"/>
                        <a:ea typeface="Cambria" panose="02040503050406030204" pitchFamily="18" charset="0"/>
                        <a:cs typeface="Times New Roman" panose="02020603050405020304" pitchFamily="18" charset="0"/>
                      </a:endParaRPr>
                    </a:p>
                  </a:txBody>
                  <a:tcPr/>
                </a:tc>
                <a:extLst>
                  <a:ext uri="{0D108BD9-81ED-4DB2-BD59-A6C34878D82A}">
                    <a16:rowId xmlns:a16="http://schemas.microsoft.com/office/drawing/2014/main" val="481594211"/>
                  </a:ext>
                </a:extLst>
              </a:tr>
              <a:tr h="414190">
                <a:tc>
                  <a:txBody>
                    <a:bodyPr/>
                    <a:lstStyle/>
                    <a:p>
                      <a:pPr algn="ctr">
                        <a:lnSpc>
                          <a:spcPct val="150000"/>
                        </a:lnSpc>
                      </a:pPr>
                      <a:r>
                        <a:rPr lang="en-US" sz="2400">
                          <a:latin typeface="Cambria" panose="02040503050406030204" pitchFamily="18" charset="0"/>
                          <a:ea typeface="Cambria" panose="02040503050406030204" pitchFamily="18" charset="0"/>
                          <a:cs typeface="Times New Roman" panose="02020603050405020304" pitchFamily="18" charset="0"/>
                        </a:rPr>
                        <a:t>3</a:t>
                      </a:r>
                    </a:p>
                  </a:txBody>
                  <a:tcPr/>
                </a:tc>
                <a:tc>
                  <a:txBody>
                    <a:bodyPr/>
                    <a:lstStyle/>
                    <a:p>
                      <a:pPr>
                        <a:lnSpc>
                          <a:spcPct val="150000"/>
                        </a:lnSpc>
                      </a:pPr>
                      <a:r>
                        <a:rPr lang="en-US" sz="2400" b="1">
                          <a:latin typeface="Cambria" panose="02040503050406030204" pitchFamily="18" charset="0"/>
                          <a:ea typeface="Cambria" panose="02040503050406030204" pitchFamily="18" charset="0"/>
                          <a:cs typeface="Times New Roman" panose="02020603050405020304" pitchFamily="18" charset="0"/>
                        </a:rPr>
                        <a:t>Chương III: Services trong Angular</a:t>
                      </a:r>
                      <a:endParaRPr lang="en-US" sz="2400"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lnSpc>
                          <a:spcPct val="150000"/>
                        </a:lnSpc>
                      </a:pPr>
                      <a:r>
                        <a:rPr lang="en-US" sz="2400">
                          <a:latin typeface="Cambria" panose="02040503050406030204" pitchFamily="18" charset="0"/>
                          <a:ea typeface="Cambria" panose="02040503050406030204" pitchFamily="18" charset="0"/>
                          <a:cs typeface="Times New Roman" panose="02020603050405020304" pitchFamily="18" charset="0"/>
                        </a:rPr>
                        <a:t>3</a:t>
                      </a:r>
                      <a:endParaRPr lang="en-US" sz="2400"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lnSpc>
                          <a:spcPct val="150000"/>
                        </a:lnSpc>
                      </a:pPr>
                      <a:r>
                        <a:rPr lang="en-US" sz="2400">
                          <a:latin typeface="Cambria" panose="02040503050406030204" pitchFamily="18" charset="0"/>
                          <a:ea typeface="Cambria" panose="02040503050406030204" pitchFamily="18" charset="0"/>
                          <a:cs typeface="Times New Roman" panose="02020603050405020304" pitchFamily="18" charset="0"/>
                        </a:rPr>
                        <a:t>3</a:t>
                      </a:r>
                      <a:endParaRPr lang="en-US" sz="2400" dirty="0">
                        <a:latin typeface="Cambria" panose="02040503050406030204" pitchFamily="18" charset="0"/>
                        <a:ea typeface="Cambria" panose="02040503050406030204" pitchFamily="18" charset="0"/>
                        <a:cs typeface="Times New Roman" panose="02020603050405020304" pitchFamily="18" charset="0"/>
                      </a:endParaRPr>
                    </a:p>
                  </a:txBody>
                  <a:tcPr/>
                </a:tc>
                <a:extLst>
                  <a:ext uri="{0D108BD9-81ED-4DB2-BD59-A6C34878D82A}">
                    <a16:rowId xmlns:a16="http://schemas.microsoft.com/office/drawing/2014/main" val="2664222853"/>
                  </a:ext>
                </a:extLst>
              </a:tr>
              <a:tr h="414190">
                <a:tc>
                  <a:txBody>
                    <a:bodyPr/>
                    <a:lstStyle/>
                    <a:p>
                      <a:pPr algn="ctr">
                        <a:lnSpc>
                          <a:spcPct val="150000"/>
                        </a:lnSpc>
                      </a:pPr>
                      <a:r>
                        <a:rPr lang="en-US" sz="2400">
                          <a:latin typeface="Cambria" panose="02040503050406030204" pitchFamily="18" charset="0"/>
                          <a:ea typeface="Cambria" panose="02040503050406030204" pitchFamily="18" charset="0"/>
                          <a:cs typeface="Times New Roman" panose="02020603050405020304" pitchFamily="18" charset="0"/>
                        </a:rPr>
                        <a:t>4</a:t>
                      </a:r>
                    </a:p>
                  </a:txBody>
                  <a:tcPr/>
                </a:tc>
                <a:tc>
                  <a:txBody>
                    <a:bodyPr/>
                    <a:lstStyle/>
                    <a:p>
                      <a:pPr>
                        <a:lnSpc>
                          <a:spcPct val="150000"/>
                        </a:lnSpc>
                      </a:pPr>
                      <a:r>
                        <a:rPr lang="en-US" sz="2400" b="1">
                          <a:latin typeface="Cambria" panose="02040503050406030204" pitchFamily="18" charset="0"/>
                          <a:ea typeface="Cambria" panose="02040503050406030204" pitchFamily="18" charset="0"/>
                          <a:cs typeface="Times New Roman" panose="02020603050405020304" pitchFamily="18" charset="0"/>
                        </a:rPr>
                        <a:t>Chương IV: Routing trong Angular</a:t>
                      </a:r>
                      <a:endParaRPr lang="en-US" sz="2400"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lnSpc>
                          <a:spcPct val="150000"/>
                        </a:lnSpc>
                      </a:pPr>
                      <a:r>
                        <a:rPr lang="en-US" sz="2400">
                          <a:latin typeface="Cambria" panose="02040503050406030204" pitchFamily="18" charset="0"/>
                          <a:ea typeface="Cambria" panose="02040503050406030204" pitchFamily="18" charset="0"/>
                          <a:cs typeface="Times New Roman" panose="02020603050405020304" pitchFamily="18" charset="0"/>
                        </a:rPr>
                        <a:t>3</a:t>
                      </a:r>
                      <a:endParaRPr lang="en-US" sz="2400"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lnSpc>
                          <a:spcPct val="150000"/>
                        </a:lnSpc>
                      </a:pPr>
                      <a:r>
                        <a:rPr lang="en-US" sz="2400">
                          <a:latin typeface="Cambria" panose="02040503050406030204" pitchFamily="18" charset="0"/>
                          <a:ea typeface="Cambria" panose="02040503050406030204" pitchFamily="18" charset="0"/>
                          <a:cs typeface="Times New Roman" panose="02020603050405020304" pitchFamily="18" charset="0"/>
                        </a:rPr>
                        <a:t>3</a:t>
                      </a:r>
                      <a:endParaRPr lang="en-US" sz="2400" dirty="0">
                        <a:latin typeface="Cambria" panose="02040503050406030204" pitchFamily="18" charset="0"/>
                        <a:ea typeface="Cambria" panose="02040503050406030204" pitchFamily="18" charset="0"/>
                        <a:cs typeface="Times New Roman" panose="02020603050405020304" pitchFamily="18" charset="0"/>
                      </a:endParaRPr>
                    </a:p>
                  </a:txBody>
                  <a:tcPr/>
                </a:tc>
                <a:extLst>
                  <a:ext uri="{0D108BD9-81ED-4DB2-BD59-A6C34878D82A}">
                    <a16:rowId xmlns:a16="http://schemas.microsoft.com/office/drawing/2014/main" val="660944418"/>
                  </a:ext>
                </a:extLst>
              </a:tr>
              <a:tr h="414190">
                <a:tc>
                  <a:txBody>
                    <a:bodyPr/>
                    <a:lstStyle/>
                    <a:p>
                      <a:pPr algn="ctr">
                        <a:lnSpc>
                          <a:spcPct val="150000"/>
                        </a:lnSpc>
                      </a:pPr>
                      <a:r>
                        <a:rPr lang="en-US" sz="2400">
                          <a:latin typeface="Cambria" panose="02040503050406030204" pitchFamily="18" charset="0"/>
                          <a:ea typeface="Cambria" panose="02040503050406030204" pitchFamily="18" charset="0"/>
                          <a:cs typeface="Times New Roman" panose="02020603050405020304" pitchFamily="18" charset="0"/>
                        </a:rPr>
                        <a:t>5</a:t>
                      </a:r>
                    </a:p>
                  </a:txBody>
                  <a:tcPr/>
                </a:tc>
                <a:tc>
                  <a:txBody>
                    <a:bodyPr/>
                    <a:lstStyle/>
                    <a:p>
                      <a:pPr>
                        <a:lnSpc>
                          <a:spcPct val="150000"/>
                        </a:lnSpc>
                      </a:pPr>
                      <a:r>
                        <a:rPr lang="vi-VN" sz="2400" b="1">
                          <a:latin typeface="Cambria" panose="02040503050406030204" pitchFamily="18" charset="0"/>
                          <a:ea typeface="Cambria" panose="02040503050406030204" pitchFamily="18" charset="0"/>
                          <a:cs typeface="Times New Roman" panose="02020603050405020304" pitchFamily="18" charset="0"/>
                        </a:rPr>
                        <a:t>Chương V:</a:t>
                      </a:r>
                      <a:r>
                        <a:rPr lang="en-US" sz="2400" b="1">
                          <a:latin typeface="Cambria" panose="02040503050406030204" pitchFamily="18" charset="0"/>
                          <a:ea typeface="Cambria" panose="02040503050406030204" pitchFamily="18" charset="0"/>
                          <a:cs typeface="Times New Roman" panose="02020603050405020304" pitchFamily="18" charset="0"/>
                        </a:rPr>
                        <a:t> </a:t>
                      </a:r>
                      <a:r>
                        <a:rPr lang="vi-VN" sz="2400" b="1">
                          <a:latin typeface="Cambria" panose="02040503050406030204" pitchFamily="18" charset="0"/>
                          <a:ea typeface="Cambria" panose="02040503050406030204" pitchFamily="18" charset="0"/>
                          <a:cs typeface="Times New Roman" panose="02020603050405020304" pitchFamily="18" charset="0"/>
                        </a:rPr>
                        <a:t>FORM trong Angular</a:t>
                      </a:r>
                      <a:endParaRPr lang="vi-VN" sz="2400"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lnSpc>
                          <a:spcPct val="150000"/>
                        </a:lnSpc>
                      </a:pPr>
                      <a:r>
                        <a:rPr lang="en-US" sz="2400">
                          <a:latin typeface="Cambria" panose="02040503050406030204" pitchFamily="18" charset="0"/>
                          <a:ea typeface="Cambria" panose="02040503050406030204" pitchFamily="18" charset="0"/>
                          <a:cs typeface="Times New Roman" panose="02020603050405020304" pitchFamily="18" charset="0"/>
                        </a:rPr>
                        <a:t>3</a:t>
                      </a:r>
                      <a:endParaRPr lang="en-US" sz="2400"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lnSpc>
                          <a:spcPct val="150000"/>
                        </a:lnSpc>
                      </a:pPr>
                      <a:r>
                        <a:rPr lang="en-US" sz="2400">
                          <a:latin typeface="Cambria" panose="02040503050406030204" pitchFamily="18" charset="0"/>
                          <a:ea typeface="Cambria" panose="02040503050406030204" pitchFamily="18" charset="0"/>
                          <a:cs typeface="Times New Roman" panose="02020603050405020304" pitchFamily="18" charset="0"/>
                        </a:rPr>
                        <a:t>3</a:t>
                      </a:r>
                      <a:endParaRPr lang="en-US" sz="2400" dirty="0">
                        <a:latin typeface="Cambria" panose="02040503050406030204" pitchFamily="18" charset="0"/>
                        <a:ea typeface="Cambria" panose="02040503050406030204" pitchFamily="18" charset="0"/>
                        <a:cs typeface="Times New Roman" panose="02020603050405020304" pitchFamily="18" charset="0"/>
                      </a:endParaRPr>
                    </a:p>
                  </a:txBody>
                  <a:tcPr/>
                </a:tc>
                <a:extLst>
                  <a:ext uri="{0D108BD9-81ED-4DB2-BD59-A6C34878D82A}">
                    <a16:rowId xmlns:a16="http://schemas.microsoft.com/office/drawing/2014/main" val="4248040186"/>
                  </a:ext>
                </a:extLst>
              </a:tr>
              <a:tr h="414190">
                <a:tc>
                  <a:txBody>
                    <a:bodyPr/>
                    <a:lstStyle/>
                    <a:p>
                      <a:pPr algn="ctr">
                        <a:lnSpc>
                          <a:spcPct val="150000"/>
                        </a:lnSpc>
                      </a:pPr>
                      <a:r>
                        <a:rPr lang="en-US" sz="2400">
                          <a:latin typeface="Cambria" panose="02040503050406030204" pitchFamily="18" charset="0"/>
                          <a:ea typeface="Cambria" panose="02040503050406030204" pitchFamily="18" charset="0"/>
                          <a:cs typeface="Times New Roman" panose="02020603050405020304" pitchFamily="18" charset="0"/>
                        </a:rPr>
                        <a:t>6</a:t>
                      </a:r>
                    </a:p>
                  </a:txBody>
                  <a:tcPr/>
                </a:tc>
                <a:tc>
                  <a:txBody>
                    <a:bodyPr/>
                    <a:lstStyle/>
                    <a:p>
                      <a:pPr>
                        <a:lnSpc>
                          <a:spcPct val="150000"/>
                        </a:lnSpc>
                      </a:pPr>
                      <a:r>
                        <a:rPr lang="vi-VN" sz="2400" b="1" dirty="0">
                          <a:latin typeface="Cambria" panose="02040503050406030204" pitchFamily="18" charset="0"/>
                          <a:ea typeface="Cambria" panose="02040503050406030204" pitchFamily="18" charset="0"/>
                          <a:cs typeface="Times New Roman" panose="02020603050405020304" pitchFamily="18" charset="0"/>
                        </a:rPr>
                        <a:t>Chương VI:</a:t>
                      </a:r>
                      <a:r>
                        <a:rPr lang="en-US" sz="2400" b="1" dirty="0">
                          <a:latin typeface="Cambria" panose="02040503050406030204" pitchFamily="18" charset="0"/>
                          <a:ea typeface="Cambria" panose="02040503050406030204" pitchFamily="18" charset="0"/>
                          <a:cs typeface="Times New Roman" panose="02020603050405020304" pitchFamily="18" charset="0"/>
                        </a:rPr>
                        <a:t> </a:t>
                      </a:r>
                      <a:r>
                        <a:rPr lang="vi-VN" sz="2400" b="1" dirty="0">
                          <a:latin typeface="Cambria" panose="02040503050406030204" pitchFamily="18" charset="0"/>
                          <a:ea typeface="Cambria" panose="02040503050406030204" pitchFamily="18" charset="0"/>
                          <a:cs typeface="Times New Roman" panose="02020603050405020304" pitchFamily="18" charset="0"/>
                        </a:rPr>
                        <a:t>Phát triển và sử dụng RESTful API </a:t>
                      </a:r>
                    </a:p>
                  </a:txBody>
                  <a:tcPr/>
                </a:tc>
                <a:tc>
                  <a:txBody>
                    <a:bodyPr/>
                    <a:lstStyle/>
                    <a:p>
                      <a:pPr algn="ctr">
                        <a:lnSpc>
                          <a:spcPct val="150000"/>
                        </a:lnSpc>
                      </a:pPr>
                      <a:r>
                        <a:rPr lang="en-US" sz="2400" dirty="0">
                          <a:latin typeface="Cambria" panose="02040503050406030204" pitchFamily="18" charset="0"/>
                          <a:ea typeface="Cambria" panose="02040503050406030204" pitchFamily="18" charset="0"/>
                          <a:cs typeface="Times New Roman" panose="02020603050405020304" pitchFamily="18" charset="0"/>
                        </a:rPr>
                        <a:t>6</a:t>
                      </a:r>
                    </a:p>
                  </a:txBody>
                  <a:tcPr/>
                </a:tc>
                <a:tc>
                  <a:txBody>
                    <a:bodyPr/>
                    <a:lstStyle/>
                    <a:p>
                      <a:pPr algn="ctr">
                        <a:lnSpc>
                          <a:spcPct val="150000"/>
                        </a:lnSpc>
                      </a:pPr>
                      <a:r>
                        <a:rPr lang="en-US" sz="2400">
                          <a:latin typeface="Cambria" panose="02040503050406030204" pitchFamily="18" charset="0"/>
                          <a:ea typeface="Cambria" panose="02040503050406030204" pitchFamily="18" charset="0"/>
                          <a:cs typeface="Times New Roman" panose="02020603050405020304" pitchFamily="18" charset="0"/>
                        </a:rPr>
                        <a:t>6</a:t>
                      </a:r>
                      <a:endParaRPr lang="en-US" sz="2400" dirty="0">
                        <a:latin typeface="Cambria" panose="02040503050406030204" pitchFamily="18" charset="0"/>
                        <a:ea typeface="Cambria" panose="02040503050406030204" pitchFamily="18" charset="0"/>
                        <a:cs typeface="Times New Roman" panose="02020603050405020304" pitchFamily="18" charset="0"/>
                      </a:endParaRPr>
                    </a:p>
                  </a:txBody>
                  <a:tcPr/>
                </a:tc>
                <a:extLst>
                  <a:ext uri="{0D108BD9-81ED-4DB2-BD59-A6C34878D82A}">
                    <a16:rowId xmlns:a16="http://schemas.microsoft.com/office/drawing/2014/main" val="307985641"/>
                  </a:ext>
                </a:extLst>
              </a:tr>
              <a:tr h="414190">
                <a:tc>
                  <a:txBody>
                    <a:bodyPr/>
                    <a:lstStyle/>
                    <a:p>
                      <a:pPr algn="ctr">
                        <a:lnSpc>
                          <a:spcPct val="150000"/>
                        </a:lnSpc>
                      </a:pPr>
                      <a:r>
                        <a:rPr lang="en-US" sz="2400" dirty="0">
                          <a:latin typeface="Cambria" panose="02040503050406030204" pitchFamily="18" charset="0"/>
                          <a:ea typeface="Cambria" panose="02040503050406030204" pitchFamily="18" charset="0"/>
                          <a:cs typeface="Times New Roman" panose="02020603050405020304" pitchFamily="18" charset="0"/>
                        </a:rPr>
                        <a:t>7</a:t>
                      </a:r>
                    </a:p>
                  </a:txBody>
                  <a:tcPr/>
                </a:tc>
                <a:tc>
                  <a:txBody>
                    <a:bodyPr/>
                    <a:lstStyle/>
                    <a:p>
                      <a:pPr>
                        <a:lnSpc>
                          <a:spcPct val="150000"/>
                        </a:lnSpc>
                      </a:pPr>
                      <a:r>
                        <a:rPr lang="vi-VN" sz="2400" b="1" dirty="0">
                          <a:latin typeface="Cambria" panose="02040503050406030204" pitchFamily="18" charset="0"/>
                          <a:ea typeface="Cambria" panose="02040503050406030204" pitchFamily="18" charset="0"/>
                          <a:cs typeface="Times New Roman" panose="02020603050405020304" pitchFamily="18" charset="0"/>
                        </a:rPr>
                        <a:t>Chương VII:</a:t>
                      </a:r>
                      <a:r>
                        <a:rPr lang="en-US" sz="2400" b="1" dirty="0">
                          <a:latin typeface="Cambria" panose="02040503050406030204" pitchFamily="18" charset="0"/>
                          <a:ea typeface="Cambria" panose="02040503050406030204" pitchFamily="18" charset="0"/>
                          <a:cs typeface="Times New Roman" panose="02020603050405020304" pitchFamily="18" charset="0"/>
                        </a:rPr>
                        <a:t> </a:t>
                      </a:r>
                      <a:r>
                        <a:rPr lang="vi-VN" sz="2400" b="1">
                          <a:latin typeface="Cambria" panose="02040503050406030204" pitchFamily="18" charset="0"/>
                          <a:ea typeface="Cambria" panose="02040503050406030204" pitchFamily="18" charset="0"/>
                          <a:cs typeface="Times New Roman" panose="02020603050405020304" pitchFamily="18" charset="0"/>
                        </a:rPr>
                        <a:t>MongoDB và tương tác RESTful API</a:t>
                      </a:r>
                      <a:endParaRPr lang="vi-VN" sz="2400"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lnSpc>
                          <a:spcPct val="150000"/>
                        </a:lnSpc>
                      </a:pPr>
                      <a:r>
                        <a:rPr lang="en-US" sz="2400">
                          <a:latin typeface="Cambria" panose="02040503050406030204" pitchFamily="18" charset="0"/>
                          <a:ea typeface="Cambria" panose="02040503050406030204" pitchFamily="18" charset="0"/>
                          <a:cs typeface="Times New Roman" panose="02020603050405020304" pitchFamily="18" charset="0"/>
                        </a:rPr>
                        <a:t>6</a:t>
                      </a:r>
                      <a:endParaRPr lang="en-US" sz="2400"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lnSpc>
                          <a:spcPct val="150000"/>
                        </a:lnSpc>
                      </a:pPr>
                      <a:r>
                        <a:rPr lang="en-US" sz="2400">
                          <a:latin typeface="Cambria" panose="02040503050406030204" pitchFamily="18" charset="0"/>
                          <a:ea typeface="Cambria" panose="02040503050406030204" pitchFamily="18" charset="0"/>
                          <a:cs typeface="Times New Roman" panose="02020603050405020304" pitchFamily="18" charset="0"/>
                        </a:rPr>
                        <a:t>6</a:t>
                      </a:r>
                      <a:endParaRPr lang="en-US" sz="2400" dirty="0">
                        <a:latin typeface="Cambria" panose="02040503050406030204" pitchFamily="18" charset="0"/>
                        <a:ea typeface="Cambria" panose="02040503050406030204" pitchFamily="18" charset="0"/>
                        <a:cs typeface="Times New Roman" panose="02020603050405020304" pitchFamily="18" charset="0"/>
                      </a:endParaRPr>
                    </a:p>
                  </a:txBody>
                  <a:tcPr/>
                </a:tc>
                <a:extLst>
                  <a:ext uri="{0D108BD9-81ED-4DB2-BD59-A6C34878D82A}">
                    <a16:rowId xmlns:a16="http://schemas.microsoft.com/office/drawing/2014/main" val="427821436"/>
                  </a:ext>
                </a:extLst>
              </a:tr>
              <a:tr h="414190">
                <a:tc>
                  <a:txBody>
                    <a:bodyPr/>
                    <a:lstStyle/>
                    <a:p>
                      <a:pPr algn="ctr">
                        <a:lnSpc>
                          <a:spcPct val="150000"/>
                        </a:lnSpc>
                      </a:pPr>
                      <a:r>
                        <a:rPr lang="en-US" sz="2400" dirty="0">
                          <a:latin typeface="Cambria" panose="02040503050406030204" pitchFamily="18" charset="0"/>
                          <a:ea typeface="Cambria" panose="02040503050406030204" pitchFamily="18" charset="0"/>
                          <a:cs typeface="Times New Roman" panose="02020603050405020304" pitchFamily="18" charset="0"/>
                        </a:rPr>
                        <a:t>8</a:t>
                      </a:r>
                    </a:p>
                  </a:txBody>
                  <a:tcPr/>
                </a:tc>
                <a:tc>
                  <a:txBody>
                    <a:bodyPr/>
                    <a:lstStyle/>
                    <a:p>
                      <a:pPr>
                        <a:lnSpc>
                          <a:spcPct val="150000"/>
                        </a:lnSpc>
                      </a:pPr>
                      <a:r>
                        <a:rPr lang="en-US" sz="2400" b="1">
                          <a:latin typeface="Cambria" panose="02040503050406030204" pitchFamily="18" charset="0"/>
                          <a:ea typeface="Cambria" panose="02040503050406030204" pitchFamily="18" charset="0"/>
                          <a:cs typeface="Times New Roman" panose="02020603050405020304" pitchFamily="18" charset="0"/>
                        </a:rPr>
                        <a:t>Chương VIII: Cookie và Session </a:t>
                      </a:r>
                      <a:endParaRPr lang="en-US" sz="2400"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lnSpc>
                          <a:spcPct val="150000"/>
                        </a:lnSpc>
                      </a:pPr>
                      <a:r>
                        <a:rPr lang="en-US" sz="2400">
                          <a:latin typeface="Cambria" panose="02040503050406030204" pitchFamily="18" charset="0"/>
                          <a:ea typeface="Cambria" panose="02040503050406030204" pitchFamily="18" charset="0"/>
                          <a:cs typeface="Times New Roman" panose="02020603050405020304" pitchFamily="18" charset="0"/>
                        </a:rPr>
                        <a:t>3</a:t>
                      </a:r>
                      <a:endParaRPr lang="en-US" sz="2400"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lnSpc>
                          <a:spcPct val="150000"/>
                        </a:lnSpc>
                      </a:pPr>
                      <a:r>
                        <a:rPr lang="en-US" sz="2400" dirty="0">
                          <a:latin typeface="Cambria" panose="02040503050406030204" pitchFamily="18" charset="0"/>
                          <a:ea typeface="Cambria" panose="02040503050406030204" pitchFamily="18" charset="0"/>
                          <a:cs typeface="Times New Roman" panose="02020603050405020304" pitchFamily="18" charset="0"/>
                        </a:rPr>
                        <a:t>3</a:t>
                      </a:r>
                    </a:p>
                  </a:txBody>
                  <a:tcPr/>
                </a:tc>
                <a:extLst>
                  <a:ext uri="{0D108BD9-81ED-4DB2-BD59-A6C34878D82A}">
                    <a16:rowId xmlns:a16="http://schemas.microsoft.com/office/drawing/2014/main" val="3678685080"/>
                  </a:ext>
                </a:extLst>
              </a:tr>
            </a:tbl>
          </a:graphicData>
        </a:graphic>
      </p:graphicFrame>
    </p:spTree>
    <p:extLst>
      <p:ext uri="{BB962C8B-B14F-4D97-AF65-F5344CB8AC3E}">
        <p14:creationId xmlns:p14="http://schemas.microsoft.com/office/powerpoint/2010/main" val="26905837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grpSp>
        <p:nvGrpSpPr>
          <p:cNvPr id="9" name="Group 8">
            <a:extLst>
              <a:ext uri="{FF2B5EF4-FFF2-40B4-BE49-F238E27FC236}">
                <a16:creationId xmlns:a16="http://schemas.microsoft.com/office/drawing/2014/main" id="{DB064EE3-94D0-16A0-E5E5-2FF2F4BBCE3C}"/>
              </a:ext>
            </a:extLst>
          </p:cNvPr>
          <p:cNvGrpSpPr/>
          <p:nvPr/>
        </p:nvGrpSpPr>
        <p:grpSpPr>
          <a:xfrm>
            <a:off x="186776" y="289210"/>
            <a:ext cx="4620576" cy="508000"/>
            <a:chOff x="789624" y="1191463"/>
            <a:chExt cx="4620576" cy="508000"/>
          </a:xfrm>
        </p:grpSpPr>
        <p:sp>
          <p:nvSpPr>
            <p:cNvPr id="10" name="AutoShape 52">
              <a:extLst>
                <a:ext uri="{FF2B5EF4-FFF2-40B4-BE49-F238E27FC236}">
                  <a16:creationId xmlns:a16="http://schemas.microsoft.com/office/drawing/2014/main" id="{D9FCDF26-1903-F72D-3478-63FDBFC4E6B0}"/>
                </a:ext>
              </a:extLst>
            </p:cNvPr>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Đánh giá môn học</a:t>
              </a:r>
              <a:endParaRPr lang="en-US" sz="2800" b="1" kern="0">
                <a:solidFill>
                  <a:srgbClr val="000000"/>
                </a:solidFill>
                <a:latin typeface="Cambria" panose="02040503050406030204" pitchFamily="18" charset="0"/>
              </a:endParaRPr>
            </a:p>
          </p:txBody>
        </p:sp>
        <p:grpSp>
          <p:nvGrpSpPr>
            <p:cNvPr id="11" name="Group 17">
              <a:extLst>
                <a:ext uri="{FF2B5EF4-FFF2-40B4-BE49-F238E27FC236}">
                  <a16:creationId xmlns:a16="http://schemas.microsoft.com/office/drawing/2014/main" id="{A2A94BA0-62F6-1DC9-83F0-8A1DA8A04319}"/>
                </a:ext>
              </a:extLst>
            </p:cNvPr>
            <p:cNvGrpSpPr>
              <a:grpSpLocks/>
            </p:cNvGrpSpPr>
            <p:nvPr/>
          </p:nvGrpSpPr>
          <p:grpSpPr bwMode="auto">
            <a:xfrm>
              <a:off x="789624" y="1295400"/>
              <a:ext cx="353376" cy="272472"/>
              <a:chOff x="1110" y="2656"/>
              <a:chExt cx="1549" cy="1351"/>
            </a:xfrm>
          </p:grpSpPr>
          <p:sp>
            <p:nvSpPr>
              <p:cNvPr id="12" name="AutoShape 18">
                <a:extLst>
                  <a:ext uri="{FF2B5EF4-FFF2-40B4-BE49-F238E27FC236}">
                    <a16:creationId xmlns:a16="http://schemas.microsoft.com/office/drawing/2014/main" id="{8722050F-8352-87D9-B408-703A339DBFE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3" name="AutoShape 19">
                <a:extLst>
                  <a:ext uri="{FF2B5EF4-FFF2-40B4-BE49-F238E27FC236}">
                    <a16:creationId xmlns:a16="http://schemas.microsoft.com/office/drawing/2014/main" id="{149B5DEF-85FC-54A6-5644-6A82E84A865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14" name="AutoShape 20">
                <a:extLst>
                  <a:ext uri="{FF2B5EF4-FFF2-40B4-BE49-F238E27FC236}">
                    <a16:creationId xmlns:a16="http://schemas.microsoft.com/office/drawing/2014/main" id="{0594A95B-50C0-B072-1D21-3706EFCFDEE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4" name="Content Placeholder 2">
            <a:extLst>
              <a:ext uri="{FF2B5EF4-FFF2-40B4-BE49-F238E27FC236}">
                <a16:creationId xmlns:a16="http://schemas.microsoft.com/office/drawing/2014/main" id="{642A1D5C-841F-18E0-3F29-11E0FA44B5FA}"/>
              </a:ext>
            </a:extLst>
          </p:cNvPr>
          <p:cNvSpPr txBox="1">
            <a:spLocks/>
          </p:cNvSpPr>
          <p:nvPr/>
        </p:nvSpPr>
        <p:spPr>
          <a:xfrm>
            <a:off x="186776" y="5935731"/>
            <a:ext cx="11353800" cy="5080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ü"/>
            </a:pPr>
            <a:r>
              <a:rPr lang="en-US" sz="2800" dirty="0">
                <a:latin typeface="Cambria" panose="02040503050406030204" pitchFamily="18" charset="0"/>
              </a:rPr>
              <a:t>Các </a:t>
            </a:r>
            <a:r>
              <a:rPr lang="en-US" sz="2800" dirty="0" err="1">
                <a:latin typeface="Cambria" panose="02040503050406030204" pitchFamily="18" charset="0"/>
              </a:rPr>
              <a:t>bài</a:t>
            </a:r>
            <a:r>
              <a:rPr lang="en-US" sz="2800" dirty="0">
                <a:latin typeface="Cambria" panose="02040503050406030204" pitchFamily="18" charset="0"/>
              </a:rPr>
              <a:t> </a:t>
            </a:r>
            <a:r>
              <a:rPr lang="en-US" sz="2800" dirty="0" err="1">
                <a:latin typeface="Cambria" panose="02040503050406030204" pitchFamily="18" charset="0"/>
              </a:rPr>
              <a:t>đánh</a:t>
            </a:r>
            <a:r>
              <a:rPr lang="en-US" sz="2800" dirty="0">
                <a:latin typeface="Cambria" panose="02040503050406030204" pitchFamily="18" charset="0"/>
              </a:rPr>
              <a:t> </a:t>
            </a:r>
            <a:r>
              <a:rPr lang="en-US" sz="2800" dirty="0" err="1">
                <a:latin typeface="Cambria" panose="02040503050406030204" pitchFamily="18" charset="0"/>
              </a:rPr>
              <a:t>giá</a:t>
            </a:r>
            <a:r>
              <a:rPr lang="en-US" sz="2800" dirty="0">
                <a:latin typeface="Cambria" panose="02040503050406030204" pitchFamily="18" charset="0"/>
              </a:rPr>
              <a:t> </a:t>
            </a:r>
            <a:r>
              <a:rPr lang="en-US" sz="2800" dirty="0" err="1">
                <a:latin typeface="Cambria" panose="02040503050406030204" pitchFamily="18" charset="0"/>
              </a:rPr>
              <a:t>học</a:t>
            </a:r>
            <a:r>
              <a:rPr lang="en-US" sz="2800" dirty="0">
                <a:latin typeface="Cambria" panose="02040503050406030204" pitchFamily="18" charset="0"/>
              </a:rPr>
              <a:t> </a:t>
            </a:r>
            <a:r>
              <a:rPr lang="en-US" sz="2800" dirty="0" err="1">
                <a:latin typeface="Cambria" panose="02040503050406030204" pitchFamily="18" charset="0"/>
              </a:rPr>
              <a:t>viên</a:t>
            </a:r>
            <a:r>
              <a:rPr lang="en-US" sz="2800" dirty="0">
                <a:latin typeface="Cambria" panose="02040503050406030204" pitchFamily="18" charset="0"/>
              </a:rPr>
              <a:t> </a:t>
            </a:r>
            <a:r>
              <a:rPr lang="en-US" sz="2800" dirty="0" err="1">
                <a:latin typeface="Cambria" panose="02040503050406030204" pitchFamily="18" charset="0"/>
              </a:rPr>
              <a:t>cần</a:t>
            </a:r>
            <a:r>
              <a:rPr lang="en-US" sz="2800" dirty="0">
                <a:latin typeface="Cambria" panose="02040503050406030204" pitchFamily="18" charset="0"/>
              </a:rPr>
              <a:t> </a:t>
            </a:r>
            <a:r>
              <a:rPr lang="en-US" sz="2800" dirty="0" err="1">
                <a:latin typeface="Cambria" panose="02040503050406030204" pitchFamily="18" charset="0"/>
              </a:rPr>
              <a:t>nộp</a:t>
            </a:r>
            <a:r>
              <a:rPr lang="en-US" sz="2800" dirty="0">
                <a:latin typeface="Cambria" panose="02040503050406030204" pitchFamily="18" charset="0"/>
              </a:rPr>
              <a:t> </a:t>
            </a:r>
            <a:r>
              <a:rPr lang="en-US" sz="2800" dirty="0" err="1">
                <a:latin typeface="Cambria" panose="02040503050406030204" pitchFamily="18" charset="0"/>
              </a:rPr>
              <a:t>trên</a:t>
            </a:r>
            <a:r>
              <a:rPr lang="en-US" sz="2800" dirty="0">
                <a:latin typeface="Cambria" panose="02040503050406030204" pitchFamily="18" charset="0"/>
              </a:rPr>
              <a:t>: </a:t>
            </a:r>
            <a:r>
              <a:rPr lang="en-US" sz="2800" dirty="0">
                <a:latin typeface="Cambria" panose="02040503050406030204" pitchFamily="18" charset="0"/>
                <a:hlinkClick r:id="rId3"/>
              </a:rPr>
              <a:t>https://lms.uel.edu.vn</a:t>
            </a:r>
            <a:endParaRPr lang="en-US" sz="2800" dirty="0">
              <a:latin typeface="Cambria" panose="02040503050406030204" pitchFamily="18" charset="0"/>
            </a:endParaRPr>
          </a:p>
        </p:txBody>
      </p:sp>
      <p:graphicFrame>
        <p:nvGraphicFramePr>
          <p:cNvPr id="5" name="Table 4">
            <a:extLst>
              <a:ext uri="{FF2B5EF4-FFF2-40B4-BE49-F238E27FC236}">
                <a16:creationId xmlns:a16="http://schemas.microsoft.com/office/drawing/2014/main" id="{78CECEF4-222F-9272-789B-B02313B1F999}"/>
              </a:ext>
            </a:extLst>
          </p:cNvPr>
          <p:cNvGraphicFramePr>
            <a:graphicFrameLocks noGrp="1"/>
          </p:cNvGraphicFramePr>
          <p:nvPr>
            <p:extLst>
              <p:ext uri="{D42A27DB-BD31-4B8C-83A1-F6EECF244321}">
                <p14:modId xmlns:p14="http://schemas.microsoft.com/office/powerpoint/2010/main" val="1007407836"/>
              </p:ext>
            </p:extLst>
          </p:nvPr>
        </p:nvGraphicFramePr>
        <p:xfrm>
          <a:off x="427460" y="901451"/>
          <a:ext cx="11454516" cy="4531606"/>
        </p:xfrm>
        <a:graphic>
          <a:graphicData uri="http://schemas.openxmlformats.org/drawingml/2006/table">
            <a:tbl>
              <a:tblPr>
                <a:tableStyleId>{5940675A-B579-460E-94D1-54222C63F5DA}</a:tableStyleId>
              </a:tblPr>
              <a:tblGrid>
                <a:gridCol w="1746200">
                  <a:extLst>
                    <a:ext uri="{9D8B030D-6E8A-4147-A177-3AD203B41FA5}">
                      <a16:colId xmlns:a16="http://schemas.microsoft.com/office/drawing/2014/main" val="1426053727"/>
                    </a:ext>
                  </a:extLst>
                </a:gridCol>
                <a:gridCol w="1562317">
                  <a:extLst>
                    <a:ext uri="{9D8B030D-6E8A-4147-A177-3AD203B41FA5}">
                      <a16:colId xmlns:a16="http://schemas.microsoft.com/office/drawing/2014/main" val="1073819988"/>
                    </a:ext>
                  </a:extLst>
                </a:gridCol>
                <a:gridCol w="2053482">
                  <a:extLst>
                    <a:ext uri="{9D8B030D-6E8A-4147-A177-3AD203B41FA5}">
                      <a16:colId xmlns:a16="http://schemas.microsoft.com/office/drawing/2014/main" val="2624977259"/>
                    </a:ext>
                  </a:extLst>
                </a:gridCol>
                <a:gridCol w="2156296">
                  <a:extLst>
                    <a:ext uri="{9D8B030D-6E8A-4147-A177-3AD203B41FA5}">
                      <a16:colId xmlns:a16="http://schemas.microsoft.com/office/drawing/2014/main" val="1325933848"/>
                    </a:ext>
                  </a:extLst>
                </a:gridCol>
                <a:gridCol w="1383309">
                  <a:extLst>
                    <a:ext uri="{9D8B030D-6E8A-4147-A177-3AD203B41FA5}">
                      <a16:colId xmlns:a16="http://schemas.microsoft.com/office/drawing/2014/main" val="2896683628"/>
                    </a:ext>
                  </a:extLst>
                </a:gridCol>
                <a:gridCol w="1276456">
                  <a:extLst>
                    <a:ext uri="{9D8B030D-6E8A-4147-A177-3AD203B41FA5}">
                      <a16:colId xmlns:a16="http://schemas.microsoft.com/office/drawing/2014/main" val="3641430546"/>
                    </a:ext>
                  </a:extLst>
                </a:gridCol>
                <a:gridCol w="1276456">
                  <a:extLst>
                    <a:ext uri="{9D8B030D-6E8A-4147-A177-3AD203B41FA5}">
                      <a16:colId xmlns:a16="http://schemas.microsoft.com/office/drawing/2014/main" val="125172224"/>
                    </a:ext>
                  </a:extLst>
                </a:gridCol>
              </a:tblGrid>
              <a:tr h="1164443">
                <a:tc>
                  <a:txBody>
                    <a:bodyPr/>
                    <a:lstStyle/>
                    <a:p>
                      <a:pPr marL="635" marR="0" indent="-1905" algn="ctr">
                        <a:buNone/>
                      </a:pPr>
                      <a:r>
                        <a:rPr lang="en-US" sz="2200" b="1">
                          <a:effectLst/>
                          <a:latin typeface="Times New Roman" panose="02020603050405020304" pitchFamily="18" charset="0"/>
                          <a:cs typeface="Times New Roman" panose="02020603050405020304" pitchFamily="18" charset="0"/>
                        </a:rPr>
                        <a:t>Thành phần đánh giá (1)</a:t>
                      </a:r>
                      <a:endParaRPr lang="en-US" sz="2200" b="1">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21215" marR="21215" marT="0" marB="0">
                    <a:solidFill>
                      <a:srgbClr val="FFFF00"/>
                    </a:solidFill>
                  </a:tcPr>
                </a:tc>
                <a:tc>
                  <a:txBody>
                    <a:bodyPr/>
                    <a:lstStyle/>
                    <a:p>
                      <a:pPr marL="635" marR="0" indent="-1905" algn="ctr">
                        <a:buNone/>
                        <a:tabLst>
                          <a:tab pos="180340" algn="l"/>
                        </a:tabLst>
                      </a:pPr>
                      <a:r>
                        <a:rPr lang="en-US" sz="2200" b="1">
                          <a:effectLst/>
                          <a:latin typeface="Times New Roman" panose="02020603050405020304" pitchFamily="18" charset="0"/>
                          <a:cs typeface="Times New Roman" panose="02020603050405020304" pitchFamily="18" charset="0"/>
                        </a:rPr>
                        <a:t>Bài đánh giá (2) </a:t>
                      </a:r>
                      <a:endParaRPr lang="en-US" sz="2200" b="1">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21215" marR="21215" marT="0" marB="0" anchor="ctr">
                    <a:solidFill>
                      <a:srgbClr val="FFFF00"/>
                    </a:solidFill>
                  </a:tcPr>
                </a:tc>
                <a:tc>
                  <a:txBody>
                    <a:bodyPr/>
                    <a:lstStyle/>
                    <a:p>
                      <a:pPr marL="635" marR="0" indent="-1905" algn="ctr">
                        <a:buNone/>
                        <a:tabLst>
                          <a:tab pos="180340" algn="l"/>
                        </a:tabLst>
                      </a:pPr>
                      <a:r>
                        <a:rPr lang="en-US" sz="2200" b="1">
                          <a:effectLst/>
                          <a:latin typeface="Times New Roman" panose="02020603050405020304" pitchFamily="18" charset="0"/>
                          <a:cs typeface="Times New Roman" panose="02020603050405020304" pitchFamily="18" charset="0"/>
                        </a:rPr>
                        <a:t>CĐR học phần</a:t>
                      </a:r>
                    </a:p>
                    <a:p>
                      <a:pPr marL="635" marR="0" indent="-1905" algn="ctr">
                        <a:buNone/>
                      </a:pPr>
                      <a:r>
                        <a:rPr lang="en-US" sz="2200" b="1">
                          <a:effectLst/>
                          <a:latin typeface="Times New Roman" panose="02020603050405020304" pitchFamily="18" charset="0"/>
                          <a:cs typeface="Times New Roman" panose="02020603050405020304" pitchFamily="18" charset="0"/>
                        </a:rPr>
                        <a:t>(3)</a:t>
                      </a:r>
                      <a:endParaRPr lang="en-US" sz="2200" b="1">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21215" marR="21215" marT="0" marB="0" anchor="ctr">
                    <a:solidFill>
                      <a:srgbClr val="FFFF00"/>
                    </a:solidFill>
                  </a:tcPr>
                </a:tc>
                <a:tc>
                  <a:txBody>
                    <a:bodyPr/>
                    <a:lstStyle/>
                    <a:p>
                      <a:pPr marL="635" marR="0" indent="-1905" algn="ctr">
                        <a:buNone/>
                        <a:tabLst>
                          <a:tab pos="180340" algn="l"/>
                        </a:tabLst>
                      </a:pPr>
                      <a:r>
                        <a:rPr lang="en-US" sz="2200" b="1">
                          <a:effectLst/>
                          <a:latin typeface="Times New Roman" panose="02020603050405020304" pitchFamily="18" charset="0"/>
                          <a:cs typeface="Times New Roman" panose="02020603050405020304" pitchFamily="18" charset="0"/>
                        </a:rPr>
                        <a:t>Tiêu chí đánh giá</a:t>
                      </a:r>
                    </a:p>
                    <a:p>
                      <a:pPr marL="635" marR="0" indent="-1905" algn="ctr">
                        <a:buNone/>
                      </a:pPr>
                      <a:r>
                        <a:rPr lang="en-US" sz="2200" b="1">
                          <a:effectLst/>
                          <a:latin typeface="Times New Roman" panose="02020603050405020304" pitchFamily="18" charset="0"/>
                          <a:cs typeface="Times New Roman" panose="02020603050405020304" pitchFamily="18" charset="0"/>
                        </a:rPr>
                        <a:t>(4)</a:t>
                      </a:r>
                      <a:endParaRPr lang="en-US" sz="2200" b="1">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21215" marR="21215" marT="0" marB="0">
                    <a:solidFill>
                      <a:srgbClr val="FFFF00"/>
                    </a:solidFill>
                  </a:tcPr>
                </a:tc>
                <a:tc>
                  <a:txBody>
                    <a:bodyPr/>
                    <a:lstStyle/>
                    <a:p>
                      <a:pPr marL="635" marR="0" indent="-1905" algn="ctr">
                        <a:buNone/>
                        <a:tabLst>
                          <a:tab pos="180340" algn="l"/>
                        </a:tabLst>
                      </a:pPr>
                      <a:r>
                        <a:rPr lang="en-US" sz="2200" b="1">
                          <a:effectLst/>
                          <a:latin typeface="Times New Roman" panose="02020603050405020304" pitchFamily="18" charset="0"/>
                          <a:cs typeface="Times New Roman" panose="02020603050405020304" pitchFamily="18" charset="0"/>
                        </a:rPr>
                        <a:t>Thời lượng đánh giá (5)</a:t>
                      </a:r>
                      <a:endParaRPr lang="en-US" sz="2200" b="1">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21215" marR="21215" marT="0" marB="0">
                    <a:solidFill>
                      <a:srgbClr val="FFFF00"/>
                    </a:solidFill>
                  </a:tcPr>
                </a:tc>
                <a:tc>
                  <a:txBody>
                    <a:bodyPr/>
                    <a:lstStyle/>
                    <a:p>
                      <a:pPr marL="635" marR="0" indent="-1905" algn="ctr">
                        <a:buNone/>
                        <a:tabLst>
                          <a:tab pos="180340" algn="l"/>
                        </a:tabLst>
                      </a:pPr>
                      <a:r>
                        <a:rPr lang="en-US" sz="2200" b="1">
                          <a:effectLst/>
                          <a:latin typeface="Times New Roman" panose="02020603050405020304" pitchFamily="18" charset="0"/>
                          <a:cs typeface="Times New Roman" panose="02020603050405020304" pitchFamily="18" charset="0"/>
                        </a:rPr>
                        <a:t>Trọng số</a:t>
                      </a:r>
                    </a:p>
                    <a:p>
                      <a:pPr marL="635" marR="0" indent="-1905" algn="ctr">
                        <a:buNone/>
                      </a:pPr>
                      <a:r>
                        <a:rPr lang="en-US" sz="2200" b="1">
                          <a:effectLst/>
                          <a:latin typeface="Times New Roman" panose="02020603050405020304" pitchFamily="18" charset="0"/>
                          <a:cs typeface="Times New Roman" panose="02020603050405020304" pitchFamily="18" charset="0"/>
                        </a:rPr>
                        <a:t>(6)</a:t>
                      </a:r>
                      <a:endParaRPr lang="en-US" sz="2200" b="1">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21215" marR="21215" marT="0" marB="0" anchor="ctr">
                    <a:solidFill>
                      <a:srgbClr val="FFFF00"/>
                    </a:solidFill>
                  </a:tcPr>
                </a:tc>
                <a:tc>
                  <a:txBody>
                    <a:bodyPr/>
                    <a:lstStyle/>
                    <a:p>
                      <a:pPr marL="635" marR="0" indent="-1905" algn="ctr">
                        <a:buNone/>
                        <a:tabLst>
                          <a:tab pos="180340" algn="l"/>
                        </a:tabLst>
                      </a:pPr>
                      <a:r>
                        <a:rPr lang="en-US" sz="2200" b="1">
                          <a:effectLst/>
                          <a:latin typeface="Times New Roman" panose="02020603050405020304" pitchFamily="18" charset="0"/>
                          <a:cs typeface="Times New Roman" panose="02020603050405020304" pitchFamily="18" charset="0"/>
                        </a:rPr>
                        <a:t>Trọng số con</a:t>
                      </a:r>
                    </a:p>
                    <a:p>
                      <a:pPr marL="635" marR="0" indent="-1905" algn="ctr">
                        <a:buNone/>
                      </a:pPr>
                      <a:r>
                        <a:rPr lang="en-US" sz="2200" b="1">
                          <a:effectLst/>
                          <a:latin typeface="Times New Roman" panose="02020603050405020304" pitchFamily="18" charset="0"/>
                          <a:cs typeface="Times New Roman" panose="02020603050405020304" pitchFamily="18" charset="0"/>
                        </a:rPr>
                        <a:t>(7)</a:t>
                      </a:r>
                      <a:endParaRPr lang="en-US" sz="2200" b="1">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21215" marR="21215" marT="0" marB="0">
                    <a:solidFill>
                      <a:srgbClr val="FFFF00"/>
                    </a:solidFill>
                  </a:tcPr>
                </a:tc>
                <a:extLst>
                  <a:ext uri="{0D108BD9-81ED-4DB2-BD59-A6C34878D82A}">
                    <a16:rowId xmlns:a16="http://schemas.microsoft.com/office/drawing/2014/main" val="596475313"/>
                  </a:ext>
                </a:extLst>
              </a:tr>
              <a:tr h="735437">
                <a:tc rowSpan="2">
                  <a:txBody>
                    <a:bodyPr/>
                    <a:lstStyle/>
                    <a:p>
                      <a:pPr marL="635" marR="0" indent="-1905">
                        <a:buNone/>
                      </a:pPr>
                      <a:r>
                        <a:rPr lang="en-US" sz="2200">
                          <a:effectLst/>
                          <a:latin typeface="Times New Roman" panose="02020603050405020304" pitchFamily="18" charset="0"/>
                          <a:cs typeface="Times New Roman" panose="02020603050405020304" pitchFamily="18" charset="0"/>
                        </a:rPr>
                        <a:t>A1. Đánh giá quá trình</a:t>
                      </a:r>
                      <a:endParaRPr lang="en-US" sz="2200">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21215" marR="21215" marT="0" marB="0" anchor="ctr"/>
                </a:tc>
                <a:tc>
                  <a:txBody>
                    <a:bodyPr/>
                    <a:lstStyle/>
                    <a:p>
                      <a:pPr marL="635" marR="0" indent="-1905">
                        <a:buNone/>
                      </a:pPr>
                      <a:r>
                        <a:rPr lang="en-US" sz="2200">
                          <a:effectLst/>
                          <a:latin typeface="Times New Roman" panose="02020603050405020304" pitchFamily="18" charset="0"/>
                          <a:cs typeface="Times New Roman" panose="02020603050405020304" pitchFamily="18" charset="0"/>
                        </a:rPr>
                        <a:t>A1.1</a:t>
                      </a:r>
                      <a:endParaRPr lang="en-US" sz="2200">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21215" marR="21215" marT="0" marB="0" anchor="ctr"/>
                </a:tc>
                <a:tc>
                  <a:txBody>
                    <a:bodyPr/>
                    <a:lstStyle/>
                    <a:p>
                      <a:pPr marL="635" marR="0" indent="-1905" algn="ctr">
                        <a:buNone/>
                      </a:pPr>
                      <a:r>
                        <a:rPr lang="en-US" sz="2200">
                          <a:effectLst/>
                          <a:latin typeface="Times New Roman" panose="02020603050405020304" pitchFamily="18" charset="0"/>
                          <a:cs typeface="Times New Roman" panose="02020603050405020304" pitchFamily="18" charset="0"/>
                        </a:rPr>
                        <a:t>CLO1,CLO2, </a:t>
                      </a:r>
                      <a:br>
                        <a:rPr lang="en-US" sz="2200">
                          <a:effectLst/>
                          <a:latin typeface="Times New Roman" panose="02020603050405020304" pitchFamily="18" charset="0"/>
                          <a:cs typeface="Times New Roman" panose="02020603050405020304" pitchFamily="18" charset="0"/>
                        </a:rPr>
                      </a:br>
                      <a:r>
                        <a:rPr lang="en-US" sz="2200">
                          <a:effectLst/>
                          <a:latin typeface="Times New Roman" panose="02020603050405020304" pitchFamily="18" charset="0"/>
                          <a:cs typeface="Times New Roman" panose="02020603050405020304" pitchFamily="18" charset="0"/>
                        </a:rPr>
                        <a:t>CLO3</a:t>
                      </a:r>
                      <a:endParaRPr lang="en-US" sz="2200">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21215" marR="21215" marT="0" marB="0" anchor="ctr"/>
                </a:tc>
                <a:tc>
                  <a:txBody>
                    <a:bodyPr/>
                    <a:lstStyle/>
                    <a:p>
                      <a:pPr marL="635" marR="0" indent="-1905">
                        <a:buNone/>
                      </a:pPr>
                      <a:r>
                        <a:rPr lang="en-US" sz="2200">
                          <a:effectLst/>
                          <a:latin typeface="Times New Roman" panose="02020603050405020304" pitchFamily="18" charset="0"/>
                          <a:cs typeface="Times New Roman" panose="02020603050405020304" pitchFamily="18" charset="0"/>
                        </a:rPr>
                        <a:t>Bài tập thực hành trên lớp</a:t>
                      </a:r>
                      <a:endParaRPr lang="en-US" sz="2200">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21215" marR="21215" marT="0" marB="0" anchor="ctr"/>
                </a:tc>
                <a:tc>
                  <a:txBody>
                    <a:bodyPr/>
                    <a:lstStyle/>
                    <a:p>
                      <a:pPr marL="635" marR="0" indent="-1905">
                        <a:buNone/>
                      </a:pPr>
                      <a:r>
                        <a:rPr lang="en-US" sz="2200">
                          <a:effectLst/>
                          <a:latin typeface="Times New Roman" panose="02020603050405020304" pitchFamily="18" charset="0"/>
                          <a:cs typeface="Times New Roman" panose="02020603050405020304" pitchFamily="18" charset="0"/>
                        </a:rPr>
                        <a:t> </a:t>
                      </a:r>
                      <a:endParaRPr lang="en-US" sz="2200">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21215" marR="21215" marT="0" marB="0" anchor="ctr"/>
                </a:tc>
                <a:tc rowSpan="2">
                  <a:txBody>
                    <a:bodyPr/>
                    <a:lstStyle/>
                    <a:p>
                      <a:pPr marL="635" marR="0" indent="-1905" algn="ctr">
                        <a:buNone/>
                      </a:pPr>
                      <a:r>
                        <a:rPr lang="en-US" sz="2200">
                          <a:effectLst/>
                          <a:latin typeface="Times New Roman" panose="02020603050405020304" pitchFamily="18" charset="0"/>
                          <a:cs typeface="Times New Roman" panose="02020603050405020304" pitchFamily="18" charset="0"/>
                        </a:rPr>
                        <a:t>30%</a:t>
                      </a:r>
                      <a:endParaRPr lang="en-US" sz="2200">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21215" marR="21215" marT="0" marB="0" anchor="ctr"/>
                </a:tc>
                <a:tc>
                  <a:txBody>
                    <a:bodyPr/>
                    <a:lstStyle/>
                    <a:p>
                      <a:pPr marL="635" marR="0" indent="-1905" algn="ctr">
                        <a:buNone/>
                      </a:pPr>
                      <a:r>
                        <a:rPr lang="en-US" sz="2200">
                          <a:effectLst/>
                          <a:latin typeface="Times New Roman" panose="02020603050405020304" pitchFamily="18" charset="0"/>
                          <a:cs typeface="Times New Roman" panose="02020603050405020304" pitchFamily="18" charset="0"/>
                        </a:rPr>
                        <a:t>15%</a:t>
                      </a:r>
                      <a:endParaRPr lang="en-US" sz="2200">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21215" marR="21215" marT="0" marB="0" anchor="ctr"/>
                </a:tc>
                <a:extLst>
                  <a:ext uri="{0D108BD9-81ED-4DB2-BD59-A6C34878D82A}">
                    <a16:rowId xmlns:a16="http://schemas.microsoft.com/office/drawing/2014/main" val="258422849"/>
                  </a:ext>
                </a:extLst>
              </a:tr>
              <a:tr h="490292">
                <a:tc vMerge="1">
                  <a:txBody>
                    <a:bodyPr/>
                    <a:lstStyle/>
                    <a:p>
                      <a:endParaRPr lang="en-US"/>
                    </a:p>
                  </a:txBody>
                  <a:tcPr/>
                </a:tc>
                <a:tc>
                  <a:txBody>
                    <a:bodyPr/>
                    <a:lstStyle/>
                    <a:p>
                      <a:pPr marL="635" marR="0" indent="-1905">
                        <a:buNone/>
                      </a:pPr>
                      <a:r>
                        <a:rPr lang="en-US" sz="2200">
                          <a:effectLst/>
                          <a:latin typeface="Times New Roman" panose="02020603050405020304" pitchFamily="18" charset="0"/>
                          <a:cs typeface="Times New Roman" panose="02020603050405020304" pitchFamily="18" charset="0"/>
                        </a:rPr>
                        <a:t>A1.2</a:t>
                      </a:r>
                      <a:endParaRPr lang="en-US" sz="2200">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21215" marR="21215" marT="0" marB="0" anchor="ctr"/>
                </a:tc>
                <a:tc>
                  <a:txBody>
                    <a:bodyPr/>
                    <a:lstStyle/>
                    <a:p>
                      <a:pPr marL="635" marR="0" indent="-1905" algn="ctr">
                        <a:buNone/>
                      </a:pPr>
                      <a:r>
                        <a:rPr lang="en-US" sz="2200">
                          <a:effectLst/>
                          <a:latin typeface="Times New Roman" panose="02020603050405020304" pitchFamily="18" charset="0"/>
                          <a:cs typeface="Times New Roman" panose="02020603050405020304" pitchFamily="18" charset="0"/>
                        </a:rPr>
                        <a:t>CLO1,CLO2, </a:t>
                      </a:r>
                      <a:br>
                        <a:rPr lang="en-US" sz="2200">
                          <a:effectLst/>
                          <a:latin typeface="Times New Roman" panose="02020603050405020304" pitchFamily="18" charset="0"/>
                          <a:cs typeface="Times New Roman" panose="02020603050405020304" pitchFamily="18" charset="0"/>
                        </a:rPr>
                      </a:br>
                      <a:r>
                        <a:rPr lang="en-US" sz="2200">
                          <a:effectLst/>
                          <a:latin typeface="Times New Roman" panose="02020603050405020304" pitchFamily="18" charset="0"/>
                          <a:cs typeface="Times New Roman" panose="02020603050405020304" pitchFamily="18" charset="0"/>
                        </a:rPr>
                        <a:t>CLO3</a:t>
                      </a:r>
                      <a:endParaRPr lang="en-US" sz="2200">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21215" marR="21215" marT="0" marB="0" anchor="ctr"/>
                </a:tc>
                <a:tc>
                  <a:txBody>
                    <a:bodyPr/>
                    <a:lstStyle/>
                    <a:p>
                      <a:pPr marL="635" marR="0" indent="-1905">
                        <a:buNone/>
                      </a:pPr>
                      <a:r>
                        <a:rPr lang="en-US" sz="2200">
                          <a:effectLst/>
                          <a:latin typeface="Times New Roman" panose="02020603050405020304" pitchFamily="18" charset="0"/>
                          <a:cs typeface="Times New Roman" panose="02020603050405020304" pitchFamily="18" charset="0"/>
                        </a:rPr>
                        <a:t>Bài tập về nhà</a:t>
                      </a:r>
                      <a:endParaRPr lang="en-US" sz="2200">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21215" marR="21215" marT="0" marB="0" anchor="ctr"/>
                </a:tc>
                <a:tc>
                  <a:txBody>
                    <a:bodyPr/>
                    <a:lstStyle/>
                    <a:p>
                      <a:pPr marL="635" marR="0" indent="-1905">
                        <a:buNone/>
                      </a:pPr>
                      <a:r>
                        <a:rPr lang="en-US" sz="2200">
                          <a:effectLst/>
                          <a:latin typeface="Times New Roman" panose="02020603050405020304" pitchFamily="18" charset="0"/>
                          <a:cs typeface="Times New Roman" panose="02020603050405020304" pitchFamily="18" charset="0"/>
                        </a:rPr>
                        <a:t> </a:t>
                      </a:r>
                      <a:endParaRPr lang="en-US" sz="2200">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21215" marR="21215" marT="0" marB="0" anchor="ctr"/>
                </a:tc>
                <a:tc vMerge="1">
                  <a:txBody>
                    <a:bodyPr/>
                    <a:lstStyle/>
                    <a:p>
                      <a:endParaRPr lang="en-US"/>
                    </a:p>
                  </a:txBody>
                  <a:tcPr/>
                </a:tc>
                <a:tc>
                  <a:txBody>
                    <a:bodyPr/>
                    <a:lstStyle/>
                    <a:p>
                      <a:pPr marL="635" marR="0" indent="-1905" algn="ctr">
                        <a:buNone/>
                      </a:pPr>
                      <a:r>
                        <a:rPr lang="en-US" sz="2200">
                          <a:effectLst/>
                          <a:latin typeface="Times New Roman" panose="02020603050405020304" pitchFamily="18" charset="0"/>
                          <a:cs typeface="Times New Roman" panose="02020603050405020304" pitchFamily="18" charset="0"/>
                        </a:rPr>
                        <a:t>15%</a:t>
                      </a:r>
                      <a:endParaRPr lang="en-US" sz="2200">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21215" marR="21215" marT="0" marB="0" anchor="ctr"/>
                </a:tc>
                <a:extLst>
                  <a:ext uri="{0D108BD9-81ED-4DB2-BD59-A6C34878D82A}">
                    <a16:rowId xmlns:a16="http://schemas.microsoft.com/office/drawing/2014/main" val="1659618052"/>
                  </a:ext>
                </a:extLst>
              </a:tr>
              <a:tr h="980583">
                <a:tc>
                  <a:txBody>
                    <a:bodyPr/>
                    <a:lstStyle/>
                    <a:p>
                      <a:pPr marL="635" marR="0" indent="-1905">
                        <a:buNone/>
                      </a:pPr>
                      <a:r>
                        <a:rPr lang="en-US" sz="2200">
                          <a:effectLst/>
                          <a:latin typeface="Times New Roman" panose="02020603050405020304" pitchFamily="18" charset="0"/>
                          <a:cs typeface="Times New Roman" panose="02020603050405020304" pitchFamily="18" charset="0"/>
                        </a:rPr>
                        <a:t>A2. Đánh giá giữa kì</a:t>
                      </a:r>
                      <a:endParaRPr lang="en-US" sz="2200">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21215" marR="21215" marT="0" marB="0" anchor="ctr"/>
                </a:tc>
                <a:tc>
                  <a:txBody>
                    <a:bodyPr/>
                    <a:lstStyle/>
                    <a:p>
                      <a:pPr marL="635" marR="0" indent="-1905">
                        <a:buNone/>
                      </a:pPr>
                      <a:r>
                        <a:rPr lang="en-US" sz="2200">
                          <a:effectLst/>
                          <a:latin typeface="Times New Roman" panose="02020603050405020304" pitchFamily="18" charset="0"/>
                          <a:cs typeface="Times New Roman" panose="02020603050405020304" pitchFamily="18" charset="0"/>
                        </a:rPr>
                        <a:t>A2.1</a:t>
                      </a:r>
                      <a:endParaRPr lang="en-US" sz="2200">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21215" marR="21215" marT="0" marB="0" anchor="ctr"/>
                </a:tc>
                <a:tc>
                  <a:txBody>
                    <a:bodyPr/>
                    <a:lstStyle/>
                    <a:p>
                      <a:pPr marL="635" marR="0" indent="-1905" algn="ctr">
                        <a:buNone/>
                      </a:pPr>
                      <a:r>
                        <a:rPr lang="en-US" sz="2200">
                          <a:effectLst/>
                          <a:latin typeface="Times New Roman" panose="02020603050405020304" pitchFamily="18" charset="0"/>
                          <a:cs typeface="Times New Roman" panose="02020603050405020304" pitchFamily="18" charset="0"/>
                        </a:rPr>
                        <a:t>CLO1,CLO2, </a:t>
                      </a:r>
                      <a:br>
                        <a:rPr lang="en-US" sz="2200">
                          <a:effectLst/>
                          <a:latin typeface="Times New Roman" panose="02020603050405020304" pitchFamily="18" charset="0"/>
                          <a:cs typeface="Times New Roman" panose="02020603050405020304" pitchFamily="18" charset="0"/>
                        </a:rPr>
                      </a:br>
                      <a:r>
                        <a:rPr lang="en-US" sz="2200">
                          <a:effectLst/>
                          <a:latin typeface="Times New Roman" panose="02020603050405020304" pitchFamily="18" charset="0"/>
                          <a:cs typeface="Times New Roman" panose="02020603050405020304" pitchFamily="18" charset="0"/>
                        </a:rPr>
                        <a:t>CLO3</a:t>
                      </a:r>
                      <a:endParaRPr lang="en-US" sz="2200">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21215" marR="21215" marT="0" marB="0" anchor="ctr"/>
                </a:tc>
                <a:tc>
                  <a:txBody>
                    <a:bodyPr/>
                    <a:lstStyle/>
                    <a:p>
                      <a:pPr marL="635" marR="0" indent="-1905">
                        <a:buNone/>
                      </a:pPr>
                      <a:r>
                        <a:rPr lang="en-US" sz="2200">
                          <a:effectLst/>
                          <a:latin typeface="Times New Roman" panose="02020603050405020304" pitchFamily="18" charset="0"/>
                          <a:cs typeface="Times New Roman" panose="02020603050405020304" pitchFamily="18" charset="0"/>
                        </a:rPr>
                        <a:t>Kiểm tra thực hành</a:t>
                      </a:r>
                      <a:endParaRPr lang="en-US" sz="2200">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21215" marR="21215" marT="0" marB="0" anchor="ctr"/>
                </a:tc>
                <a:tc>
                  <a:txBody>
                    <a:bodyPr/>
                    <a:lstStyle/>
                    <a:p>
                      <a:pPr marL="635" marR="0" indent="-1905" algn="ctr">
                        <a:buNone/>
                      </a:pPr>
                      <a:r>
                        <a:rPr lang="en-US" sz="2200">
                          <a:effectLst/>
                          <a:latin typeface="Times New Roman" panose="02020603050405020304" pitchFamily="18" charset="0"/>
                          <a:cs typeface="Times New Roman" panose="02020603050405020304" pitchFamily="18" charset="0"/>
                        </a:rPr>
                        <a:t>75/90 phút</a:t>
                      </a:r>
                      <a:endParaRPr lang="en-US" sz="2200">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21215" marR="21215" marT="0" marB="0" anchor="ctr"/>
                </a:tc>
                <a:tc>
                  <a:txBody>
                    <a:bodyPr/>
                    <a:lstStyle/>
                    <a:p>
                      <a:pPr marL="635" marR="0" indent="-1905" algn="ctr">
                        <a:buNone/>
                      </a:pPr>
                      <a:r>
                        <a:rPr lang="en-US" sz="2200">
                          <a:effectLst/>
                          <a:latin typeface="Times New Roman" panose="02020603050405020304" pitchFamily="18" charset="0"/>
                          <a:cs typeface="Times New Roman" panose="02020603050405020304" pitchFamily="18" charset="0"/>
                        </a:rPr>
                        <a:t>20%</a:t>
                      </a:r>
                      <a:endParaRPr lang="en-US" sz="2200">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21215" marR="21215" marT="0" marB="0" anchor="ctr"/>
                </a:tc>
                <a:tc>
                  <a:txBody>
                    <a:bodyPr/>
                    <a:lstStyle/>
                    <a:p>
                      <a:pPr marL="635" marR="0" indent="-1905" algn="ctr">
                        <a:buNone/>
                      </a:pPr>
                      <a:r>
                        <a:rPr lang="en-US" sz="2200">
                          <a:effectLst/>
                          <a:latin typeface="Times New Roman" panose="02020603050405020304" pitchFamily="18" charset="0"/>
                          <a:cs typeface="Times New Roman" panose="02020603050405020304" pitchFamily="18" charset="0"/>
                        </a:rPr>
                        <a:t>20%</a:t>
                      </a:r>
                      <a:endParaRPr lang="en-US" sz="2200">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21215" marR="21215" marT="0" marB="0" anchor="ctr"/>
                </a:tc>
                <a:extLst>
                  <a:ext uri="{0D108BD9-81ED-4DB2-BD59-A6C34878D82A}">
                    <a16:rowId xmlns:a16="http://schemas.microsoft.com/office/drawing/2014/main" val="1747532067"/>
                  </a:ext>
                </a:extLst>
              </a:tr>
              <a:tr h="980583">
                <a:tc>
                  <a:txBody>
                    <a:bodyPr/>
                    <a:lstStyle/>
                    <a:p>
                      <a:pPr marL="635" marR="0" indent="-1905">
                        <a:buNone/>
                      </a:pPr>
                      <a:r>
                        <a:rPr lang="en-US" sz="2200">
                          <a:effectLst/>
                          <a:latin typeface="Times New Roman" panose="02020603050405020304" pitchFamily="18" charset="0"/>
                          <a:cs typeface="Times New Roman" panose="02020603050405020304" pitchFamily="18" charset="0"/>
                        </a:rPr>
                        <a:t>A3. Đánh giá cuối kì</a:t>
                      </a:r>
                      <a:endParaRPr lang="en-US" sz="2200">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21215" marR="21215" marT="0" marB="0" anchor="ctr"/>
                </a:tc>
                <a:tc>
                  <a:txBody>
                    <a:bodyPr/>
                    <a:lstStyle/>
                    <a:p>
                      <a:pPr marL="635" marR="0" indent="-1905">
                        <a:buNone/>
                      </a:pPr>
                      <a:r>
                        <a:rPr lang="en-US" sz="2200">
                          <a:effectLst/>
                          <a:latin typeface="Times New Roman" panose="02020603050405020304" pitchFamily="18" charset="0"/>
                          <a:cs typeface="Times New Roman" panose="02020603050405020304" pitchFamily="18" charset="0"/>
                        </a:rPr>
                        <a:t>A3.1</a:t>
                      </a:r>
                      <a:endParaRPr lang="en-US" sz="2200">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21215" marR="21215" marT="0" marB="0" anchor="ctr"/>
                </a:tc>
                <a:tc>
                  <a:txBody>
                    <a:bodyPr/>
                    <a:lstStyle/>
                    <a:p>
                      <a:pPr marL="635" marR="0" indent="-1905" algn="ctr">
                        <a:buNone/>
                      </a:pPr>
                      <a:r>
                        <a:rPr lang="en-US" sz="2200">
                          <a:effectLst/>
                          <a:latin typeface="Times New Roman" panose="02020603050405020304" pitchFamily="18" charset="0"/>
                          <a:cs typeface="Times New Roman" panose="02020603050405020304" pitchFamily="18" charset="0"/>
                        </a:rPr>
                        <a:t>CLO1,CLO2, </a:t>
                      </a:r>
                      <a:br>
                        <a:rPr lang="en-US" sz="2200">
                          <a:effectLst/>
                          <a:latin typeface="Times New Roman" panose="02020603050405020304" pitchFamily="18" charset="0"/>
                          <a:cs typeface="Times New Roman" panose="02020603050405020304" pitchFamily="18" charset="0"/>
                        </a:rPr>
                      </a:br>
                      <a:r>
                        <a:rPr lang="en-US" sz="2200">
                          <a:effectLst/>
                          <a:latin typeface="Times New Roman" panose="02020603050405020304" pitchFamily="18" charset="0"/>
                          <a:cs typeface="Times New Roman" panose="02020603050405020304" pitchFamily="18" charset="0"/>
                        </a:rPr>
                        <a:t>CLO3</a:t>
                      </a:r>
                      <a:endParaRPr lang="en-US" sz="2200">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21215" marR="21215" marT="0" marB="0" anchor="ctr"/>
                </a:tc>
                <a:tc>
                  <a:txBody>
                    <a:bodyPr/>
                    <a:lstStyle/>
                    <a:p>
                      <a:pPr marL="635" marR="0" indent="-1905">
                        <a:buNone/>
                      </a:pPr>
                      <a:r>
                        <a:rPr lang="en-US" sz="2200">
                          <a:effectLst/>
                          <a:latin typeface="Times New Roman" panose="02020603050405020304" pitchFamily="18" charset="0"/>
                          <a:cs typeface="Times New Roman" panose="02020603050405020304" pitchFamily="18" charset="0"/>
                        </a:rPr>
                        <a:t>Đồ án nhóm</a:t>
                      </a:r>
                      <a:endParaRPr lang="en-US" sz="2200">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21215" marR="21215" marT="0" marB="0" anchor="ctr"/>
                </a:tc>
                <a:tc>
                  <a:txBody>
                    <a:bodyPr/>
                    <a:lstStyle/>
                    <a:p>
                      <a:pPr marL="635" marR="0" indent="-1905" algn="ctr">
                        <a:buNone/>
                      </a:pPr>
                      <a:r>
                        <a:rPr lang="en-US" sz="2200">
                          <a:effectLst/>
                          <a:latin typeface="Times New Roman" panose="02020603050405020304" pitchFamily="18" charset="0"/>
                          <a:cs typeface="Times New Roman" panose="02020603050405020304" pitchFamily="18" charset="0"/>
                        </a:rPr>
                        <a:t> </a:t>
                      </a:r>
                      <a:endParaRPr lang="en-US" sz="2200">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21215" marR="21215" marT="0" marB="0" anchor="ctr"/>
                </a:tc>
                <a:tc>
                  <a:txBody>
                    <a:bodyPr/>
                    <a:lstStyle/>
                    <a:p>
                      <a:pPr marL="635" marR="0" indent="-1905" algn="ctr">
                        <a:buNone/>
                      </a:pPr>
                      <a:r>
                        <a:rPr lang="en-US" sz="2200">
                          <a:effectLst/>
                          <a:latin typeface="Times New Roman" panose="02020603050405020304" pitchFamily="18" charset="0"/>
                          <a:cs typeface="Times New Roman" panose="02020603050405020304" pitchFamily="18" charset="0"/>
                        </a:rPr>
                        <a:t>50%</a:t>
                      </a:r>
                      <a:endParaRPr lang="en-US" sz="2200">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21215" marR="21215" marT="0" marB="0" anchor="ctr"/>
                </a:tc>
                <a:tc>
                  <a:txBody>
                    <a:bodyPr/>
                    <a:lstStyle/>
                    <a:p>
                      <a:pPr marL="635" marR="0" indent="-1905" algn="ctr">
                        <a:buNone/>
                      </a:pPr>
                      <a:r>
                        <a:rPr lang="en-US" sz="2200">
                          <a:effectLst/>
                          <a:latin typeface="Times New Roman" panose="02020603050405020304" pitchFamily="18" charset="0"/>
                          <a:cs typeface="Times New Roman" panose="02020603050405020304" pitchFamily="18" charset="0"/>
                        </a:rPr>
                        <a:t>50%</a:t>
                      </a:r>
                      <a:endParaRPr lang="en-US" sz="2200">
                        <a:effectLst/>
                        <a:latin typeface="Times New Roman" panose="02020603050405020304" pitchFamily="18" charset="0"/>
                        <a:ea typeface="Malgun Gothic" panose="020B0503020000020004" pitchFamily="34" charset="-127"/>
                        <a:cs typeface="Times New Roman" panose="02020603050405020304" pitchFamily="18" charset="0"/>
                      </a:endParaRPr>
                    </a:p>
                  </a:txBody>
                  <a:tcPr marL="21215" marR="21215" marT="0" marB="0" anchor="ctr"/>
                </a:tc>
                <a:extLst>
                  <a:ext uri="{0D108BD9-81ED-4DB2-BD59-A6C34878D82A}">
                    <a16:rowId xmlns:a16="http://schemas.microsoft.com/office/drawing/2014/main" val="931115790"/>
                  </a:ext>
                </a:extLst>
              </a:tr>
            </a:tbl>
          </a:graphicData>
        </a:graphic>
      </p:graphicFrame>
      <p:sp>
        <p:nvSpPr>
          <p:cNvPr id="7" name="TextBox 6">
            <a:extLst>
              <a:ext uri="{FF2B5EF4-FFF2-40B4-BE49-F238E27FC236}">
                <a16:creationId xmlns:a16="http://schemas.microsoft.com/office/drawing/2014/main" id="{534225CC-3D3B-EAEE-C80E-BA97179BF27E}"/>
              </a:ext>
            </a:extLst>
          </p:cNvPr>
          <p:cNvSpPr txBox="1"/>
          <p:nvPr/>
        </p:nvSpPr>
        <p:spPr>
          <a:xfrm>
            <a:off x="366597" y="5559015"/>
            <a:ext cx="9049112" cy="430887"/>
          </a:xfrm>
          <a:prstGeom prst="rect">
            <a:avLst/>
          </a:prstGeom>
          <a:noFill/>
        </p:spPr>
        <p:txBody>
          <a:bodyPr wrap="square">
            <a:spAutoFit/>
          </a:bodyPr>
          <a:lstStyle/>
          <a:p>
            <a:pPr marL="0" indent="0">
              <a:buNone/>
            </a:pPr>
            <a:r>
              <a:rPr lang="en-US" sz="2200" b="1">
                <a:solidFill>
                  <a:srgbClr val="FF0000"/>
                </a:solidFill>
                <a:latin typeface="Cambria" panose="02040503050406030204" pitchFamily="18" charset="0"/>
              </a:rPr>
              <a:t>Chi tiết rubric đánh giá được thể hiện trong đề cương.</a:t>
            </a:r>
          </a:p>
        </p:txBody>
      </p:sp>
    </p:spTree>
    <p:extLst>
      <p:ext uri="{BB962C8B-B14F-4D97-AF65-F5344CB8AC3E}">
        <p14:creationId xmlns:p14="http://schemas.microsoft.com/office/powerpoint/2010/main" val="1112383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grpSp>
        <p:nvGrpSpPr>
          <p:cNvPr id="2" name="Group 1">
            <a:extLst>
              <a:ext uri="{FF2B5EF4-FFF2-40B4-BE49-F238E27FC236}">
                <a16:creationId xmlns:a16="http://schemas.microsoft.com/office/drawing/2014/main" id="{673EB32B-02E0-2515-5919-B13C39731294}"/>
              </a:ext>
            </a:extLst>
          </p:cNvPr>
          <p:cNvGrpSpPr/>
          <p:nvPr/>
        </p:nvGrpSpPr>
        <p:grpSpPr>
          <a:xfrm>
            <a:off x="221152" y="261944"/>
            <a:ext cx="4620576" cy="508000"/>
            <a:chOff x="789624" y="1191463"/>
            <a:chExt cx="4620576" cy="508000"/>
          </a:xfrm>
        </p:grpSpPr>
        <p:sp>
          <p:nvSpPr>
            <p:cNvPr id="3" name="AutoShape 52">
              <a:extLst>
                <a:ext uri="{FF2B5EF4-FFF2-40B4-BE49-F238E27FC236}">
                  <a16:creationId xmlns:a16="http://schemas.microsoft.com/office/drawing/2014/main" id="{6206FBF3-BF33-8C80-E9B4-2942B0035FA2}"/>
                </a:ext>
              </a:extLst>
            </p:cNvPr>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Công cụ sử dụng</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2768C993-8F7A-72BA-603F-2B7CE557B4E6}"/>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BEFDA17-73C8-E0C5-FCB2-FDA7E088737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08B28289-F71C-E44C-40C6-72BB204C936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25AEDBA-0889-4AC7-B179-E12D1BA08845}"/>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A696A68F-B526-27FA-F525-6FAEEE4C0A25}"/>
              </a:ext>
            </a:extLst>
          </p:cNvPr>
          <p:cNvSpPr txBox="1">
            <a:spLocks/>
          </p:cNvSpPr>
          <p:nvPr/>
        </p:nvSpPr>
        <p:spPr>
          <a:xfrm>
            <a:off x="491576" y="821802"/>
            <a:ext cx="11353800" cy="5555482"/>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v"/>
            </a:pPr>
            <a:r>
              <a:rPr lang="en-US" sz="2200" dirty="0">
                <a:latin typeface="Cambria" panose="02040503050406030204" pitchFamily="18" charset="0"/>
              </a:rPr>
              <a:t>Công </a:t>
            </a:r>
            <a:r>
              <a:rPr lang="en-US" sz="2200" dirty="0" err="1">
                <a:latin typeface="Cambria" panose="02040503050406030204" pitchFamily="18" charset="0"/>
              </a:rPr>
              <a:t>cụ</a:t>
            </a:r>
            <a:r>
              <a:rPr lang="en-US" sz="2200" dirty="0">
                <a:latin typeface="Cambria" panose="02040503050406030204" pitchFamily="18" charset="0"/>
              </a:rPr>
              <a:t> </a:t>
            </a:r>
            <a:r>
              <a:rPr lang="en-US" sz="2200" dirty="0" err="1">
                <a:latin typeface="Cambria" panose="02040503050406030204" pitchFamily="18" charset="0"/>
              </a:rPr>
              <a:t>lập</a:t>
            </a:r>
            <a:r>
              <a:rPr lang="en-US" sz="2200" dirty="0">
                <a:latin typeface="Cambria" panose="02040503050406030204" pitchFamily="18" charset="0"/>
              </a:rPr>
              <a:t> </a:t>
            </a:r>
            <a:r>
              <a:rPr lang="en-US" sz="2200" dirty="0" err="1">
                <a:latin typeface="Cambria" panose="02040503050406030204" pitchFamily="18" charset="0"/>
              </a:rPr>
              <a:t>trình</a:t>
            </a:r>
            <a:r>
              <a:rPr lang="en-US" sz="2200" dirty="0">
                <a:latin typeface="Cambria" panose="02040503050406030204" pitchFamily="18" charset="0"/>
              </a:rPr>
              <a:t>:</a:t>
            </a:r>
          </a:p>
          <a:p>
            <a:pPr lvl="1"/>
            <a:r>
              <a:rPr lang="en-US" sz="2200" dirty="0">
                <a:latin typeface="Cambria" panose="02040503050406030204" pitchFamily="18" charset="0"/>
              </a:rPr>
              <a:t>Visual Studio Code</a:t>
            </a:r>
          </a:p>
          <a:p>
            <a:pPr lvl="1"/>
            <a:r>
              <a:rPr lang="en-US" sz="2200" dirty="0">
                <a:latin typeface="Cambria" panose="02040503050406030204" pitchFamily="18" charset="0"/>
              </a:rPr>
              <a:t>Visual Studio 2026</a:t>
            </a:r>
          </a:p>
          <a:p>
            <a:pPr>
              <a:buFont typeface="Wingdings" panose="05000000000000000000" pitchFamily="2" charset="2"/>
              <a:buChar char="v"/>
            </a:pPr>
            <a:r>
              <a:rPr lang="en-US" sz="2200" dirty="0" err="1">
                <a:latin typeface="Cambria" panose="02040503050406030204" pitchFamily="18" charset="0"/>
              </a:rPr>
              <a:t>Hệ</a:t>
            </a:r>
            <a:r>
              <a:rPr lang="en-US" sz="2200" dirty="0">
                <a:latin typeface="Cambria" panose="02040503050406030204" pitchFamily="18" charset="0"/>
              </a:rPr>
              <a:t> </a:t>
            </a:r>
            <a:r>
              <a:rPr lang="en-US" sz="2200" dirty="0" err="1">
                <a:latin typeface="Cambria" panose="02040503050406030204" pitchFamily="18" charset="0"/>
              </a:rPr>
              <a:t>quản</a:t>
            </a:r>
            <a:r>
              <a:rPr lang="en-US" sz="2200" dirty="0">
                <a:latin typeface="Cambria" panose="02040503050406030204" pitchFamily="18" charset="0"/>
              </a:rPr>
              <a:t> </a:t>
            </a:r>
            <a:r>
              <a:rPr lang="en-US" sz="2200" dirty="0" err="1">
                <a:latin typeface="Cambria" panose="02040503050406030204" pitchFamily="18" charset="0"/>
              </a:rPr>
              <a:t>trị</a:t>
            </a:r>
            <a:r>
              <a:rPr lang="en-US" sz="2200" dirty="0">
                <a:latin typeface="Cambria" panose="02040503050406030204" pitchFamily="18" charset="0"/>
              </a:rPr>
              <a:t> </a:t>
            </a:r>
            <a:r>
              <a:rPr lang="en-US" sz="2200" dirty="0" err="1">
                <a:latin typeface="Cambria" panose="02040503050406030204" pitchFamily="18" charset="0"/>
              </a:rPr>
              <a:t>Cơ</a:t>
            </a:r>
            <a:r>
              <a:rPr lang="en-US" sz="2200" dirty="0">
                <a:latin typeface="Cambria" panose="02040503050406030204" pitchFamily="18" charset="0"/>
              </a:rPr>
              <a:t> </a:t>
            </a:r>
            <a:r>
              <a:rPr lang="en-US" sz="2200" dirty="0" err="1">
                <a:latin typeface="Cambria" panose="02040503050406030204" pitchFamily="18" charset="0"/>
              </a:rPr>
              <a:t>sở</a:t>
            </a:r>
            <a:r>
              <a:rPr lang="en-US" sz="2200" dirty="0">
                <a:latin typeface="Cambria" panose="02040503050406030204" pitchFamily="18" charset="0"/>
              </a:rPr>
              <a:t> </a:t>
            </a:r>
            <a:r>
              <a:rPr lang="en-US" sz="2200" dirty="0" err="1">
                <a:latin typeface="Cambria" panose="02040503050406030204" pitchFamily="18" charset="0"/>
              </a:rPr>
              <a:t>dữ</a:t>
            </a:r>
            <a:r>
              <a:rPr lang="en-US" sz="2200" dirty="0">
                <a:latin typeface="Cambria" panose="02040503050406030204" pitchFamily="18" charset="0"/>
              </a:rPr>
              <a:t> </a:t>
            </a:r>
            <a:r>
              <a:rPr lang="en-US" sz="2200" dirty="0" err="1">
                <a:latin typeface="Cambria" panose="02040503050406030204" pitchFamily="18" charset="0"/>
              </a:rPr>
              <a:t>liệu</a:t>
            </a:r>
            <a:r>
              <a:rPr lang="en-US" sz="2200" dirty="0">
                <a:latin typeface="Cambria" panose="02040503050406030204" pitchFamily="18" charset="0"/>
              </a:rPr>
              <a:t>:</a:t>
            </a:r>
          </a:p>
          <a:p>
            <a:pPr lvl="1"/>
            <a:r>
              <a:rPr lang="en-US" sz="2200" dirty="0">
                <a:latin typeface="Cambria" panose="02040503050406030204" pitchFamily="18" charset="0"/>
              </a:rPr>
              <a:t>MongoDB</a:t>
            </a:r>
          </a:p>
          <a:p>
            <a:pPr>
              <a:buFont typeface="Wingdings" panose="05000000000000000000" pitchFamily="2" charset="2"/>
              <a:buChar char="v"/>
            </a:pPr>
            <a:r>
              <a:rPr lang="en-US" sz="2200" dirty="0" err="1">
                <a:latin typeface="Cambria" panose="02040503050406030204" pitchFamily="18" charset="0"/>
              </a:rPr>
              <a:t>Công</a:t>
            </a:r>
            <a:r>
              <a:rPr lang="en-US" sz="2200" dirty="0">
                <a:latin typeface="Cambria" panose="02040503050406030204" pitchFamily="18" charset="0"/>
              </a:rPr>
              <a:t> </a:t>
            </a:r>
            <a:r>
              <a:rPr lang="en-US" sz="2200" dirty="0" err="1">
                <a:latin typeface="Cambria" panose="02040503050406030204" pitchFamily="18" charset="0"/>
              </a:rPr>
              <a:t>cụ</a:t>
            </a:r>
            <a:r>
              <a:rPr lang="en-US" sz="2200" dirty="0">
                <a:latin typeface="Cambria" panose="02040503050406030204" pitchFamily="18" charset="0"/>
              </a:rPr>
              <a:t> </a:t>
            </a:r>
            <a:r>
              <a:rPr lang="en-US" sz="2200" dirty="0" err="1">
                <a:latin typeface="Cambria" panose="02040503050406030204" pitchFamily="18" charset="0"/>
              </a:rPr>
              <a:t>kiểm</a:t>
            </a:r>
            <a:r>
              <a:rPr lang="en-US" sz="2200" dirty="0">
                <a:latin typeface="Cambria" panose="02040503050406030204" pitchFamily="18" charset="0"/>
              </a:rPr>
              <a:t> </a:t>
            </a:r>
            <a:r>
              <a:rPr lang="en-US" sz="2200" dirty="0" err="1">
                <a:latin typeface="Cambria" panose="02040503050406030204" pitchFamily="18" charset="0"/>
              </a:rPr>
              <a:t>thử</a:t>
            </a:r>
            <a:r>
              <a:rPr lang="en-US" sz="2200" dirty="0">
                <a:latin typeface="Cambria" panose="02040503050406030204" pitchFamily="18" charset="0"/>
              </a:rPr>
              <a:t> Backend:</a:t>
            </a:r>
          </a:p>
          <a:p>
            <a:pPr lvl="1"/>
            <a:r>
              <a:rPr lang="en-US" sz="2200" dirty="0">
                <a:latin typeface="Cambria" panose="02040503050406030204" pitchFamily="18" charset="0"/>
              </a:rPr>
              <a:t>Postman</a:t>
            </a:r>
          </a:p>
          <a:p>
            <a:pPr>
              <a:buFont typeface="Wingdings" panose="05000000000000000000" pitchFamily="2" charset="2"/>
              <a:buChar char="v"/>
            </a:pPr>
            <a:r>
              <a:rPr lang="en-US" sz="2200" dirty="0" err="1">
                <a:latin typeface="Cambria" panose="02040503050406030204" pitchFamily="18" charset="0"/>
              </a:rPr>
              <a:t>Công</a:t>
            </a:r>
            <a:r>
              <a:rPr lang="en-US" sz="2200" dirty="0">
                <a:latin typeface="Cambria" panose="02040503050406030204" pitchFamily="18" charset="0"/>
              </a:rPr>
              <a:t> </a:t>
            </a:r>
            <a:r>
              <a:rPr lang="en-US" sz="2200" dirty="0" err="1">
                <a:latin typeface="Cambria" panose="02040503050406030204" pitchFamily="18" charset="0"/>
              </a:rPr>
              <a:t>cụ</a:t>
            </a:r>
            <a:r>
              <a:rPr lang="en-US" sz="2200">
                <a:latin typeface="Cambria" panose="02040503050406030204" pitchFamily="18" charset="0"/>
              </a:rPr>
              <a:t> AI </a:t>
            </a:r>
            <a:r>
              <a:rPr lang="en-US" sz="2200" dirty="0" err="1">
                <a:latin typeface="Cambria" panose="02040503050406030204" pitchFamily="18" charset="0"/>
              </a:rPr>
              <a:t>hỗ</a:t>
            </a:r>
            <a:r>
              <a:rPr lang="en-US" sz="2200" dirty="0">
                <a:latin typeface="Cambria" panose="02040503050406030204" pitchFamily="18" charset="0"/>
              </a:rPr>
              <a:t> </a:t>
            </a:r>
            <a:r>
              <a:rPr lang="en-US" sz="2200" dirty="0" err="1">
                <a:latin typeface="Cambria" panose="02040503050406030204" pitchFamily="18" charset="0"/>
              </a:rPr>
              <a:t>trợ</a:t>
            </a:r>
            <a:r>
              <a:rPr lang="en-US" sz="2200" dirty="0">
                <a:latin typeface="Cambria" panose="02040503050406030204" pitchFamily="18" charset="0"/>
              </a:rPr>
              <a:t> coding:</a:t>
            </a:r>
          </a:p>
          <a:p>
            <a:pPr lvl="1"/>
            <a:r>
              <a:rPr lang="en-US" sz="2200" dirty="0">
                <a:latin typeface="Cambria" panose="02040503050406030204" pitchFamily="18" charset="0"/>
              </a:rPr>
              <a:t>Cursor IDE, GitHub Copilot, ChatGPT/Claude</a:t>
            </a:r>
          </a:p>
          <a:p>
            <a:pPr lvl="1"/>
            <a:endParaRPr lang="en-US" sz="2200" dirty="0">
              <a:latin typeface="Cambria" panose="02040503050406030204" pitchFamily="18" charset="0"/>
            </a:endParaRPr>
          </a:p>
          <a:p>
            <a:pPr>
              <a:buFont typeface="Wingdings" panose="05000000000000000000" pitchFamily="2" charset="2"/>
              <a:buChar char="v"/>
            </a:pPr>
            <a:endParaRPr lang="en-US" sz="2200" dirty="0">
              <a:latin typeface="Cambria" panose="02040503050406030204" pitchFamily="18" charset="0"/>
            </a:endParaRPr>
          </a:p>
          <a:p>
            <a:pPr marL="457200" lvl="1" indent="0">
              <a:buNone/>
            </a:pPr>
            <a:endParaRPr lang="en-US" sz="2200" dirty="0">
              <a:latin typeface="Cambria" panose="02040503050406030204" pitchFamily="18" charset="0"/>
            </a:endParaRPr>
          </a:p>
        </p:txBody>
      </p:sp>
    </p:spTree>
    <p:extLst>
      <p:ext uri="{BB962C8B-B14F-4D97-AF65-F5344CB8AC3E}">
        <p14:creationId xmlns:p14="http://schemas.microsoft.com/office/powerpoint/2010/main" val="2404155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grpSp>
        <p:nvGrpSpPr>
          <p:cNvPr id="2" name="Group 1">
            <a:extLst>
              <a:ext uri="{FF2B5EF4-FFF2-40B4-BE49-F238E27FC236}">
                <a16:creationId xmlns:a16="http://schemas.microsoft.com/office/drawing/2014/main" id="{51A46954-015D-3592-10D7-8A6E0C21AD82}"/>
              </a:ext>
            </a:extLst>
          </p:cNvPr>
          <p:cNvGrpSpPr/>
          <p:nvPr/>
        </p:nvGrpSpPr>
        <p:grpSpPr>
          <a:xfrm>
            <a:off x="200526" y="287873"/>
            <a:ext cx="4620576" cy="508000"/>
            <a:chOff x="789624" y="1191463"/>
            <a:chExt cx="4620576" cy="508000"/>
          </a:xfrm>
        </p:grpSpPr>
        <p:sp>
          <p:nvSpPr>
            <p:cNvPr id="3" name="AutoShape 52">
              <a:extLst>
                <a:ext uri="{FF2B5EF4-FFF2-40B4-BE49-F238E27FC236}">
                  <a16:creationId xmlns:a16="http://schemas.microsoft.com/office/drawing/2014/main" id="{9FAE1AFB-689F-0655-3BDC-C3E59221AA5E}"/>
                </a:ext>
              </a:extLst>
            </p:cNvPr>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Tài liệu học tập</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D90C4E2C-EB98-5DD9-C6C4-A6F2348FFD3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EFA21E6-4AF5-F52D-FDCE-C3B9636205C2}"/>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33CD66CC-ED56-4E0E-E3DB-D5D0057B253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7DF3577-50FF-2DA7-6C02-E48F0F0F5591}"/>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Content Placeholder 2">
            <a:extLst>
              <a:ext uri="{FF2B5EF4-FFF2-40B4-BE49-F238E27FC236}">
                <a16:creationId xmlns:a16="http://schemas.microsoft.com/office/drawing/2014/main" id="{AB82E6A1-811E-0D7A-A55B-057B3525178C}"/>
              </a:ext>
            </a:extLst>
          </p:cNvPr>
          <p:cNvSpPr txBox="1">
            <a:spLocks/>
          </p:cNvSpPr>
          <p:nvPr/>
        </p:nvSpPr>
        <p:spPr>
          <a:xfrm>
            <a:off x="319695" y="847731"/>
            <a:ext cx="11663757" cy="547791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v"/>
            </a:pPr>
            <a:r>
              <a:rPr lang="en-US" sz="2400" b="1">
                <a:latin typeface="Times New Roman" panose="02020603050405020304" pitchFamily="18" charset="0"/>
                <a:cs typeface="Times New Roman" panose="02020603050405020304" pitchFamily="18" charset="0"/>
              </a:rPr>
              <a:t>Giáo trình chính: </a:t>
            </a:r>
            <a:endParaRPr lang="en-US" sz="2400" b="1"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[1] Yakov Fain Anton Moiseev(2018), Angular Development with TypeScript, Manning, ISBN 978-1638355250</a:t>
            </a:r>
          </a:p>
          <a:p>
            <a:pPr>
              <a:buFont typeface="Wingdings" panose="05000000000000000000" pitchFamily="2" charset="2"/>
              <a:buChar char="v"/>
            </a:pPr>
            <a:r>
              <a:rPr lang="en-US" sz="2400" b="1">
                <a:latin typeface="Times New Roman" panose="02020603050405020304" pitchFamily="18" charset="0"/>
                <a:cs typeface="Times New Roman" panose="02020603050405020304" pitchFamily="18" charset="0"/>
              </a:rPr>
              <a:t>Tài liệu tham khảo</a:t>
            </a:r>
            <a:endParaRPr lang="en-US" sz="2400" b="1" dirty="0">
              <a:latin typeface="Times New Roman" panose="02020603050405020304" pitchFamily="18" charset="0"/>
              <a:cs typeface="Times New Roman" panose="02020603050405020304" pitchFamily="18" charset="0"/>
            </a:endParaRPr>
          </a:p>
          <a:p>
            <a:pPr marL="457200" lvl="1" indent="0">
              <a:buNone/>
            </a:pPr>
            <a:r>
              <a:rPr lang="en-US" sz="2400" dirty="0">
                <a:latin typeface="Times New Roman" panose="02020603050405020304" pitchFamily="18" charset="0"/>
                <a:cs typeface="Times New Roman" panose="02020603050405020304" pitchFamily="18" charset="0"/>
              </a:rPr>
              <a:t>[2] Marijn </a:t>
            </a:r>
            <a:r>
              <a:rPr lang="en-US" sz="2400" dirty="0" err="1">
                <a:latin typeface="Times New Roman" panose="02020603050405020304" pitchFamily="18" charset="0"/>
                <a:cs typeface="Times New Roman" panose="02020603050405020304" pitchFamily="18" charset="0"/>
              </a:rPr>
              <a:t>Haverbeke</a:t>
            </a:r>
            <a:r>
              <a:rPr lang="en-US" sz="2400" dirty="0">
                <a:latin typeface="Times New Roman" panose="02020603050405020304" pitchFamily="18" charset="0"/>
                <a:cs typeface="Times New Roman" panose="02020603050405020304" pitchFamily="18" charset="0"/>
              </a:rPr>
              <a:t> (2024), Eloquent JavaScript – Four Edition, Creative Commons attribution-noncommercial license</a:t>
            </a:r>
          </a:p>
          <a:p>
            <a:pPr marL="457200" lvl="1" indent="0">
              <a:buNone/>
            </a:pPr>
            <a:r>
              <a:rPr lang="en-US" sz="2400" dirty="0">
                <a:latin typeface="Times New Roman" panose="02020603050405020304" pitchFamily="18" charset="0"/>
                <a:cs typeface="Times New Roman" panose="02020603050405020304" pitchFamily="18" charset="0"/>
              </a:rPr>
              <a:t>[3] Keith J. Grant (2024), CSS in Depth– Second Edition, Manning Publications Co. ISBN: 9781633437555</a:t>
            </a:r>
          </a:p>
          <a:p>
            <a:pPr marL="457200" lvl="1" indent="0">
              <a:buNone/>
            </a:pPr>
            <a:r>
              <a:rPr lang="en-US" sz="2400" dirty="0">
                <a:latin typeface="Times New Roman" panose="02020603050405020304" pitchFamily="18" charset="0"/>
                <a:cs typeface="Times New Roman" panose="02020603050405020304" pitchFamily="18" charset="0"/>
              </a:rPr>
              <a:t>[4] Ben Frain (2020), Responsive Web Design With HTML 5 and CSS – Third Edition, </a:t>
            </a:r>
            <a:r>
              <a:rPr lang="en-US" sz="2400" dirty="0" err="1">
                <a:latin typeface="Times New Roman" panose="02020603050405020304" pitchFamily="18" charset="0"/>
                <a:cs typeface="Times New Roman" panose="02020603050405020304" pitchFamily="18" charset="0"/>
              </a:rPr>
              <a:t>Packt</a:t>
            </a:r>
            <a:r>
              <a:rPr lang="en-US" sz="2400" dirty="0">
                <a:latin typeface="Times New Roman" panose="02020603050405020304" pitchFamily="18" charset="0"/>
                <a:cs typeface="Times New Roman" panose="02020603050405020304" pitchFamily="18" charset="0"/>
              </a:rPr>
              <a:t>, ISBN 978-1-83921-156-0.</a:t>
            </a:r>
          </a:p>
          <a:p>
            <a:pPr>
              <a:buFont typeface="Wingdings" panose="05000000000000000000" pitchFamily="2" charset="2"/>
              <a:buChar char="v"/>
            </a:pPr>
            <a:r>
              <a:rPr lang="en-US" sz="2400" b="1">
                <a:latin typeface="Times New Roman" panose="02020603050405020304" pitchFamily="18" charset="0"/>
                <a:cs typeface="Times New Roman" panose="02020603050405020304" pitchFamily="18" charset="0"/>
              </a:rPr>
              <a:t>Bộ bài tập Khoa HTTT biên soạn:</a:t>
            </a:r>
            <a:endParaRPr lang="en-US" sz="2400" b="1" dirty="0">
              <a:latin typeface="Times New Roman" panose="02020603050405020304" pitchFamily="18" charset="0"/>
              <a:cs typeface="Times New Roman" panose="02020603050405020304" pitchFamily="18" charset="0"/>
            </a:endParaRPr>
          </a:p>
          <a:p>
            <a:pPr marL="457200" lvl="1" indent="0">
              <a:buNone/>
            </a:pPr>
            <a:r>
              <a:rPr lang="en-US" sz="2400" dirty="0">
                <a:latin typeface="Times New Roman" panose="02020603050405020304" pitchFamily="18" charset="0"/>
                <a:cs typeface="Times New Roman" panose="02020603050405020304" pitchFamily="18" charset="0"/>
              </a:rPr>
              <a:t>[1] </a:t>
            </a:r>
            <a:r>
              <a:rPr lang="en-US" sz="2400" dirty="0">
                <a:latin typeface="Times New Roman" panose="02020603050405020304" pitchFamily="18" charset="0"/>
                <a:cs typeface="Times New Roman" panose="02020603050405020304" pitchFamily="18" charset="0"/>
                <a:hlinkClick r:id="rId3"/>
              </a:rPr>
              <a:t>https://tranduythanh.com/</a:t>
            </a:r>
            <a:r>
              <a:rPr lang="en-US" sz="2400">
                <a:latin typeface="Times New Roman" panose="02020603050405020304" pitchFamily="18" charset="0"/>
                <a:cs typeface="Times New Roman" panose="02020603050405020304" pitchFamily="18" charset="0"/>
                <a:hlinkClick r:id="rId3"/>
              </a:rPr>
              <a:t>webmaterials/Bai-Tap-Phat-Trien-Web-Kinh-Doanh-Nang-Cao.pdf</a:t>
            </a:r>
            <a:r>
              <a:rPr lang="en-US" sz="240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88112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grpSp>
        <p:nvGrpSpPr>
          <p:cNvPr id="2" name="Group 1">
            <a:extLst>
              <a:ext uri="{FF2B5EF4-FFF2-40B4-BE49-F238E27FC236}">
                <a16:creationId xmlns:a16="http://schemas.microsoft.com/office/drawing/2014/main" id="{51A46954-015D-3592-10D7-8A6E0C21AD82}"/>
              </a:ext>
            </a:extLst>
          </p:cNvPr>
          <p:cNvGrpSpPr/>
          <p:nvPr/>
        </p:nvGrpSpPr>
        <p:grpSpPr>
          <a:xfrm>
            <a:off x="161544" y="279400"/>
            <a:ext cx="4620576" cy="508000"/>
            <a:chOff x="789624" y="1191463"/>
            <a:chExt cx="4620576" cy="508000"/>
          </a:xfrm>
        </p:grpSpPr>
        <p:sp>
          <p:nvSpPr>
            <p:cNvPr id="3" name="AutoShape 52">
              <a:extLst>
                <a:ext uri="{FF2B5EF4-FFF2-40B4-BE49-F238E27FC236}">
                  <a16:creationId xmlns:a16="http://schemas.microsoft.com/office/drawing/2014/main" id="{9FAE1AFB-689F-0655-3BDC-C3E59221AA5E}"/>
                </a:ext>
              </a:extLst>
            </p:cNvPr>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dirty="0">
                  <a:latin typeface="Cambria" panose="02040503050406030204" pitchFamily="18" charset="0"/>
                </a:rPr>
                <a:t>Tài </a:t>
              </a:r>
              <a:r>
                <a:rPr lang="en-US" sz="2800" b="1" dirty="0" err="1">
                  <a:latin typeface="Cambria" panose="02040503050406030204" pitchFamily="18" charset="0"/>
                </a:rPr>
                <a:t>liệu</a:t>
              </a:r>
              <a:r>
                <a:rPr lang="en-US" sz="2800" b="1" dirty="0">
                  <a:latin typeface="Cambria" panose="02040503050406030204" pitchFamily="18" charset="0"/>
                </a:rPr>
                <a:t> </a:t>
              </a:r>
              <a:r>
                <a:rPr lang="en-US" sz="2800" b="1" dirty="0" err="1">
                  <a:latin typeface="Cambria" panose="02040503050406030204" pitchFamily="18" charset="0"/>
                </a:rPr>
                <a:t>học</a:t>
              </a:r>
              <a:r>
                <a:rPr lang="en-US" sz="2800" b="1" dirty="0">
                  <a:latin typeface="Cambria" panose="02040503050406030204" pitchFamily="18" charset="0"/>
                </a:rPr>
                <a:t> </a:t>
              </a:r>
              <a:r>
                <a:rPr lang="en-US" sz="2800" b="1" dirty="0" err="1">
                  <a:latin typeface="Cambria" panose="02040503050406030204" pitchFamily="18" charset="0"/>
                </a:rPr>
                <a:t>tập</a:t>
              </a:r>
              <a:endParaRPr lang="en-US" sz="2800" b="1" kern="0" dirty="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D90C4E2C-EB98-5DD9-C6C4-A6F2348FFD3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EFA21E6-4AF5-F52D-FDCE-C3B9636205C2}"/>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33CD66CC-ED56-4E0E-E3DB-D5D0057B253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7DF3577-50FF-2DA7-6C02-E48F0F0F5591}"/>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738CA455-B53E-13EA-C954-6DD77C36D59A}"/>
              </a:ext>
            </a:extLst>
          </p:cNvPr>
          <p:cNvSpPr txBox="1">
            <a:spLocks/>
          </p:cNvSpPr>
          <p:nvPr/>
        </p:nvSpPr>
        <p:spPr>
          <a:xfrm>
            <a:off x="419100" y="932386"/>
            <a:ext cx="113538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Website </a:t>
            </a:r>
            <a:r>
              <a:rPr lang="en-US" sz="2400" b="1" dirty="0" err="1">
                <a:latin typeface="Times New Roman" panose="02020603050405020304" pitchFamily="18" charset="0"/>
                <a:cs typeface="Times New Roman" panose="02020603050405020304" pitchFamily="18" charset="0"/>
              </a:rPr>
              <a:t>học</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tập</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và</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tìm</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kiếm</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giải</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pháp</a:t>
            </a:r>
            <a:r>
              <a:rPr lang="en-US" sz="2400" b="1" dirty="0">
                <a:latin typeface="Times New Roman" panose="02020603050405020304" pitchFamily="18" charset="0"/>
                <a:cs typeface="Times New Roman" panose="02020603050405020304" pitchFamily="18" charset="0"/>
              </a:rPr>
              <a:t>:</a:t>
            </a:r>
          </a:p>
          <a:p>
            <a:r>
              <a:rPr lang="en-US" sz="2400" dirty="0">
                <a:latin typeface="Cambria" panose="02040503050406030204" pitchFamily="18" charset="0"/>
                <a:ea typeface="Cambria" panose="02040503050406030204" pitchFamily="18" charset="0"/>
              </a:rPr>
              <a:t>[1] </a:t>
            </a:r>
            <a:r>
              <a:rPr lang="en-US" sz="2400" u="sng" dirty="0">
                <a:latin typeface="Cambria" panose="02040503050406030204" pitchFamily="18" charset="0"/>
                <a:ea typeface="Cambria" panose="02040503050406030204" pitchFamily="18" charset="0"/>
                <a:hlinkClick r:id="rId3"/>
              </a:rPr>
              <a:t>https://scikit-learn.org/</a:t>
            </a:r>
            <a:r>
              <a:rPr lang="en-US" sz="2400" dirty="0">
                <a:latin typeface="Cambria" panose="02040503050406030204" pitchFamily="18" charset="0"/>
                <a:ea typeface="Cambria" panose="02040503050406030204" pitchFamily="18" charset="0"/>
              </a:rPr>
              <a:t> 	</a:t>
            </a:r>
          </a:p>
          <a:p>
            <a:r>
              <a:rPr lang="en-US" sz="2400" dirty="0">
                <a:latin typeface="Cambria" panose="02040503050406030204" pitchFamily="18" charset="0"/>
                <a:ea typeface="Cambria" panose="02040503050406030204" pitchFamily="18" charset="0"/>
              </a:rPr>
              <a:t>[2] </a:t>
            </a:r>
            <a:r>
              <a:rPr lang="en-US" sz="2400" u="sng" dirty="0">
                <a:latin typeface="Cambria" panose="02040503050406030204" pitchFamily="18" charset="0"/>
                <a:ea typeface="Cambria" panose="02040503050406030204" pitchFamily="18" charset="0"/>
                <a:hlinkClick r:id="rId4"/>
              </a:rPr>
              <a:t>https://dotnet.microsoft.com/en-us/apps/machinelearning-ai/ml-dotnet</a:t>
            </a:r>
            <a:endParaRPr lang="en-US" sz="2400" dirty="0">
              <a:latin typeface="Cambria" panose="02040503050406030204" pitchFamily="18" charset="0"/>
              <a:ea typeface="Cambria" panose="02040503050406030204" pitchFamily="18" charset="0"/>
            </a:endParaRPr>
          </a:p>
          <a:p>
            <a:r>
              <a:rPr lang="en-US" sz="2400" dirty="0">
                <a:latin typeface="Cambria" panose="02040503050406030204" pitchFamily="18" charset="0"/>
                <a:ea typeface="Cambria" panose="02040503050406030204" pitchFamily="18" charset="0"/>
              </a:rPr>
              <a:t>[3] </a:t>
            </a:r>
            <a:r>
              <a:rPr lang="en-US" sz="2400" u="sng" dirty="0">
                <a:latin typeface="Cambria" panose="02040503050406030204" pitchFamily="18" charset="0"/>
                <a:ea typeface="Cambria" panose="02040503050406030204" pitchFamily="18" charset="0"/>
                <a:hlinkClick r:id="rId5"/>
              </a:rPr>
              <a:t>https://www.kaggle.com/</a:t>
            </a:r>
            <a:r>
              <a:rPr lang="en-US" sz="2400" dirty="0">
                <a:latin typeface="Cambria" panose="02040503050406030204" pitchFamily="18" charset="0"/>
                <a:ea typeface="Cambria" panose="02040503050406030204" pitchFamily="18" charset="0"/>
              </a:rPr>
              <a:t> </a:t>
            </a:r>
          </a:p>
          <a:p>
            <a:r>
              <a:rPr lang="en-US" sz="2400" dirty="0">
                <a:latin typeface="Cambria" panose="02040503050406030204" pitchFamily="18" charset="0"/>
                <a:ea typeface="Cambria" panose="02040503050406030204" pitchFamily="18" charset="0"/>
              </a:rPr>
              <a:t>[4] </a:t>
            </a:r>
            <a:r>
              <a:rPr lang="en-US" sz="2400" u="sng" dirty="0">
                <a:latin typeface="Cambria" panose="02040503050406030204" pitchFamily="18" charset="0"/>
                <a:ea typeface="Cambria" panose="02040503050406030204" pitchFamily="18" charset="0"/>
                <a:hlinkClick r:id="rId6"/>
              </a:rPr>
              <a:t>https://colab.research.google.com/</a:t>
            </a:r>
            <a:r>
              <a:rPr lang="en-US" sz="2400" dirty="0">
                <a:latin typeface="Cambria" panose="02040503050406030204" pitchFamily="18" charset="0"/>
                <a:ea typeface="Cambria" panose="02040503050406030204" pitchFamily="18" charset="0"/>
              </a:rPr>
              <a:t> </a:t>
            </a:r>
          </a:p>
          <a:p>
            <a:r>
              <a:rPr lang="en-US" sz="2400" dirty="0">
                <a:latin typeface="Cambria" panose="02040503050406030204" pitchFamily="18" charset="0"/>
                <a:ea typeface="Cambria" panose="02040503050406030204" pitchFamily="18" charset="0"/>
              </a:rPr>
              <a:t>[5] </a:t>
            </a:r>
            <a:r>
              <a:rPr lang="en-US" sz="2400" u="sng" dirty="0">
                <a:latin typeface="Cambria" panose="02040503050406030204" pitchFamily="18" charset="0"/>
                <a:ea typeface="Cambria" panose="02040503050406030204" pitchFamily="18" charset="0"/>
                <a:hlinkClick r:id="rId7"/>
              </a:rPr>
              <a:t>https://tranduythanh.com/</a:t>
            </a:r>
            <a:endParaRPr lang="en-US" sz="2400" dirty="0">
              <a:latin typeface="Cambria" panose="02040503050406030204" pitchFamily="18" charset="0"/>
              <a:ea typeface="Cambria" panose="02040503050406030204" pitchFamily="18" charset="0"/>
            </a:endParaRPr>
          </a:p>
          <a:p>
            <a:pPr marL="0" indent="0">
              <a:buNone/>
            </a:pP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62745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grpSp>
        <p:nvGrpSpPr>
          <p:cNvPr id="2" name="Group 1">
            <a:extLst>
              <a:ext uri="{FF2B5EF4-FFF2-40B4-BE49-F238E27FC236}">
                <a16:creationId xmlns:a16="http://schemas.microsoft.com/office/drawing/2014/main" id="{51226D36-C5A0-0DC8-2214-813B32E42958}"/>
              </a:ext>
            </a:extLst>
          </p:cNvPr>
          <p:cNvGrpSpPr/>
          <p:nvPr/>
        </p:nvGrpSpPr>
        <p:grpSpPr>
          <a:xfrm>
            <a:off x="161544" y="261944"/>
            <a:ext cx="4620576" cy="508000"/>
            <a:chOff x="789624" y="1191463"/>
            <a:chExt cx="4620576" cy="508000"/>
          </a:xfrm>
        </p:grpSpPr>
        <p:sp>
          <p:nvSpPr>
            <p:cNvPr id="3" name="AutoShape 52">
              <a:extLst>
                <a:ext uri="{FF2B5EF4-FFF2-40B4-BE49-F238E27FC236}">
                  <a16:creationId xmlns:a16="http://schemas.microsoft.com/office/drawing/2014/main" id="{B023F21A-96CB-1E39-5B08-7C49343E34B2}"/>
                </a:ext>
              </a:extLst>
            </p:cNvPr>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Thông tin Giảng viên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087F7109-D1B5-CDFB-3833-29A66B32718B}"/>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C4EACDFC-90C5-3A2B-91B7-FDF31F90C0E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B632AEB3-79F2-BCB7-02B4-6279C0AF3944}"/>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590ABCF-7CB4-481B-C775-BC629856E15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412D75FC-4D5A-3FA4-4B2A-41A64CF34BD1}"/>
              </a:ext>
            </a:extLst>
          </p:cNvPr>
          <p:cNvSpPr txBox="1">
            <a:spLocks/>
          </p:cNvSpPr>
          <p:nvPr/>
        </p:nvSpPr>
        <p:spPr>
          <a:xfrm>
            <a:off x="419100" y="949587"/>
            <a:ext cx="113538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ü"/>
            </a:pPr>
            <a:r>
              <a:rPr lang="en-US" sz="2800" dirty="0" err="1">
                <a:latin typeface="Cambria" panose="02040503050406030204" pitchFamily="18" charset="0"/>
              </a:rPr>
              <a:t>Họ</a:t>
            </a:r>
            <a:r>
              <a:rPr lang="en-US" sz="2800" dirty="0">
                <a:latin typeface="Cambria" panose="02040503050406030204" pitchFamily="18" charset="0"/>
              </a:rPr>
              <a:t> </a:t>
            </a:r>
            <a:r>
              <a:rPr lang="en-US" sz="2800" dirty="0" err="1">
                <a:latin typeface="Cambria" panose="02040503050406030204" pitchFamily="18" charset="0"/>
              </a:rPr>
              <a:t>Tên</a:t>
            </a:r>
            <a:r>
              <a:rPr lang="en-US" sz="2800" dirty="0">
                <a:latin typeface="Cambria" panose="02040503050406030204" pitchFamily="18" charset="0"/>
              </a:rPr>
              <a:t>: </a:t>
            </a:r>
            <a:r>
              <a:rPr lang="en-US" sz="2800" b="1" dirty="0">
                <a:latin typeface="Cambria" panose="02040503050406030204" pitchFamily="18" charset="0"/>
              </a:rPr>
              <a:t>TS. </a:t>
            </a:r>
            <a:r>
              <a:rPr lang="en-US" sz="2800" b="1" dirty="0" err="1">
                <a:latin typeface="Cambria" panose="02040503050406030204" pitchFamily="18" charset="0"/>
              </a:rPr>
              <a:t>Trần</a:t>
            </a:r>
            <a:r>
              <a:rPr lang="en-US" sz="2800" b="1" dirty="0">
                <a:latin typeface="Cambria" panose="02040503050406030204" pitchFamily="18" charset="0"/>
              </a:rPr>
              <a:t> Duy Thanh</a:t>
            </a:r>
          </a:p>
          <a:p>
            <a:pPr>
              <a:buFont typeface="Wingdings" panose="05000000000000000000" pitchFamily="2" charset="2"/>
              <a:buChar char="ü"/>
            </a:pPr>
            <a:r>
              <a:rPr lang="en-US" dirty="0">
                <a:latin typeface="Cambria" panose="02040503050406030204" pitchFamily="18" charset="0"/>
              </a:rPr>
              <a:t>Email: </a:t>
            </a:r>
            <a:r>
              <a:rPr lang="en-US" dirty="0">
                <a:latin typeface="Cambria" panose="02040503050406030204" pitchFamily="18" charset="0"/>
                <a:hlinkClick r:id="rId3"/>
              </a:rPr>
              <a:t>thanhtd@uel.edu.vn</a:t>
            </a:r>
            <a:endParaRPr lang="en-US" dirty="0">
              <a:latin typeface="Cambria" panose="02040503050406030204" pitchFamily="18" charset="0"/>
            </a:endParaRPr>
          </a:p>
          <a:p>
            <a:pPr>
              <a:buFont typeface="Wingdings" panose="05000000000000000000" pitchFamily="2" charset="2"/>
              <a:buChar char="ü"/>
            </a:pPr>
            <a:r>
              <a:rPr lang="en-US" dirty="0">
                <a:latin typeface="Cambria" panose="02040503050406030204" pitchFamily="18" charset="0"/>
              </a:rPr>
              <a:t>Phone: 0987773061</a:t>
            </a:r>
          </a:p>
          <a:p>
            <a:pPr>
              <a:buFont typeface="Wingdings" panose="05000000000000000000" pitchFamily="2" charset="2"/>
              <a:buChar char="ü"/>
            </a:pPr>
            <a:r>
              <a:rPr lang="en-US" dirty="0">
                <a:latin typeface="Cambria" panose="02040503050406030204" pitchFamily="18" charset="0"/>
              </a:rPr>
              <a:t>Blog </a:t>
            </a:r>
            <a:r>
              <a:rPr lang="en-US" dirty="0" err="1">
                <a:latin typeface="Cambria" panose="02040503050406030204" pitchFamily="18" charset="0"/>
              </a:rPr>
              <a:t>bài</a:t>
            </a:r>
            <a:r>
              <a:rPr lang="en-US" dirty="0">
                <a:latin typeface="Cambria" panose="02040503050406030204" pitchFamily="18" charset="0"/>
              </a:rPr>
              <a:t> </a:t>
            </a:r>
            <a:r>
              <a:rPr lang="en-US" dirty="0" err="1">
                <a:latin typeface="Cambria" panose="02040503050406030204" pitchFamily="18" charset="0"/>
              </a:rPr>
              <a:t>giảng</a:t>
            </a:r>
            <a:r>
              <a:rPr lang="en-US" dirty="0">
                <a:latin typeface="Cambria" panose="02040503050406030204" pitchFamily="18" charset="0"/>
              </a:rPr>
              <a:t> online: </a:t>
            </a:r>
            <a:r>
              <a:rPr lang="en-US" dirty="0">
                <a:latin typeface="Cambria" panose="02040503050406030204" pitchFamily="18" charset="0"/>
                <a:hlinkClick r:id="rId4"/>
              </a:rPr>
              <a:t>https://tranduythanh.com/</a:t>
            </a:r>
            <a:r>
              <a:rPr lang="en-US" dirty="0">
                <a:latin typeface="Cambria" panose="02040503050406030204" pitchFamily="18" charset="0"/>
              </a:rPr>
              <a:t> </a:t>
            </a:r>
          </a:p>
          <a:p>
            <a:pPr marL="0" indent="0" algn="just">
              <a:buNone/>
            </a:pPr>
            <a:r>
              <a:rPr lang="en-US" b="1" u="sng" dirty="0">
                <a:latin typeface="Cambria" panose="02040503050406030204" pitchFamily="18" charset="0"/>
              </a:rPr>
              <a:t>Lưu ý:</a:t>
            </a:r>
            <a:r>
              <a:rPr lang="en-US" b="1" dirty="0">
                <a:latin typeface="Cambria" panose="02040503050406030204" pitchFamily="18" charset="0"/>
              </a:rPr>
              <a:t> </a:t>
            </a:r>
            <a:r>
              <a:rPr lang="en-US" dirty="0" err="1">
                <a:latin typeface="Cambria" panose="02040503050406030204" pitchFamily="18" charset="0"/>
              </a:rPr>
              <a:t>Mọi</a:t>
            </a:r>
            <a:r>
              <a:rPr lang="en-US" dirty="0">
                <a:latin typeface="Cambria" panose="02040503050406030204" pitchFamily="18" charset="0"/>
              </a:rPr>
              <a:t> email </a:t>
            </a:r>
            <a:r>
              <a:rPr lang="en-US" dirty="0" err="1">
                <a:latin typeface="Cambria" panose="02040503050406030204" pitchFamily="18" charset="0"/>
              </a:rPr>
              <a:t>về</a:t>
            </a:r>
            <a:r>
              <a:rPr lang="en-US" dirty="0">
                <a:latin typeface="Cambria" panose="02040503050406030204" pitchFamily="18" charset="0"/>
              </a:rPr>
              <a:t> </a:t>
            </a:r>
            <a:r>
              <a:rPr lang="en-US" dirty="0" err="1">
                <a:latin typeface="Cambria" panose="02040503050406030204" pitchFamily="18" charset="0"/>
              </a:rPr>
              <a:t>vấn</a:t>
            </a:r>
            <a:r>
              <a:rPr lang="en-US" dirty="0">
                <a:latin typeface="Cambria" panose="02040503050406030204" pitchFamily="18" charset="0"/>
              </a:rPr>
              <a:t> </a:t>
            </a:r>
            <a:r>
              <a:rPr lang="en-US" dirty="0" err="1">
                <a:latin typeface="Cambria" panose="02040503050406030204" pitchFamily="18" charset="0"/>
              </a:rPr>
              <a:t>đề</a:t>
            </a:r>
            <a:r>
              <a:rPr lang="en-US" dirty="0">
                <a:latin typeface="Cambria" panose="02040503050406030204" pitchFamily="18" charset="0"/>
              </a:rPr>
              <a:t> </a:t>
            </a:r>
            <a:r>
              <a:rPr lang="en-US" dirty="0" err="1">
                <a:latin typeface="Cambria" panose="02040503050406030204" pitchFamily="18" charset="0"/>
              </a:rPr>
              <a:t>học</a:t>
            </a:r>
            <a:r>
              <a:rPr lang="en-US" dirty="0">
                <a:latin typeface="Cambria" panose="02040503050406030204" pitchFamily="18" charset="0"/>
              </a:rPr>
              <a:t> </a:t>
            </a:r>
            <a:r>
              <a:rPr lang="en-US" dirty="0" err="1">
                <a:latin typeface="Cambria" panose="02040503050406030204" pitchFamily="18" charset="0"/>
              </a:rPr>
              <a:t>tập</a:t>
            </a:r>
            <a:r>
              <a:rPr lang="en-US" dirty="0">
                <a:latin typeface="Cambria" panose="02040503050406030204" pitchFamily="18" charset="0"/>
              </a:rPr>
              <a:t> </a:t>
            </a:r>
            <a:r>
              <a:rPr lang="en-US" dirty="0" err="1">
                <a:latin typeface="Cambria" panose="02040503050406030204" pitchFamily="18" charset="0"/>
              </a:rPr>
              <a:t>đều</a:t>
            </a:r>
            <a:r>
              <a:rPr lang="en-US" dirty="0">
                <a:latin typeface="Cambria" panose="02040503050406030204" pitchFamily="18" charset="0"/>
              </a:rPr>
              <a:t> </a:t>
            </a:r>
            <a:r>
              <a:rPr lang="en-US" dirty="0" err="1">
                <a:latin typeface="Cambria" panose="02040503050406030204" pitchFamily="18" charset="0"/>
              </a:rPr>
              <a:t>được</a:t>
            </a:r>
            <a:r>
              <a:rPr lang="en-US" dirty="0">
                <a:latin typeface="Cambria" panose="02040503050406030204" pitchFamily="18" charset="0"/>
              </a:rPr>
              <a:t> </a:t>
            </a:r>
            <a:r>
              <a:rPr lang="en-US" dirty="0" err="1">
                <a:latin typeface="Cambria" panose="02040503050406030204" pitchFamily="18" charset="0"/>
              </a:rPr>
              <a:t>trả</a:t>
            </a:r>
            <a:r>
              <a:rPr lang="en-US" dirty="0">
                <a:latin typeface="Cambria" panose="02040503050406030204" pitchFamily="18" charset="0"/>
              </a:rPr>
              <a:t> </a:t>
            </a:r>
            <a:r>
              <a:rPr lang="en-US" dirty="0" err="1">
                <a:latin typeface="Cambria" panose="02040503050406030204" pitchFamily="18" charset="0"/>
              </a:rPr>
              <a:t>lời</a:t>
            </a:r>
            <a:r>
              <a:rPr lang="en-US" dirty="0">
                <a:latin typeface="Cambria" panose="02040503050406030204" pitchFamily="18" charset="0"/>
              </a:rPr>
              <a:t> </a:t>
            </a:r>
            <a:r>
              <a:rPr lang="en-US" dirty="0" err="1">
                <a:latin typeface="Cambria" panose="02040503050406030204" pitchFamily="18" charset="0"/>
              </a:rPr>
              <a:t>trễ</a:t>
            </a:r>
            <a:r>
              <a:rPr lang="en-US" dirty="0">
                <a:latin typeface="Cambria" panose="02040503050406030204" pitchFamily="18" charset="0"/>
              </a:rPr>
              <a:t> </a:t>
            </a:r>
            <a:r>
              <a:rPr lang="en-US" dirty="0" err="1">
                <a:latin typeface="Cambria" panose="02040503050406030204" pitchFamily="18" charset="0"/>
              </a:rPr>
              <a:t>nhất</a:t>
            </a:r>
            <a:r>
              <a:rPr lang="en-US" dirty="0">
                <a:latin typeface="Cambria" panose="02040503050406030204" pitchFamily="18" charset="0"/>
              </a:rPr>
              <a:t> </a:t>
            </a:r>
            <a:r>
              <a:rPr lang="en-US" dirty="0" err="1">
                <a:latin typeface="Cambria" panose="02040503050406030204" pitchFamily="18" charset="0"/>
              </a:rPr>
              <a:t>là</a:t>
            </a:r>
            <a:r>
              <a:rPr lang="en-US" dirty="0">
                <a:latin typeface="Cambria" panose="02040503050406030204" pitchFamily="18" charset="0"/>
              </a:rPr>
              <a:t> </a:t>
            </a:r>
            <a:r>
              <a:rPr lang="en-US" dirty="0" err="1">
                <a:latin typeface="Cambria" panose="02040503050406030204" pitchFamily="18" charset="0"/>
              </a:rPr>
              <a:t>sau</a:t>
            </a:r>
            <a:r>
              <a:rPr lang="en-US" dirty="0">
                <a:latin typeface="Cambria" panose="02040503050406030204" pitchFamily="18" charset="0"/>
              </a:rPr>
              <a:t> 24h, </a:t>
            </a:r>
            <a:r>
              <a:rPr lang="en-US" dirty="0" err="1">
                <a:latin typeface="Cambria" panose="02040503050406030204" pitchFamily="18" charset="0"/>
              </a:rPr>
              <a:t>nếu</a:t>
            </a:r>
            <a:r>
              <a:rPr lang="en-US" dirty="0">
                <a:latin typeface="Cambria" panose="02040503050406030204" pitchFamily="18" charset="0"/>
              </a:rPr>
              <a:t> </a:t>
            </a:r>
            <a:r>
              <a:rPr lang="en-US" dirty="0" err="1">
                <a:latin typeface="Cambria" panose="02040503050406030204" pitchFamily="18" charset="0"/>
              </a:rPr>
              <a:t>không</a:t>
            </a:r>
            <a:r>
              <a:rPr lang="en-US" dirty="0">
                <a:latin typeface="Cambria" panose="02040503050406030204" pitchFamily="18" charset="0"/>
              </a:rPr>
              <a:t> </a:t>
            </a:r>
            <a:r>
              <a:rPr lang="en-US" dirty="0" err="1">
                <a:latin typeface="Cambria" panose="02040503050406030204" pitchFamily="18" charset="0"/>
              </a:rPr>
              <a:t>thấy</a:t>
            </a:r>
            <a:r>
              <a:rPr lang="en-US" dirty="0">
                <a:latin typeface="Cambria" panose="02040503050406030204" pitchFamily="18" charset="0"/>
              </a:rPr>
              <a:t> reply </a:t>
            </a:r>
            <a:r>
              <a:rPr lang="en-US" dirty="0" err="1">
                <a:latin typeface="Cambria" panose="02040503050406030204" pitchFamily="18" charset="0"/>
              </a:rPr>
              <a:t>thì</a:t>
            </a:r>
            <a:r>
              <a:rPr lang="en-US" dirty="0">
                <a:latin typeface="Cambria" panose="02040503050406030204" pitchFamily="18" charset="0"/>
              </a:rPr>
              <a:t> </a:t>
            </a:r>
            <a:r>
              <a:rPr lang="en-US" dirty="0" err="1">
                <a:latin typeface="Cambria" panose="02040503050406030204" pitchFamily="18" charset="0"/>
              </a:rPr>
              <a:t>gọi</a:t>
            </a:r>
            <a:r>
              <a:rPr lang="en-US" dirty="0">
                <a:latin typeface="Cambria" panose="02040503050406030204" pitchFamily="18" charset="0"/>
              </a:rPr>
              <a:t> </a:t>
            </a:r>
            <a:r>
              <a:rPr lang="en-US" dirty="0" err="1">
                <a:latin typeface="Cambria" panose="02040503050406030204" pitchFamily="18" charset="0"/>
              </a:rPr>
              <a:t>điện</a:t>
            </a:r>
            <a:r>
              <a:rPr lang="en-US" dirty="0">
                <a:latin typeface="Cambria" panose="02040503050406030204" pitchFamily="18" charset="0"/>
              </a:rPr>
              <a:t> </a:t>
            </a:r>
            <a:r>
              <a:rPr lang="en-US" dirty="0" err="1">
                <a:latin typeface="Cambria" panose="02040503050406030204" pitchFamily="18" charset="0"/>
              </a:rPr>
              <a:t>thoại</a:t>
            </a:r>
            <a:r>
              <a:rPr lang="en-US" dirty="0">
                <a:latin typeface="Cambria" panose="02040503050406030204" pitchFamily="18" charset="0"/>
              </a:rPr>
              <a:t> </a:t>
            </a:r>
            <a:r>
              <a:rPr lang="en-US" dirty="0" err="1">
                <a:latin typeface="Cambria" panose="02040503050406030204" pitchFamily="18" charset="0"/>
              </a:rPr>
              <a:t>nhắc</a:t>
            </a:r>
            <a:r>
              <a:rPr lang="en-US" dirty="0">
                <a:latin typeface="Cambria" panose="02040503050406030204" pitchFamily="18" charset="0"/>
              </a:rPr>
              <a:t> </a:t>
            </a:r>
            <a:r>
              <a:rPr lang="en-US" dirty="0" err="1">
                <a:latin typeface="Cambria" panose="02040503050406030204" pitchFamily="18" charset="0"/>
              </a:rPr>
              <a:t>vì</a:t>
            </a:r>
            <a:r>
              <a:rPr lang="en-US" dirty="0">
                <a:latin typeface="Cambria" panose="02040503050406030204" pitchFamily="18" charset="0"/>
              </a:rPr>
              <a:t> </a:t>
            </a:r>
            <a:r>
              <a:rPr lang="en-US" dirty="0" err="1">
                <a:latin typeface="Cambria" panose="02040503050406030204" pitchFamily="18" charset="0"/>
              </a:rPr>
              <a:t>có</a:t>
            </a:r>
            <a:r>
              <a:rPr lang="en-US" dirty="0">
                <a:latin typeface="Cambria" panose="02040503050406030204" pitchFamily="18" charset="0"/>
              </a:rPr>
              <a:t> </a:t>
            </a:r>
            <a:r>
              <a:rPr lang="en-US" dirty="0" err="1">
                <a:latin typeface="Cambria" panose="02040503050406030204" pitchFamily="18" charset="0"/>
              </a:rPr>
              <a:t>thể</a:t>
            </a:r>
            <a:r>
              <a:rPr lang="en-US" dirty="0">
                <a:latin typeface="Cambria" panose="02040503050406030204" pitchFamily="18" charset="0"/>
              </a:rPr>
              <a:t> email </a:t>
            </a:r>
            <a:r>
              <a:rPr lang="en-US" dirty="0" err="1">
                <a:latin typeface="Cambria" panose="02040503050406030204" pitchFamily="18" charset="0"/>
              </a:rPr>
              <a:t>bị</a:t>
            </a:r>
            <a:r>
              <a:rPr lang="en-US" dirty="0">
                <a:latin typeface="Cambria" panose="02040503050406030204" pitchFamily="18" charset="0"/>
              </a:rPr>
              <a:t> </a:t>
            </a:r>
            <a:r>
              <a:rPr lang="en-US" dirty="0" err="1">
                <a:latin typeface="Cambria" panose="02040503050406030204" pitchFamily="18" charset="0"/>
              </a:rPr>
              <a:t>vào</a:t>
            </a:r>
            <a:r>
              <a:rPr lang="en-US" dirty="0">
                <a:latin typeface="Cambria" panose="02040503050406030204" pitchFamily="18" charset="0"/>
              </a:rPr>
              <a:t> Spam.</a:t>
            </a:r>
          </a:p>
        </p:txBody>
      </p:sp>
    </p:spTree>
    <p:extLst>
      <p:ext uri="{BB962C8B-B14F-4D97-AF65-F5344CB8AC3E}">
        <p14:creationId xmlns:p14="http://schemas.microsoft.com/office/powerpoint/2010/main" val="21188220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8"/>
          <p:cNvSpPr txBox="1">
            <a:spLocks noGrp="1"/>
          </p:cNvSpPr>
          <p:nvPr>
            <p:ph type="title"/>
          </p:nvPr>
        </p:nvSpPr>
        <p:spPr>
          <a:xfrm>
            <a:off x="838200" y="2581306"/>
            <a:ext cx="10515600" cy="1566745"/>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144E8C"/>
              </a:buClr>
              <a:buSzPts val="9600"/>
              <a:buFont typeface="Lato Black"/>
              <a:buNone/>
            </a:pPr>
            <a:r>
              <a:rPr lang="en-US" dirty="0"/>
              <a:t>THANK YOU!</a:t>
            </a:r>
            <a:endParaRPr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934</TotalTime>
  <Words>1151</Words>
  <Application>Microsoft Office PowerPoint</Application>
  <PresentationFormat>Widescreen</PresentationFormat>
  <Paragraphs>171</Paragraphs>
  <Slides>12</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Times New Roman</vt:lpstr>
      <vt:lpstr>Cambria</vt:lpstr>
      <vt:lpstr>Calibri</vt:lpstr>
      <vt:lpstr>Lato</vt:lpstr>
      <vt:lpstr>Lato Black</vt:lpstr>
      <vt:lpstr>Wingdings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Pí Yeah</dc:creator>
  <cp:lastModifiedBy>Thanh Trần</cp:lastModifiedBy>
  <cp:revision>281</cp:revision>
  <dcterms:created xsi:type="dcterms:W3CDTF">2022-12-02T04:21:00Z</dcterms:created>
  <dcterms:modified xsi:type="dcterms:W3CDTF">2026-08-15T17:01:10Z</dcterms:modified>
</cp:coreProperties>
</file>