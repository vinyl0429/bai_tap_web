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6"/>
  </p:notesMasterIdLst>
  <p:sldIdLst>
    <p:sldId id="256" r:id="rId2"/>
    <p:sldId id="274" r:id="rId3"/>
    <p:sldId id="268" r:id="rId4"/>
    <p:sldId id="278" r:id="rId5"/>
    <p:sldId id="279" r:id="rId6"/>
    <p:sldId id="281" r:id="rId7"/>
    <p:sldId id="292" r:id="rId8"/>
    <p:sldId id="291" r:id="rId9"/>
    <p:sldId id="293" r:id="rId10"/>
    <p:sldId id="294" r:id="rId11"/>
    <p:sldId id="295" r:id="rId12"/>
    <p:sldId id="296" r:id="rId13"/>
    <p:sldId id="297" r:id="rId14"/>
    <p:sldId id="298" r:id="rId15"/>
    <p:sldId id="299" r:id="rId16"/>
    <p:sldId id="282" r:id="rId17"/>
    <p:sldId id="300" r:id="rId18"/>
    <p:sldId id="301" r:id="rId19"/>
    <p:sldId id="302" r:id="rId20"/>
    <p:sldId id="303" r:id="rId21"/>
    <p:sldId id="304" r:id="rId22"/>
    <p:sldId id="305" r:id="rId23"/>
    <p:sldId id="306" r:id="rId24"/>
    <p:sldId id="307" r:id="rId25"/>
    <p:sldId id="308" r:id="rId26"/>
    <p:sldId id="309" r:id="rId27"/>
    <p:sldId id="311" r:id="rId28"/>
    <p:sldId id="312" r:id="rId29"/>
    <p:sldId id="313" r:id="rId30"/>
    <p:sldId id="310" r:id="rId31"/>
    <p:sldId id="283" r:id="rId32"/>
    <p:sldId id="314" r:id="rId33"/>
    <p:sldId id="315" r:id="rId34"/>
    <p:sldId id="316" r:id="rId35"/>
    <p:sldId id="318" r:id="rId36"/>
    <p:sldId id="317" r:id="rId37"/>
    <p:sldId id="319" r:id="rId38"/>
    <p:sldId id="320" r:id="rId39"/>
    <p:sldId id="321" r:id="rId40"/>
    <p:sldId id="284" r:id="rId41"/>
    <p:sldId id="322" r:id="rId42"/>
    <p:sldId id="323" r:id="rId43"/>
    <p:sldId id="324" r:id="rId44"/>
    <p:sldId id="325" r:id="rId45"/>
    <p:sldId id="326" r:id="rId46"/>
    <p:sldId id="327" r:id="rId47"/>
    <p:sldId id="328" r:id="rId48"/>
    <p:sldId id="329" r:id="rId49"/>
    <p:sldId id="330" r:id="rId50"/>
    <p:sldId id="331" r:id="rId51"/>
    <p:sldId id="280" r:id="rId52"/>
    <p:sldId id="332" r:id="rId53"/>
    <p:sldId id="333" r:id="rId54"/>
    <p:sldId id="334" r:id="rId55"/>
    <p:sldId id="335" r:id="rId56"/>
    <p:sldId id="336" r:id="rId57"/>
    <p:sldId id="285" r:id="rId58"/>
    <p:sldId id="338" r:id="rId59"/>
    <p:sldId id="339" r:id="rId60"/>
    <p:sldId id="340" r:id="rId61"/>
    <p:sldId id="341" r:id="rId62"/>
    <p:sldId id="342" r:id="rId63"/>
    <p:sldId id="286" r:id="rId64"/>
    <p:sldId id="343" r:id="rId65"/>
    <p:sldId id="287" r:id="rId66"/>
    <p:sldId id="344" r:id="rId67"/>
    <p:sldId id="345" r:id="rId68"/>
    <p:sldId id="346" r:id="rId69"/>
    <p:sldId id="347" r:id="rId70"/>
    <p:sldId id="288" r:id="rId71"/>
    <p:sldId id="348" r:id="rId72"/>
    <p:sldId id="349" r:id="rId73"/>
    <p:sldId id="350" r:id="rId74"/>
    <p:sldId id="351" r:id="rId75"/>
    <p:sldId id="289" r:id="rId76"/>
    <p:sldId id="352" r:id="rId77"/>
    <p:sldId id="353" r:id="rId78"/>
    <p:sldId id="354" r:id="rId79"/>
    <p:sldId id="355" r:id="rId80"/>
    <p:sldId id="290" r:id="rId81"/>
    <p:sldId id="356" r:id="rId82"/>
    <p:sldId id="357" r:id="rId83"/>
    <p:sldId id="277" r:id="rId84"/>
    <p:sldId id="263" r:id="rId85"/>
  </p:sldIdLst>
  <p:sldSz cx="12192000" cy="6858000"/>
  <p:notesSz cx="6858000" cy="9144000"/>
  <p:embeddedFontLst>
    <p:embeddedFont>
      <p:font typeface="Cambria" panose="02040503050406030204" pitchFamily="18" charset="0"/>
      <p:regular r:id="rId87"/>
      <p:bold r:id="rId88"/>
      <p:italic r:id="rId89"/>
      <p:boldItalic r:id="rId90"/>
    </p:embeddedFont>
    <p:embeddedFont>
      <p:font typeface="Consolas" panose="020B0609020204030204" pitchFamily="49" charset="0"/>
      <p:regular r:id="rId91"/>
      <p:bold r:id="rId92"/>
      <p:italic r:id="rId93"/>
      <p:boldItalic r:id="rId94"/>
    </p:embeddedFont>
    <p:embeddedFont>
      <p:font typeface="Georgia" panose="02040502050405020303" pitchFamily="18" charset="0"/>
      <p:regular r:id="rId95"/>
      <p:bold r:id="rId96"/>
      <p:italic r:id="rId97"/>
      <p:boldItalic r:id="rId98"/>
    </p:embeddedFont>
    <p:embeddedFont>
      <p:font typeface="Lato" panose="020F0502020204030203" pitchFamily="34" charset="0"/>
      <p:regular r:id="rId99"/>
      <p:bold r:id="rId100"/>
      <p:italic r:id="rId101"/>
      <p:boldItalic r:id="rId102"/>
    </p:embeddedFont>
    <p:embeddedFont>
      <p:font typeface="Lato Black" panose="020F0502020204030203" pitchFamily="34" charset="0"/>
      <p:bold r:id="rId103"/>
      <p:boldItalic r:id="rId10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5"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98" autoAdjust="0"/>
    <p:restoredTop sz="75822" autoAdjust="0"/>
  </p:normalViewPr>
  <p:slideViewPr>
    <p:cSldViewPr snapToGrid="0">
      <p:cViewPr varScale="1">
        <p:scale>
          <a:sx n="88" d="100"/>
          <a:sy n="88" d="100"/>
        </p:scale>
        <p:origin x="1560" y="82"/>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6.fntdata"/><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7.fntdata"/><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105"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D159E3-0C37-8380-486B-E77B2B41747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E6911D5-EAD3-4E97-ABC7-C6B3D036862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D637C34-04B9-86D1-9D10-2647C56ACA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5614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7631BD2-804A-7A61-6A02-E491C99F1B6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D113848-3B95-1846-197D-FAFAA46FF1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C3C0940-E66D-1DF2-1B82-DD0168885D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3776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96A2B11-6157-7764-9A2D-08EBD893F9F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B5ECA4F-E54E-6876-C408-28E01F7540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01CAFAC-A7D6-CC5A-AD81-3AF762527C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4034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A9127E7-7EB0-4C24-4295-C8B5FAE52D2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C23A3B6-16C0-210D-8B77-AD6052B16E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BE3F438-47CD-CAF2-FB50-D7C958521E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3278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E7570D9-ACDF-3B37-20E7-A7FF13845BA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6D7E059-1461-BACD-C358-E122E32C76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91F1A03-1804-994E-1A37-F00DBF07D7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4751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58B642D-CA91-AA8F-DB04-7B0D0FF4AAA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921C8B0-73D4-5C2D-AE8E-461D192D45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4CB8B60-141E-2981-D91B-EF6937F109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284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9E156B-B79C-1BD3-416E-7360EDA0DB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75E9BCD-6395-C0EF-B097-B9A73D8C67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FF8F7D6-F8E9-578F-232F-036E8E1D15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826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EDD464-18AD-F6D3-A3E0-92CBAFB057B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933F4A2-5B49-8F0C-25E7-787603B9DE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3DED17F-E5FC-6595-70E6-0CCD5975B0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2003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27E387-F1CC-3950-E310-316742ABDD3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A08DC32-A772-8247-1F51-3C7D64E4ED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DACA40F-CBA5-303B-DCCE-35B746C424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2127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BF4F087-6766-2766-DB03-3FD0BBC12F2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865E07-2B74-A6FF-0F2C-81F23A9F3B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FA764AE-5879-1105-182C-DC06A82024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5125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99E66B-DC70-C523-0E32-0C6460A8C08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06A46AB-0981-344B-CD1D-F282C8C3BB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BBCAB48-5AF3-0882-20EE-90E9C2FA0C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977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D74C015-BEE4-C2BD-966C-0BAF4F05A63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38629C9-9E4C-4B31-1FF6-A99F204B2B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5B9F090-60B6-D9CD-92BD-299B287AC1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3117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4A42C7-7F6D-8AE9-F138-C805B7D54DF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802586E-90A8-7AF7-3A1A-DECDBAABFAA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3160004-A120-E9EE-E7BC-38EA09EEA5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6041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998436-2902-9C84-917C-9849F2FCD16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C9C112-5BF8-6907-145A-2028D03463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96F5E60-AC74-41A5-CB2B-C25E902BA7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8799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88F9E4-A74C-CA26-D250-582CFBBCF2C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1067B9-C963-BE6C-C82B-5B3F5CF2A2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4B18492-4E35-8960-C05E-6A62EAD93F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8311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249B0B1-ABB8-707A-D0E4-571C939C91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99F1E8E-869E-39F6-51F7-459D13E72D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7F92D7C-9C38-116E-C609-53FD680D99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2769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6A8505C-0434-94A0-3CC4-ABD6248359F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7F5D11B-07D4-4B78-9B09-772E83E6C2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0E5AB4F-43F3-8BD4-08BD-A044CFF995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1520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52CA98F-B5E5-00E4-ED6C-6FC962A4BF7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372733B-B8D3-93A2-10A6-32622D978E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B3698CA-DFC2-CD4C-1ABF-014DE15A3A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3220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E701C5-EB17-A7EF-F34F-5CB6808E3F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8C2038B-1624-798B-97F5-E628D070A1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4B24A46-B991-63E9-E0F0-3ED7254B18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6406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E20C75F-B97D-0D8A-E2B6-8D9BC9DA573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06A4B7E-C8E9-6D3F-7CE0-FA0C56FBDB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C64C9D-5AB5-3F9A-0748-4FCD2392D1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0438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73D81F-E04E-3CB6-E791-820AB78D82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5DF56D5-8E0B-22FF-85B6-BFDD528647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062F721-8DBD-4EDD-614A-BE6C248B7D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1170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304C3D5-8E31-BEE7-D56B-4A8144ABC6B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233ECF5-2766-6740-F611-FDF59D52DB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60DF061-F8B2-12BC-DD46-2A8D29B690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5257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FEEAD19-1E22-B3CE-C6EB-46D46945ACD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422345C-CB17-51AA-CC79-0D054D6746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0070DD4-73AE-288B-C7E2-11FC228E47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9949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4B46BF1-32C9-5BF2-C8E5-25AA5D179F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63F3D4C-5F54-5363-6098-128FB992D2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3F4BF2-F84F-5682-A680-5B6DF1303B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0620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81021CD-153D-50E1-0B8E-DECC80EEF8F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63331F-A78B-0E69-C082-2EFEBE7FA4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680779-14C9-8EE2-4D09-EA543ED0DB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6839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DBEF4D3-76D9-2E20-C81E-5282DF6B34A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FC5E807-1AD5-521D-B35D-3B2EC48C4F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8F002AD-DBCE-64D2-007E-298D314666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1851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99AA003-8580-BB99-77E9-CD9EB199591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126685E-6158-0019-F3B5-8A1CFD25FB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6CDDF30-572B-1E9D-760F-221360B6B6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853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B20EB18-8409-8CD6-444A-E814E94D17C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E4EAB2-AA37-112E-E400-D733BE40A4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0818B24-BF48-7B6E-AFA6-7A52C6CC5F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1221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8F26B6F-7565-420B-FD41-740BAC5CB3B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1F96598-092F-44DC-9456-1868AE81BF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6989F4-B093-AE3F-ADED-4F5E674502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930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21F4A7-F8A7-0B90-CECC-4D6F4A5A641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0FCA5F7-FD34-C39C-7E37-DB88786860A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FECC201-0166-98CA-91AE-58226A9950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2720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DBE3042-D0B0-CDBA-34AE-5E25CE77D44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FB04940-1142-6B7F-0F68-0C8D8507EE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7436AB-17A5-139A-0637-8FEC98F829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2425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452586C-65D0-3FC4-3FD9-6C6E28DEF09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7E69AD4-5164-065B-FCDC-A2E5D83DC3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8D918F-0031-275F-1E8C-6007B75810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79348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92545D7-1B56-F3D9-C87B-AA75F455617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6190A1E-F890-9674-9504-8FD7508F14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0A95E3C-F64E-E212-8C96-FF46BC8DDB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53453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D76F3F9-85FA-26FF-F148-80D177D7702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82CEC77-C84B-BA6B-C98A-A4351C2BA5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9D48987-DCC8-DF9E-7276-5435D54B99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1161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0BC411-4FBB-B375-D285-26F4175C08C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3F4BF81-75B5-75E1-E231-7835FD39BB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2EDB182-BE7C-4F36-4BC4-660F0B60C1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48246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A05B35-53DA-E01E-9EE2-48AEB9C134C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9A7503-08E8-829C-A0BD-B80946B3FB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5E25BD3-4732-9CCF-C10B-DA36215582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6614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B182312-982B-9060-BA72-A1FBF42607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3932CE0-53C0-8EFB-695A-BC93EE0A7E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5187F8B-F867-39C1-1066-223362DEAA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30648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42D4918-4C02-58A1-CCBF-C71991BF001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0D3CF09-1A22-848A-66ED-7D1B902DAB9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9A53B00-DA76-C6DB-5C36-26738F9073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5972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B4972C-D284-974E-1CEC-91AAC2A7C37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D1CE2FB-530C-017E-F5F1-C12C18578C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UserLogin {</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username: string = </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password: string = </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rememberMe: boolean = </a:t>
            </a:r>
            <a:r>
              <a:rPr lang="en-US" b="0">
                <a:solidFill>
                  <a:srgbClr val="0000FF"/>
                </a:solidFill>
                <a:effectLst/>
                <a:latin typeface="Consolas" panose="020B0609020204030204" pitchFamily="49" charset="0"/>
              </a:rPr>
              <a:t>false</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 {}</a:t>
            </a:r>
          </a:p>
          <a:p>
            <a:pPr>
              <a:lnSpc>
                <a:spcPts val="2250"/>
              </a:lnSpc>
              <a:buNone/>
            </a:pPr>
            <a:r>
              <a:rPr lang="en-US" b="0">
                <a:solidFill>
                  <a:srgbClr val="000000"/>
                </a:solidFill>
                <a:effectLst/>
                <a:latin typeface="Consolas" panose="020B0609020204030204" pitchFamily="49" charset="0"/>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A722310-BFCD-B7F9-9314-50490F06BE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82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0538C8C-669C-447E-45DE-33F28B67384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1580E14-C0A8-622D-9030-07014F5EE12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D06E542-4A2A-4765-C531-99A8D52AB1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74591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44BC78-AD4B-C2DA-47D8-8A5F8E2C775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8A89CC-70B1-6242-EF01-402B2AE49E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 from '@angular/core';</a:t>
            </a:r>
          </a:p>
          <a:p>
            <a:r>
              <a:rPr lang="en-US" sz="1200" b="0" i="0" u="none" strike="noStrike" cap="none">
                <a:solidFill>
                  <a:schemeClr val="dk1"/>
                </a:solidFill>
                <a:effectLst/>
                <a:latin typeface="Calibri"/>
                <a:ea typeface="Calibri"/>
                <a:cs typeface="Calibri"/>
                <a:sym typeface="Calibri"/>
              </a:rPr>
              <a:t>import { UserLogin } from '../classes/UserLogin';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'app-login-component',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'./login-component.html',</a:t>
            </a:r>
          </a:p>
          <a:p>
            <a:r>
              <a:rPr lang="en-US" sz="1200" b="0" i="0" u="none" strike="noStrike" cap="none">
                <a:solidFill>
                  <a:schemeClr val="dk1"/>
                </a:solidFill>
                <a:effectLst/>
                <a:latin typeface="Calibri"/>
                <a:ea typeface="Calibri"/>
                <a:cs typeface="Calibri"/>
                <a:sym typeface="Calibri"/>
              </a:rPr>
              <a:t>  styleUrl: './login-component.css',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LoginComponent {</a:t>
            </a:r>
          </a:p>
          <a:p>
            <a:r>
              <a:rPr lang="en-US" sz="1200" b="0" i="0" u="none" strike="noStrike" cap="none">
                <a:solidFill>
                  <a:schemeClr val="dk1"/>
                </a:solidFill>
                <a:effectLst/>
                <a:latin typeface="Calibri"/>
                <a:ea typeface="Calibri"/>
                <a:cs typeface="Calibri"/>
                <a:sym typeface="Calibri"/>
              </a:rPr>
              <a:t>  // Khởi tạo model để binding</a:t>
            </a:r>
          </a:p>
          <a:p>
            <a:r>
              <a:rPr lang="en-US" sz="1200" b="0" i="0" u="none" strike="noStrike" cap="none">
                <a:solidFill>
                  <a:schemeClr val="dk1"/>
                </a:solidFill>
                <a:effectLst/>
                <a:latin typeface="Calibri"/>
                <a:ea typeface="Calibri"/>
                <a:cs typeface="Calibri"/>
                <a:sym typeface="Calibri"/>
              </a:rPr>
              <a:t>  user = new UserLogin();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  onLogin() {</a:t>
            </a:r>
          </a:p>
          <a:p>
            <a:r>
              <a:rPr lang="en-US" sz="1200" b="0" i="0" u="none" strike="noStrike" cap="none">
                <a:solidFill>
                  <a:schemeClr val="dk1"/>
                </a:solidFill>
                <a:effectLst/>
                <a:latin typeface="Calibri"/>
                <a:ea typeface="Calibri"/>
                <a:cs typeface="Calibri"/>
                <a:sym typeface="Calibri"/>
              </a:rPr>
              <a:t>    console.log('Thông tin đăng nhập:', this.user);</a:t>
            </a:r>
          </a:p>
          <a:p>
            <a:r>
              <a:rPr lang="en-US" sz="1200" b="0" i="0" u="none" strike="noStrike" cap="none">
                <a:solidFill>
                  <a:schemeClr val="dk1"/>
                </a:solidFill>
                <a:effectLst/>
                <a:latin typeface="Calibri"/>
                <a:ea typeface="Calibri"/>
                <a:cs typeface="Calibri"/>
                <a:sym typeface="Calibri"/>
              </a:rPr>
              <a:t>    let infor=JSON.stringify(this.user)</a:t>
            </a:r>
          </a:p>
          <a:p>
            <a:r>
              <a:rPr lang="en-US" sz="1200" b="0" i="0" u="none" strike="noStrike" cap="none">
                <a:solidFill>
                  <a:schemeClr val="dk1"/>
                </a:solidFill>
                <a:effectLst/>
                <a:latin typeface="Calibri"/>
                <a:ea typeface="Calibri"/>
                <a:cs typeface="Calibri"/>
                <a:sym typeface="Calibri"/>
              </a:rPr>
              <a:t>    alert("Xử lý đăng nhập:\n"+infor)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4C9B3F4-923C-B241-EEDC-FFDEF32AC2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22681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D031AC-AE4C-82A7-9EE8-5CAF99C5DE7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EC67D39-CC8A-C460-D2A6-014F5CAE2C5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7880A6-D385-78AB-9FE1-F4A874BE95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7648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B77EF42-4698-86D3-4AA4-CEC44F2D432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F57A905-6E9A-3BE5-C76E-DC10B84C98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8E7DB4-8C29-9ABC-3331-2CA19E8851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2199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5D818A-1F71-77BC-0436-90BF249F1A9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FFB2835-21F4-63DD-D42C-8C9E56E6BC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&lt;div class="container mt-5" style="max-width: 400px; border: 1px solid #ccc; padding: 30px; border-radius: 10px; background: #f9f9f9;"&gt;</a:t>
            </a:r>
          </a:p>
          <a:p>
            <a:r>
              <a:rPr lang="vi-VN" sz="1200" b="0" i="0" u="none" strike="noStrike" cap="none">
                <a:solidFill>
                  <a:schemeClr val="dk1"/>
                </a:solidFill>
                <a:effectLst/>
                <a:latin typeface="Calibri"/>
                <a:ea typeface="Calibri"/>
                <a:cs typeface="Calibri"/>
                <a:sym typeface="Calibri"/>
              </a:rPr>
              <a:t>  &lt;h3 class="text-center mb-4"&gt;Đăng Nhập&lt;/h3&gt;</a:t>
            </a:r>
          </a:p>
          <a:p>
            <a:r>
              <a:rPr lang="vi-VN" sz="1200" b="0" i="0" u="none" strike="noStrike" cap="none">
                <a:solidFill>
                  <a:schemeClr val="dk1"/>
                </a:solidFill>
                <a:effectLst/>
                <a:latin typeface="Calibri"/>
                <a:ea typeface="Calibri"/>
                <a:cs typeface="Calibri"/>
                <a:sym typeface="Calibri"/>
              </a:rPr>
              <a:t>  &lt;form #loginForm="ngForm" (ngSubmit)="onLogin()"&gt;</a:t>
            </a:r>
          </a:p>
          <a:p>
            <a:r>
              <a:rPr lang="vi-VN" sz="1200" b="0" i="0" u="none" strike="noStrike" cap="none">
                <a:solidFill>
                  <a:schemeClr val="dk1"/>
                </a:solidFill>
                <a:effectLst/>
                <a:latin typeface="Calibri"/>
                <a:ea typeface="Calibri"/>
                <a:cs typeface="Calibri"/>
                <a:sym typeface="Calibri"/>
              </a:rPr>
              <a:t>    &lt;!-- Tên đăng nhập --&gt;</a:t>
            </a:r>
          </a:p>
          <a:p>
            <a:r>
              <a:rPr lang="vi-VN" sz="1200" b="0" i="0" u="none" strike="noStrike" cap="none">
                <a:solidFill>
                  <a:schemeClr val="dk1"/>
                </a:solidFill>
                <a:effectLst/>
                <a:latin typeface="Calibri"/>
                <a:ea typeface="Calibri"/>
                <a:cs typeface="Calibri"/>
                <a:sym typeface="Calibri"/>
              </a:rPr>
              <a:t>    &lt;div class="mb-3"&gt;</a:t>
            </a:r>
          </a:p>
          <a:p>
            <a:r>
              <a:rPr lang="vi-VN" sz="1200" b="0" i="0" u="none" strike="noStrike" cap="none">
                <a:solidFill>
                  <a:schemeClr val="dk1"/>
                </a:solidFill>
                <a:effectLst/>
                <a:latin typeface="Calibri"/>
                <a:ea typeface="Calibri"/>
                <a:cs typeface="Calibri"/>
                <a:sym typeface="Calibri"/>
              </a:rPr>
              <a:t>      &lt;label class="form-label"&gt;Tên đăng nhập:&lt;/label&gt;</a:t>
            </a:r>
          </a:p>
          <a:p>
            <a:r>
              <a:rPr lang="vi-VN" sz="1200" b="0" i="0" u="none" strike="noStrike" cap="none">
                <a:solidFill>
                  <a:schemeClr val="dk1"/>
                </a:solidFill>
                <a:effectLst/>
                <a:latin typeface="Calibri"/>
                <a:ea typeface="Calibri"/>
                <a:cs typeface="Calibri"/>
                <a:sym typeface="Calibri"/>
              </a:rPr>
              <a:t>      &lt;input type="text" class="form-control" name="username"</a:t>
            </a:r>
          </a:p>
          <a:p>
            <a:r>
              <a:rPr lang="vi-VN" sz="1200" b="0" i="0" u="none" strike="noStrike" cap="none">
                <a:solidFill>
                  <a:schemeClr val="dk1"/>
                </a:solidFill>
                <a:effectLst/>
                <a:latin typeface="Calibri"/>
                <a:ea typeface="Calibri"/>
                <a:cs typeface="Calibri"/>
                <a:sym typeface="Calibri"/>
              </a:rPr>
              <a:t>             [(ngModel)]="user.username" #username="ngModel"</a:t>
            </a:r>
          </a:p>
          <a:p>
            <a:r>
              <a:rPr lang="vi-VN" sz="1200" b="0" i="0" u="none" strike="noStrike" cap="none">
                <a:solidFill>
                  <a:schemeClr val="dk1"/>
                </a:solidFill>
                <a:effectLst/>
                <a:latin typeface="Calibri"/>
                <a:ea typeface="Calibri"/>
                <a:cs typeface="Calibri"/>
                <a:sym typeface="Calibri"/>
              </a:rPr>
              <a:t>             required minlength="4"</a:t>
            </a:r>
          </a:p>
          <a:p>
            <a:r>
              <a:rPr lang="vi-VN" sz="1200" b="0" i="0" u="none" strike="noStrike" cap="none">
                <a:solidFill>
                  <a:schemeClr val="dk1"/>
                </a:solidFill>
                <a:effectLst/>
                <a:latin typeface="Calibri"/>
                <a:ea typeface="Calibri"/>
                <a:cs typeface="Calibri"/>
                <a:sym typeface="Calibri"/>
              </a:rPr>
              <a:t>             [class.is-invalid]="username.invalid &amp;&amp; username.touched"&gt;</a:t>
            </a:r>
          </a:p>
          <a:p>
            <a:r>
              <a:rPr lang="vi-VN" sz="1200" b="0" i="0" u="none" strike="noStrike" cap="none">
                <a:solidFill>
                  <a:schemeClr val="dk1"/>
                </a:solidFill>
                <a:effectLst/>
                <a:latin typeface="Calibri"/>
                <a:ea typeface="Calibri"/>
                <a:cs typeface="Calibri"/>
                <a:sym typeface="Calibri"/>
              </a:rPr>
              <a:t>      &lt;div class="invalid-feedback"&gt;</a:t>
            </a:r>
          </a:p>
          <a:p>
            <a:r>
              <a:rPr lang="vi-VN" sz="1200" b="0" i="0" u="none" strike="noStrike" cap="none">
                <a:solidFill>
                  <a:schemeClr val="dk1"/>
                </a:solidFill>
                <a:effectLst/>
                <a:latin typeface="Calibri"/>
                <a:ea typeface="Calibri"/>
                <a:cs typeface="Calibri"/>
                <a:sym typeface="Calibri"/>
              </a:rPr>
              <a:t>        &lt;small *ngIf="username.errors?.['required']"&gt;Vui lòng nhập tên đăng nhập.&lt;/small&gt;</a:t>
            </a:r>
          </a:p>
          <a:p>
            <a:r>
              <a:rPr lang="vi-VN" sz="1200" b="0" i="0" u="none" strike="noStrike" cap="none">
                <a:solidFill>
                  <a:schemeClr val="dk1"/>
                </a:solidFill>
                <a:effectLst/>
                <a:latin typeface="Calibri"/>
                <a:ea typeface="Calibri"/>
                <a:cs typeface="Calibri"/>
                <a:sym typeface="Calibri"/>
              </a:rPr>
              <a:t>        &lt;small *ngIf="username.errors?.['minlength']"&gt;Tên đăng nhập phải từ 4 ký tự.&lt;/small&gt;</a:t>
            </a:r>
          </a:p>
          <a:p>
            <a:r>
              <a:rPr lang="vi-VN" sz="1200" b="0" i="0" u="none" strike="noStrike" cap="none">
                <a:solidFill>
                  <a:schemeClr val="dk1"/>
                </a:solidFill>
                <a:effectLst/>
                <a:latin typeface="Calibri"/>
                <a:ea typeface="Calibri"/>
                <a:cs typeface="Calibri"/>
                <a:sym typeface="Calibri"/>
              </a:rPr>
              <a:t>      &lt;/div&gt;</a:t>
            </a:r>
          </a:p>
          <a:p>
            <a:r>
              <a:rPr lang="vi-VN" sz="1200" b="0" i="0" u="none" strike="noStrike" cap="none">
                <a:solidFill>
                  <a:schemeClr val="dk1"/>
                </a:solidFill>
                <a:effectLst/>
                <a:latin typeface="Calibri"/>
                <a:ea typeface="Calibri"/>
                <a:cs typeface="Calibri"/>
                <a:sym typeface="Calibri"/>
              </a:rPr>
              <a:t>    &lt;/div&gt;</a:t>
            </a:r>
          </a:p>
          <a:p>
            <a:r>
              <a:rPr lang="vi-VN" sz="1200" b="0" i="0" u="none" strike="noStrike" cap="none">
                <a:solidFill>
                  <a:schemeClr val="dk1"/>
                </a:solidFill>
                <a:effectLst/>
                <a:latin typeface="Calibri"/>
                <a:ea typeface="Calibri"/>
                <a:cs typeface="Calibri"/>
                <a:sym typeface="Calibri"/>
              </a:rPr>
              <a:t>    &lt;!-- Mật khẩu --&gt;</a:t>
            </a:r>
          </a:p>
          <a:p>
            <a:r>
              <a:rPr lang="vi-VN" sz="1200" b="0" i="0" u="none" strike="noStrike" cap="none">
                <a:solidFill>
                  <a:schemeClr val="dk1"/>
                </a:solidFill>
                <a:effectLst/>
                <a:latin typeface="Calibri"/>
                <a:ea typeface="Calibri"/>
                <a:cs typeface="Calibri"/>
                <a:sym typeface="Calibri"/>
              </a:rPr>
              <a:t>    &lt;div class="mb-3"&gt;</a:t>
            </a:r>
          </a:p>
          <a:p>
            <a:r>
              <a:rPr lang="vi-VN" sz="1200" b="0" i="0" u="none" strike="noStrike" cap="none">
                <a:solidFill>
                  <a:schemeClr val="dk1"/>
                </a:solidFill>
                <a:effectLst/>
                <a:latin typeface="Calibri"/>
                <a:ea typeface="Calibri"/>
                <a:cs typeface="Calibri"/>
                <a:sym typeface="Calibri"/>
              </a:rPr>
              <a:t>      &lt;label class="form-label"&gt;Mật khẩu:&lt;/label&gt;</a:t>
            </a:r>
          </a:p>
          <a:p>
            <a:r>
              <a:rPr lang="vi-VN" sz="1200" b="0" i="0" u="none" strike="noStrike" cap="none">
                <a:solidFill>
                  <a:schemeClr val="dk1"/>
                </a:solidFill>
                <a:effectLst/>
                <a:latin typeface="Calibri"/>
                <a:ea typeface="Calibri"/>
                <a:cs typeface="Calibri"/>
                <a:sym typeface="Calibri"/>
              </a:rPr>
              <a:t>      &lt;input type="password" class="form-control" name="password"</a:t>
            </a:r>
          </a:p>
          <a:p>
            <a:r>
              <a:rPr lang="vi-VN" sz="1200" b="0" i="0" u="none" strike="noStrike" cap="none">
                <a:solidFill>
                  <a:schemeClr val="dk1"/>
                </a:solidFill>
                <a:effectLst/>
                <a:latin typeface="Calibri"/>
                <a:ea typeface="Calibri"/>
                <a:cs typeface="Calibri"/>
                <a:sym typeface="Calibri"/>
              </a:rPr>
              <a:t>             [(ngModel)]="user.password" #password="ngModel"</a:t>
            </a:r>
          </a:p>
          <a:p>
            <a:r>
              <a:rPr lang="vi-VN" sz="1200" b="0" i="0" u="none" strike="noStrike" cap="none">
                <a:solidFill>
                  <a:schemeClr val="dk1"/>
                </a:solidFill>
                <a:effectLst/>
                <a:latin typeface="Calibri"/>
                <a:ea typeface="Calibri"/>
                <a:cs typeface="Calibri"/>
                <a:sym typeface="Calibri"/>
              </a:rPr>
              <a:t>             required</a:t>
            </a:r>
          </a:p>
          <a:p>
            <a:r>
              <a:rPr lang="vi-VN" sz="1200" b="0" i="0" u="none" strike="noStrike" cap="none">
                <a:solidFill>
                  <a:schemeClr val="dk1"/>
                </a:solidFill>
                <a:effectLst/>
                <a:latin typeface="Calibri"/>
                <a:ea typeface="Calibri"/>
                <a:cs typeface="Calibri"/>
                <a:sym typeface="Calibri"/>
              </a:rPr>
              <a:t>             [class.is-invalid]="password.invalid &amp;&amp; password.touched"&gt;</a:t>
            </a:r>
          </a:p>
          <a:p>
            <a:r>
              <a:rPr lang="vi-VN" sz="1200" b="0" i="0" u="none" strike="noStrike" cap="none">
                <a:solidFill>
                  <a:schemeClr val="dk1"/>
                </a:solidFill>
                <a:effectLst/>
                <a:latin typeface="Calibri"/>
                <a:ea typeface="Calibri"/>
                <a:cs typeface="Calibri"/>
                <a:sym typeface="Calibri"/>
              </a:rPr>
              <a:t>      &lt;div class="invalid-feedback"&gt;</a:t>
            </a:r>
          </a:p>
          <a:p>
            <a:r>
              <a:rPr lang="vi-VN" sz="1200" b="0" i="0" u="none" strike="noStrike" cap="none">
                <a:solidFill>
                  <a:schemeClr val="dk1"/>
                </a:solidFill>
                <a:effectLst/>
                <a:latin typeface="Calibri"/>
                <a:ea typeface="Calibri"/>
                <a:cs typeface="Calibri"/>
                <a:sym typeface="Calibri"/>
              </a:rPr>
              <a:t>        &lt;small&gt;Vui lòng nhập mật khẩu.&lt;/small&gt;</a:t>
            </a:r>
          </a:p>
          <a:p>
            <a:r>
              <a:rPr lang="vi-VN" sz="1200" b="0" i="0" u="none" strike="noStrike" cap="none">
                <a:solidFill>
                  <a:schemeClr val="dk1"/>
                </a:solidFill>
                <a:effectLst/>
                <a:latin typeface="Calibri"/>
                <a:ea typeface="Calibri"/>
                <a:cs typeface="Calibri"/>
                <a:sym typeface="Calibri"/>
              </a:rPr>
              <a:t>      &lt;/div&gt;</a:t>
            </a:r>
          </a:p>
          <a:p>
            <a:r>
              <a:rPr lang="vi-VN" sz="1200" b="0" i="0" u="none" strike="noStrike" cap="none">
                <a:solidFill>
                  <a:schemeClr val="dk1"/>
                </a:solidFill>
                <a:effectLst/>
                <a:latin typeface="Calibri"/>
                <a:ea typeface="Calibri"/>
                <a:cs typeface="Calibri"/>
                <a:sym typeface="Calibri"/>
              </a:rPr>
              <a:t>    &lt;/div&gt;</a:t>
            </a:r>
          </a:p>
          <a:p>
            <a:r>
              <a:rPr lang="vi-VN" sz="1200" b="0" i="0" u="none" strike="noStrike" cap="none">
                <a:solidFill>
                  <a:schemeClr val="dk1"/>
                </a:solidFill>
                <a:effectLst/>
                <a:latin typeface="Calibri"/>
                <a:ea typeface="Calibri"/>
                <a:cs typeface="Calibri"/>
                <a:sym typeface="Calibri"/>
              </a:rPr>
              <a:t>    &lt;!-- Lưu thông tin đăng nhập --&gt;</a:t>
            </a:r>
          </a:p>
          <a:p>
            <a:r>
              <a:rPr lang="vi-VN" sz="1200" b="0" i="0" u="none" strike="noStrike" cap="none">
                <a:solidFill>
                  <a:schemeClr val="dk1"/>
                </a:solidFill>
                <a:effectLst/>
                <a:latin typeface="Calibri"/>
                <a:ea typeface="Calibri"/>
                <a:cs typeface="Calibri"/>
                <a:sym typeface="Calibri"/>
              </a:rPr>
              <a:t>    &lt;div class="mb-3 form-check"&gt;</a:t>
            </a:r>
          </a:p>
          <a:p>
            <a:r>
              <a:rPr lang="vi-VN" sz="1200" b="0" i="0" u="none" strike="noStrike" cap="none">
                <a:solidFill>
                  <a:schemeClr val="dk1"/>
                </a:solidFill>
                <a:effectLst/>
                <a:latin typeface="Calibri"/>
                <a:ea typeface="Calibri"/>
                <a:cs typeface="Calibri"/>
                <a:sym typeface="Calibri"/>
              </a:rPr>
              <a:t>      &lt;input type="checkbox" class="form-check-input" name="rememberMe"</a:t>
            </a:r>
          </a:p>
          <a:p>
            <a:r>
              <a:rPr lang="vi-VN" sz="1200" b="0" i="0" u="none" strike="noStrike" cap="none">
                <a:solidFill>
                  <a:schemeClr val="dk1"/>
                </a:solidFill>
                <a:effectLst/>
                <a:latin typeface="Calibri"/>
                <a:ea typeface="Calibri"/>
                <a:cs typeface="Calibri"/>
                <a:sym typeface="Calibri"/>
              </a:rPr>
              <a:t>             id="remember" [(ngModel)]="user.rememberMe"&gt;</a:t>
            </a:r>
          </a:p>
          <a:p>
            <a:r>
              <a:rPr lang="vi-VN" sz="1200" b="0" i="0" u="none" strike="noStrike" cap="none">
                <a:solidFill>
                  <a:schemeClr val="dk1"/>
                </a:solidFill>
                <a:effectLst/>
                <a:latin typeface="Calibri"/>
                <a:ea typeface="Calibri"/>
                <a:cs typeface="Calibri"/>
                <a:sym typeface="Calibri"/>
              </a:rPr>
              <a:t>      &lt;label class="form-check-label" for="remember"&gt;Lưu thông tin đăng nhập&lt;/label&gt;</a:t>
            </a:r>
          </a:p>
          <a:p>
            <a:r>
              <a:rPr lang="vi-VN" sz="1200" b="0" i="0" u="none" strike="noStrike" cap="none">
                <a:solidFill>
                  <a:schemeClr val="dk1"/>
                </a:solidFill>
                <a:effectLst/>
                <a:latin typeface="Calibri"/>
                <a:ea typeface="Calibri"/>
                <a:cs typeface="Calibri"/>
                <a:sym typeface="Calibri"/>
              </a:rPr>
              <a:t>    &lt;/div&gt;</a:t>
            </a:r>
          </a:p>
          <a:p>
            <a:r>
              <a:rPr lang="vi-VN" sz="1200" b="0" i="0" u="none" strike="noStrike" cap="none">
                <a:solidFill>
                  <a:schemeClr val="dk1"/>
                </a:solidFill>
                <a:effectLst/>
                <a:latin typeface="Calibri"/>
                <a:ea typeface="Calibri"/>
                <a:cs typeface="Calibri"/>
                <a:sym typeface="Calibri"/>
              </a:rPr>
              <a:t>    &lt;!-- Nút Đăng nhập: Chỉ sáng khi form.valid = true --&gt;</a:t>
            </a:r>
          </a:p>
          <a:p>
            <a:r>
              <a:rPr lang="vi-VN" sz="1200" b="0" i="0" u="none" strike="noStrike" cap="none">
                <a:solidFill>
                  <a:schemeClr val="dk1"/>
                </a:solidFill>
                <a:effectLst/>
                <a:latin typeface="Calibri"/>
                <a:ea typeface="Calibri"/>
                <a:cs typeface="Calibri"/>
                <a:sym typeface="Calibri"/>
              </a:rPr>
              <a:t>    &lt;button type="submit" class="btn btn-success w-100" [disabled]="loginForm.invalid"&gt;</a:t>
            </a:r>
          </a:p>
          <a:p>
            <a:r>
              <a:rPr lang="vi-VN" sz="1200" b="0" i="0" u="none" strike="noStrike" cap="none">
                <a:solidFill>
                  <a:schemeClr val="dk1"/>
                </a:solidFill>
                <a:effectLst/>
                <a:latin typeface="Calibri"/>
                <a:ea typeface="Calibri"/>
                <a:cs typeface="Calibri"/>
                <a:sym typeface="Calibri"/>
              </a:rPr>
              <a:t>      Đăng nhập</a:t>
            </a:r>
          </a:p>
          <a:p>
            <a:r>
              <a:rPr lang="vi-VN" sz="1200" b="0" i="0" u="none" strike="noStrike" cap="none">
                <a:solidFill>
                  <a:schemeClr val="dk1"/>
                </a:solidFill>
                <a:effectLst/>
                <a:latin typeface="Calibri"/>
                <a:ea typeface="Calibri"/>
                <a:cs typeface="Calibri"/>
                <a:sym typeface="Calibri"/>
              </a:rPr>
              <a:t>    &lt;/button&gt;</a:t>
            </a:r>
          </a:p>
          <a:p>
            <a:r>
              <a:rPr lang="vi-VN" sz="1200" b="0" i="0" u="none" strike="noStrike" cap="none">
                <a:solidFill>
                  <a:schemeClr val="dk1"/>
                </a:solidFill>
                <a:effectLst/>
                <a:latin typeface="Calibri"/>
                <a:ea typeface="Calibri"/>
                <a:cs typeface="Calibri"/>
                <a:sym typeface="Calibri"/>
              </a:rPr>
              <a:t>  &lt;/form&gt;</a:t>
            </a:r>
          </a:p>
          <a:p>
            <a:r>
              <a:rPr lang="vi-VN" sz="1200" b="0" i="0" u="none" strike="noStrike" cap="none">
                <a:solidFill>
                  <a:schemeClr val="dk1"/>
                </a:solidFill>
                <a:effectLst/>
                <a:latin typeface="Calibri"/>
                <a:ea typeface="Calibri"/>
                <a:cs typeface="Calibri"/>
                <a:sym typeface="Calibri"/>
              </a:rPr>
              <a:t>&lt;/div&gt;</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57BDFA2-0115-C6E1-3F6D-F78046F4AB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14440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925E60E-53D3-3840-84EE-3B912FCE747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B4AEB94-4E41-CCAB-6A92-14BA794EA4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B024C47-F65F-6DA7-339C-9C4D25A3CB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95182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A0DDDB9-43EC-07A0-2445-FAF4E2AED2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70E892-FA08-C9FD-8CB3-9D317CB479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E2775FB-2325-4770-6ADB-CB46308B7D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29212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3453787-A1D2-E1AC-AD3F-6B97B4A00C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87F97C-F248-2A80-03C0-407E86EC0BB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0D374F-17E6-C4EF-6885-F1AA27D379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2638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4251215-0552-7ED6-4AE6-6FFCB10A331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95CC904-1F19-DAC6-1747-CD97586789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E76782-CC03-0671-051F-023E1C95B7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6725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70477A7-0DD9-A1E4-48F9-D1D5E320075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4358740-DC8A-A513-0B12-FEA1EB2B54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C139E77-8214-88E4-8CDA-F03DF9C602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6839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6C61A06-487E-4818-47E7-8862EA6C235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2E550B-3445-AF5D-5CBE-380E81C10A5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5350552-4BAB-ABD0-3938-6F1BD8AC5C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65295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834BC10-2D91-59B2-0EA7-8FFC8DA512B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57A93D-0A11-72E3-3010-860B977DF7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2FDAD0-350D-F2EA-9865-5F6F731125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84764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9D9D10C-3BD9-7045-E6BE-A71E304F7B9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1FE552C-5DAD-6C89-611D-5F3090DE2D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A89BEBB-A883-C968-C8C7-33F4F1ACF6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3446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E094EA-E23D-E412-7DF3-6FC456A645B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8382310-69A1-2C58-D5B4-FFC371DBE7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6B5128-4087-030E-3D09-C7B0C0735D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3841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04491AD-21FF-A107-7AC0-B31747E89E8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FCBA23A-3B55-5C10-7388-B354B92C53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452140-5314-D0D8-6E20-4BD4AD01E9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63840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2ECB375-E109-0995-0D3A-B88D50AB4E6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2EFF310-6CBC-35FC-98C9-D8B9B41D62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46827D0-74CA-5AB3-B1B9-CD8717493E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9155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CAAC32-5592-E10C-BF03-7F7D7EF2277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2537072-2F64-D02D-0120-F20D23D34C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&lt;div class="container mt-4" style="max-width: 500px; border: 1px solid #ddd;</a:t>
            </a:r>
          </a:p>
          <a:p>
            <a:r>
              <a:rPr lang="en-US" sz="1200" b="0" i="0" u="none" strike="noStrike" cap="none">
                <a:solidFill>
                  <a:schemeClr val="dk1"/>
                </a:solidFill>
                <a:effectLst/>
                <a:latin typeface="Calibri"/>
                <a:ea typeface="Calibri"/>
                <a:cs typeface="Calibri"/>
                <a:sym typeface="Calibri"/>
              </a:rPr>
              <a:t>padding: 20px; border-radius: 8px;"&gt;</a:t>
            </a:r>
          </a:p>
          <a:p>
            <a:r>
              <a:rPr lang="en-US" sz="1200" b="0" i="0" u="none" strike="noStrike" cap="none">
                <a:solidFill>
                  <a:schemeClr val="dk1"/>
                </a:solidFill>
                <a:effectLst/>
                <a:latin typeface="Calibri"/>
                <a:ea typeface="Calibri"/>
                <a:cs typeface="Calibri"/>
                <a:sym typeface="Calibri"/>
              </a:rPr>
              <a:t>  &lt;!-- Sử dụng Pipe uppercase cho tiêu đề--&gt;</a:t>
            </a:r>
          </a:p>
          <a:p>
            <a:r>
              <a:rPr lang="en-US" sz="1200" b="0" i="0" u="none" strike="noStrike" cap="none">
                <a:solidFill>
                  <a:schemeClr val="dk1"/>
                </a:solidFill>
                <a:effectLst/>
                <a:latin typeface="Calibri"/>
                <a:ea typeface="Calibri"/>
                <a:cs typeface="Calibri"/>
                <a:sym typeface="Calibri"/>
              </a:rPr>
              <a:t>  &lt;form [formGroup]="regForm"&gt;</a:t>
            </a:r>
          </a:p>
          <a:p>
            <a:r>
              <a:rPr lang="en-US" sz="1200" b="0" i="0" u="none" strike="noStrike" cap="none">
                <a:solidFill>
                  <a:schemeClr val="dk1"/>
                </a:solidFill>
                <a:effectLst/>
                <a:latin typeface="Calibri"/>
                <a:ea typeface="Calibri"/>
                <a:cs typeface="Calibri"/>
                <a:sym typeface="Calibri"/>
              </a:rPr>
              <a:t>    &lt;h3 class="text-center mb-4"&gt;{{ "Đăng ký khóa học" | uppercase }}&lt;/h3&gt;</a:t>
            </a:r>
          </a:p>
          <a:p>
            <a:r>
              <a:rPr lang="en-US" sz="1200" b="0" i="0" u="none" strike="noStrike" cap="none">
                <a:solidFill>
                  <a:schemeClr val="dk1"/>
                </a:solidFill>
                <a:effectLst/>
                <a:latin typeface="Calibri"/>
                <a:ea typeface="Calibri"/>
                <a:cs typeface="Calibri"/>
                <a:sym typeface="Calibri"/>
              </a:rPr>
              <a:t>    &lt;!-- Tên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 for="name"&gt;Tên:&lt;/label&gt;</a:t>
            </a:r>
          </a:p>
          <a:p>
            <a:r>
              <a:rPr lang="en-US" sz="1200" b="0" i="0" u="none" strike="noStrike" cap="none">
                <a:solidFill>
                  <a:schemeClr val="dk1"/>
                </a:solidFill>
                <a:effectLst/>
                <a:latin typeface="Calibri"/>
                <a:ea typeface="Calibri"/>
                <a:cs typeface="Calibri"/>
                <a:sym typeface="Calibri"/>
              </a:rPr>
              <a:t>      &lt;input type="text" id="name" class="form-control"</a:t>
            </a:r>
          </a:p>
          <a:p>
            <a:r>
              <a:rPr lang="en-US" sz="1200" b="0" i="0" u="none" strike="noStrike" cap="none">
                <a:solidFill>
                  <a:schemeClr val="dk1"/>
                </a:solidFill>
                <a:effectLst/>
                <a:latin typeface="Calibri"/>
                <a:ea typeface="Calibri"/>
                <a:cs typeface="Calibri"/>
                <a:sym typeface="Calibri"/>
              </a:rPr>
              <a:t>             formControlName="name" placeholder="Nhập tên"&gt;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Email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fw-bold"&gt;Email:&lt;/label&gt;</a:t>
            </a:r>
          </a:p>
          <a:p>
            <a:r>
              <a:rPr lang="en-US" sz="1200" b="0" i="0" u="none" strike="noStrike" cap="none">
                <a:solidFill>
                  <a:schemeClr val="dk1"/>
                </a:solidFill>
                <a:effectLst/>
                <a:latin typeface="Calibri"/>
                <a:ea typeface="Calibri"/>
                <a:cs typeface="Calibri"/>
                <a:sym typeface="Calibri"/>
              </a:rPr>
              <a:t>      &lt;input type="email" class="form-control"</a:t>
            </a:r>
          </a:p>
          <a:p>
            <a:r>
              <a:rPr lang="en-US" sz="1200" b="0" i="0" u="none" strike="noStrike" cap="none">
                <a:solidFill>
                  <a:schemeClr val="dk1"/>
                </a:solidFill>
                <a:effectLst/>
                <a:latin typeface="Calibri"/>
                <a:ea typeface="Calibri"/>
                <a:cs typeface="Calibri"/>
                <a:sym typeface="Calibri"/>
              </a:rPr>
              <a:t>             formControlName="email" placeholder="test@gmail.com"&gt;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Mật khẩu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fw-bold"&gt;Mật khẩu:&lt;/label&gt;</a:t>
            </a:r>
          </a:p>
          <a:p>
            <a:r>
              <a:rPr lang="en-US" sz="1200" b="0" i="0" u="none" strike="noStrike" cap="none">
                <a:solidFill>
                  <a:schemeClr val="dk1"/>
                </a:solidFill>
                <a:effectLst/>
                <a:latin typeface="Calibri"/>
                <a:ea typeface="Calibri"/>
                <a:cs typeface="Calibri"/>
                <a:sym typeface="Calibri"/>
              </a:rPr>
              <a:t>      &lt;input type="password" class="form-control" formControlName="password"&gt;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Nhập lại mật khẩu (confirmPass)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fw-bold"&gt;Nhập lại mật khẩu:&lt;/label&gt;</a:t>
            </a:r>
          </a:p>
          <a:p>
            <a:r>
              <a:rPr lang="en-US" sz="1200" b="0" i="0" u="none" strike="noStrike" cap="none">
                <a:solidFill>
                  <a:schemeClr val="dk1"/>
                </a:solidFill>
                <a:effectLst/>
                <a:latin typeface="Calibri"/>
                <a:ea typeface="Calibri"/>
                <a:cs typeface="Calibri"/>
                <a:sym typeface="Calibri"/>
              </a:rPr>
              <a:t>      &lt;input type="password" class="form-control" formControlName="confirmPass"&gt;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Nút bấm --&gt;</a:t>
            </a:r>
          </a:p>
          <a:p>
            <a:r>
              <a:rPr lang="en-US" sz="1200" b="0" i="0" u="none" strike="noStrike" cap="none">
                <a:solidFill>
                  <a:schemeClr val="dk1"/>
                </a:solidFill>
                <a:effectLst/>
                <a:latin typeface="Calibri"/>
                <a:ea typeface="Calibri"/>
                <a:cs typeface="Calibri"/>
                <a:sym typeface="Calibri"/>
              </a:rPr>
              <a:t>    &lt;div class="d-flex justify-content-end gap-2 mt-4"&gt;</a:t>
            </a:r>
          </a:p>
          <a:p>
            <a:r>
              <a:rPr lang="en-US" sz="1200" b="0" i="0" u="none" strike="noStrike" cap="none">
                <a:solidFill>
                  <a:schemeClr val="dk1"/>
                </a:solidFill>
                <a:effectLst/>
                <a:latin typeface="Calibri"/>
                <a:ea typeface="Calibri"/>
                <a:cs typeface="Calibri"/>
                <a:sym typeface="Calibri"/>
              </a:rPr>
              <a:t>      &lt;button type="submit" class="btn btn-primary px-4"&gt;Đăng ký&lt;/button&gt;</a:t>
            </a:r>
          </a:p>
          <a:p>
            <a:r>
              <a:rPr lang="en-US" sz="1200" b="0" i="0" u="none" strike="noStrike" cap="none">
                <a:solidFill>
                  <a:schemeClr val="dk1"/>
                </a:solidFill>
                <a:effectLst/>
                <a:latin typeface="Calibri"/>
                <a:ea typeface="Calibri"/>
                <a:cs typeface="Calibri"/>
                <a:sym typeface="Calibri"/>
              </a:rPr>
              <a:t>      &lt;button type="button" class="btn btn-secondary px-3"&gt;Default values&lt;/button&gt;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&lt;/form&gt;</a:t>
            </a:r>
          </a:p>
          <a:p>
            <a:r>
              <a:rPr lang="en-US" sz="1200" b="0" i="0" u="none" strike="noStrike" cap="none">
                <a:solidFill>
                  <a:schemeClr val="dk1"/>
                </a:solidFill>
                <a:effectLst/>
                <a:latin typeface="Calibri"/>
                <a:ea typeface="Calibri"/>
                <a:cs typeface="Calibri"/>
                <a:sym typeface="Calibri"/>
              </a:rPr>
              <a:t>&lt;/div&gt;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7B22F93-9375-9697-16FC-1F68C1A147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6116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1955BF-5974-C8D9-0819-5DAFA289401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4324A29-661D-EFE8-8A9D-DEAC4C9AA7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E2F495A-BBD1-5BF0-819B-F21887572F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91562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FB4553C-F823-B46D-0CF8-8BA04E6A837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1220EFA-C472-1C88-330B-83276273F8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648EF07-7242-37D4-E37A-8344F2EB67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0172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048E8F-089A-63AD-9D14-53E67CD1C2B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ECBB447-A0CE-629A-DEC2-64D7034484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FF01D29-AA1D-C01F-BB8B-C5B4AFFDE8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24341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3E4C4C4-2A61-FC3E-CF58-119A38188AC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93BFE3C-1B75-B1CC-68EC-93C4EB36EC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5EA2E00-FC56-372B-BC83-76CCC717B7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92610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9DF8400-D20B-C891-A633-591542C1952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25CFE81-B4EA-80C4-6E7D-EEF076C665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24E8C25-4263-0856-72C9-DA9709A8FF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047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3621A76-DE50-A8F9-EAA5-D2C76ED1860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44B25AC-EE3E-559E-68E6-1638B940CF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14CCB9-5A87-31B9-7EFF-9F3390814B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5746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FF7BCBE-1534-591A-E676-61624291D69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32D0B0D-4E07-00B4-9766-857EBDAA34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D701222-D317-C480-7F6B-A404EB98E1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0899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761DEA7-FFB7-F090-151F-836F3E249A8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98890CA-611A-1B35-1744-290200C367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36AB5EB-83A6-2A7A-B5F9-1E5A77CC0E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72446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11DAC0-8F03-C35E-1A57-D80B58EFA61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59C453D-63AF-2D6D-81C0-BB6EE6ED37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&lt;div class="container mt-4" style="max-width: 500px; border: 1px solid #ddd;</a:t>
            </a:r>
          </a:p>
          <a:p>
            <a:r>
              <a:rPr lang="en-US" sz="1200" b="0" i="0" u="none" strike="noStrike" cap="none">
                <a:solidFill>
                  <a:schemeClr val="dk1"/>
                </a:solidFill>
                <a:effectLst/>
                <a:latin typeface="Calibri"/>
                <a:ea typeface="Calibri"/>
                <a:cs typeface="Calibri"/>
                <a:sym typeface="Calibri"/>
              </a:rPr>
              <a:t> padding: 20px; border-radius: 8px;"&gt;</a:t>
            </a:r>
          </a:p>
          <a:p>
            <a:r>
              <a:rPr lang="en-US" sz="1200" b="0" i="0" u="none" strike="noStrike" cap="none">
                <a:solidFill>
                  <a:schemeClr val="dk1"/>
                </a:solidFill>
                <a:effectLst/>
                <a:latin typeface="Calibri"/>
                <a:ea typeface="Calibri"/>
                <a:cs typeface="Calibri"/>
                <a:sym typeface="Calibri"/>
              </a:rPr>
              <a:t>  &lt;!-- Sử dụng Pipe uppercase cho tiêu đề--&gt;</a:t>
            </a:r>
          </a:p>
          <a:p>
            <a:r>
              <a:rPr lang="en-US" sz="1200" b="0" i="0" u="none" strike="noStrike" cap="none">
                <a:solidFill>
                  <a:schemeClr val="dk1"/>
                </a:solidFill>
                <a:effectLst/>
                <a:latin typeface="Calibri"/>
                <a:ea typeface="Calibri"/>
                <a:cs typeface="Calibri"/>
                <a:sym typeface="Calibri"/>
              </a:rPr>
              <a:t>  &lt;form [formGroup]="regForm"&gt;</a:t>
            </a:r>
          </a:p>
          <a:p>
            <a:r>
              <a:rPr lang="en-US" sz="1200" b="0" i="0" u="none" strike="noStrike" cap="none">
                <a:solidFill>
                  <a:schemeClr val="dk1"/>
                </a:solidFill>
                <a:effectLst/>
                <a:latin typeface="Calibri"/>
                <a:ea typeface="Calibri"/>
                <a:cs typeface="Calibri"/>
                <a:sym typeface="Calibri"/>
              </a:rPr>
              <a:t>    &lt;h3 class="text-center mb-4"&gt;{{ "Đăng ký khóa học" | uppercase }}&lt;/h3&gt;</a:t>
            </a:r>
          </a:p>
          <a:p>
            <a:r>
              <a:rPr lang="en-US" sz="1200" b="0" i="0" u="none" strike="noStrike" cap="none">
                <a:solidFill>
                  <a:schemeClr val="dk1"/>
                </a:solidFill>
                <a:effectLst/>
                <a:latin typeface="Calibri"/>
                <a:ea typeface="Calibri"/>
                <a:cs typeface="Calibri"/>
                <a:sym typeface="Calibri"/>
              </a:rPr>
              <a:t>    &lt;!-- Tên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 for="name"&gt;Tên:&lt;/label&gt;</a:t>
            </a:r>
          </a:p>
          <a:p>
            <a:r>
              <a:rPr lang="en-US" sz="1200" b="0" i="0" u="none" strike="noStrike" cap="none">
                <a:solidFill>
                  <a:schemeClr val="dk1"/>
                </a:solidFill>
                <a:effectLst/>
                <a:latin typeface="Calibri"/>
                <a:ea typeface="Calibri"/>
                <a:cs typeface="Calibri"/>
                <a:sym typeface="Calibri"/>
              </a:rPr>
              <a:t>      &lt;input type="text" id="name" class="form-control"</a:t>
            </a:r>
          </a:p>
          <a:p>
            <a:r>
              <a:rPr lang="en-US" sz="1200" b="0" i="0" u="none" strike="noStrike" cap="none">
                <a:solidFill>
                  <a:schemeClr val="dk1"/>
                </a:solidFill>
                <a:effectLst/>
                <a:latin typeface="Calibri"/>
                <a:ea typeface="Calibri"/>
                <a:cs typeface="Calibri"/>
                <a:sym typeface="Calibri"/>
              </a:rPr>
              <a:t>             formControlName="name" placeholder="Nhập tên"&gt;</a:t>
            </a:r>
          </a:p>
          <a:p>
            <a:r>
              <a:rPr lang="en-US" sz="1200" b="0" i="0" u="none" strike="noStrike" cap="none">
                <a:solidFill>
                  <a:schemeClr val="dk1"/>
                </a:solidFill>
                <a:effectLst/>
                <a:latin typeface="Calibri"/>
                <a:ea typeface="Calibri"/>
                <a:cs typeface="Calibri"/>
                <a:sym typeface="Calibri"/>
              </a:rPr>
              <a:t>      &lt;div class="text-danger" *ngIf="regForm.get('name')?.invalid &amp;&amp; regForm.get('name')?.touched"&gt;</a:t>
            </a:r>
          </a:p>
          <a:p>
            <a:r>
              <a:rPr lang="en-US" sz="1200" b="0" i="0" u="none" strike="noStrike" cap="none">
                <a:solidFill>
                  <a:schemeClr val="dk1"/>
                </a:solidFill>
                <a:effectLst/>
                <a:latin typeface="Calibri"/>
                <a:ea typeface="Calibri"/>
                <a:cs typeface="Calibri"/>
                <a:sym typeface="Calibri"/>
              </a:rPr>
              <a:t>        &lt;small&gt;Vui lòng nhập tên.&lt;/small&gt;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Email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fw-bold"&gt;Email:&lt;/label&gt;</a:t>
            </a:r>
          </a:p>
          <a:p>
            <a:r>
              <a:rPr lang="en-US" sz="1200" b="0" i="0" u="none" strike="noStrike" cap="none">
                <a:solidFill>
                  <a:schemeClr val="dk1"/>
                </a:solidFill>
                <a:effectLst/>
                <a:latin typeface="Calibri"/>
                <a:ea typeface="Calibri"/>
                <a:cs typeface="Calibri"/>
                <a:sym typeface="Calibri"/>
              </a:rPr>
              <a:t>      &lt;input type="email" class="form-control"</a:t>
            </a:r>
          </a:p>
          <a:p>
            <a:r>
              <a:rPr lang="en-US" sz="1200" b="0" i="0" u="none" strike="noStrike" cap="none">
                <a:solidFill>
                  <a:schemeClr val="dk1"/>
                </a:solidFill>
                <a:effectLst/>
                <a:latin typeface="Calibri"/>
                <a:ea typeface="Calibri"/>
                <a:cs typeface="Calibri"/>
                <a:sym typeface="Calibri"/>
              </a:rPr>
              <a:t>             formControlName="email" placeholder="test@gmail.com"&gt;</a:t>
            </a:r>
          </a:p>
          <a:p>
            <a:r>
              <a:rPr lang="en-US" sz="1200" b="0" i="0" u="none" strike="noStrike" cap="none">
                <a:solidFill>
                  <a:schemeClr val="dk1"/>
                </a:solidFill>
                <a:effectLst/>
                <a:latin typeface="Calibri"/>
                <a:ea typeface="Calibri"/>
                <a:cs typeface="Calibri"/>
                <a:sym typeface="Calibri"/>
              </a:rPr>
              <a:t>      &lt;div class="text-danger" *ngIf="regForm.get('email')?.invalid &amp;&amp; regForm.get('email')?.touched"&gt;</a:t>
            </a:r>
          </a:p>
          <a:p>
            <a:r>
              <a:rPr lang="en-US" sz="1200" b="0" i="0" u="none" strike="noStrike" cap="none">
                <a:solidFill>
                  <a:schemeClr val="dk1"/>
                </a:solidFill>
                <a:effectLst/>
                <a:latin typeface="Calibri"/>
                <a:ea typeface="Calibri"/>
                <a:cs typeface="Calibri"/>
                <a:sym typeface="Calibri"/>
              </a:rPr>
              <a:t>        &lt;small&gt;Email không đúng định dạng.&lt;/small&gt;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Mật khẩu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fw-bold"&gt;Mật khẩu:&lt;/label&gt;</a:t>
            </a:r>
          </a:p>
          <a:p>
            <a:r>
              <a:rPr lang="en-US" sz="1200" b="0" i="0" u="none" strike="noStrike" cap="none">
                <a:solidFill>
                  <a:schemeClr val="dk1"/>
                </a:solidFill>
                <a:effectLst/>
                <a:latin typeface="Calibri"/>
                <a:ea typeface="Calibri"/>
                <a:cs typeface="Calibri"/>
                <a:sym typeface="Calibri"/>
              </a:rPr>
              <a:t>      &lt;input type="password" class="form-control" formControlName="password"&gt;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Nhập lại mật khẩu (confirmPass) --&gt;</a:t>
            </a:r>
          </a:p>
          <a:p>
            <a:r>
              <a:rPr lang="en-US" sz="1200" b="0" i="0" u="none" strike="noStrike" cap="none">
                <a:solidFill>
                  <a:schemeClr val="dk1"/>
                </a:solidFill>
                <a:effectLst/>
                <a:latin typeface="Calibri"/>
                <a:ea typeface="Calibri"/>
                <a:cs typeface="Calibri"/>
                <a:sym typeface="Calibri"/>
              </a:rPr>
              <a:t>    &lt;div class="mb-3"&gt;</a:t>
            </a:r>
          </a:p>
          <a:p>
            <a:r>
              <a:rPr lang="en-US" sz="1200" b="0" i="0" u="none" strike="noStrike" cap="none">
                <a:solidFill>
                  <a:schemeClr val="dk1"/>
                </a:solidFill>
                <a:effectLst/>
                <a:latin typeface="Calibri"/>
                <a:ea typeface="Calibri"/>
                <a:cs typeface="Calibri"/>
                <a:sym typeface="Calibri"/>
              </a:rPr>
              <a:t>      &lt;label class="form-label fw-bold"&gt;Nhập lại mật khẩu:&lt;/label&gt;</a:t>
            </a:r>
          </a:p>
          <a:p>
            <a:r>
              <a:rPr lang="en-US" sz="1200" b="0" i="0" u="none" strike="noStrike" cap="none">
                <a:solidFill>
                  <a:schemeClr val="dk1"/>
                </a:solidFill>
                <a:effectLst/>
                <a:latin typeface="Calibri"/>
                <a:ea typeface="Calibri"/>
                <a:cs typeface="Calibri"/>
                <a:sym typeface="Calibri"/>
              </a:rPr>
              <a:t>      &lt;input type="password" class="form-control" formControlName="confirmPass"&gt;</a:t>
            </a:r>
          </a:p>
          <a:p>
            <a:r>
              <a:rPr lang="en-US" sz="1200" b="0" i="0" u="none" strike="noStrike" cap="none">
                <a:solidFill>
                  <a:schemeClr val="dk1"/>
                </a:solidFill>
                <a:effectLst/>
                <a:latin typeface="Calibri"/>
                <a:ea typeface="Calibri"/>
                <a:cs typeface="Calibri"/>
                <a:sym typeface="Calibri"/>
              </a:rPr>
              <a:t>      &lt;!-- Hiển thị lỗi mismatch từ regForm --&gt;</a:t>
            </a:r>
          </a:p>
          <a:p>
            <a:r>
              <a:rPr lang="en-US" sz="1200" b="0" i="0" u="none" strike="noStrike" cap="none">
                <a:solidFill>
                  <a:schemeClr val="dk1"/>
                </a:solidFill>
                <a:effectLst/>
                <a:latin typeface="Calibri"/>
                <a:ea typeface="Calibri"/>
                <a:cs typeface="Calibri"/>
                <a:sym typeface="Calibri"/>
              </a:rPr>
              <a:t>      &lt;div class="text-danger" *ngIf="regForm.errors?.['mismatch'] &amp;&amp; regForm.get('confirmPass')?.touched"&gt;</a:t>
            </a:r>
          </a:p>
          <a:p>
            <a:r>
              <a:rPr lang="en-US" sz="1200" b="0" i="0" u="none" strike="noStrike" cap="none">
                <a:solidFill>
                  <a:schemeClr val="dk1"/>
                </a:solidFill>
                <a:effectLst/>
                <a:latin typeface="Calibri"/>
                <a:ea typeface="Calibri"/>
                <a:cs typeface="Calibri"/>
                <a:sym typeface="Calibri"/>
              </a:rPr>
              <a:t>        &lt;small&gt;Mật khẩu xác nhận không khớp.&lt;/small&gt;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 Nút bấm --&gt;</a:t>
            </a:r>
          </a:p>
          <a:p>
            <a:r>
              <a:rPr lang="en-US" sz="1200" b="0" i="0" u="none" strike="noStrike" cap="none">
                <a:solidFill>
                  <a:schemeClr val="dk1"/>
                </a:solidFill>
                <a:effectLst/>
                <a:latin typeface="Calibri"/>
                <a:ea typeface="Calibri"/>
                <a:cs typeface="Calibri"/>
                <a:sym typeface="Calibri"/>
              </a:rPr>
              <a:t>    &lt;div class="d-flex justify-content-end gap-2 mt-4"&gt;</a:t>
            </a:r>
          </a:p>
          <a:p>
            <a:r>
              <a:rPr lang="en-US" sz="1200" b="0" i="0" u="none" strike="noStrike" cap="none">
                <a:solidFill>
                  <a:schemeClr val="dk1"/>
                </a:solidFill>
                <a:effectLst/>
                <a:latin typeface="Calibri"/>
                <a:ea typeface="Calibri"/>
                <a:cs typeface="Calibri"/>
                <a:sym typeface="Calibri"/>
              </a:rPr>
              <a:t>      &lt;button type="submit" class="btn btn-primary px-4"</a:t>
            </a:r>
          </a:p>
          <a:p>
            <a:r>
              <a:rPr lang="en-US" sz="1200" b="0" i="0" u="none" strike="noStrike" cap="none">
                <a:solidFill>
                  <a:schemeClr val="dk1"/>
                </a:solidFill>
                <a:effectLst/>
                <a:latin typeface="Calibri"/>
                <a:ea typeface="Calibri"/>
                <a:cs typeface="Calibri"/>
                <a:sym typeface="Calibri"/>
              </a:rPr>
              <a:t>        [disabled]="regForm.invalid"&gt;Đăng ký&lt;/button&gt;</a:t>
            </a:r>
          </a:p>
          <a:p>
            <a:r>
              <a:rPr lang="en-US" sz="1200" b="0" i="0" u="none" strike="noStrike" cap="none">
                <a:solidFill>
                  <a:schemeClr val="dk1"/>
                </a:solidFill>
                <a:effectLst/>
                <a:latin typeface="Calibri"/>
                <a:ea typeface="Calibri"/>
                <a:cs typeface="Calibri"/>
                <a:sym typeface="Calibri"/>
              </a:rPr>
              <a:t>      &lt;button type="button" class="btn btn-secondary px-3"</a:t>
            </a:r>
          </a:p>
          <a:p>
            <a:r>
              <a:rPr lang="en-US" sz="1200" b="0" i="0" u="none" strike="noStrike" cap="none">
                <a:solidFill>
                  <a:schemeClr val="dk1"/>
                </a:solidFill>
                <a:effectLst/>
                <a:latin typeface="Calibri"/>
                <a:ea typeface="Calibri"/>
                <a:cs typeface="Calibri"/>
                <a:sym typeface="Calibri"/>
              </a:rPr>
              <a:t>        (click)="setDefaultValues()"&gt;Default values&lt;/button&gt;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&lt;/form&gt;</a:t>
            </a:r>
          </a:p>
          <a:p>
            <a:r>
              <a:rPr lang="en-US" sz="1200" b="0" i="0" u="none" strike="noStrike" cap="none">
                <a:solidFill>
                  <a:schemeClr val="dk1"/>
                </a:solidFill>
                <a:effectLst/>
                <a:latin typeface="Calibri"/>
                <a:ea typeface="Calibri"/>
                <a:cs typeface="Calibri"/>
                <a:sym typeface="Calibri"/>
              </a:rPr>
              <a:t>&lt;/div&gt;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C07CE06-136E-35E7-82A8-8B93904E00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63507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4168EF-BAF6-B847-0024-54DA3923FAC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F663BDC-649D-A950-D5C8-82FED7DE6E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C7CDAF1-2E97-A7F8-A62A-5662B504BA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89627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08B7DFE-8737-7A67-8580-9CD063612AB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C0FBB9-10D6-039F-C02A-12FF3A51EC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0D6CFBB-A459-6DAC-3C58-20DF17AC0A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88570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C928B8B-7B66-BECC-54A8-4AF4A4136B8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00E20E7-FC01-7D0F-DB3F-C9A0568B21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E3E610-6BEB-FCD4-D494-80BB1E338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24264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1365D1E-4F3B-FFB5-95D7-76F6B9B488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2489820-E477-0F65-86F1-88BA66D6BC9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7E8FF2A-6AE6-6E21-E3C9-75AE73F6B8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2422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12DAC03-689B-7496-17EA-ECC1E03635F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25EE081-5C7A-08CC-967C-3507F3B7F3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B069B92-588E-5088-9EC2-CC3CA093EA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38525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F3D42A8-28B5-C47D-C926-231180AB69B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D3F83C-0310-FFE3-C87B-2909CA089F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A1A5B43-1853-5640-3BD3-16E02DF94B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33794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55B6952-3329-2256-8825-306FE2376D0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ED79A96-7AEE-4770-40AF-DF6A5BF8C9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8C13E5C-3C96-DFC4-3833-4CB4ABB9C5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789563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70B2EE2-2C43-A2E1-C456-CC75C980A37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49282B-FF97-12C1-C973-47FCE84328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88A82BF-081F-41F8-5D00-1D242ADC5C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93556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E1C5C2B-1770-8BDE-D65F-0B229F17AA7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2657B9F-6C04-945A-4EE5-52C6F3682B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0353472-0120-898C-03DF-F81E1A3129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50142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8C6E13-2E34-3ED7-C322-11BAD7BAA0C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042944A-153E-C8CE-A6F3-69525B5D9C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28D6391-F32B-C3DA-E096-ACBC04A349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56452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11A88CF-12D3-3836-8675-E581E6510D0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CC2029-3B0D-8DC8-CAA1-F373D7B585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7458E60-C158-E63B-FC7E-530AA5D303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36850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88B35AD-DE64-DAA4-5E1F-16D4B659F89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113A8AA-3793-C794-FBE7-46AD593582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10BEA2-B95D-6B41-1AA3-666396BA8C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47693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F6D78F-1C45-E1A5-48A2-75B7F399429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081882C-768D-0194-3DB5-C3257BC62B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795314F-CCAA-22FE-DADB-6485F0EEB1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133345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D6609D-31AB-ECF5-077E-604CB4A1915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AB70FB0-6706-B7C8-6F67-0E09CE1C73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4A426C2-3C71-C862-0E24-3826AB9A37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3335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V:</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FORM trong Angular</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V</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Chương này trang bị cho sinh viên kiến thức chuyên sâu về xử lý </a:t>
            </a:r>
            <a:r>
              <a:rPr lang="en-US" sz="2400">
                <a:latin typeface="Cambria" panose="02040503050406030204" pitchFamily="18" charset="0"/>
              </a:rPr>
              <a:t>FORM </a:t>
            </a:r>
            <a:r>
              <a:rPr lang="vi-VN" sz="2400">
                <a:latin typeface="Cambria" panose="02040503050406030204" pitchFamily="18" charset="0"/>
              </a:rPr>
              <a:t>trong Angular thông qua hai </a:t>
            </a:r>
            <a:r>
              <a:rPr lang="en-US" sz="2400">
                <a:latin typeface="Cambria" panose="02040503050406030204" pitchFamily="18" charset="0"/>
              </a:rPr>
              <a:t>cách</a:t>
            </a:r>
            <a:r>
              <a:rPr lang="vi-VN" sz="2400">
                <a:latin typeface="Cambria" panose="02040503050406030204" pitchFamily="18" charset="0"/>
              </a:rPr>
              <a:t>: </a:t>
            </a:r>
            <a:r>
              <a:rPr lang="vi-VN" sz="2400" b="1">
                <a:latin typeface="Cambria" panose="02040503050406030204" pitchFamily="18" charset="0"/>
              </a:rPr>
              <a:t>Template-driven</a:t>
            </a:r>
            <a:r>
              <a:rPr lang="vi-VN" sz="2400">
                <a:latin typeface="Cambria" panose="02040503050406030204" pitchFamily="18" charset="0"/>
              </a:rPr>
              <a:t> và </a:t>
            </a:r>
            <a:r>
              <a:rPr lang="vi-VN" sz="2400" b="1">
                <a:latin typeface="Cambria" panose="02040503050406030204" pitchFamily="18" charset="0"/>
              </a:rPr>
              <a:t>Reactive Forms</a:t>
            </a:r>
            <a:r>
              <a:rPr lang="vi-VN" sz="2400">
                <a:latin typeface="Cambria" panose="02040503050406030204" pitchFamily="18" charset="0"/>
              </a:rPr>
              <a:t>. </a:t>
            </a:r>
            <a:r>
              <a:rPr lang="en-US" sz="2400">
                <a:latin typeface="Cambria" panose="02040503050406030204" pitchFamily="18" charset="0"/>
              </a:rPr>
              <a:t>Sinh viên </a:t>
            </a:r>
            <a:r>
              <a:rPr lang="vi-VN" sz="2400">
                <a:latin typeface="Cambria" panose="02040503050406030204" pitchFamily="18" charset="0"/>
              </a:rPr>
              <a:t>nắm vững cơ chế Data Binding, kỹ thuật quản lý trạng thái và Validation từ cơ bản đến nâng cao như </a:t>
            </a:r>
            <a:r>
              <a:rPr lang="vi-VN" sz="2400" b="1">
                <a:latin typeface="Cambria" panose="02040503050406030204" pitchFamily="18" charset="0"/>
              </a:rPr>
              <a:t>Custom Validation </a:t>
            </a:r>
            <a:r>
              <a:rPr lang="vi-VN" sz="2400">
                <a:latin typeface="Cambria" panose="02040503050406030204" pitchFamily="18" charset="0"/>
              </a:rPr>
              <a:t>hay </a:t>
            </a:r>
            <a:r>
              <a:rPr lang="vi-VN" sz="2400" b="1">
                <a:latin typeface="Cambria" panose="02040503050406030204" pitchFamily="18" charset="0"/>
              </a:rPr>
              <a:t>Cross-field Validation </a:t>
            </a:r>
            <a:r>
              <a:rPr lang="vi-VN" sz="2400">
                <a:latin typeface="Cambria" panose="02040503050406030204" pitchFamily="18" charset="0"/>
              </a:rPr>
              <a:t>để kiểm soát dữ liệu đầu vào chặt chẽ. Nội dung trọng tâm còn bao gồm việc khởi tạo </a:t>
            </a:r>
            <a:r>
              <a:rPr lang="vi-VN" sz="2400" b="1">
                <a:latin typeface="Cambria" panose="02040503050406030204" pitchFamily="18" charset="0"/>
              </a:rPr>
              <a:t>Form Model</a:t>
            </a:r>
            <a:r>
              <a:rPr lang="vi-VN" sz="2400">
                <a:latin typeface="Cambria" panose="02040503050406030204" pitchFamily="18" charset="0"/>
              </a:rPr>
              <a:t>, kỹ thuật </a:t>
            </a:r>
            <a:r>
              <a:rPr lang="vi-VN" sz="2400" b="1">
                <a:latin typeface="Cambria" panose="02040503050406030204" pitchFamily="18" charset="0"/>
              </a:rPr>
              <a:t>Load Data </a:t>
            </a:r>
            <a:r>
              <a:rPr lang="vi-VN" sz="2400">
                <a:latin typeface="Cambria" panose="02040503050406030204" pitchFamily="18" charset="0"/>
              </a:rPr>
              <a:t>linh hoạt và </a:t>
            </a:r>
            <a:r>
              <a:rPr lang="vi-VN" sz="2400" b="1">
                <a:latin typeface="Cambria" panose="02040503050406030204" pitchFamily="18" charset="0"/>
              </a:rPr>
              <a:t>quy trình đồng bộ hóa dữ liệu </a:t>
            </a:r>
            <a:r>
              <a:rPr lang="vi-VN" sz="2400">
                <a:latin typeface="Cambria" panose="02040503050406030204" pitchFamily="18" charset="0"/>
              </a:rPr>
              <a:t>để thực hiện các yêu cầu HTTP Post lên server. Qua đó, sinh viên đủ khả năng xây dựng các hệ thống nhập liệu phức tạp, đảm bảo tính toàn vẹn dữ liệu và tối ưu trải nghiệm người dùng.</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62279" y="813512"/>
            <a:ext cx="11564547" cy="4893647"/>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Khái niệm Form trong Angular</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Template Driven Forms</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5.2.1. Tạo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Binding dữ liệu trên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 dữ liệu trên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Form Validation</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5.3. Reactive Forms</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5.3.1.</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Tạo Form Model</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Load Data</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Custom 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5.3.5.</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Cross Field 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5.3.6.</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Post form data to a server</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6FDF0E2-840D-26C9-70A9-4754A5D7BA2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793C9CF-810C-E93D-A7EC-603521D9DA9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31289A9-6FC1-AEFD-32F2-2F09EDDA9D1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A7A96414-5AE4-B232-D6B8-12512B8492D0}"/>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6B988DC4-CA34-961D-5616-D0D03FAE2474}"/>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Khái niệm Form trong Angular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8088A9B-F023-C787-3A6B-DAD3EF3B8EF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A303038-27A3-07F0-6984-876F895F8D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D8E9949-43D7-D63C-0AAF-8608C3D3A42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0E09806-09B3-A1B5-CBA5-DA64B9D2719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D6A6AED-C77D-8237-BEC9-2EDF72D3ED81}"/>
              </a:ext>
            </a:extLst>
          </p:cNvPr>
          <p:cNvSpPr txBox="1"/>
          <p:nvPr/>
        </p:nvSpPr>
        <p:spPr>
          <a:xfrm>
            <a:off x="462280" y="813512"/>
            <a:ext cx="8750472" cy="3416320"/>
          </a:xfrm>
          <a:prstGeom prst="rect">
            <a:avLst/>
          </a:prstGeom>
          <a:noFill/>
        </p:spPr>
        <p:txBody>
          <a:bodyPr wrap="square">
            <a:spAutoFit/>
          </a:bodyPr>
          <a:lstStyle/>
          <a:p>
            <a:pPr marL="342900" indent="-3429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Form là thành phần cốt lõi để thu thập dữ liệu từ người dùng. Angular cung cấp hai hướng tiếp cận chính:</a:t>
            </a:r>
          </a:p>
          <a:p>
            <a:pPr marL="342900" indent="-342900" algn="just">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Template-Driven Forms:</a:t>
            </a:r>
            <a:r>
              <a:rPr lang="vi-VN" sz="2400">
                <a:latin typeface="Times New Roman" panose="02020603050405020304" pitchFamily="18" charset="0"/>
                <a:cs typeface="Times New Roman" panose="02020603050405020304" pitchFamily="18" charset="0"/>
              </a:rPr>
              <a:t> Dựa trên template (HTML), phù hợp cho các form đơn giản.</a:t>
            </a:r>
          </a:p>
          <a:p>
            <a:pPr marL="342900" indent="-342900" algn="just">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Reactive Forms:</a:t>
            </a:r>
            <a:r>
              <a:rPr lang="vi-VN" sz="2400">
                <a:latin typeface="Times New Roman" panose="02020603050405020304" pitchFamily="18" charset="0"/>
                <a:cs typeface="Times New Roman" panose="02020603050405020304" pitchFamily="18" charset="0"/>
              </a:rPr>
              <a:t> Dựa trên code (TypeScript), phù hợp cho các form phức tạp, cần kiểm soát dữ liệu chặt chẽ và testable</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 khả năng một đoạn mã hoặc một thành phần được cấu trúc sao cho việc viết các bài kiểm tra tự động (Unit Test) trở nên dễ dàng và hiệu quả</a:t>
            </a:r>
            <a:r>
              <a:rPr lang="en-US" sz="2400">
                <a:latin typeface="Times New Roman" panose="02020603050405020304" pitchFamily="18" charset="0"/>
                <a:cs typeface="Times New Roman" panose="02020603050405020304" pitchFamily="18" charset="0"/>
              </a:rPr>
              <a:t>)</a:t>
            </a:r>
            <a:endParaRPr lang="vi-VN" sz="240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9307044A-D8AA-AE8C-F4F0-1FA725B33456}"/>
              </a:ext>
            </a:extLst>
          </p:cNvPr>
          <p:cNvGrpSpPr/>
          <p:nvPr/>
        </p:nvGrpSpPr>
        <p:grpSpPr>
          <a:xfrm>
            <a:off x="5367636" y="1417722"/>
            <a:ext cx="6655006" cy="5324909"/>
            <a:chOff x="1834832" y="2976622"/>
            <a:chExt cx="6990619" cy="5588949"/>
          </a:xfrm>
        </p:grpSpPr>
        <p:pic>
          <p:nvPicPr>
            <p:cNvPr id="10" name="Picture 9">
              <a:extLst>
                <a:ext uri="{FF2B5EF4-FFF2-40B4-BE49-F238E27FC236}">
                  <a16:creationId xmlns:a16="http://schemas.microsoft.com/office/drawing/2014/main" id="{FDF0BAEA-B8F5-C5CD-3404-892FDB71E4C5}"/>
                </a:ext>
              </a:extLst>
            </p:cNvPr>
            <p:cNvPicPr>
              <a:picLocks noChangeAspect="1"/>
            </p:cNvPicPr>
            <p:nvPr/>
          </p:nvPicPr>
          <p:blipFill>
            <a:blip r:embed="rId3"/>
            <a:stretch>
              <a:fillRect/>
            </a:stretch>
          </p:blipFill>
          <p:spPr>
            <a:xfrm>
              <a:off x="5873858" y="2976622"/>
              <a:ext cx="2951593" cy="3707571"/>
            </a:xfrm>
            <a:prstGeom prst="rect">
              <a:avLst/>
            </a:prstGeom>
            <a:ln w="3175">
              <a:solidFill>
                <a:schemeClr val="tx2">
                  <a:lumMod val="75000"/>
                </a:schemeClr>
              </a:solidFill>
            </a:ln>
          </p:spPr>
        </p:pic>
        <p:pic>
          <p:nvPicPr>
            <p:cNvPr id="11" name="Picture 10">
              <a:extLst>
                <a:ext uri="{FF2B5EF4-FFF2-40B4-BE49-F238E27FC236}">
                  <a16:creationId xmlns:a16="http://schemas.microsoft.com/office/drawing/2014/main" id="{22D83A2B-3D45-1426-07E1-C0DF3C91775D}"/>
                </a:ext>
              </a:extLst>
            </p:cNvPr>
            <p:cNvPicPr>
              <a:picLocks noChangeAspect="1"/>
            </p:cNvPicPr>
            <p:nvPr/>
          </p:nvPicPr>
          <p:blipFill>
            <a:blip r:embed="rId4"/>
            <a:stretch>
              <a:fillRect/>
            </a:stretch>
          </p:blipFill>
          <p:spPr>
            <a:xfrm>
              <a:off x="1834832" y="5468591"/>
              <a:ext cx="2649910" cy="3096980"/>
            </a:xfrm>
            <a:prstGeom prst="rect">
              <a:avLst/>
            </a:prstGeom>
            <a:ln w="3175">
              <a:solidFill>
                <a:schemeClr val="tx1"/>
              </a:solidFill>
            </a:ln>
          </p:spPr>
        </p:pic>
      </p:grpSp>
    </p:spTree>
    <p:extLst>
      <p:ext uri="{BB962C8B-B14F-4D97-AF65-F5344CB8AC3E}">
        <p14:creationId xmlns:p14="http://schemas.microsoft.com/office/powerpoint/2010/main" val="80232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3D4F4EA-B477-6CE2-7885-358222D0E3B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C2C4EEA-BB8C-92C4-59FF-042666B4FD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30B7EFB-9EF7-0586-2EB5-5E68E371C81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48DB908B-27EB-5778-0BF7-4E00DD68DBEC}"/>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D00D4A7-117E-9F7D-483B-2E03228080F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Template Driven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94E4103-FF6A-A0C8-F309-DA2D193CF8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9878DE6-CF19-891C-C1CE-1407D6E6763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550D849-F7FE-45D6-8FDC-51B82B90DE5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0B6A902-1369-77A2-28C4-CB28FEE0A0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E538ED2-F0B7-68CE-CBC3-AC2F96376348}"/>
              </a:ext>
            </a:extLst>
          </p:cNvPr>
          <p:cNvSpPr txBox="1"/>
          <p:nvPr/>
        </p:nvSpPr>
        <p:spPr>
          <a:xfrm>
            <a:off x="462279" y="813512"/>
            <a:ext cx="11564547" cy="1569660"/>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5.2.1. Tạo Form</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5.2.2.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Binding dữ liệu trên Form</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5.2.3.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 dữ liệu trên Form</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5.2.4.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Form Validation</a:t>
            </a:r>
          </a:p>
        </p:txBody>
      </p:sp>
    </p:spTree>
    <p:extLst>
      <p:ext uri="{BB962C8B-B14F-4D97-AF65-F5344CB8AC3E}">
        <p14:creationId xmlns:p14="http://schemas.microsoft.com/office/powerpoint/2010/main" val="95673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4E5B12B-C665-E796-4E22-049B08D78A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ED03248-698E-81F1-6101-59386784E15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9C4E377-CC3C-DF5F-5273-7C45C75ADFA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8E5FCC39-F5C4-7BAB-238E-ACE224BDCBB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6842BB85-41B1-1B82-115D-AC892118451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7F11279-A6D0-C58C-7C2B-6FAFD80B94A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6462484-79E0-ED9B-0C62-F33F9CCC1C2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0208BB9-36CF-AEBC-8365-DDF4B8BFC59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421C196-3620-245C-EB63-939E3780E86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ADCBDEF-1411-0B2A-E89C-73B39E406B0E}"/>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Tạo form đăng ký khóa học (có thể sử dụng bootstrap).</a:t>
            </a:r>
          </a:p>
        </p:txBody>
      </p:sp>
      <p:pic>
        <p:nvPicPr>
          <p:cNvPr id="10" name="Picture 9">
            <a:extLst>
              <a:ext uri="{FF2B5EF4-FFF2-40B4-BE49-F238E27FC236}">
                <a16:creationId xmlns:a16="http://schemas.microsoft.com/office/drawing/2014/main" id="{578695E4-2208-627F-A68E-6401F363A704}"/>
              </a:ext>
            </a:extLst>
          </p:cNvPr>
          <p:cNvPicPr>
            <a:picLocks noChangeAspect="1"/>
          </p:cNvPicPr>
          <p:nvPr/>
        </p:nvPicPr>
        <p:blipFill>
          <a:blip r:embed="rId3"/>
          <a:stretch>
            <a:fillRect/>
          </a:stretch>
        </p:blipFill>
        <p:spPr>
          <a:xfrm>
            <a:off x="564686" y="1380024"/>
            <a:ext cx="4483100" cy="4511237"/>
          </a:xfrm>
          <a:prstGeom prst="rect">
            <a:avLst/>
          </a:prstGeom>
          <a:ln w="3175">
            <a:solidFill>
              <a:srgbClr val="17406D">
                <a:lumMod val="75000"/>
              </a:srgbClr>
            </a:solidFill>
          </a:ln>
        </p:spPr>
      </p:pic>
      <p:sp>
        <p:nvSpPr>
          <p:cNvPr id="11" name="TextBox 10">
            <a:extLst>
              <a:ext uri="{FF2B5EF4-FFF2-40B4-BE49-F238E27FC236}">
                <a16:creationId xmlns:a16="http://schemas.microsoft.com/office/drawing/2014/main" id="{CD62DC0A-34EB-C2D9-A82D-636256149A90}"/>
              </a:ext>
            </a:extLst>
          </p:cNvPr>
          <p:cNvSpPr txBox="1"/>
          <p:nvPr/>
        </p:nvSpPr>
        <p:spPr>
          <a:xfrm>
            <a:off x="5229944" y="1926014"/>
            <a:ext cx="5844483" cy="400110"/>
          </a:xfrm>
          <a:prstGeom prst="rect">
            <a:avLst/>
          </a:prstGeom>
          <a:solidFill>
            <a:srgbClr val="FFFF00"/>
          </a:solidFill>
          <a:ln>
            <a:solidFill>
              <a:schemeClr val="accent1"/>
            </a:solidFill>
          </a:ln>
        </p:spPr>
        <p:txBody>
          <a:bodyPr wrap="square">
            <a:spAutoFit/>
          </a:bodyPr>
          <a:lstStyle/>
          <a:p>
            <a:pPr lvl="0">
              <a:buClrTx/>
            </a:pPr>
            <a:r>
              <a:rPr lang="en-VN" sz="2000" kern="1200">
                <a:solidFill>
                  <a:srgbClr val="002060"/>
                </a:solidFill>
                <a:latin typeface="Georgia"/>
                <a:ea typeface="+mn-ea"/>
                <a:cs typeface="+mn-cs"/>
              </a:rPr>
              <a:t>npm install bootstrap jquery --legacy-peer-deps</a:t>
            </a:r>
            <a:endParaRPr kumimoji="0" lang="en-VN" sz="2000" b="0" i="0" u="none" strike="noStrike" kern="1200" cap="none" spc="0" normalizeH="0" baseline="0" noProof="0">
              <a:ln>
                <a:noFill/>
              </a:ln>
              <a:solidFill>
                <a:srgbClr val="002060"/>
              </a:solidFill>
              <a:effectLst/>
              <a:uLnTx/>
              <a:uFillTx/>
              <a:latin typeface="Georgia"/>
              <a:ea typeface="+mn-ea"/>
              <a:cs typeface="+mn-cs"/>
            </a:endParaRPr>
          </a:p>
        </p:txBody>
      </p:sp>
      <p:pic>
        <p:nvPicPr>
          <p:cNvPr id="17" name="Picture 16">
            <a:extLst>
              <a:ext uri="{FF2B5EF4-FFF2-40B4-BE49-F238E27FC236}">
                <a16:creationId xmlns:a16="http://schemas.microsoft.com/office/drawing/2014/main" id="{2CB284B2-6DAE-6376-83AC-915944FECC63}"/>
              </a:ext>
            </a:extLst>
          </p:cNvPr>
          <p:cNvPicPr>
            <a:picLocks noChangeAspect="1"/>
          </p:cNvPicPr>
          <p:nvPr/>
        </p:nvPicPr>
        <p:blipFill>
          <a:blip r:embed="rId4"/>
          <a:srcRect r="7516"/>
          <a:stretch>
            <a:fillRect/>
          </a:stretch>
        </p:blipFill>
        <p:spPr>
          <a:xfrm>
            <a:off x="5229944" y="3100430"/>
            <a:ext cx="6645631" cy="3277075"/>
          </a:xfrm>
          <a:prstGeom prst="rect">
            <a:avLst/>
          </a:prstGeom>
          <a:ln>
            <a:solidFill>
              <a:schemeClr val="accent1"/>
            </a:solidFill>
          </a:ln>
        </p:spPr>
      </p:pic>
      <p:sp>
        <p:nvSpPr>
          <p:cNvPr id="18" name="TextBox 17">
            <a:extLst>
              <a:ext uri="{FF2B5EF4-FFF2-40B4-BE49-F238E27FC236}">
                <a16:creationId xmlns:a16="http://schemas.microsoft.com/office/drawing/2014/main" id="{EC88F8A8-8AA1-80F4-CCCE-0B7C0082B5DE}"/>
              </a:ext>
            </a:extLst>
          </p:cNvPr>
          <p:cNvSpPr txBox="1"/>
          <p:nvPr/>
        </p:nvSpPr>
        <p:spPr>
          <a:xfrm>
            <a:off x="5397025" y="2498689"/>
            <a:ext cx="904415" cy="461665"/>
          </a:xfrm>
          <a:prstGeom prst="rect">
            <a:avLst/>
          </a:prstGeom>
          <a:noFill/>
        </p:spPr>
        <p:txBody>
          <a:bodyPr wrap="none" rtlCol="0">
            <a:spAutoFit/>
          </a:bodyPr>
          <a:lstStyle/>
          <a:p>
            <a:r>
              <a:rPr lang="en-US" sz="2400"/>
              <a:t>Hoặc</a:t>
            </a:r>
          </a:p>
        </p:txBody>
      </p:sp>
      <p:sp>
        <p:nvSpPr>
          <p:cNvPr id="19" name="TextBox 18">
            <a:extLst>
              <a:ext uri="{FF2B5EF4-FFF2-40B4-BE49-F238E27FC236}">
                <a16:creationId xmlns:a16="http://schemas.microsoft.com/office/drawing/2014/main" id="{DDDF8E37-6C17-E95D-B1B9-BF940F3EB1DC}"/>
              </a:ext>
            </a:extLst>
          </p:cNvPr>
          <p:cNvSpPr txBox="1"/>
          <p:nvPr/>
        </p:nvSpPr>
        <p:spPr>
          <a:xfrm>
            <a:off x="6572603" y="2562328"/>
            <a:ext cx="3960312" cy="369332"/>
          </a:xfrm>
          <a:prstGeom prst="rect">
            <a:avLst/>
          </a:prstGeom>
          <a:solidFill>
            <a:sysClr val="windowText" lastClr="00000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rgbClr val="10CF9B">
                    <a:lumMod val="75000"/>
                  </a:srgbClr>
                </a:solidFill>
                <a:effectLst/>
                <a:uLnTx/>
                <a:uFillTx/>
                <a:latin typeface="Georgia"/>
                <a:ea typeface="+mn-ea"/>
                <a:cs typeface="+mn-cs"/>
              </a:rPr>
              <a:t>npm install -save bootstrap jquery</a:t>
            </a:r>
          </a:p>
        </p:txBody>
      </p:sp>
      <p:sp>
        <p:nvSpPr>
          <p:cNvPr id="20" name="TextBox 19">
            <a:extLst>
              <a:ext uri="{FF2B5EF4-FFF2-40B4-BE49-F238E27FC236}">
                <a16:creationId xmlns:a16="http://schemas.microsoft.com/office/drawing/2014/main" id="{41321D4E-7F12-0058-D487-46BE20A41B6A}"/>
              </a:ext>
            </a:extLst>
          </p:cNvPr>
          <p:cNvSpPr txBox="1"/>
          <p:nvPr/>
        </p:nvSpPr>
        <p:spPr>
          <a:xfrm>
            <a:off x="5307648" y="1280548"/>
            <a:ext cx="3570208" cy="461665"/>
          </a:xfrm>
          <a:prstGeom prst="rect">
            <a:avLst/>
          </a:prstGeom>
          <a:noFill/>
        </p:spPr>
        <p:txBody>
          <a:bodyPr wrap="none" rtlCol="0">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Cài đặt bootstrap</a:t>
            </a:r>
          </a:p>
        </p:txBody>
      </p:sp>
    </p:spTree>
    <p:extLst>
      <p:ext uri="{BB962C8B-B14F-4D97-AF65-F5344CB8AC3E}">
        <p14:creationId xmlns:p14="http://schemas.microsoft.com/office/powerpoint/2010/main" val="3895954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098092B-0A0B-CC2E-BF8E-3A190AB6B46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D8F8896-BAA9-4029-E23E-F5D501573CE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239F50-8909-EE92-9966-570C9BD834E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AA0DA6F0-542A-2EFC-AE8D-68548F10B3F0}"/>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07B0662-0724-9C5F-DA5E-2F9DC637530A}"/>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C1AB82B-2C1A-208D-C71D-8D69C111050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11111CA-4BAE-8659-7152-921D5199597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DE3052-A022-C224-9136-F59AB18B8F7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A3B7611-B4B2-A459-DD73-D77CF4FC0AA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7C8FFFD-CB85-C525-601C-E52998656E8F}"/>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Tạo form đăng ký khóa học (có thể sử dụng bootstrap).</a:t>
            </a:r>
          </a:p>
        </p:txBody>
      </p:sp>
      <p:pic>
        <p:nvPicPr>
          <p:cNvPr id="12" name="Picture 11">
            <a:extLst>
              <a:ext uri="{FF2B5EF4-FFF2-40B4-BE49-F238E27FC236}">
                <a16:creationId xmlns:a16="http://schemas.microsoft.com/office/drawing/2014/main" id="{69632E02-3D93-923C-68AE-7B20E6A9263E}"/>
              </a:ext>
            </a:extLst>
          </p:cNvPr>
          <p:cNvPicPr>
            <a:picLocks noChangeAspect="1"/>
          </p:cNvPicPr>
          <p:nvPr/>
        </p:nvPicPr>
        <p:blipFill>
          <a:blip r:embed="rId3"/>
          <a:stretch>
            <a:fillRect/>
          </a:stretch>
        </p:blipFill>
        <p:spPr>
          <a:xfrm>
            <a:off x="870410" y="1627791"/>
            <a:ext cx="3726503" cy="3863675"/>
          </a:xfrm>
          <a:prstGeom prst="rect">
            <a:avLst/>
          </a:prstGeom>
        </p:spPr>
      </p:pic>
      <p:pic>
        <p:nvPicPr>
          <p:cNvPr id="14" name="Picture 13">
            <a:extLst>
              <a:ext uri="{FF2B5EF4-FFF2-40B4-BE49-F238E27FC236}">
                <a16:creationId xmlns:a16="http://schemas.microsoft.com/office/drawing/2014/main" id="{764D7360-5E44-5BA3-5961-10F9801A427D}"/>
              </a:ext>
            </a:extLst>
          </p:cNvPr>
          <p:cNvPicPr>
            <a:picLocks noChangeAspect="1"/>
          </p:cNvPicPr>
          <p:nvPr/>
        </p:nvPicPr>
        <p:blipFill>
          <a:blip r:embed="rId4"/>
          <a:srcRect/>
          <a:stretch/>
        </p:blipFill>
        <p:spPr>
          <a:xfrm>
            <a:off x="7926933" y="896207"/>
            <a:ext cx="3653332" cy="5326842"/>
          </a:xfrm>
          <a:prstGeom prst="rect">
            <a:avLst/>
          </a:prstGeom>
        </p:spPr>
      </p:pic>
      <p:sp>
        <p:nvSpPr>
          <p:cNvPr id="15" name="Arrow: Right 14">
            <a:extLst>
              <a:ext uri="{FF2B5EF4-FFF2-40B4-BE49-F238E27FC236}">
                <a16:creationId xmlns:a16="http://schemas.microsoft.com/office/drawing/2014/main" id="{C0A830D5-F217-06FE-A545-65DFB8E69D9A}"/>
              </a:ext>
            </a:extLst>
          </p:cNvPr>
          <p:cNvSpPr/>
          <p:nvPr/>
        </p:nvSpPr>
        <p:spPr>
          <a:xfrm>
            <a:off x="5345373" y="3244699"/>
            <a:ext cx="1501254" cy="405047"/>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3772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B5A87B0-7A37-6DF5-734A-EFD983C854A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1994463-B62D-5B8F-4FCD-FAD976D6F75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6FAA7CF-6111-3004-C341-DABDD07EA8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08A9FE15-8686-A478-5461-260D7E518961}"/>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3DA76745-C73D-D5ED-3846-7D78F27C1785}"/>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A658E14-60C2-8E99-3555-3BEA5C1E66D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80B48BD-28AC-3A3E-D8CC-F2EEC1E32EB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0E76BFA-778C-58A6-EC2B-E003E9C7F95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8F16A9F-5BF4-215C-D000-7BBD13172CE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95F189E-17C8-0631-EE43-EBC7F40803DF}"/>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cấu hình bootstrap, jquery cho </a:t>
            </a:r>
            <a:r>
              <a:rPr lang="en-US" sz="2400" b="1">
                <a:latin typeface="Times New Roman" panose="02020603050405020304" pitchFamily="18" charset="0"/>
                <a:cs typeface="Times New Roman" panose="02020603050405020304" pitchFamily="18" charset="0"/>
              </a:rPr>
              <a:t>angular.json</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945CBBE-0FCF-C13E-C5D3-64DA6D740A32}"/>
              </a:ext>
            </a:extLst>
          </p:cNvPr>
          <p:cNvPicPr>
            <a:picLocks noChangeAspect="1"/>
          </p:cNvPicPr>
          <p:nvPr/>
        </p:nvPicPr>
        <p:blipFill>
          <a:blip r:embed="rId3"/>
          <a:stretch>
            <a:fillRect/>
          </a:stretch>
        </p:blipFill>
        <p:spPr>
          <a:xfrm>
            <a:off x="462279" y="1275177"/>
            <a:ext cx="10073626" cy="2269011"/>
          </a:xfrm>
          <a:prstGeom prst="rect">
            <a:avLst/>
          </a:prstGeom>
        </p:spPr>
      </p:pic>
      <p:sp>
        <p:nvSpPr>
          <p:cNvPr id="14" name="TextBox 13">
            <a:extLst>
              <a:ext uri="{FF2B5EF4-FFF2-40B4-BE49-F238E27FC236}">
                <a16:creationId xmlns:a16="http://schemas.microsoft.com/office/drawing/2014/main" id="{068D77FF-F0D7-1DE4-E709-3C1F1F2B74F6}"/>
              </a:ext>
            </a:extLst>
          </p:cNvPr>
          <p:cNvSpPr txBox="1"/>
          <p:nvPr/>
        </p:nvSpPr>
        <p:spPr>
          <a:xfrm>
            <a:off x="564686" y="3774584"/>
            <a:ext cx="10983443" cy="2451953"/>
          </a:xfrm>
          <a:prstGeom prst="rect">
            <a:avLst/>
          </a:prstGeom>
          <a:noFill/>
          <a:ln>
            <a:solidFill>
              <a:schemeClr val="accent1"/>
            </a:solidFill>
          </a:ln>
        </p:spPr>
        <p:txBody>
          <a:bodyPr wrap="square">
            <a:spAutoFit/>
          </a:bodyPr>
          <a:lstStyle/>
          <a:p>
            <a:pPr>
              <a:lnSpc>
                <a:spcPts val="2250"/>
              </a:lnSpc>
              <a:buNone/>
            </a:pPr>
            <a:r>
              <a:rPr lang="en-US" sz="2000" b="0">
                <a:solidFill>
                  <a:srgbClr val="0451A5"/>
                </a:solidFill>
                <a:effectLst/>
                <a:latin typeface="Consolas" panose="020B0609020204030204" pitchFamily="49" charset="0"/>
              </a:rPr>
              <a:t>"styles"</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"src/styles.css"</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"node_modules/bootstrap/dist/css/bootstrap.min.css"</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451A5"/>
                </a:solidFill>
                <a:effectLst/>
                <a:latin typeface="Consolas" panose="020B0609020204030204" pitchFamily="49" charset="0"/>
              </a:rPr>
              <a:t>"scripts"</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"node_modules/jquery/dist/jquery.min.js"</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"node_modules/bootstrap/dist/js/bootstrap.bundle.min.js"</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900948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24BB5EA-A11D-B9E6-0A2D-D47879DBE36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A2C21BB-FAAD-8B1F-DA8E-9FCD027606C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DD728F3-7444-100A-1350-889D314A3E9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F4FB03F8-629B-4ED6-38DC-878C55C25A93}"/>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C65CBC8-0D1A-71F3-09C7-711E93E62B44}"/>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CB1BC9C-169E-39CF-094C-B1E033F910F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CE9F95D-6A05-4EDA-3C92-0203B11B7B4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A37757E-4F96-7E98-9DC4-BF16D4A0BC7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186A7AF-5610-B750-D16F-7ED6659BCB2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4E915EE-3569-E8F0-3AD4-8D4FEEFB8290}"/>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Tạo một component mới tên </a:t>
            </a:r>
            <a:r>
              <a:rPr lang="en-US" sz="2400" b="1">
                <a:latin typeface="Times New Roman" panose="02020603050405020304" pitchFamily="18" charset="0"/>
                <a:cs typeface="Times New Roman" panose="02020603050405020304" pitchFamily="18" charset="0"/>
              </a:rPr>
              <a:t>CourseRegistrationComponent</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02F7E89-7306-778F-181A-F873D9472411}"/>
              </a:ext>
            </a:extLst>
          </p:cNvPr>
          <p:cNvPicPr>
            <a:picLocks noChangeAspect="1"/>
          </p:cNvPicPr>
          <p:nvPr/>
        </p:nvPicPr>
        <p:blipFill>
          <a:blip r:embed="rId3"/>
          <a:stretch>
            <a:fillRect/>
          </a:stretch>
        </p:blipFill>
        <p:spPr>
          <a:xfrm>
            <a:off x="5701512" y="1467251"/>
            <a:ext cx="6256562" cy="754445"/>
          </a:xfrm>
          <a:prstGeom prst="rect">
            <a:avLst/>
          </a:prstGeom>
        </p:spPr>
      </p:pic>
      <p:pic>
        <p:nvPicPr>
          <p:cNvPr id="13" name="Picture 12">
            <a:extLst>
              <a:ext uri="{FF2B5EF4-FFF2-40B4-BE49-F238E27FC236}">
                <a16:creationId xmlns:a16="http://schemas.microsoft.com/office/drawing/2014/main" id="{0B86575B-5805-209B-4070-39C56B9599F2}"/>
              </a:ext>
            </a:extLst>
          </p:cNvPr>
          <p:cNvPicPr>
            <a:picLocks noChangeAspect="1"/>
          </p:cNvPicPr>
          <p:nvPr/>
        </p:nvPicPr>
        <p:blipFill>
          <a:blip r:embed="rId4"/>
          <a:stretch>
            <a:fillRect/>
          </a:stretch>
        </p:blipFill>
        <p:spPr>
          <a:xfrm>
            <a:off x="542786" y="1351614"/>
            <a:ext cx="3513300" cy="1897427"/>
          </a:xfrm>
          <a:prstGeom prst="rect">
            <a:avLst/>
          </a:prstGeom>
        </p:spPr>
      </p:pic>
      <p:pic>
        <p:nvPicPr>
          <p:cNvPr id="16" name="Picture 15">
            <a:extLst>
              <a:ext uri="{FF2B5EF4-FFF2-40B4-BE49-F238E27FC236}">
                <a16:creationId xmlns:a16="http://schemas.microsoft.com/office/drawing/2014/main" id="{EA49803C-4383-9E11-C0C7-149FE6D4CCA1}"/>
              </a:ext>
            </a:extLst>
          </p:cNvPr>
          <p:cNvPicPr>
            <a:picLocks noChangeAspect="1"/>
          </p:cNvPicPr>
          <p:nvPr/>
        </p:nvPicPr>
        <p:blipFill>
          <a:blip r:embed="rId5"/>
          <a:stretch>
            <a:fillRect/>
          </a:stretch>
        </p:blipFill>
        <p:spPr>
          <a:xfrm>
            <a:off x="5170141" y="3870309"/>
            <a:ext cx="6940060" cy="2129925"/>
          </a:xfrm>
          <a:prstGeom prst="rect">
            <a:avLst/>
          </a:prstGeom>
        </p:spPr>
      </p:pic>
      <p:pic>
        <p:nvPicPr>
          <p:cNvPr id="18" name="Picture 17">
            <a:extLst>
              <a:ext uri="{FF2B5EF4-FFF2-40B4-BE49-F238E27FC236}">
                <a16:creationId xmlns:a16="http://schemas.microsoft.com/office/drawing/2014/main" id="{148BBE64-A6D6-B69B-8A99-6C3FAED6C9C3}"/>
              </a:ext>
            </a:extLst>
          </p:cNvPr>
          <p:cNvPicPr>
            <a:picLocks noChangeAspect="1"/>
          </p:cNvPicPr>
          <p:nvPr/>
        </p:nvPicPr>
        <p:blipFill>
          <a:blip r:embed="rId6"/>
          <a:stretch>
            <a:fillRect/>
          </a:stretch>
        </p:blipFill>
        <p:spPr>
          <a:xfrm>
            <a:off x="614079" y="3921186"/>
            <a:ext cx="3703641" cy="2225233"/>
          </a:xfrm>
          <a:prstGeom prst="rect">
            <a:avLst/>
          </a:prstGeom>
        </p:spPr>
      </p:pic>
      <p:cxnSp>
        <p:nvCxnSpPr>
          <p:cNvPr id="19" name="Connector: Elbow 18">
            <a:extLst>
              <a:ext uri="{FF2B5EF4-FFF2-40B4-BE49-F238E27FC236}">
                <a16:creationId xmlns:a16="http://schemas.microsoft.com/office/drawing/2014/main" id="{69C0990C-C56D-08E6-A52A-9E9F8D099C77}"/>
              </a:ext>
            </a:extLst>
          </p:cNvPr>
          <p:cNvCxnSpPr>
            <a:cxnSpLocks/>
          </p:cNvCxnSpPr>
          <p:nvPr/>
        </p:nvCxnSpPr>
        <p:spPr>
          <a:xfrm flipV="1">
            <a:off x="3496732" y="2162313"/>
            <a:ext cx="4926375" cy="70476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8550D15-35C3-217F-EE8F-BCAB9675196F}"/>
              </a:ext>
            </a:extLst>
          </p:cNvPr>
          <p:cNvCxnSpPr/>
          <p:nvPr/>
        </p:nvCxnSpPr>
        <p:spPr>
          <a:xfrm>
            <a:off x="10139817" y="2221696"/>
            <a:ext cx="0" cy="19516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C10BC59-063A-A3A2-A53D-CE015009C71C}"/>
              </a:ext>
            </a:extLst>
          </p:cNvPr>
          <p:cNvCxnSpPr/>
          <p:nvPr/>
        </p:nvCxnSpPr>
        <p:spPr>
          <a:xfrm flipH="1">
            <a:off x="4369488" y="5110607"/>
            <a:ext cx="73969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74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B52599B-A9A7-C709-AA38-24EB68D9CB6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DDFA6E1-3D85-292E-74CC-6005AB2312A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E42693F-60FF-CF62-D0ED-FF40D54FD93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81D3DC19-3448-8CB3-39F4-B743663DFAC1}"/>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C631185-9F0C-7BFA-1B19-99106B8ECB9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4397028-C6B6-805D-4BBD-371BA423295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E91206-12AA-52F4-DB31-DEFA3378389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712FFCE-9CAD-E807-F041-81FAE224318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1D5855F-A797-8A93-5D11-B648BB2D764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155D18D-EAA7-B796-8AC4-0FFD3810C385}"/>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0C4A48D-68AF-3096-7EBA-8FA56D2AC313}"/>
              </a:ext>
            </a:extLst>
          </p:cNvPr>
          <p:cNvSpPr txBox="1"/>
          <p:nvPr/>
        </p:nvSpPr>
        <p:spPr>
          <a:xfrm>
            <a:off x="438765" y="1204755"/>
            <a:ext cx="11314469" cy="5355312"/>
          </a:xfrm>
          <a:prstGeom prst="rect">
            <a:avLst/>
          </a:prstGeom>
          <a:noFill/>
        </p:spPr>
        <p:txBody>
          <a:bodyPr wrap="square">
            <a:spAutoFit/>
          </a:bodyPr>
          <a:lstStyle/>
          <a:p>
            <a:pPr>
              <a:buNone/>
            </a:pP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"container mt-4"</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style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"max-width: 500px; border: 1px solid #ddd; padding: 20px; border-radius: 8px;"</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&lt;h2</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"text-center mb-4"</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Đăng ký khóa học</a:t>
            </a:r>
            <a:r>
              <a:rPr lang="en-US" sz="1800" b="0">
                <a:solidFill>
                  <a:srgbClr val="800000"/>
                </a:solidFill>
                <a:effectLst/>
                <a:latin typeface="Consolas" panose="020B0609020204030204" pitchFamily="49" charset="0"/>
              </a:rPr>
              <a:t>&lt;/h2&gt;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Tên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Tên: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tên"</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Email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Email:</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địa chỉ email"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Điện thoại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Điện thoại:</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299343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C065B06-9848-5A45-682C-616A8433C4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B3D01C8-2728-6437-98FF-4C68148CD70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A17723A-547B-BE31-44C9-149CEBEC6D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84460B74-2FE5-C446-A88E-9BC97234C02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EFF8C71-9172-B516-A756-139AEB5F6B24}"/>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CBF89B0-8A34-64B1-7F89-18FCB69E23C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8A055D2-05F6-61CD-3B29-C0F403DF99C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8EFFCD8-5907-6299-94F4-EB7E14393F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D2B9DBC-88FB-E6CF-5038-469DEE842F2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4" name="TextBox 13">
            <a:extLst>
              <a:ext uri="{FF2B5EF4-FFF2-40B4-BE49-F238E27FC236}">
                <a16:creationId xmlns:a16="http://schemas.microsoft.com/office/drawing/2014/main" id="{D5DAE5AA-F988-EB7F-DCC1-7C22F907409A}"/>
              </a:ext>
            </a:extLst>
          </p:cNvPr>
          <p:cNvSpPr txBox="1"/>
          <p:nvPr/>
        </p:nvSpPr>
        <p:spPr>
          <a:xfrm>
            <a:off x="340671" y="828619"/>
            <a:ext cx="11314469" cy="5509200"/>
          </a:xfrm>
          <a:prstGeom prst="rect">
            <a:avLst/>
          </a:prstGeom>
          <a:noFill/>
        </p:spPr>
        <p:txBody>
          <a:bodyPr wrap="square">
            <a:spAutoFit/>
          </a:bodyPr>
          <a:lstStyle/>
          <a:p>
            <a:pPr>
              <a:buNone/>
            </a:pPr>
            <a:r>
              <a:rPr lang="en-US" sz="1600" b="0">
                <a:solidFill>
                  <a:srgbClr val="000000"/>
                </a:solidFill>
                <a:effectLst/>
                <a:latin typeface="Consolas" panose="020B0609020204030204" pitchFamily="49" charset="0"/>
              </a:rPr>
              <a:t>    </a:t>
            </a:r>
            <a:r>
              <a:rPr lang="en-US" sz="1600" b="0">
                <a:solidFill>
                  <a:srgbClr val="008000"/>
                </a:solidFill>
                <a:effectLst/>
                <a:latin typeface="Consolas" panose="020B0609020204030204" pitchFamily="49" charset="0"/>
              </a:rPr>
              <a:t>&lt;!-- Chọn khóa học --&gt;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"mb-3"</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"form-label"</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Chọn khóa học:</a:t>
            </a:r>
            <a:r>
              <a:rPr lang="en-US" sz="1600" b="0">
                <a:solidFill>
                  <a:srgbClr val="800000"/>
                </a:solidFill>
                <a:effectLst/>
                <a:latin typeface="Consolas" panose="020B0609020204030204" pitchFamily="49" charset="0"/>
              </a:rPr>
              <a:t>&lt;/label&gt;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&lt;select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"form-select"</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&lt;option</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selected</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a:t>
            </a:r>
            <a:r>
              <a:rPr lang="en-US" sz="1600" b="0">
                <a:solidFill>
                  <a:srgbClr val="800000"/>
                </a:solidFill>
                <a:effectLst/>
                <a:latin typeface="Consolas" panose="020B0609020204030204" pitchFamily="49" charset="0"/>
              </a:rPr>
              <a:t>&lt;/option&gt;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&lt;option</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value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"angular"</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Angular căn bản</a:t>
            </a:r>
            <a:r>
              <a:rPr lang="en-US" sz="1600" b="0">
                <a:solidFill>
                  <a:srgbClr val="800000"/>
                </a:solidFill>
                <a:effectLst/>
                <a:latin typeface="Consolas" panose="020B0609020204030204" pitchFamily="49" charset="0"/>
              </a:rPr>
              <a:t>&lt;/option&gt;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&lt;option</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value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"nodejs"</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Node.js nâng cao</a:t>
            </a:r>
            <a:r>
              <a:rPr lang="en-US" sz="1600" b="0">
                <a:solidFill>
                  <a:srgbClr val="800000"/>
                </a:solidFill>
                <a:effectLst/>
                <a:latin typeface="Consolas" panose="020B0609020204030204" pitchFamily="49" charset="0"/>
              </a:rPr>
              <a:t>&lt;/option&gt;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&lt;option</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value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"datascience"</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Data Science</a:t>
            </a:r>
            <a:r>
              <a:rPr lang="en-US" sz="1600" b="0">
                <a:solidFill>
                  <a:srgbClr val="800000"/>
                </a:solidFill>
                <a:effectLst/>
                <a:latin typeface="Consolas" panose="020B0609020204030204" pitchFamily="49" charset="0"/>
              </a:rPr>
              <a:t>&lt;/option&gt;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&lt;/select&gt;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008000"/>
                </a:solidFill>
                <a:effectLst/>
                <a:latin typeface="Consolas" panose="020B0609020204030204" pitchFamily="49" charset="0"/>
              </a:rPr>
              <a:t>&lt;!-- Chọn ca học --&gt;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"mb-3"</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"form-label me-3"</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Chọn ca học:</a:t>
            </a:r>
            <a:r>
              <a:rPr lang="en-US" sz="1600" b="0">
                <a:solidFill>
                  <a:srgbClr val="800000"/>
                </a:solidFill>
                <a:effectLst/>
                <a:latin typeface="Consolas" panose="020B0609020204030204" pitchFamily="49" charset="0"/>
              </a:rPr>
              <a:t>&lt;/label&gt;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 form-check-inline"</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&lt;input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"form-check-input"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type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"radio"</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name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"caHoc"</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id</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"sang"</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value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"sang"</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for</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"sang"</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Sáng</a:t>
            </a:r>
            <a:r>
              <a:rPr lang="en-US" sz="1600" b="0">
                <a:solidFill>
                  <a:srgbClr val="800000"/>
                </a:solidFill>
                <a:effectLst/>
                <a:latin typeface="Consolas" panose="020B0609020204030204" pitchFamily="49" charset="0"/>
              </a:rPr>
              <a:t>&lt;/label&gt;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 form-check-inline"</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&lt;input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"form-check-input"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type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"radio"</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name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"caHoc"</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id</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"toi"</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value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"toi"</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"form-check-label"</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for</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"toi"</a:t>
            </a:r>
            <a:r>
              <a:rPr lang="en-US" sz="1600" b="0">
                <a:solidFill>
                  <a:srgbClr val="800000"/>
                </a:solidFill>
                <a:effectLst/>
                <a:latin typeface="Consolas" panose="020B0609020204030204" pitchFamily="49" charset="0"/>
              </a:rPr>
              <a:t>&gt;</a:t>
            </a:r>
            <a:r>
              <a:rPr lang="en-US" sz="1600" b="0">
                <a:solidFill>
                  <a:srgbClr val="000000"/>
                </a:solidFill>
                <a:effectLst/>
                <a:latin typeface="Consolas" panose="020B0609020204030204" pitchFamily="49" charset="0"/>
              </a:rPr>
              <a:t>Tối</a:t>
            </a:r>
            <a:r>
              <a:rPr lang="en-US" sz="1600" b="0">
                <a:solidFill>
                  <a:srgbClr val="800000"/>
                </a:solidFill>
                <a:effectLst/>
                <a:latin typeface="Consolas" panose="020B0609020204030204" pitchFamily="49" charset="0"/>
              </a:rPr>
              <a:t>&lt;/label&gt;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54121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1C0DB2E-0844-E6FE-4FD0-62FEC8BF35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E6ED846-795F-5F70-6464-425A7548EF0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7D3FF44-3385-12AE-579E-12A978CCB22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3B309896-AFB4-041D-17C5-B9D3C0ABE48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EAD2E7D-2038-5E5B-86B5-1ABE124F8F0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5D4EE3-5963-3151-05D9-750A1EE018E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E690173-9D9F-7C1C-75A4-541D752605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EA427C3-A539-F317-2DEF-440705DD008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7C7654F-95A0-580D-E771-1BC9A65186F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4" name="TextBox 13">
            <a:extLst>
              <a:ext uri="{FF2B5EF4-FFF2-40B4-BE49-F238E27FC236}">
                <a16:creationId xmlns:a16="http://schemas.microsoft.com/office/drawing/2014/main" id="{40F53867-2AFC-BC3D-A7B4-6C1FCC96FB4B}"/>
              </a:ext>
            </a:extLst>
          </p:cNvPr>
          <p:cNvSpPr txBox="1"/>
          <p:nvPr/>
        </p:nvSpPr>
        <p:spPr>
          <a:xfrm>
            <a:off x="305249" y="843677"/>
            <a:ext cx="11314469" cy="2585323"/>
          </a:xfrm>
          <a:prstGeom prst="rect">
            <a:avLst/>
          </a:prstGeom>
          <a:noFill/>
        </p:spPr>
        <p:txBody>
          <a:bodyPr wrap="square">
            <a:spAutoFit/>
          </a:bodyPr>
          <a:lstStyle/>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Đồng ý điều khoản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 form-check"</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"checkbox"</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checked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Đồng ý với điều khoản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Nút Submit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&lt;button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"submit"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"btn btn-primary w-25"</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Submit</a:t>
            </a:r>
            <a:r>
              <a:rPr lang="en-US" sz="1800" b="0">
                <a:solidFill>
                  <a:srgbClr val="800000"/>
                </a:solidFill>
                <a:effectLst/>
                <a:latin typeface="Consolas" panose="020B0609020204030204" pitchFamily="49" charset="0"/>
              </a:rPr>
              <a:t>&lt;/button&gt;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&lt;/form&gt;</a:t>
            </a:r>
            <a:endParaRPr lang="en-US" sz="1800" b="0">
              <a:solidFill>
                <a:srgbClr val="000000"/>
              </a:solidFill>
              <a:effectLst/>
              <a:latin typeface="Consolas" panose="020B0609020204030204" pitchFamily="49" charset="0"/>
            </a:endParaRPr>
          </a:p>
          <a:p>
            <a:pPr>
              <a:buNone/>
            </a:pP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C332FF83-3859-5B41-2A05-8C1D3C01B073}"/>
              </a:ext>
            </a:extLst>
          </p:cNvPr>
          <p:cNvSpPr txBox="1"/>
          <p:nvPr/>
        </p:nvSpPr>
        <p:spPr>
          <a:xfrm>
            <a:off x="415252" y="3601208"/>
            <a:ext cx="980127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Chưa xử lý </a:t>
            </a:r>
            <a:r>
              <a:rPr lang="en-US" sz="2400" b="1">
                <a:latin typeface="Times New Roman" panose="02020603050405020304" pitchFamily="18" charset="0"/>
                <a:cs typeface="Times New Roman" panose="02020603050405020304" pitchFamily="18" charset="0"/>
              </a:rPr>
              <a:t>course-registration-component.ts</a:t>
            </a:r>
          </a:p>
        </p:txBody>
      </p:sp>
    </p:spTree>
    <p:extLst>
      <p:ext uri="{BB962C8B-B14F-4D97-AF65-F5344CB8AC3E}">
        <p14:creationId xmlns:p14="http://schemas.microsoft.com/office/powerpoint/2010/main" val="3918467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6DB9CF0-7359-F8D3-0F60-7D6A1BCDD2A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40E6069-4948-87ED-46EE-D31AA7D7E3C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E2B724-FA3B-F415-4CEC-F766D12321D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1C46340A-4FFD-96E9-A6B0-05AE5CA1544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2ACB065C-2F5D-FCC2-1020-87E905BA3C2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A6E3F61-DADF-DDAE-F0B3-533ED56478E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BF98B3C-13A2-3139-BB0A-92494C34BA9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BDFE43F-1AA8-31A9-D4F1-35533220A10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94F918D-8C05-8A7B-3C90-73A66C99A68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95ED850-4D08-6677-6371-C329EA1DEA48}"/>
              </a:ext>
            </a:extLst>
          </p:cNvPr>
          <p:cNvSpPr txBox="1"/>
          <p:nvPr/>
        </p:nvSpPr>
        <p:spPr>
          <a:xfrm>
            <a:off x="462279" y="8135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Cấu hình </a:t>
            </a:r>
            <a:r>
              <a:rPr lang="en-US" sz="2400" b="1">
                <a:latin typeface="Times New Roman" panose="02020603050405020304" pitchFamily="18" charset="0"/>
                <a:cs typeface="Times New Roman" panose="02020603050405020304" pitchFamily="18" charset="0"/>
              </a:rPr>
              <a:t>routing </a:t>
            </a:r>
            <a:r>
              <a:rPr lang="en-US" sz="2400">
                <a:latin typeface="Times New Roman" panose="02020603050405020304" pitchFamily="18" charset="0"/>
                <a:cs typeface="Times New Roman" panose="02020603050405020304" pitchFamily="18" charset="0"/>
              </a:rPr>
              <a:t>cho</a:t>
            </a:r>
            <a:r>
              <a:rPr lang="en-US" sz="2400" b="1">
                <a:latin typeface="Times New Roman" panose="02020603050405020304" pitchFamily="18" charset="0"/>
                <a:cs typeface="Times New Roman" panose="02020603050405020304" pitchFamily="18" charset="0"/>
              </a:rPr>
              <a:t> CourseRegistrationComponent </a:t>
            </a:r>
          </a:p>
          <a:p>
            <a:pPr algn="just"/>
            <a:r>
              <a:rPr lang="en-US" sz="2400">
                <a:latin typeface="Times New Roman" panose="02020603050405020304" pitchFamily="18" charset="0"/>
                <a:cs typeface="Times New Roman" panose="02020603050405020304" pitchFamily="18" charset="0"/>
              </a:rPr>
              <a:t>Vào </a:t>
            </a:r>
            <a:r>
              <a:rPr lang="en-US" sz="2400" b="1">
                <a:latin typeface="Times New Roman" panose="02020603050405020304" pitchFamily="18" charset="0"/>
                <a:cs typeface="Times New Roman" panose="02020603050405020304" pitchFamily="18" charset="0"/>
              </a:rPr>
              <a:t>app-routing-module.ts </a:t>
            </a:r>
            <a:r>
              <a:rPr lang="en-US" sz="2400">
                <a:latin typeface="Times New Roman" panose="02020603050405020304" pitchFamily="18" charset="0"/>
                <a:cs typeface="Times New Roman" panose="02020603050405020304" pitchFamily="18" charset="0"/>
              </a:rPr>
              <a:t>Và bổ sung thêm Routing cho Component này</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984CF06-FFF5-44BE-F5C1-95E493EC3457}"/>
              </a:ext>
            </a:extLst>
          </p:cNvPr>
          <p:cNvPicPr>
            <a:picLocks noChangeAspect="1"/>
          </p:cNvPicPr>
          <p:nvPr/>
        </p:nvPicPr>
        <p:blipFill>
          <a:blip r:embed="rId3"/>
          <a:srcRect/>
          <a:stretch/>
        </p:blipFill>
        <p:spPr>
          <a:xfrm>
            <a:off x="768918" y="1672846"/>
            <a:ext cx="6384219" cy="4704657"/>
          </a:xfrm>
          <a:prstGeom prst="rect">
            <a:avLst/>
          </a:prstGeom>
        </p:spPr>
      </p:pic>
      <p:sp>
        <p:nvSpPr>
          <p:cNvPr id="13" name="Rectangle 12">
            <a:extLst>
              <a:ext uri="{FF2B5EF4-FFF2-40B4-BE49-F238E27FC236}">
                <a16:creationId xmlns:a16="http://schemas.microsoft.com/office/drawing/2014/main" id="{46F2744C-D547-E47E-AB7B-5FE8C559186B}"/>
              </a:ext>
            </a:extLst>
          </p:cNvPr>
          <p:cNvSpPr/>
          <p:nvPr/>
        </p:nvSpPr>
        <p:spPr>
          <a:xfrm>
            <a:off x="728132" y="5500150"/>
            <a:ext cx="7157709" cy="2475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3689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353FCC-7621-7C35-54F1-6E9547C858D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FB019B7-52DC-739F-1339-663F063576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87C9D7D-314A-7CBB-1797-8D972EC511A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F5A89CD4-BA91-1BB2-D569-016013B1D58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B3FDA45-9809-669D-E48F-33E9BD70596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E61A1D7-2039-AD70-A66C-50D6BEA43B7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F89727-EB71-8836-56C7-C5FA407A278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2D8D136-B0CF-899D-1A27-7F3B0E39AE6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CA1B306-DEEF-0E1F-5C3B-CA931DD9892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D35A64A-BD22-6D1E-901F-E7BBDB5BEAAD}"/>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app.html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F9D9E44-A0E5-260F-FF91-221CB3C22124}"/>
              </a:ext>
            </a:extLst>
          </p:cNvPr>
          <p:cNvPicPr>
            <a:picLocks noChangeAspect="1"/>
          </p:cNvPicPr>
          <p:nvPr/>
        </p:nvPicPr>
        <p:blipFill>
          <a:blip r:embed="rId3"/>
          <a:stretch>
            <a:fillRect/>
          </a:stretch>
        </p:blipFill>
        <p:spPr>
          <a:xfrm>
            <a:off x="858200" y="1311251"/>
            <a:ext cx="8481795" cy="5014395"/>
          </a:xfrm>
          <a:prstGeom prst="rect">
            <a:avLst/>
          </a:prstGeom>
        </p:spPr>
      </p:pic>
      <p:sp>
        <p:nvSpPr>
          <p:cNvPr id="11" name="Rectangle 10">
            <a:extLst>
              <a:ext uri="{FF2B5EF4-FFF2-40B4-BE49-F238E27FC236}">
                <a16:creationId xmlns:a16="http://schemas.microsoft.com/office/drawing/2014/main" id="{A86553D0-E757-2122-7D5F-F13FEBB48E3A}"/>
              </a:ext>
            </a:extLst>
          </p:cNvPr>
          <p:cNvSpPr/>
          <p:nvPr/>
        </p:nvSpPr>
        <p:spPr>
          <a:xfrm>
            <a:off x="1285660" y="4592626"/>
            <a:ext cx="8325853" cy="3575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595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C8A0E49-465E-DD8F-3440-C564EBAD2CA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FF8D1E-5AC1-F5B4-53F9-A15A2F052B2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C355D0C-551F-4882-0D1E-AB5A978052C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AE04DAC1-449C-5D85-7A47-2225864BB68C}"/>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71D7DA4-7596-3E29-B7FD-7915758A7753}"/>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5.2.1. Tạo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08A5C9-9061-985C-5685-B56176299E5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7AAE832-AC79-8D01-FDD6-82241559DF6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FACBD9F-5B8E-0BDE-5043-77FF679AB9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EAE5F51-A538-0E39-2883-7256A99354C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FD14C89-83B3-0901-EF9A-798D24BC1ADC}"/>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Chạy Web</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F88D7C1-E9B9-127F-08B9-22E451AFD64A}"/>
              </a:ext>
            </a:extLst>
          </p:cNvPr>
          <p:cNvPicPr>
            <a:picLocks noChangeAspect="1"/>
          </p:cNvPicPr>
          <p:nvPr/>
        </p:nvPicPr>
        <p:blipFill>
          <a:blip r:embed="rId3"/>
          <a:stretch>
            <a:fillRect/>
          </a:stretch>
        </p:blipFill>
        <p:spPr>
          <a:xfrm>
            <a:off x="564686" y="1275176"/>
            <a:ext cx="4388483" cy="5110003"/>
          </a:xfrm>
          <a:prstGeom prst="rect">
            <a:avLst/>
          </a:prstGeom>
        </p:spPr>
      </p:pic>
      <p:pic>
        <p:nvPicPr>
          <p:cNvPr id="14" name="Picture 13">
            <a:extLst>
              <a:ext uri="{FF2B5EF4-FFF2-40B4-BE49-F238E27FC236}">
                <a16:creationId xmlns:a16="http://schemas.microsoft.com/office/drawing/2014/main" id="{AC279E5F-34CC-3FF5-4EBE-A07F32B0754A}"/>
              </a:ext>
            </a:extLst>
          </p:cNvPr>
          <p:cNvPicPr>
            <a:picLocks noChangeAspect="1"/>
          </p:cNvPicPr>
          <p:nvPr/>
        </p:nvPicPr>
        <p:blipFill>
          <a:blip r:embed="rId4"/>
          <a:stretch>
            <a:fillRect/>
          </a:stretch>
        </p:blipFill>
        <p:spPr>
          <a:xfrm>
            <a:off x="6402836" y="828234"/>
            <a:ext cx="4981648" cy="5800691"/>
          </a:xfrm>
          <a:prstGeom prst="rect">
            <a:avLst/>
          </a:prstGeom>
        </p:spPr>
      </p:pic>
    </p:spTree>
    <p:extLst>
      <p:ext uri="{BB962C8B-B14F-4D97-AF65-F5344CB8AC3E}">
        <p14:creationId xmlns:p14="http://schemas.microsoft.com/office/powerpoint/2010/main" val="1411554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EB47A68-2895-E25B-9B4F-38FE01E650B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976E7DF-D203-8C1C-57E4-CE220230B31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E547B3-8F08-4299-1AED-2DC8AC1063C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D7F221CF-D065-C62F-2EC0-019A36958560}"/>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B485404-7105-9F62-D2B0-51865ABE755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A69F6A5-FD3A-FCA4-AAE3-C6FD182086A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3D31B0B-303A-E565-37E0-061397360A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F1BA5C6-ABD3-6383-E73E-6CED7816B5B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52031C6-94B7-46D7-7AC0-A9FAC835E52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AF890BF-F749-5496-B49A-A00B030A9816}"/>
              </a:ext>
            </a:extLst>
          </p:cNvPr>
          <p:cNvSpPr txBox="1"/>
          <p:nvPr/>
        </p:nvSpPr>
        <p:spPr>
          <a:xfrm>
            <a:off x="462279" y="8135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Sử dụng Two-way binding </a:t>
            </a:r>
            <a:r>
              <a:rPr lang="en-US" sz="2400">
                <a:solidFill>
                  <a:srgbClr val="FF0000"/>
                </a:solidFill>
                <a:latin typeface="Times New Roman" panose="02020603050405020304" pitchFamily="18" charset="0"/>
                <a:cs typeface="Times New Roman" panose="02020603050405020304" pitchFamily="18" charset="0"/>
              </a:rPr>
              <a:t>[(ngModel)] </a:t>
            </a:r>
            <a:r>
              <a:rPr lang="en-US" sz="2400">
                <a:latin typeface="Times New Roman" panose="02020603050405020304" pitchFamily="18" charset="0"/>
                <a:cs typeface="Times New Roman" panose="02020603050405020304" pitchFamily="18" charset="0"/>
              </a:rPr>
              <a:t>để đồng bộ dữ liệu giữa giao diện và class.</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Ta cần cài đặt thư viện </a:t>
            </a:r>
            <a:r>
              <a:rPr lang="en-US" sz="2400" b="1">
                <a:latin typeface="Times New Roman" panose="02020603050405020304" pitchFamily="18" charset="0"/>
                <a:cs typeface="Times New Roman" panose="02020603050405020304" pitchFamily="18" charset="0"/>
              </a:rPr>
              <a:t>FormsModule</a:t>
            </a:r>
            <a:r>
              <a:rPr lang="en-US" sz="2400">
                <a:latin typeface="Times New Roman" panose="02020603050405020304" pitchFamily="18" charset="0"/>
                <a:cs typeface="Times New Roman" panose="02020603050405020304" pitchFamily="18" charset="0"/>
              </a:rPr>
              <a:t> vào </a:t>
            </a:r>
            <a:r>
              <a:rPr lang="en-US" sz="2400" b="1">
                <a:latin typeface="Times New Roman" panose="02020603050405020304" pitchFamily="18" charset="0"/>
                <a:cs typeface="Times New Roman" panose="02020603050405020304" pitchFamily="18" charset="0"/>
              </a:rPr>
              <a:t>app-module.ts (nếu chưa có)</a:t>
            </a:r>
          </a:p>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1: </a:t>
            </a:r>
            <a:r>
              <a:rPr lang="en-US" sz="2400">
                <a:latin typeface="Times New Roman" panose="02020603050405020304" pitchFamily="18" charset="0"/>
                <a:cs typeface="Times New Roman" panose="02020603050405020304" pitchFamily="18" charset="0"/>
              </a:rPr>
              <a:t>Cài bổ sung thư viện </a:t>
            </a:r>
            <a:r>
              <a:rPr lang="en-US" sz="2400" b="1">
                <a:latin typeface="Times New Roman" panose="02020603050405020304" pitchFamily="18" charset="0"/>
                <a:cs typeface="Times New Roman" panose="02020603050405020304" pitchFamily="18" charset="0"/>
              </a:rPr>
              <a:t>FormsModule</a:t>
            </a:r>
            <a:r>
              <a:rPr lang="en-US" sz="2400">
                <a:latin typeface="Times New Roman" panose="02020603050405020304" pitchFamily="18" charset="0"/>
                <a:cs typeface="Times New Roman" panose="02020603050405020304" pitchFamily="18" charset="0"/>
              </a:rPr>
              <a:t> </a:t>
            </a:r>
            <a:endParaRPr lang="vi-VN"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C85F5CB-9A26-9B93-7251-7E4166CC7CA2}"/>
              </a:ext>
            </a:extLst>
          </p:cNvPr>
          <p:cNvSpPr txBox="1"/>
          <p:nvPr/>
        </p:nvSpPr>
        <p:spPr>
          <a:xfrm>
            <a:off x="1803461" y="2306064"/>
            <a:ext cx="9499347" cy="387286"/>
          </a:xfrm>
          <a:prstGeom prst="rect">
            <a:avLst/>
          </a:prstGeom>
          <a:noFill/>
        </p:spPr>
        <p:txBody>
          <a:bodyPr wrap="square">
            <a:spAutoFit/>
          </a:bodyPr>
          <a:lstStyle/>
          <a:p>
            <a:pPr>
              <a:lnSpc>
                <a:spcPts val="2250"/>
              </a:lnSpc>
              <a:buNone/>
            </a:pPr>
            <a:r>
              <a:rPr lang="en-US" sz="2000" b="0">
                <a:solidFill>
                  <a:srgbClr val="0000FF"/>
                </a:solidFill>
                <a:effectLst/>
                <a:latin typeface="Consolas" panose="020B0609020204030204" pitchFamily="49" charset="0"/>
              </a:rPr>
              <a:t>import</a:t>
            </a:r>
            <a:r>
              <a:rPr lang="en-US" sz="2000" b="0">
                <a:solidFill>
                  <a:srgbClr val="000000"/>
                </a:solidFill>
                <a:effectLst/>
                <a:latin typeface="Consolas" panose="020B0609020204030204" pitchFamily="49" charset="0"/>
              </a:rPr>
              <a:t> { FormsModule } </a:t>
            </a:r>
            <a:r>
              <a:rPr lang="en-US" sz="2000" b="0">
                <a:solidFill>
                  <a:srgbClr val="0000FF"/>
                </a:solidFill>
                <a:effectLst/>
                <a:latin typeface="Consolas" panose="020B0609020204030204" pitchFamily="49" charset="0"/>
              </a:rPr>
              <a:t>from</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'@angular/forms'</a:t>
            </a:r>
            <a:endParaRPr lang="en-US" sz="2000" b="0">
              <a:solidFill>
                <a:srgbClr val="000000"/>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D5024265-877D-9243-6006-6E04FB948B5C}"/>
              </a:ext>
            </a:extLst>
          </p:cNvPr>
          <p:cNvSpPr txBox="1"/>
          <p:nvPr/>
        </p:nvSpPr>
        <p:spPr>
          <a:xfrm>
            <a:off x="1695798" y="3528158"/>
            <a:ext cx="8580398" cy="372923"/>
          </a:xfrm>
          <a:prstGeom prst="rect">
            <a:avLst/>
          </a:prstGeom>
          <a:noFill/>
          <a:ln>
            <a:solidFill>
              <a:srgbClr val="FF000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imports: [BrowserModule, AppRoutingModule, </a:t>
            </a:r>
            <a:r>
              <a:rPr lang="en-US" sz="1800" b="0">
                <a:solidFill>
                  <a:srgbClr val="FF0000"/>
                </a:solidFill>
                <a:effectLst/>
                <a:latin typeface="Consolas" panose="020B0609020204030204" pitchFamily="49" charset="0"/>
              </a:rPr>
              <a:t>FormsModule</a:t>
            </a:r>
            <a:r>
              <a:rPr lang="en-US" sz="18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87801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B0C1761-3EF1-4E9D-3143-570C3C6439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C32C1C-C5E3-7F8A-3CF1-7729C37570B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9F778BF-D3D5-5BE8-2A39-F5ACD0D9F54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71768776-A241-9186-D28C-A6FCD8877722}"/>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C845922-5DC8-69E1-48B0-F50D62F4B2F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7D29A6C-5003-788B-E317-E046C6A846F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474E5E8-E227-5029-ADB8-EFA92F16C59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C8EA72-7428-B86A-A2AA-D9E5EB11B39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96A4ED8-27AD-7F2F-5F69-AC3B9955270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8EED262-C4E2-CFD9-8A1F-1C7B3EEA3724}"/>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Thiết lập các binding cho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3167E64-1E02-4B6A-0FFF-EECF7953E7B4}"/>
              </a:ext>
            </a:extLst>
          </p:cNvPr>
          <p:cNvSpPr txBox="1"/>
          <p:nvPr/>
        </p:nvSpPr>
        <p:spPr>
          <a:xfrm>
            <a:off x="542786" y="1275177"/>
            <a:ext cx="11310038" cy="5078313"/>
          </a:xfrm>
          <a:prstGeom prst="rect">
            <a:avLst/>
          </a:prstGeom>
          <a:noFill/>
          <a:ln>
            <a:solidFill>
              <a:srgbClr val="002060"/>
            </a:solidFill>
          </a:ln>
        </p:spPr>
        <p:txBody>
          <a:bodyPr wrap="square">
            <a:spAutoFit/>
          </a:bodyPr>
          <a:lstStyle/>
          <a:p>
            <a:pPr>
              <a:buNone/>
            </a:pP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"container mt-4"</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style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"max-width: 500px; border: 1px solid #ddd; padding: 20px; border-radius: 8px;"</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&lt;h2</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"text-center mb-4"</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Đăng ký khóa học</a:t>
            </a:r>
            <a:r>
              <a:rPr lang="en-US" sz="1800" b="0">
                <a:solidFill>
                  <a:srgbClr val="800000"/>
                </a:solidFill>
                <a:effectLst/>
                <a:latin typeface="Consolas" panose="020B0609020204030204" pitchFamily="49" charset="0"/>
              </a:rPr>
              <a:t>&lt;/h2&gt;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&lt;!-- 1. Gán biến #courseForm để Angular quản lý cả Form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#courseForm</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"ngForm"</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(ngSubmit)</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onSubmit(courseForm)</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Tên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Tên: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&lt;!-- 2. Thêm [(ngModel)] và thuộc tính name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"fullName"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tên"</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Email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Email:</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địa chỉ email"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1725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331E3DF-1A17-071D-289F-82742953DFA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14ECED6-7338-4536-2B65-334FBF7EEF5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FC4D09-E3E7-C3AA-B507-377E03756F1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4D516E26-59D6-AC1B-B925-EC37FF15A36C}"/>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9F9EBE7E-7410-7892-654E-91081A778F1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43BF415-6E08-60C8-817A-97FD1711A1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DF7EF22-403F-5816-0F6E-0A5B20A3E6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1BDA174-4946-EE81-8807-EC3446421AF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6DB8340-E035-DEEC-7D6F-FB250F7D873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BEBE4A-3AA5-0878-A6E8-4CE768D2918D}"/>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Thiết lập các binding cho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7A11E2B-3AAF-C87D-9D58-BD793032DA82}"/>
              </a:ext>
            </a:extLst>
          </p:cNvPr>
          <p:cNvSpPr txBox="1"/>
          <p:nvPr/>
        </p:nvSpPr>
        <p:spPr>
          <a:xfrm>
            <a:off x="542786" y="1327035"/>
            <a:ext cx="10842524" cy="4247317"/>
          </a:xfrm>
          <a:prstGeom prst="rect">
            <a:avLst/>
          </a:prstGeom>
          <a:noFill/>
          <a:ln>
            <a:solidFill>
              <a:srgbClr val="002060"/>
            </a:solidFill>
          </a:ln>
        </p:spPr>
        <p:txBody>
          <a:bodyPr wrap="square">
            <a:spAutoFit/>
          </a:bodyPr>
          <a:lstStyle/>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Điện thoại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Điện thoại:</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"phone"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Chọn khóa học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Chọn khóa học:</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&lt;select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"form-select"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"course"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"angular"</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Angular căn bản</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"nodejs"</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Node.js nâng cao</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"datascience"</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Data Science</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&lt;/select&gt;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573432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3B4C404-BDBC-0286-B142-35B2C270E5B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FD4E26-B9B3-DCFD-9CDD-7ED6C270737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83EFF84-53D8-81D6-C957-863CFC402C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2B162B6F-1A02-E019-DA2F-1169B0B9485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C99618F-F6E6-5F53-4A31-81AC1956F9E9}"/>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7EE9766-F51B-B2D7-09EF-9CC90B12E01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CC1D6BB-6BFD-76D4-810B-104080A6E5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E575C43-D70B-CEA7-E598-02B807F75D0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7E8B2C-BC83-087C-7281-5BFDA041E64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F164D79-C78C-3D63-4F68-FDA45154F24F}"/>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Thiết lập các binding cho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78CBBDF-5B42-359C-DAE4-4997E5C97658}"/>
              </a:ext>
            </a:extLst>
          </p:cNvPr>
          <p:cNvSpPr txBox="1"/>
          <p:nvPr/>
        </p:nvSpPr>
        <p:spPr>
          <a:xfrm>
            <a:off x="542786" y="1275177"/>
            <a:ext cx="11413166" cy="3970318"/>
          </a:xfrm>
          <a:prstGeom prst="rect">
            <a:avLst/>
          </a:prstGeom>
          <a:noFill/>
          <a:ln>
            <a:solidFill>
              <a:srgbClr val="002060"/>
            </a:solidFill>
          </a:ln>
        </p:spPr>
        <p:txBody>
          <a:bodyPr wrap="square">
            <a:spAutoFit/>
          </a:bodyPr>
          <a:lstStyle/>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Chọn ca học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 me-3"</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Chọn ca học:</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 form-check-inline"</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"radio"</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"shift"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Sáng</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 form-check-inline"</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"radio"</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"shift"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Tối</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081548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58BA132-A88C-6DBE-625D-4A3FC14C915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260C0B2-BFBE-E1F1-FC22-2BC0924BDA6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CC185C7-4429-627C-AED7-838CF1DA6B8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E257DEC4-9CFB-F63E-20A9-73346538F793}"/>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8497DEF-FFD2-33D4-7E57-4234F7DC1D6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044B978-3AD1-0144-F4FE-EB239BFFDA1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2EDBB38-AABE-6E93-F9FE-2CEF79DFB30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CDE0011-F735-D98E-C8ED-FB5EC571246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48D3D6C-B888-37D0-ECC3-059825E80AB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71E87A6-D747-A700-EB2B-E2E3C0477749}"/>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Thiết lập các binding cho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D8EFC48-4B1F-A8B5-13C7-DF4AD3EE5C2D}"/>
              </a:ext>
            </a:extLst>
          </p:cNvPr>
          <p:cNvSpPr txBox="1"/>
          <p:nvPr/>
        </p:nvSpPr>
        <p:spPr>
          <a:xfrm>
            <a:off x="542786" y="1275177"/>
            <a:ext cx="11413166" cy="3139321"/>
          </a:xfrm>
          <a:prstGeom prst="rect">
            <a:avLst/>
          </a:prstGeom>
          <a:noFill/>
          <a:ln>
            <a:solidFill>
              <a:srgbClr val="002060"/>
            </a:solidFill>
          </a:ln>
        </p:spPr>
        <p:txBody>
          <a:bodyPr wrap="square">
            <a:spAutoFit/>
          </a:bodyPr>
          <a:lstStyle/>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Đồng ý điều khoản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 form-check"</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"checkbox"</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"agree"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Đồng ý với điều khoản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Nút Submit - Chỉ sáng lên khi Form hợp lệ --&gt;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&lt;button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"submit"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"btn btn-primary w-25"</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[disabled]</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courseForm.invalid</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Submit</a:t>
            </a:r>
            <a:r>
              <a:rPr lang="en-US" sz="1800" b="0">
                <a:solidFill>
                  <a:srgbClr val="800000"/>
                </a:solidFill>
                <a:effectLst/>
                <a:latin typeface="Consolas" panose="020B0609020204030204" pitchFamily="49" charset="0"/>
              </a:rPr>
              <a:t>&lt;/button&gt;</a:t>
            </a:r>
            <a:endParaRPr lang="en-US" sz="1800" b="0">
              <a:solidFill>
                <a:srgbClr val="000000"/>
              </a:solidFill>
              <a:effectLst/>
              <a:latin typeface="Consolas" panose="020B0609020204030204" pitchFamily="49" charset="0"/>
            </a:endParaRPr>
          </a:p>
          <a:p>
            <a:pPr>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&lt;/form&gt;</a:t>
            </a:r>
            <a:endParaRPr lang="en-US" sz="1800" b="0">
              <a:solidFill>
                <a:srgbClr val="000000"/>
              </a:solidFill>
              <a:effectLst/>
              <a:latin typeface="Consolas" panose="020B0609020204030204" pitchFamily="49" charset="0"/>
            </a:endParaRPr>
          </a:p>
          <a:p>
            <a:pPr>
              <a:buNone/>
            </a:pP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73853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0654214-2B17-86BC-A418-2D76678707F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94BF54A-1952-BEA1-0EEA-EA66791347F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E32E657-A856-697F-56F3-E3BF6AAD033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5A5F6E24-870E-1F6F-9A5B-538A750A2CBE}"/>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D5CEE7A-EBDE-BC0F-F22E-BFAE9999C1C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8832711-8006-17AD-3ABD-00E8241C70A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1AF2E68-119F-3420-0633-2894AD47454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BC1CF50-F48F-8084-37EA-94216D82DCA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4BFEA33-127F-E733-A528-A9E087ED656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A39D7D7-FA70-897F-67DC-B15E191DFB44}"/>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3: course-registration-component.ts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C282980-4BD0-02E6-6E88-ADB5CF35AF27}"/>
              </a:ext>
            </a:extLst>
          </p:cNvPr>
          <p:cNvPicPr>
            <a:picLocks noChangeAspect="1"/>
          </p:cNvPicPr>
          <p:nvPr/>
        </p:nvPicPr>
        <p:blipFill>
          <a:blip r:embed="rId3"/>
          <a:stretch>
            <a:fillRect/>
          </a:stretch>
        </p:blipFill>
        <p:spPr>
          <a:xfrm>
            <a:off x="564686" y="1275177"/>
            <a:ext cx="5264451" cy="5145106"/>
          </a:xfrm>
          <a:prstGeom prst="rect">
            <a:avLst/>
          </a:prstGeom>
        </p:spPr>
      </p:pic>
    </p:spTree>
    <p:extLst>
      <p:ext uri="{BB962C8B-B14F-4D97-AF65-F5344CB8AC3E}">
        <p14:creationId xmlns:p14="http://schemas.microsoft.com/office/powerpoint/2010/main" val="333876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977FE3F-849F-6C16-1B62-E16E10D0726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74FC22-546A-B888-FF60-BEDB17F33D1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99493A4-36BF-A878-30A4-604EA7CCCB9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60CAAFE1-7E40-188E-617D-E225FA6B40AB}"/>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9861643-3441-EAEC-3964-E1901D6D7C0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0890364-D3B5-4C63-2C51-B946D80138F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C994D67-91EA-2407-7140-5D79EE0980F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CF50440-AFD9-F1B3-E630-E472C577CDF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30272E0-5B51-8D3A-5616-402E5FEE68E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14BAA4D-CB7F-5594-F36B-EF721F1CA6E4}"/>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4: </a:t>
            </a:r>
            <a:r>
              <a:rPr lang="en-US" sz="2400">
                <a:latin typeface="Times New Roman" panose="02020603050405020304" pitchFamily="18" charset="0"/>
                <a:cs typeface="Times New Roman" panose="02020603050405020304" pitchFamily="18" charset="0"/>
              </a:rPr>
              <a:t>Chạy Course Register</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29C729E-98C8-5D47-FFC1-F29E022EA43E}"/>
              </a:ext>
            </a:extLst>
          </p:cNvPr>
          <p:cNvPicPr>
            <a:picLocks noChangeAspect="1"/>
          </p:cNvPicPr>
          <p:nvPr/>
        </p:nvPicPr>
        <p:blipFill>
          <a:blip r:embed="rId3"/>
          <a:stretch>
            <a:fillRect/>
          </a:stretch>
        </p:blipFill>
        <p:spPr>
          <a:xfrm>
            <a:off x="4134317" y="1246048"/>
            <a:ext cx="4622829" cy="5382877"/>
          </a:xfrm>
          <a:prstGeom prst="rect">
            <a:avLst/>
          </a:prstGeom>
        </p:spPr>
      </p:pic>
    </p:spTree>
    <p:extLst>
      <p:ext uri="{BB962C8B-B14F-4D97-AF65-F5344CB8AC3E}">
        <p14:creationId xmlns:p14="http://schemas.microsoft.com/office/powerpoint/2010/main" val="4104651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1DF8F2-B5B7-E07A-DF0D-60B3D6186C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9F6AD3-D7E0-77E2-59B7-0CE869761FD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A3DF6ED-5044-B637-26F2-02CDBBDB2A1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FAE8AF89-3C41-0B5B-00AB-C1C34B7DB10D}"/>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7C1D04F-388F-89B7-4B86-920A77FD6AC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C4C549D-DD77-C95E-501C-CD4AD346564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FA2C4F0-EDB4-1A57-31D6-7F6D581AA29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0A17997-1943-5AB3-218F-D52F3A1B6CB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2EB54CD-2973-F89D-2AE2-55D2731106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A448483-CF11-B58A-0BD8-8B36894EFC38}"/>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4: </a:t>
            </a:r>
            <a:r>
              <a:rPr lang="en-US" sz="2400">
                <a:latin typeface="Times New Roman" panose="02020603050405020304" pitchFamily="18" charset="0"/>
                <a:cs typeface="Times New Roman" panose="02020603050405020304" pitchFamily="18" charset="0"/>
              </a:rPr>
              <a:t>Chạy Course Register</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61DF22A-D717-7662-F32F-CDFE86725AB6}"/>
              </a:ext>
            </a:extLst>
          </p:cNvPr>
          <p:cNvPicPr>
            <a:picLocks noChangeAspect="1"/>
          </p:cNvPicPr>
          <p:nvPr/>
        </p:nvPicPr>
        <p:blipFill>
          <a:blip r:embed="rId3"/>
          <a:stretch>
            <a:fillRect/>
          </a:stretch>
        </p:blipFill>
        <p:spPr>
          <a:xfrm>
            <a:off x="2296185" y="1271232"/>
            <a:ext cx="6091546" cy="2314533"/>
          </a:xfrm>
          <a:prstGeom prst="rect">
            <a:avLst/>
          </a:prstGeom>
        </p:spPr>
      </p:pic>
      <p:pic>
        <p:nvPicPr>
          <p:cNvPr id="11" name="Picture 10">
            <a:extLst>
              <a:ext uri="{FF2B5EF4-FFF2-40B4-BE49-F238E27FC236}">
                <a16:creationId xmlns:a16="http://schemas.microsoft.com/office/drawing/2014/main" id="{8D4AA80A-7898-AABC-8F07-D4E4A798C8C6}"/>
              </a:ext>
            </a:extLst>
          </p:cNvPr>
          <p:cNvPicPr>
            <a:picLocks noChangeAspect="1"/>
          </p:cNvPicPr>
          <p:nvPr/>
        </p:nvPicPr>
        <p:blipFill>
          <a:blip r:embed="rId4"/>
          <a:stretch>
            <a:fillRect/>
          </a:stretch>
        </p:blipFill>
        <p:spPr>
          <a:xfrm>
            <a:off x="2296186" y="3744834"/>
            <a:ext cx="6091546" cy="2559715"/>
          </a:xfrm>
          <a:prstGeom prst="rect">
            <a:avLst/>
          </a:prstGeom>
        </p:spPr>
      </p:pic>
    </p:spTree>
    <p:extLst>
      <p:ext uri="{BB962C8B-B14F-4D97-AF65-F5344CB8AC3E}">
        <p14:creationId xmlns:p14="http://schemas.microsoft.com/office/powerpoint/2010/main" val="1676259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9B277D-AA0A-B120-8531-9007FDCF450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12DD67F-4EB4-7C84-0FBA-18592531B87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DE15CB-2407-0788-DB9D-747DA009136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3E11EA30-1D73-9EDD-DE0A-208F8DDA332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FDA0674-5EBC-AE5A-3700-7B1317BDEC7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7654EAF-9D1E-2014-F2B2-599EEC57DA6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45B14D1-51C8-361C-AF86-394CC4E0BE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FA204CE-707F-C266-AA11-3F5F09B9E53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1260116-DDD4-D2F2-A901-63F2D59F24E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21F4952-74C4-9054-BD6A-CF45FD6E71C4}"/>
              </a:ext>
            </a:extLst>
          </p:cNvPr>
          <p:cNvSpPr txBox="1"/>
          <p:nvPr/>
        </p:nvSpPr>
        <p:spPr>
          <a:xfrm>
            <a:off x="462279" y="813512"/>
            <a:ext cx="11564547" cy="830997"/>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Nếu muốn làm mô hình hướng đối tượng để binding cho Course Register Form</a:t>
            </a:r>
          </a:p>
          <a:p>
            <a:pPr algn="just"/>
            <a:r>
              <a:rPr lang="en-US" sz="2400">
                <a:latin typeface="Times New Roman" panose="02020603050405020304" pitchFamily="18" charset="0"/>
                <a:cs typeface="Times New Roman" panose="02020603050405020304" pitchFamily="18" charset="0"/>
              </a:rPr>
              <a:t>Trong thư mục </a:t>
            </a:r>
            <a:r>
              <a:rPr lang="en-US" sz="2400" b="1">
                <a:latin typeface="Times New Roman" panose="02020603050405020304" pitchFamily="18" charset="0"/>
                <a:cs typeface="Times New Roman" panose="02020603050405020304" pitchFamily="18" charset="0"/>
              </a:rPr>
              <a:t>classes</a:t>
            </a:r>
            <a:r>
              <a:rPr lang="en-US" sz="2400">
                <a:latin typeface="Times New Roman" panose="02020603050405020304" pitchFamily="18" charset="0"/>
                <a:cs typeface="Times New Roman" panose="02020603050405020304" pitchFamily="18" charset="0"/>
              </a:rPr>
              <a:t>, tạo </a:t>
            </a:r>
            <a:r>
              <a:rPr lang="en-US" sz="2400" b="1">
                <a:latin typeface="Times New Roman" panose="02020603050405020304" pitchFamily="18" charset="0"/>
                <a:cs typeface="Times New Roman" panose="02020603050405020304" pitchFamily="18" charset="0"/>
              </a:rPr>
              <a:t>CourseRegistration.ts </a:t>
            </a:r>
            <a:r>
              <a:rPr lang="en-US" sz="2400">
                <a:latin typeface="Times New Roman" panose="02020603050405020304" pitchFamily="18" charset="0"/>
                <a:cs typeface="Times New Roman" panose="02020603050405020304" pitchFamily="18" charset="0"/>
              </a:rPr>
              <a:t>như dưới đây:</a:t>
            </a:r>
            <a:endParaRPr lang="vi-VN" sz="240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E962B5D-69A2-EEB2-0A7D-706DB4398BB0}"/>
              </a:ext>
            </a:extLst>
          </p:cNvPr>
          <p:cNvPicPr>
            <a:picLocks noChangeAspect="1"/>
          </p:cNvPicPr>
          <p:nvPr/>
        </p:nvPicPr>
        <p:blipFill>
          <a:blip r:embed="rId3"/>
          <a:stretch>
            <a:fillRect/>
          </a:stretch>
        </p:blipFill>
        <p:spPr>
          <a:xfrm>
            <a:off x="6508392" y="1644509"/>
            <a:ext cx="4955476" cy="4841954"/>
          </a:xfrm>
          <a:prstGeom prst="rect">
            <a:avLst/>
          </a:prstGeom>
        </p:spPr>
      </p:pic>
      <p:sp>
        <p:nvSpPr>
          <p:cNvPr id="16" name="TextBox 15">
            <a:extLst>
              <a:ext uri="{FF2B5EF4-FFF2-40B4-BE49-F238E27FC236}">
                <a16:creationId xmlns:a16="http://schemas.microsoft.com/office/drawing/2014/main" id="{3A5D3D47-952A-6BE1-D68E-605AF69EF1E5}"/>
              </a:ext>
            </a:extLst>
          </p:cNvPr>
          <p:cNvSpPr txBox="1"/>
          <p:nvPr/>
        </p:nvSpPr>
        <p:spPr>
          <a:xfrm>
            <a:off x="542786" y="1614470"/>
            <a:ext cx="5752891" cy="5016758"/>
          </a:xfrm>
          <a:prstGeom prst="rect">
            <a:avLst/>
          </a:prstGeom>
          <a:noFill/>
          <a:ln>
            <a:solidFill>
              <a:srgbClr val="002060"/>
            </a:solidFill>
          </a:ln>
        </p:spPr>
        <p:txBody>
          <a:bodyPr wrap="square">
            <a:spAutoFit/>
          </a:bodyPr>
          <a:lstStyle/>
          <a:p>
            <a:pPr>
              <a:buNone/>
            </a:pPr>
            <a:r>
              <a:rPr lang="en-US" sz="1600" b="0">
                <a:solidFill>
                  <a:srgbClr val="0000FF"/>
                </a:solidFill>
                <a:effectLst/>
                <a:latin typeface="Consolas" panose="020B0609020204030204" pitchFamily="49" charset="0"/>
              </a:rPr>
              <a:t>export</a:t>
            </a: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class</a:t>
            </a:r>
            <a:r>
              <a:rPr lang="en-US" sz="1600" b="0">
                <a:solidFill>
                  <a:srgbClr val="000000"/>
                </a:solidFill>
                <a:effectLst/>
                <a:latin typeface="Consolas" panose="020B0609020204030204" pitchFamily="49" charset="0"/>
              </a:rPr>
              <a:t> CourseRegistration {</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constructor</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fullName: string = </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email: string = </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phone: string = </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course: string = </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shift: string = </a:t>
            </a:r>
            <a:r>
              <a:rPr lang="en-US" sz="1600" b="0">
                <a:solidFill>
                  <a:srgbClr val="A31515"/>
                </a:solidFill>
                <a:effectLst/>
                <a:latin typeface="Consolas" panose="020B0609020204030204" pitchFamily="49" charset="0"/>
              </a:rPr>
              <a:t>'sang'</a:t>
            </a:r>
            <a:r>
              <a:rPr lang="en-US" sz="1600" b="0">
                <a:solidFill>
                  <a:srgbClr val="000000"/>
                </a:solidFill>
                <a:effectLst/>
                <a:latin typeface="Consolas" panose="020B0609020204030204" pitchFamily="49" charset="0"/>
              </a:rPr>
              <a:t>,</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public</a:t>
            </a:r>
            <a:r>
              <a:rPr lang="en-US" sz="1600" b="0">
                <a:solidFill>
                  <a:srgbClr val="000000"/>
                </a:solidFill>
                <a:effectLst/>
                <a:latin typeface="Consolas" panose="020B0609020204030204" pitchFamily="49" charset="0"/>
              </a:rPr>
              <a:t> agree: boolean = </a:t>
            </a:r>
            <a:r>
              <a:rPr lang="en-US" sz="1600" b="0">
                <a:solidFill>
                  <a:srgbClr val="0000FF"/>
                </a:solidFill>
                <a:effectLst/>
                <a:latin typeface="Consolas" panose="020B0609020204030204" pitchFamily="49" charset="0"/>
              </a:rPr>
              <a:t>true</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 {}</a:t>
            </a:r>
          </a:p>
          <a:p>
            <a:pPr>
              <a:buNone/>
            </a:pPr>
            <a:r>
              <a:rPr lang="en-US" sz="1600" b="0">
                <a:solidFill>
                  <a:srgbClr val="000000"/>
                </a:solidFill>
                <a:effectLst/>
                <a:latin typeface="Consolas" panose="020B0609020204030204" pitchFamily="49" charset="0"/>
              </a:rPr>
              <a:t>  getInfor():string</a:t>
            </a:r>
          </a:p>
          <a:p>
            <a:pPr>
              <a:buNone/>
            </a:pPr>
            <a:r>
              <a:rPr lang="en-US" sz="1600" b="0">
                <a:solidFill>
                  <a:srgbClr val="000000"/>
                </a:solidFill>
                <a:effectLst/>
                <a:latin typeface="Consolas" panose="020B0609020204030204" pitchFamily="49" charset="0"/>
              </a:rPr>
              <a:t>  {</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infor=</a:t>
            </a:r>
            <a:r>
              <a:rPr lang="en-US" sz="1600" b="0">
                <a:solidFill>
                  <a:srgbClr val="A31515"/>
                </a:solidFill>
                <a:effectLst/>
                <a:latin typeface="Consolas" panose="020B0609020204030204" pitchFamily="49" charset="0"/>
              </a:rPr>
              <a:t>"Full Name = "</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.fullName+</a:t>
            </a:r>
            <a:r>
              <a:rPr lang="en-US" sz="1600" b="0">
                <a:solidFill>
                  <a:srgbClr val="A31515"/>
                </a:solidFill>
                <a:effectLst/>
                <a:latin typeface="Consolas" panose="020B0609020204030204" pitchFamily="49" charset="0"/>
              </a:rPr>
              <a:t>"\n"</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"Email="</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.email+</a:t>
            </a:r>
            <a:r>
              <a:rPr lang="en-US" sz="1600" b="0">
                <a:solidFill>
                  <a:srgbClr val="A31515"/>
                </a:solidFill>
                <a:effectLst/>
                <a:latin typeface="Consolas" panose="020B0609020204030204" pitchFamily="49" charset="0"/>
              </a:rPr>
              <a:t>"\n"</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"Phone="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.phone+</a:t>
            </a:r>
            <a:r>
              <a:rPr lang="en-US" sz="1600" b="0">
                <a:solidFill>
                  <a:srgbClr val="A31515"/>
                </a:solidFill>
                <a:effectLst/>
                <a:latin typeface="Consolas" panose="020B0609020204030204" pitchFamily="49" charset="0"/>
              </a:rPr>
              <a:t>"\n"</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"Course="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.course+</a:t>
            </a:r>
            <a:r>
              <a:rPr lang="en-US" sz="1600" b="0">
                <a:solidFill>
                  <a:srgbClr val="A31515"/>
                </a:solidFill>
                <a:effectLst/>
                <a:latin typeface="Consolas" panose="020B0609020204030204" pitchFamily="49" charset="0"/>
              </a:rPr>
              <a:t>"\n"</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"Shift="</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.shift+</a:t>
            </a:r>
            <a:r>
              <a:rPr lang="en-US" sz="1600" b="0">
                <a:solidFill>
                  <a:srgbClr val="A31515"/>
                </a:solidFill>
                <a:effectLst/>
                <a:latin typeface="Consolas" panose="020B0609020204030204" pitchFamily="49" charset="0"/>
              </a:rPr>
              <a:t>"\n"</a:t>
            </a:r>
            <a:endParaRPr lang="en-US" sz="1600" b="0">
              <a:solidFill>
                <a:srgbClr val="000000"/>
              </a:solidFill>
              <a:effectLst/>
              <a:latin typeface="Consolas" panose="020B0609020204030204" pitchFamily="49" charset="0"/>
            </a:endParaRPr>
          </a:p>
          <a:p>
            <a:pPr>
              <a:buNone/>
            </a:pP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"Agree="</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this</a:t>
            </a:r>
            <a:r>
              <a:rPr lang="en-US" sz="1600" b="0">
                <a:solidFill>
                  <a:srgbClr val="000000"/>
                </a:solidFill>
                <a:effectLst/>
                <a:latin typeface="Consolas" panose="020B0609020204030204" pitchFamily="49" charset="0"/>
              </a:rPr>
              <a:t>.agree</a:t>
            </a:r>
          </a:p>
          <a:p>
            <a:pPr>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return</a:t>
            </a:r>
            <a:r>
              <a:rPr lang="en-US" sz="1600" b="0">
                <a:solidFill>
                  <a:srgbClr val="000000"/>
                </a:solidFill>
                <a:effectLst/>
                <a:latin typeface="Consolas" panose="020B0609020204030204" pitchFamily="49" charset="0"/>
              </a:rPr>
              <a:t> infor</a:t>
            </a:r>
          </a:p>
          <a:p>
            <a:pPr>
              <a:buNone/>
            </a:pPr>
            <a:r>
              <a:rPr lang="en-US" sz="1600" b="0">
                <a:solidFill>
                  <a:srgbClr val="000000"/>
                </a:solidFill>
                <a:effectLst/>
                <a:latin typeface="Consolas" panose="020B0609020204030204" pitchFamily="49" charset="0"/>
              </a:rPr>
              <a:t>  }</a:t>
            </a:r>
          </a:p>
          <a:p>
            <a:pPr>
              <a:buNone/>
            </a:pPr>
            <a:r>
              <a:rPr lang="en-US" sz="16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95264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493B9EB-812A-0170-06AA-0CA3C91EA90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7EA3361-40B2-FED2-989E-7E447E18CC8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E766A8B-4DA2-A90A-5303-A43C38724F0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EF7BFC64-1A74-AF9E-2E4B-070C34CB94B6}"/>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F60012DB-9736-F739-EA6E-8C07CCA24F1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F8B0C68-DB4E-7763-2808-112B16914E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E04085-FB19-DB13-7CC6-5DA27AE535B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A80640-FC62-D663-68BD-58352720BE1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7375541-A4BA-7858-8307-9AC6292269A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F784580-FE8B-3DF3-6CFE-0A5073FFFD63}"/>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6: </a:t>
            </a:r>
            <a:r>
              <a:rPr lang="en-US" sz="2400">
                <a:latin typeface="Times New Roman" panose="02020603050405020304" pitchFamily="18" charset="0"/>
                <a:cs typeface="Times New Roman" panose="02020603050405020304" pitchFamily="18" charset="0"/>
              </a:rPr>
              <a:t>Hiệu chỉnh course-registration.component.ts</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5EC97C5-E6C8-B333-F1EE-7BD3EAD647B2}"/>
              </a:ext>
            </a:extLst>
          </p:cNvPr>
          <p:cNvPicPr>
            <a:picLocks noChangeAspect="1"/>
          </p:cNvPicPr>
          <p:nvPr/>
        </p:nvPicPr>
        <p:blipFill>
          <a:blip r:embed="rId3"/>
          <a:stretch>
            <a:fillRect/>
          </a:stretch>
        </p:blipFill>
        <p:spPr>
          <a:xfrm>
            <a:off x="817153" y="1327035"/>
            <a:ext cx="6853345" cy="4998611"/>
          </a:xfrm>
          <a:prstGeom prst="rect">
            <a:avLst/>
          </a:prstGeom>
        </p:spPr>
      </p:pic>
    </p:spTree>
    <p:extLst>
      <p:ext uri="{BB962C8B-B14F-4D97-AF65-F5344CB8AC3E}">
        <p14:creationId xmlns:p14="http://schemas.microsoft.com/office/powerpoint/2010/main" val="3624626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4A70687-9DD2-12B3-F4A5-465ED77101A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908B559-7667-B1DF-5085-4FAB1843A1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DC90628-6D51-46EB-8FA1-7AFE90BB54D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87AF89B3-41AD-1C7C-A505-9FEB489DD79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B444927-122C-85C7-CE42-2B4BD922296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EC64061-4E60-98E3-53E7-2CC96379FD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18A3DA1-36EE-B994-2D7D-C67AF041D10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744FB9F-45E0-CB72-92AA-0651A4D266D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E143A68-D5BF-0445-0BF8-8BFC108AD50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B16A0EE-5582-0CC4-63CF-36F9E4FD7278}"/>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Hiệu chỉnh course-registration.component.html</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C03E422-039B-A0E4-D39E-AE274BEE37C4}"/>
              </a:ext>
            </a:extLst>
          </p:cNvPr>
          <p:cNvSpPr txBox="1"/>
          <p:nvPr/>
        </p:nvSpPr>
        <p:spPr>
          <a:xfrm>
            <a:off x="542786" y="1233483"/>
            <a:ext cx="11298694" cy="5092163"/>
          </a:xfrm>
          <a:prstGeom prst="rect">
            <a:avLst/>
          </a:prstGeom>
          <a:noFill/>
          <a:ln>
            <a:solidFill>
              <a:srgbClr val="002060"/>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"container mt-4"</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style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"max-width: 500px; border: 1px solid #ddd; padding: 20px; border-radius: 8px;"</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&lt;h2</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"text-center mb-4"</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Đăng ký khóa học</a:t>
            </a:r>
            <a:r>
              <a:rPr lang="en-US" sz="1800" b="0">
                <a:solidFill>
                  <a:srgbClr val="800000"/>
                </a:solidFill>
                <a:effectLst/>
                <a:latin typeface="Consolas" panose="020B0609020204030204" pitchFamily="49" charset="0"/>
              </a:rPr>
              <a:t>&lt;/h2&gt;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#courseForm</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"ngForm"</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(ngSubmit)</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onSubmit()</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Tên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Tên: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"fullName"</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courseModel.fullName</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tên"</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Email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Email:</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"email"</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courseModel.email</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email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placeholder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"Nhập địa chỉ email"</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399040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7B5067E-09CD-6376-8786-F9175BF213C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6860F22-EE6B-937E-86CB-DAA9721C630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2B51DD3-416D-6405-C7B2-BF5396CEA05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CE25C5A1-1CE0-B321-1B26-6D6F75266476}"/>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5A7986B1-5475-179F-70BD-6FF518EA29E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9180A55-1AA6-B58D-002D-0EE0ABC8B81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29D702-ACB9-297F-D673-3CD9FC8B764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BB80B93-B017-A714-C03C-8D4FEA29059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D79E337-D445-9247-BFC3-EF8D704D051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8C907E3-15B7-C852-8FD3-0815EC3C7336}"/>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Hiệu chỉnh course-registration.component.html</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F0BDAE0-F3CD-3DC9-F5DF-A824CC091CB4}"/>
              </a:ext>
            </a:extLst>
          </p:cNvPr>
          <p:cNvSpPr txBox="1"/>
          <p:nvPr/>
        </p:nvSpPr>
        <p:spPr>
          <a:xfrm>
            <a:off x="542786" y="1275177"/>
            <a:ext cx="11298694" cy="5092163"/>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Điện thoại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Điện thoại:</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"form-control"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"phone"</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courseModel.phone</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Chọn khóa học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Chọn khóa học:</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&lt;select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"form-select"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"course"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courseModel.course</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"angular"</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Angular căn bản</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"nodejs"</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Node.js nâng cao</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&lt;option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"datascience"</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Data Science</a:t>
            </a:r>
            <a:r>
              <a:rPr lang="en-US" sz="1800" b="0">
                <a:solidFill>
                  <a:srgbClr val="800000"/>
                </a:solidFill>
                <a:effectLst/>
                <a:latin typeface="Consolas" panose="020B0609020204030204" pitchFamily="49" charset="0"/>
              </a:rPr>
              <a:t>&lt;/option&gt;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&lt;/select&gt;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8476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7E90417-BCA9-40B3-69A2-F0CC0A09AD1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D62E9CB-5C6D-0786-4B5E-C13D559637F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D883464-0374-96AA-F56E-7D4463B761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F8AAA683-F950-45D5-3A09-29ABB4A3E7D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FE8F88C-270F-739D-4C04-5D142B914FE1}"/>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3A7212C-BE5B-6083-D23F-CDAADF058EB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C0BB598-D6A1-D53C-D34D-2EDE1F3FBE3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BED1098-271C-B8C4-3BCF-62B7F962E0D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2333111-5733-06D8-EC67-14601E6B7E4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FC5DA08-8239-554B-4915-672768F17B04}"/>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Hiệu chỉnh course-registration.component.html</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E0E26F4-173F-AA19-2839-A1231BE767A4}"/>
              </a:ext>
            </a:extLst>
          </p:cNvPr>
          <p:cNvSpPr txBox="1"/>
          <p:nvPr/>
        </p:nvSpPr>
        <p:spPr>
          <a:xfrm>
            <a:off x="542786" y="1275177"/>
            <a:ext cx="11298694" cy="4207306"/>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Chọn ca học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"form-label me-3"</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Chọn ca học:</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 form-check-inline"</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"radio"</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"shift"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courseModel.shift</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"sang"</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Sáng</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 form-check-inline"</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"radio"</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"shift"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value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courseModel.shift</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"toi"</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Tối</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85794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C5FE72F-2678-C9BF-7627-6BDE345FCC4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36FC5E2-238F-52E4-638C-2A1328E0CB5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5D9FD87-608D-0832-6066-63CBBFFEF2B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0B8356AB-7A3C-62A0-01FF-0F13318B9A4F}"/>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69479E3-CF4A-5882-2DA5-A6958AB1107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7853A4B-D102-0093-6A2F-699646F9B60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49E3326-A950-3CA5-FFE6-E58C888A2D6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59F0666-A8A2-5F14-2891-3A06D615C1F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48B99F1-9A25-5A64-9FB2-41767B4E860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1DEA0A3-93B1-39C0-6105-6E0CCCEAC2C2}"/>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Hiệu chỉnh course-registration.component.html</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031C6C6-5AD1-22B8-F383-12A22FE1D8E4}"/>
              </a:ext>
            </a:extLst>
          </p:cNvPr>
          <p:cNvSpPr txBox="1"/>
          <p:nvPr/>
        </p:nvSpPr>
        <p:spPr>
          <a:xfrm>
            <a:off x="595205" y="1275177"/>
            <a:ext cx="11298694" cy="5092163"/>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Đồng ý điều khoản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"mb-3 form-check"</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"checkbox"</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"form-check-input"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name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"agree"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id</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[(ngModel)]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courseModel.agree</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required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"form-check-label"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for</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"checkTerms"</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Đồng ý với điều khoản</a:t>
            </a:r>
            <a:r>
              <a:rPr lang="en-US" sz="1800" b="0">
                <a:solidFill>
                  <a:srgbClr val="800000"/>
                </a:solidFill>
                <a:effectLst/>
                <a:latin typeface="Consolas" panose="020B0609020204030204" pitchFamily="49" charset="0"/>
              </a:rPr>
              <a:t>&lt;/label&gt;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Nút Submit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&lt;button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type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"submit"</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"btn btn-primary w-25"</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[disabled]</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courseForm.invalid</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Submit</a:t>
            </a:r>
            <a:r>
              <a:rPr lang="en-US" sz="1800" b="0">
                <a:solidFill>
                  <a:srgbClr val="800000"/>
                </a:solidFill>
                <a:effectLst/>
                <a:latin typeface="Consolas" panose="020B0609020204030204" pitchFamily="49" charset="0"/>
              </a:rPr>
              <a:t>&lt;/button&gt;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8000"/>
                </a:solidFill>
                <a:effectLst/>
                <a:latin typeface="Consolas" panose="020B0609020204030204" pitchFamily="49" charset="0"/>
              </a:rPr>
              <a:t>&lt;!-- Khu vực hiển thị Debug dữ liệu cho sinh viên xem (Tùy chọn) --&gt;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&lt;hr&gt;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"mt-3 p-2 bg-light border border-info rounded"</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&lt;small</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"text-primary"</a:t>
            </a:r>
            <a:r>
              <a:rPr lang="en-US" sz="1800" b="0">
                <a:solidFill>
                  <a:srgbClr val="800000"/>
                </a:solidFill>
                <a:effectLst/>
                <a:latin typeface="Consolas" panose="020B0609020204030204" pitchFamily="49" charset="0"/>
              </a:rPr>
              <a:t>&gt;&lt;b&gt;</a:t>
            </a:r>
            <a:r>
              <a:rPr lang="en-US" sz="1800" b="0">
                <a:solidFill>
                  <a:srgbClr val="000000"/>
                </a:solidFill>
                <a:effectLst/>
                <a:latin typeface="Consolas" panose="020B0609020204030204" pitchFamily="49" charset="0"/>
              </a:rPr>
              <a:t>Trạng thái Object hiện tại:</a:t>
            </a:r>
            <a:r>
              <a:rPr lang="en-US" sz="1800" b="0">
                <a:solidFill>
                  <a:srgbClr val="800000"/>
                </a:solidFill>
                <a:effectLst/>
                <a:latin typeface="Consolas" panose="020B0609020204030204" pitchFamily="49" charset="0"/>
              </a:rPr>
              <a:t>&lt;/b&gt;&lt;/small&gt;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&lt;pre</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class</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"mb-0"</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style</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"font-size: 11px;"</a:t>
            </a:r>
            <a:r>
              <a:rPr lang="en-US" sz="1800" b="0">
                <a:solidFill>
                  <a:srgbClr val="800000"/>
                </a:solidFill>
                <a:effectLst/>
                <a:latin typeface="Consolas" panose="020B0609020204030204" pitchFamily="49" charset="0"/>
              </a:rPr>
              <a:t>&gt;</a:t>
            </a:r>
            <a:r>
              <a:rPr lang="en-US" sz="1800" b="0">
                <a:solidFill>
                  <a:srgbClr val="000000"/>
                </a:solidFill>
                <a:effectLst/>
                <a:latin typeface="Consolas" panose="020B0609020204030204" pitchFamily="49" charset="0"/>
              </a:rPr>
              <a:t>{{ courseModel | json }}</a:t>
            </a:r>
            <a:r>
              <a:rPr lang="en-US" sz="1800" b="0">
                <a:solidFill>
                  <a:srgbClr val="800000"/>
                </a:solidFill>
                <a:effectLst/>
                <a:latin typeface="Consolas" panose="020B0609020204030204" pitchFamily="49" charset="0"/>
              </a:rPr>
              <a:t>&lt;/pre&gt;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&lt;/form&gt;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800000"/>
                </a:solidFill>
                <a:effectLst/>
                <a:latin typeface="Consolas" panose="020B0609020204030204" pitchFamily="49" charset="0"/>
              </a:rPr>
              <a:t>&lt;/div&gt;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90699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02E175A-5681-C5B0-8CC1-29A8D74EC99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ABBD5D9-865E-9C1D-2852-D13531B1070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C0B1F21-13AC-24E3-0E15-890C48BF13A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41A4E179-081B-74EF-EF94-0E4F5342F821}"/>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2D6E6DE4-1F6F-52DA-4023-11A8EC0D7FC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21847C6-138F-FAE2-C873-BCA75FDD759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D785E0-F6E4-280F-A8EB-599302DD67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B036B4A-DE42-3235-0ECE-663DE8B92D9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1ED323-6F89-37FC-B4CD-0E6889C6566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8B3B76F-16BC-FC2B-A657-BE0CD9FA82F3}"/>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8: </a:t>
            </a:r>
            <a:r>
              <a:rPr lang="en-US" sz="2400">
                <a:latin typeface="Times New Roman" panose="02020603050405020304" pitchFamily="18" charset="0"/>
                <a:cs typeface="Times New Roman" panose="02020603050405020304" pitchFamily="18" charset="0"/>
              </a:rPr>
              <a:t>Lưu và chạy lại Course Registration</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1E1AE11-7DED-1A5B-C341-93A6666F406B}"/>
              </a:ext>
            </a:extLst>
          </p:cNvPr>
          <p:cNvPicPr>
            <a:picLocks noChangeAspect="1"/>
          </p:cNvPicPr>
          <p:nvPr/>
        </p:nvPicPr>
        <p:blipFill>
          <a:blip r:embed="rId3"/>
          <a:stretch>
            <a:fillRect/>
          </a:stretch>
        </p:blipFill>
        <p:spPr>
          <a:xfrm>
            <a:off x="5469466" y="1275177"/>
            <a:ext cx="4428103" cy="5443225"/>
          </a:xfrm>
          <a:prstGeom prst="rect">
            <a:avLst/>
          </a:prstGeom>
        </p:spPr>
      </p:pic>
      <p:pic>
        <p:nvPicPr>
          <p:cNvPr id="14" name="Picture 13">
            <a:extLst>
              <a:ext uri="{FF2B5EF4-FFF2-40B4-BE49-F238E27FC236}">
                <a16:creationId xmlns:a16="http://schemas.microsoft.com/office/drawing/2014/main" id="{BD9D2D20-EC2D-CB05-78FD-F5C4ABF095FC}"/>
              </a:ext>
            </a:extLst>
          </p:cNvPr>
          <p:cNvPicPr>
            <a:picLocks noChangeAspect="1"/>
          </p:cNvPicPr>
          <p:nvPr/>
        </p:nvPicPr>
        <p:blipFill>
          <a:blip r:embed="rId4"/>
          <a:stretch>
            <a:fillRect/>
          </a:stretch>
        </p:blipFill>
        <p:spPr>
          <a:xfrm>
            <a:off x="1096072" y="2068107"/>
            <a:ext cx="4115321" cy="2260228"/>
          </a:xfrm>
          <a:prstGeom prst="rect">
            <a:avLst/>
          </a:prstGeom>
        </p:spPr>
      </p:pic>
    </p:spTree>
    <p:extLst>
      <p:ext uri="{BB962C8B-B14F-4D97-AF65-F5344CB8AC3E}">
        <p14:creationId xmlns:p14="http://schemas.microsoft.com/office/powerpoint/2010/main" val="4242811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9E2725E-AAF4-DAE5-12EA-6D0638D6FF4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4D20A8E-7638-9F3C-4B7D-D85EE56A28C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EB5F7AC-286F-CCF6-EACF-1B878B3C9F8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45AEA7B0-A023-E99B-3AE5-0B44ED4609D6}"/>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E6AC90C1-0538-08AF-D537-90625D0C0D03}"/>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433C834-E30A-8107-1F33-2A48C544093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880D3CB-893F-804B-B1FA-FFD083C4389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D3E7FF9-1526-CFE1-E79A-F6C5CE05EA4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4ED579-B0CA-CDDF-44CF-1AF46844F15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A48CB33-4AAD-EAA5-31B2-6D6FBBF02CA6}"/>
              </a:ext>
            </a:extLst>
          </p:cNvPr>
          <p:cNvSpPr txBox="1"/>
          <p:nvPr/>
        </p:nvSpPr>
        <p:spPr>
          <a:xfrm>
            <a:off x="462279" y="8135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Angular tự động theo dõi trạng thái của các ô nhập liệu (</a:t>
            </a:r>
            <a:r>
              <a:rPr lang="en-US" sz="2400" b="1">
                <a:latin typeface="Times New Roman" panose="02020603050405020304" pitchFamily="18" charset="0"/>
                <a:cs typeface="Times New Roman" panose="02020603050405020304" pitchFamily="18" charset="0"/>
              </a:rPr>
              <a:t>ngModel</a:t>
            </a:r>
            <a:r>
              <a:rPr lang="en-US" sz="2400">
                <a:latin typeface="Times New Roman" panose="02020603050405020304" pitchFamily="18" charset="0"/>
                <a:cs typeface="Times New Roman" panose="02020603050405020304" pitchFamily="18" charset="0"/>
              </a:rPr>
              <a:t>) thông qua các cặp trạng thái đối lập. Ta có thể dựa vào các trạng thái này để hiển thị thông báo lỗi hoặc thay đổi kiểu dáng (CSS).</a:t>
            </a:r>
            <a:endParaRPr lang="vi-VN" sz="240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4BA372C5-F096-CC1A-1C85-BA4F66317FCE}"/>
              </a:ext>
            </a:extLst>
          </p:cNvPr>
          <p:cNvGraphicFramePr>
            <a:graphicFrameLocks noGrp="1"/>
          </p:cNvGraphicFramePr>
          <p:nvPr>
            <p:extLst>
              <p:ext uri="{D42A27DB-BD31-4B8C-83A1-F6EECF244321}">
                <p14:modId xmlns:p14="http://schemas.microsoft.com/office/powerpoint/2010/main" val="1814852186"/>
              </p:ext>
            </p:extLst>
          </p:nvPr>
        </p:nvGraphicFramePr>
        <p:xfrm>
          <a:off x="986752" y="2083451"/>
          <a:ext cx="10515600" cy="3108960"/>
        </p:xfrm>
        <a:graphic>
          <a:graphicData uri="http://schemas.openxmlformats.org/drawingml/2006/table">
            <a:tbl>
              <a:tblPr>
                <a:tableStyleId>{5940675A-B579-460E-94D1-54222C63F5DA}</a:tableStyleId>
              </a:tblPr>
              <a:tblGrid>
                <a:gridCol w="1577693">
                  <a:extLst>
                    <a:ext uri="{9D8B030D-6E8A-4147-A177-3AD203B41FA5}">
                      <a16:colId xmlns:a16="http://schemas.microsoft.com/office/drawing/2014/main" val="27110447"/>
                    </a:ext>
                  </a:extLst>
                </a:gridCol>
                <a:gridCol w="2811952">
                  <a:extLst>
                    <a:ext uri="{9D8B030D-6E8A-4147-A177-3AD203B41FA5}">
                      <a16:colId xmlns:a16="http://schemas.microsoft.com/office/drawing/2014/main" val="3178244650"/>
                    </a:ext>
                  </a:extLst>
                </a:gridCol>
                <a:gridCol w="2447567">
                  <a:extLst>
                    <a:ext uri="{9D8B030D-6E8A-4147-A177-3AD203B41FA5}">
                      <a16:colId xmlns:a16="http://schemas.microsoft.com/office/drawing/2014/main" val="827879005"/>
                    </a:ext>
                  </a:extLst>
                </a:gridCol>
                <a:gridCol w="3678388">
                  <a:extLst>
                    <a:ext uri="{9D8B030D-6E8A-4147-A177-3AD203B41FA5}">
                      <a16:colId xmlns:a16="http://schemas.microsoft.com/office/drawing/2014/main" val="3397550365"/>
                    </a:ext>
                  </a:extLst>
                </a:gridCol>
              </a:tblGrid>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Trạng thái</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Class nếu Đúng (True)</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Class nếu Sai (False)</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Ý nghĩa</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1893081284"/>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Visited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ng-touched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ng-untouched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000">
                          <a:solidFill>
                            <a:srgbClr val="1F1F1F"/>
                          </a:solidFill>
                          <a:effectLst/>
                          <a:latin typeface="Times New Roman" panose="02020603050405020304" pitchFamily="18" charset="0"/>
                          <a:cs typeface="Times New Roman" panose="02020603050405020304" pitchFamily="18" charset="0"/>
                        </a:rPr>
                        <a:t>Người dùng đã nhấn vào và thoát ra khỏi ô đó chưa.</a:t>
                      </a:r>
                    </a:p>
                  </a:txBody>
                  <a:tcPr marT="121920" marB="121920" anchor="ctr"/>
                </a:tc>
                <a:extLst>
                  <a:ext uri="{0D108BD9-81ED-4DB2-BD59-A6C34878D82A}">
                    <a16:rowId xmlns:a16="http://schemas.microsoft.com/office/drawing/2014/main" val="1307366806"/>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Changed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ng-dirty</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ng-pristine</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000">
                          <a:solidFill>
                            <a:srgbClr val="1F1F1F"/>
                          </a:solidFill>
                          <a:effectLst/>
                          <a:latin typeface="Times New Roman" panose="02020603050405020304" pitchFamily="18" charset="0"/>
                          <a:cs typeface="Times New Roman" panose="02020603050405020304" pitchFamily="18" charset="0"/>
                        </a:rPr>
                        <a:t>Giá trị trong ô đã bị thay đổi so với ban đầu chưa.</a:t>
                      </a:r>
                    </a:p>
                  </a:txBody>
                  <a:tcPr marT="121920" marB="121920" anchor="ctr"/>
                </a:tc>
                <a:extLst>
                  <a:ext uri="{0D108BD9-81ED-4DB2-BD59-A6C34878D82A}">
                    <a16:rowId xmlns:a16="http://schemas.microsoft.com/office/drawing/2014/main" val="3389933009"/>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Valid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ng-valid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444746"/>
                          </a:solidFill>
                          <a:effectLst/>
                          <a:latin typeface="Times New Roman" panose="02020603050405020304" pitchFamily="18" charset="0"/>
                          <a:cs typeface="Times New Roman" panose="02020603050405020304" pitchFamily="18" charset="0"/>
                        </a:rPr>
                        <a:t>ng-invalid</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1F1F1F"/>
                          </a:solidFill>
                          <a:effectLst/>
                          <a:latin typeface="Times New Roman" panose="02020603050405020304" pitchFamily="18" charset="0"/>
                          <a:cs typeface="Times New Roman" panose="02020603050405020304" pitchFamily="18" charset="0"/>
                        </a:rPr>
                        <a:t>Giá trị hiện tại có thỏa mãn các quy tắc validation không.</a:t>
                      </a:r>
                    </a:p>
                  </a:txBody>
                  <a:tcPr marT="121920" marB="121920" anchor="ctr"/>
                </a:tc>
                <a:extLst>
                  <a:ext uri="{0D108BD9-81ED-4DB2-BD59-A6C34878D82A}">
                    <a16:rowId xmlns:a16="http://schemas.microsoft.com/office/drawing/2014/main" val="2067938679"/>
                  </a:ext>
                </a:extLst>
              </a:tr>
            </a:tbl>
          </a:graphicData>
        </a:graphic>
      </p:graphicFrame>
    </p:spTree>
    <p:extLst>
      <p:ext uri="{BB962C8B-B14F-4D97-AF65-F5344CB8AC3E}">
        <p14:creationId xmlns:p14="http://schemas.microsoft.com/office/powerpoint/2010/main" val="158352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225EBA-88CD-627A-C824-18EACAC15D4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AF6686-7BA2-E33A-95C2-6047451548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11F66D8-6F46-2305-E5E1-048F43F3EB3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0615B067-254B-838D-A508-E53249C9DBB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CADA112-1053-4B0E-ABCF-D5C8C343B5F4}"/>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BD3FF33-05C8-7DA3-6ACE-2E1D1459447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7B7E44D-8D7A-7725-245D-1B4821DF8CD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B1AAF3F-C86E-E90F-4AC7-52F712D60AD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3BA2222-376F-9BDE-7A59-4E9956C7780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A31FC7B-CCB2-49C5-6B4A-27F294E8AF4B}"/>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Để thực hiện validation,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cần thực hiện 3 bước kỹ thuật sau:</a:t>
            </a:r>
          </a:p>
        </p:txBody>
      </p:sp>
      <p:sp>
        <p:nvSpPr>
          <p:cNvPr id="11" name="TextBox 10">
            <a:extLst>
              <a:ext uri="{FF2B5EF4-FFF2-40B4-BE49-F238E27FC236}">
                <a16:creationId xmlns:a16="http://schemas.microsoft.com/office/drawing/2014/main" id="{152AC3FA-B8CE-D428-0071-43DBACC7F2C2}"/>
              </a:ext>
            </a:extLst>
          </p:cNvPr>
          <p:cNvSpPr txBox="1"/>
          <p:nvPr/>
        </p:nvSpPr>
        <p:spPr>
          <a:xfrm>
            <a:off x="564686" y="1315088"/>
            <a:ext cx="11185010" cy="4524315"/>
          </a:xfrm>
          <a:prstGeom prst="rect">
            <a:avLst/>
          </a:prstGeom>
          <a:noFill/>
        </p:spPr>
        <p:txBody>
          <a:bodyPr wrap="square">
            <a:spAutoFit/>
          </a:bodyPr>
          <a:lstStyle/>
          <a:p>
            <a:pPr marL="342900" indent="-342900">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1. Khai báo Template Variable cho Control</a:t>
            </a:r>
          </a:p>
          <a:p>
            <a:pPr>
              <a:buNone/>
            </a:pP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cần đặt một biến (ví dụ #name="ngModel") để có thể truy cập vào các thuộc tính trạng thái như valid, invalid, touched, errors.</a:t>
            </a:r>
          </a:p>
          <a:p>
            <a:pPr marL="342900" indent="-342900">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 Sử dụng thuộc tính Validation tiêu chuẩn</a:t>
            </a:r>
          </a:p>
          <a:p>
            <a:pPr>
              <a:buNone/>
            </a:pPr>
            <a:r>
              <a:rPr lang="vi-VN" sz="2400">
                <a:latin typeface="Times New Roman" panose="02020603050405020304" pitchFamily="18" charset="0"/>
                <a:cs typeface="Times New Roman" panose="02020603050405020304" pitchFamily="18" charset="0"/>
              </a:rPr>
              <a:t>Angular tích hợp sẵn các thuộc tính HTML5:</a:t>
            </a:r>
          </a:p>
          <a:p>
            <a:pPr marL="342900"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required: Bắt buộc nhập.</a:t>
            </a:r>
          </a:p>
          <a:p>
            <a:pPr marL="342900"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email: Phải đúng định dạng email.</a:t>
            </a:r>
          </a:p>
          <a:p>
            <a:pPr marL="342900"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minlength, maxlength: Độ dài chuỗi.</a:t>
            </a:r>
          </a:p>
          <a:p>
            <a:pPr marL="342900"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pattern: Kiểm tra theo biểu thức chính quy (Regex).</a:t>
            </a:r>
          </a:p>
          <a:p>
            <a:pPr marL="342900" indent="-342900">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 Hiển thị lỗi linh hoạt (The "User-Friendly" Rule)</a:t>
            </a:r>
          </a:p>
          <a:p>
            <a:pPr>
              <a:buNone/>
            </a:pPr>
            <a:r>
              <a:rPr lang="vi-VN" sz="2400">
                <a:latin typeface="Times New Roman" panose="02020603050405020304" pitchFamily="18" charset="0"/>
                <a:cs typeface="Times New Roman" panose="02020603050405020304" pitchFamily="18" charset="0"/>
              </a:rPr>
              <a:t>Một quy tắc vàng trong UX là </a:t>
            </a:r>
            <a:r>
              <a:rPr lang="vi-VN" sz="2400" b="1">
                <a:latin typeface="Times New Roman" panose="02020603050405020304" pitchFamily="18" charset="0"/>
                <a:cs typeface="Times New Roman" panose="02020603050405020304" pitchFamily="18" charset="0"/>
              </a:rPr>
              <a:t>không báo lỗi khi người dùng chưa chạm vào ô đó</a:t>
            </a:r>
            <a:r>
              <a:rPr lang="vi-VN" sz="240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Kỹ thuật:</a:t>
            </a:r>
            <a:r>
              <a:rPr lang="vi-VN" sz="2400">
                <a:latin typeface="Times New Roman" panose="02020603050405020304" pitchFamily="18" charset="0"/>
                <a:cs typeface="Times New Roman" panose="02020603050405020304" pitchFamily="18" charset="0"/>
              </a:rPr>
              <a:t> Sử dụng điều kiện </a:t>
            </a:r>
            <a:r>
              <a:rPr lang="vi-VN" sz="2400" b="1">
                <a:latin typeface="Times New Roman" panose="02020603050405020304" pitchFamily="18" charset="0"/>
                <a:cs typeface="Times New Roman" panose="02020603050405020304" pitchFamily="18" charset="0"/>
              </a:rPr>
              <a:t>name.invalid </a:t>
            </a:r>
            <a:r>
              <a:rPr lang="vi-VN" sz="2400">
                <a:latin typeface="Times New Roman" panose="02020603050405020304" pitchFamily="18" charset="0"/>
                <a:cs typeface="Times New Roman" panose="02020603050405020304" pitchFamily="18" charset="0"/>
              </a:rPr>
              <a:t>&amp;&amp; </a:t>
            </a:r>
            <a:r>
              <a:rPr lang="vi-VN" sz="2400" b="1">
                <a:latin typeface="Times New Roman" panose="02020603050405020304" pitchFamily="18" charset="0"/>
                <a:cs typeface="Times New Roman" panose="02020603050405020304" pitchFamily="18" charset="0"/>
              </a:rPr>
              <a:t>name.touched</a:t>
            </a:r>
            <a:r>
              <a:rPr lang="vi-VN" sz="24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42581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A49A15A-D4A3-C6FD-F35D-A376DE3CE27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DF1F503-5C45-2E64-1AC3-D090F23D9A3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E323E43-2C58-B269-A5B6-A2DB2CE5C57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2D091AD6-A251-F081-1987-8D68B13AEA92}"/>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C526F60-4B95-9441-FB6E-DE562ECD39E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CB10729-10D3-62A9-54A5-97AE84FC50D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F09C5B1-9E17-C811-424F-8F53AA85FB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ECEE415-2278-E40D-24CE-E8977E1151E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055D7F4-4741-0F39-E9FD-08BF23A39A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0233A6D-26DC-35C0-1F22-79EE2D836958}"/>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Ta sẽ thiết lập Validation cho Course Registration</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1DF9AAF-DDF7-A76D-1328-160DE8F57C8C}"/>
              </a:ext>
            </a:extLst>
          </p:cNvPr>
          <p:cNvPicPr>
            <a:picLocks noChangeAspect="1"/>
          </p:cNvPicPr>
          <p:nvPr/>
        </p:nvPicPr>
        <p:blipFill>
          <a:blip r:embed="rId3"/>
          <a:srcRect b="6047"/>
          <a:stretch>
            <a:fillRect/>
          </a:stretch>
        </p:blipFill>
        <p:spPr>
          <a:xfrm>
            <a:off x="4150156" y="1275177"/>
            <a:ext cx="4487969" cy="5154186"/>
          </a:xfrm>
          <a:prstGeom prst="rect">
            <a:avLst/>
          </a:prstGeom>
        </p:spPr>
      </p:pic>
    </p:spTree>
    <p:extLst>
      <p:ext uri="{BB962C8B-B14F-4D97-AF65-F5344CB8AC3E}">
        <p14:creationId xmlns:p14="http://schemas.microsoft.com/office/powerpoint/2010/main" val="2286320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46164B5-2375-7524-0245-B2CCBBC94F5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657244-EF26-AB4D-3628-E75591751BD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B545E0-4350-B388-3C74-AE33EB57580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9D5CAAA9-C4F2-4582-58B8-0BA8163F3D4D}"/>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1A1E869-FA65-44A6-B1D3-927D77104969}"/>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FD1E680-E348-5F1B-7776-8075EA6E0ED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D68EE20-0FE6-70C8-57D5-C9378B17772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FD6CED2-2D0C-ADC9-FD53-67F9C644692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72C1F92-E53E-C84E-BB3A-893C4C41F8A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E994DF1-905E-8E24-4D9D-5206FE3E03AE}"/>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Hiệu chỉnh </a:t>
            </a:r>
            <a:r>
              <a:rPr lang="en-US" sz="2400" b="1">
                <a:latin typeface="Times New Roman" panose="02020603050405020304" pitchFamily="18" charset="0"/>
                <a:cs typeface="Times New Roman" panose="02020603050405020304" pitchFamily="18" charset="0"/>
              </a:rPr>
              <a:t>course-registration-component.html</a:t>
            </a:r>
            <a:endParaRPr lang="vi-VN" sz="2400" b="1">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739A19C-67EF-D918-50AD-4BA40A06F2A4}"/>
              </a:ext>
            </a:extLst>
          </p:cNvPr>
          <p:cNvSpPr txBox="1"/>
          <p:nvPr/>
        </p:nvSpPr>
        <p:spPr>
          <a:xfrm>
            <a:off x="415252" y="1327035"/>
            <a:ext cx="11564547" cy="4784002"/>
          </a:xfrm>
          <a:prstGeom prst="rect">
            <a:avLst/>
          </a:prstGeom>
          <a:noFill/>
          <a:ln>
            <a:solidFill>
              <a:srgbClr val="002060"/>
            </a:solidFill>
          </a:ln>
        </p:spPr>
        <p:txBody>
          <a:bodyPr wrap="square">
            <a:spAutoFit/>
          </a:bodyPr>
          <a:lstStyle/>
          <a:p>
            <a:pPr>
              <a:lnSpc>
                <a:spcPts val="2250"/>
              </a:lnSpc>
              <a:buNone/>
            </a:pP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"container mt-4"</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style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"max-width: 500px; border: 1px solid #ddd; padding: 20px; border-radius: 8px;"</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&lt;h2</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"text-center mb-4"</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Đăng ký khóa học</a:t>
            </a:r>
            <a:r>
              <a:rPr lang="vi-VN" b="0">
                <a:solidFill>
                  <a:srgbClr val="800000"/>
                </a:solidFill>
                <a:effectLst/>
                <a:latin typeface="Consolas" panose="020B0609020204030204" pitchFamily="49" charset="0"/>
              </a:rPr>
              <a:t>&lt;/h2&gt;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&lt;form</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#courseForm</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"ngForm"</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(ngSubmit)</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onSubmit()</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Tên: Bắt buộc (required)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"form-label"</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Tên:</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"form-control"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"fullName"</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courseModel.fullName</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"ngModel"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required</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[class.is-invalid]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name.invalid &amp;&amp; name.touched</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placeholder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"Nhập tên"</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Thông báo lỗi cho Tên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[class.d-none]</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name.valid || name.untouched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Bạn chưa nhập tên</a:t>
            </a: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61820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005A44-FD52-488C-50ED-DDB2129B68B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1E3D31F-D541-05C6-DE3C-3A5BAB571AB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1356ED-F53B-0A41-2144-D1F66254D6C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12EB508A-B178-4BD6-1680-0259F78F766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5083ACC4-4B33-9AC2-D401-E029D306F81F}"/>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ABC45A0-64BD-933C-F7A4-754A23E825E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E6710B1-5789-89CD-C02D-FC6E222538A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2F4DA73-53CC-00C8-2124-980767EC299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1B1BE95-04F8-EE79-7538-1EB83999529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241CD465-BE31-B051-213C-00A4AFA5C0D5}"/>
              </a:ext>
            </a:extLst>
          </p:cNvPr>
          <p:cNvSpPr txBox="1"/>
          <p:nvPr/>
        </p:nvSpPr>
        <p:spPr>
          <a:xfrm>
            <a:off x="332750" y="941076"/>
            <a:ext cx="11722384" cy="4194097"/>
          </a:xfrm>
          <a:prstGeom prst="rect">
            <a:avLst/>
          </a:prstGeom>
          <a:noFill/>
          <a:ln>
            <a:solidFill>
              <a:srgbClr val="002060"/>
            </a:solidFill>
          </a:ln>
        </p:spPr>
        <p:txBody>
          <a:bodyPr wrap="square">
            <a:spAutoFit/>
          </a:bodyPr>
          <a:lstStyle/>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Email: Bắt buộc + Định dạng email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"form-label"</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Email:</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"email"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"form-control"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"email"</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courseModel.email</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#email</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"ngModel"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required</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email</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[class.is-invalid]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email.invalid &amp;&amp; email.touched</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placeholder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"Nhập địa chỉ email"</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Lỗi chi tiết cho Email sử dụng *ngIf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email.errors &amp;&amp; (email.invalid || email.touched)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email.errors[</a:t>
            </a:r>
            <a:r>
              <a:rPr lang="vi-VN" b="0">
                <a:solidFill>
                  <a:srgbClr val="A31515"/>
                </a:solidFill>
                <a:effectLst/>
                <a:latin typeface="Consolas" panose="020B0609020204030204" pitchFamily="49" charset="0"/>
              </a:rPr>
              <a:t>'required'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Bạn chưa nhập email</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email.errors[</a:t>
            </a:r>
            <a:r>
              <a:rPr lang="vi-VN" b="0">
                <a:solidFill>
                  <a:srgbClr val="A31515"/>
                </a:solidFill>
                <a:effectLst/>
                <a:latin typeface="Consolas" panose="020B0609020204030204" pitchFamily="49" charset="0"/>
              </a:rPr>
              <a:t>'email'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Email không hợp lệ</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r>
              <a:rPr lang="vi-VN"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875829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2BE45A1-72BA-574F-629F-960A286619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D6711E1-2013-60E6-0418-03B83627CF6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571921B-4327-D916-1610-6243CEB1A2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1DA7F5DE-3456-7D68-EBEF-6B9610AECCC9}"/>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2B577610-61AB-28CA-E922-9B85214A3B8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B454289-85B3-C64A-4BF5-70360198966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5DDA096-8839-85B4-AC8E-DF99E5237D2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57212B-6A94-D5E4-DC25-AB9A87CBFF9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5D71792-7BCD-25B5-DF02-0EC6F126B50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442B5143-4F14-29AF-5DBE-AA4773D6040F}"/>
              </a:ext>
            </a:extLst>
          </p:cNvPr>
          <p:cNvSpPr txBox="1"/>
          <p:nvPr/>
        </p:nvSpPr>
        <p:spPr>
          <a:xfrm>
            <a:off x="388797" y="841012"/>
            <a:ext cx="11722384" cy="3604192"/>
          </a:xfrm>
          <a:prstGeom prst="rect">
            <a:avLst/>
          </a:prstGeom>
          <a:noFill/>
          <a:ln>
            <a:solidFill>
              <a:srgbClr val="002060"/>
            </a:solidFill>
          </a:ln>
        </p:spPr>
        <p:txBody>
          <a:bodyPr wrap="square">
            <a:spAutoFit/>
          </a:bodyPr>
          <a:lstStyle/>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Điện thoại: Bắt buộc + Chỉ cho phép nhập số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"form-label"</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Điện thoại:</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"form-control"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"phone"</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courseModel.phone</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#phone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"ngModel"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required</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pattern</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"[0-9]*"</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[class.is-invalid]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phone.invalid &amp;&amp; phone.touched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phone.invalid &amp;&amp; phone.touched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Số điện thoại không hợp lệ (chỉ nhập số)</a:t>
            </a: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895146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6E32FF0-1FA8-332C-3978-0B7D76733C2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C8B689-D9F3-F166-7B4F-49ACB5BE7ED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53AABC6-7FEB-055F-0C7C-46553BB1529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E0360B2F-B008-2B7C-820F-84759D589A7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9E01EDB7-EADB-5AC3-43C6-D2E2E0019FD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31D05A0-72CB-D14D-4668-473648B3A08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11A4841-0DAF-01BA-D929-853BFBD6600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60A9BDB-3AE0-DE36-2D5E-EE7D1483FDC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0D753E5-1172-F889-D47A-D2C6D1B93FE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B970B9A8-2A43-9CFC-0944-BECAF1AEED32}"/>
              </a:ext>
            </a:extLst>
          </p:cNvPr>
          <p:cNvSpPr txBox="1"/>
          <p:nvPr/>
        </p:nvSpPr>
        <p:spPr>
          <a:xfrm>
            <a:off x="291499" y="841012"/>
            <a:ext cx="11722384" cy="4784002"/>
          </a:xfrm>
          <a:prstGeom prst="rect">
            <a:avLst/>
          </a:prstGeom>
          <a:noFill/>
          <a:ln>
            <a:solidFill>
              <a:srgbClr val="002060"/>
            </a:solidFill>
          </a:ln>
        </p:spPr>
        <p:txBody>
          <a:bodyPr wrap="square">
            <a:spAutoFit/>
          </a:bodyPr>
          <a:lstStyle/>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Chọn khóa học: Bắt buộc chọn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"form-label"</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Chọn khóa học:</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&lt;select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"form-select"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"course"</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courseModel.course</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#course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"ngModel"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required</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[class.is-invalid]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course.invalid &amp;&amp; course.touched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&lt;option</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a:t>
            </a:r>
            <a:r>
              <a:rPr lang="vi-VN" b="0">
                <a:solidFill>
                  <a:srgbClr val="800000"/>
                </a:solidFill>
                <a:effectLst/>
                <a:latin typeface="Consolas" panose="020B0609020204030204" pitchFamily="49" charset="0"/>
              </a:rPr>
              <a:t>&lt;/option&gt;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&lt;option</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"angular"</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Angular căn bản</a:t>
            </a:r>
            <a:r>
              <a:rPr lang="vi-VN" b="0">
                <a:solidFill>
                  <a:srgbClr val="800000"/>
                </a:solidFill>
                <a:effectLst/>
                <a:latin typeface="Consolas" panose="020B0609020204030204" pitchFamily="49" charset="0"/>
              </a:rPr>
              <a:t>&lt;/option&gt;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&lt;option</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"nodejs"</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Node.js nâng cao</a:t>
            </a:r>
            <a:r>
              <a:rPr lang="vi-VN" b="0">
                <a:solidFill>
                  <a:srgbClr val="800000"/>
                </a:solidFill>
                <a:effectLst/>
                <a:latin typeface="Consolas" panose="020B0609020204030204" pitchFamily="49" charset="0"/>
              </a:rPr>
              <a:t>&lt;/option&gt;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&lt;option</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"datascience"</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Data Science</a:t>
            </a:r>
            <a:r>
              <a:rPr lang="vi-VN" b="0">
                <a:solidFill>
                  <a:srgbClr val="800000"/>
                </a:solidFill>
                <a:effectLst/>
                <a:latin typeface="Consolas" panose="020B0609020204030204" pitchFamily="49" charset="0"/>
              </a:rPr>
              <a:t>&lt;/option&gt;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&lt;/select&gt;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course.invalid &amp;&amp; course.touched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Vui lòng chọn một khóa học</a:t>
            </a: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r>
              <a:rPr lang="vi-VN"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45534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C60CCD-7940-D3FE-0143-5B6BEFA112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E4C098B-08A3-EBD0-216D-885CE4ECE7D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39CFD37-3590-CD20-5DD4-FD12723117C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283E1795-3C5E-828B-82DA-4F483C4FE3C6}"/>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2DAA6AF-67EA-B8DB-F26E-5918D53AA720}"/>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3E38D1-812B-BBD7-EC29-0788F826CB1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EFE58F9-A596-15F1-CA88-5B72673AD9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85B0D20-C543-5F1A-7DF4-48CCAF1C065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6905E65-7A79-F043-5EBF-E1EBB49CEC5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2ADB01EA-9411-CC36-9D4C-20A74A6E2D54}"/>
              </a:ext>
            </a:extLst>
          </p:cNvPr>
          <p:cNvSpPr txBox="1"/>
          <p:nvPr/>
        </p:nvSpPr>
        <p:spPr>
          <a:xfrm>
            <a:off x="332750" y="841012"/>
            <a:ext cx="11722384" cy="4194097"/>
          </a:xfrm>
          <a:prstGeom prst="rect">
            <a:avLst/>
          </a:prstGeom>
          <a:noFill/>
          <a:ln>
            <a:solidFill>
              <a:srgbClr val="002060"/>
            </a:solidFill>
          </a:ln>
        </p:spPr>
        <p:txBody>
          <a:bodyPr wrap="square">
            <a:spAutoFit/>
          </a:bodyPr>
          <a:lstStyle/>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Chọn ca học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"form-label me-3"</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Chọn ca học:</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 form-check-inline"</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"radio"</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"shift"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id</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"sang"</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"sang"</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courseModel.shift</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for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"sang"</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Sáng</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 form-check-inline"</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"radio"</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"shift"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id</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"toi"</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value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"toi"</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courseModel.shift</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for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"toi"</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Tối</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47338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61C3ADC-9EA5-0150-20CD-E255BD3471B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B19DFB-9B05-680C-0D0D-10AFBD098F0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20D4B11-A3A8-60CA-761A-6ED4F1CFF73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4FBB921A-CFC4-D006-B8FA-09688D4A3E3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0138978-E525-1D7E-6D5A-AEDA40DB793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 dữ liệu trên Form</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44E1E28-A95F-9E04-DF72-B2259EC503D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02727FB-85C8-4A2F-A8C6-0B97EE1B80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602A498-2FD1-B473-25DF-368C195823E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FD91671-85E9-0BDF-FB51-37BA3579E4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B61E7E6C-746B-251F-44FE-7C7C249E7B15}"/>
              </a:ext>
            </a:extLst>
          </p:cNvPr>
          <p:cNvSpPr txBox="1"/>
          <p:nvPr/>
        </p:nvSpPr>
        <p:spPr>
          <a:xfrm>
            <a:off x="332750" y="748571"/>
            <a:ext cx="11722384" cy="5963812"/>
          </a:xfrm>
          <a:prstGeom prst="rect">
            <a:avLst/>
          </a:prstGeom>
          <a:noFill/>
          <a:ln>
            <a:solidFill>
              <a:srgbClr val="002060"/>
            </a:solidFill>
          </a:ln>
        </p:spPr>
        <p:txBody>
          <a:bodyPr wrap="square">
            <a:spAutoFit/>
          </a:bodyPr>
          <a:lstStyle/>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Đồng ý điều khoản: Phải tích chọn (required)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"mb-3 form-check"</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"checkbox"</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"form-check-input"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name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"agree"</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id</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"checkTerms"</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[(ngModel)]</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courseModel.agree</a:t>
            </a:r>
            <a:r>
              <a:rPr lang="vi-VN" b="0">
                <a:solidFill>
                  <a:srgbClr val="A31515"/>
                </a:solidFill>
                <a:effectLst/>
                <a:latin typeface="Consolas" panose="020B0609020204030204" pitchFamily="49" charset="0"/>
              </a:rPr>
              <a: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#agree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"ngModel"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required</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"form-check-label"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for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"checkTerms"</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Đồng ý với điều khoản</a:t>
            </a:r>
            <a:r>
              <a:rPr lang="vi-VN" b="0">
                <a:solidFill>
                  <a:srgbClr val="800000"/>
                </a:solidFill>
                <a:effectLst/>
                <a:latin typeface="Consolas" panose="020B0609020204030204" pitchFamily="49" charset="0"/>
              </a:rPr>
              <a:t>&lt;/label&gt;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"text-danger"</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*ngIf</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agree.invalid &amp;&amp; agree.touched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&lt;small&gt;</a:t>
            </a:r>
            <a:r>
              <a:rPr lang="vi-VN" b="0">
                <a:solidFill>
                  <a:srgbClr val="000000"/>
                </a:solidFill>
                <a:effectLst/>
                <a:latin typeface="Consolas" panose="020B0609020204030204" pitchFamily="49" charset="0"/>
              </a:rPr>
              <a:t>Bạn phải đồng ý với điều khoản để tiếp tục</a:t>
            </a:r>
            <a:r>
              <a:rPr lang="vi-VN" b="0">
                <a:solidFill>
                  <a:srgbClr val="800000"/>
                </a:solidFill>
                <a:effectLst/>
                <a:latin typeface="Consolas" panose="020B0609020204030204" pitchFamily="49" charset="0"/>
              </a:rPr>
              <a: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Nút Submit: Chỉ sáng lên khi TOÀN BỘ Form hợp lệ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&lt;button</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type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"submit"</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"btn btn-primary w-25"</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[disabled]</a:t>
            </a:r>
            <a:r>
              <a:rPr lang="vi-VN" b="0">
                <a:solidFill>
                  <a:srgbClr val="000000"/>
                </a:solidFill>
                <a:effectLst/>
                <a:latin typeface="Consolas" panose="020B0609020204030204" pitchFamily="49" charset="0"/>
              </a:rPr>
              <a:t>=</a:t>
            </a:r>
            <a:r>
              <a:rPr lang="vi-VN" b="0">
                <a:solidFill>
                  <a:srgbClr val="A31515"/>
                </a:solidFill>
                <a:effectLst/>
                <a:latin typeface="Consolas" panose="020B0609020204030204" pitchFamily="49" charset="0"/>
              </a:rPr>
              <a:t>"</a:t>
            </a:r>
            <a:r>
              <a:rPr lang="vi-VN" b="0">
                <a:solidFill>
                  <a:srgbClr val="000000"/>
                </a:solidFill>
                <a:effectLst/>
                <a:latin typeface="Consolas" panose="020B0609020204030204" pitchFamily="49" charset="0"/>
              </a:rPr>
              <a:t>courseForm.invalid</a:t>
            </a:r>
            <a:r>
              <a:rPr lang="vi-VN" b="0">
                <a:solidFill>
                  <a:srgbClr val="A31515"/>
                </a:solidFill>
                <a:effectLst/>
                <a:latin typeface="Consolas" panose="020B0609020204030204" pitchFamily="49" charset="0"/>
              </a:rPr>
              <a:t>"</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Submit</a:t>
            </a:r>
            <a:r>
              <a:rPr lang="vi-VN" b="0">
                <a:solidFill>
                  <a:srgbClr val="800000"/>
                </a:solidFill>
                <a:effectLst/>
                <a:latin typeface="Consolas" panose="020B0609020204030204" pitchFamily="49" charset="0"/>
              </a:rPr>
              <a:t>&lt;/button&gt;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&lt;!-- Khu vực hiển thị Debug dữ liệu cho sinh viên xem (Tùy chọn) --&gt;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&lt;hr&gt;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"mt-3 p-2 bg-light border border-info rounded"</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&lt;small</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"text-primary"</a:t>
            </a:r>
            <a:r>
              <a:rPr lang="vi-VN" b="0">
                <a:solidFill>
                  <a:srgbClr val="800000"/>
                </a:solidFill>
                <a:effectLst/>
                <a:latin typeface="Consolas" panose="020B0609020204030204" pitchFamily="49" charset="0"/>
              </a:rPr>
              <a:t>&gt;&lt;b&gt;</a:t>
            </a:r>
            <a:r>
              <a:rPr lang="vi-VN" b="0">
                <a:solidFill>
                  <a:srgbClr val="000000"/>
                </a:solidFill>
                <a:effectLst/>
                <a:latin typeface="Consolas" panose="020B0609020204030204" pitchFamily="49" charset="0"/>
              </a:rPr>
              <a:t>Trạng thái Object hiện tại:</a:t>
            </a:r>
            <a:r>
              <a:rPr lang="vi-VN" b="0">
                <a:solidFill>
                  <a:srgbClr val="800000"/>
                </a:solidFill>
                <a:effectLst/>
                <a:latin typeface="Consolas" panose="020B0609020204030204" pitchFamily="49" charset="0"/>
              </a:rPr>
              <a:t>&lt;/b&gt;&lt;/small&gt;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&lt;pre</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class</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"mb-0"</a:t>
            </a:r>
            <a:r>
              <a:rPr lang="vi-VN" b="0">
                <a:solidFill>
                  <a:srgbClr val="000000"/>
                </a:solidFill>
                <a:effectLst/>
                <a:latin typeface="Consolas" panose="020B0609020204030204" pitchFamily="49" charset="0"/>
              </a:rPr>
              <a:t> </a:t>
            </a:r>
            <a:r>
              <a:rPr lang="vi-VN" b="0">
                <a:solidFill>
                  <a:srgbClr val="E50000"/>
                </a:solidFill>
                <a:effectLst/>
                <a:latin typeface="Consolas" panose="020B0609020204030204" pitchFamily="49" charset="0"/>
              </a:rPr>
              <a:t>style</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"font-size: 11px;"</a:t>
            </a:r>
            <a:r>
              <a:rPr lang="vi-VN" b="0">
                <a:solidFill>
                  <a:srgbClr val="800000"/>
                </a:solidFill>
                <a:effectLst/>
                <a:latin typeface="Consolas" panose="020B0609020204030204" pitchFamily="49" charset="0"/>
              </a:rPr>
              <a:t>&gt;</a:t>
            </a:r>
            <a:r>
              <a:rPr lang="vi-VN" b="0">
                <a:solidFill>
                  <a:srgbClr val="000000"/>
                </a:solidFill>
                <a:effectLst/>
                <a:latin typeface="Consolas" panose="020B0609020204030204" pitchFamily="49" charset="0"/>
              </a:rPr>
              <a:t>{{ courseModel | json }}</a:t>
            </a:r>
            <a:r>
              <a:rPr lang="vi-VN" b="0">
                <a:solidFill>
                  <a:srgbClr val="800000"/>
                </a:solidFill>
                <a:effectLst/>
                <a:latin typeface="Consolas" panose="020B0609020204030204" pitchFamily="49" charset="0"/>
              </a:rPr>
              <a:t>&lt;/pre&gt;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&lt;/form&gt;</a:t>
            </a:r>
            <a:endParaRPr lang="vi-VN" b="0">
              <a:solidFill>
                <a:srgbClr val="000000"/>
              </a:solidFill>
              <a:effectLst/>
              <a:latin typeface="Consolas" panose="020B0609020204030204" pitchFamily="49" charset="0"/>
            </a:endParaRPr>
          </a:p>
          <a:p>
            <a:pPr>
              <a:lnSpc>
                <a:spcPts val="2250"/>
              </a:lnSpc>
              <a:buNone/>
            </a:pPr>
            <a:r>
              <a:rPr lang="vi-VN" b="0">
                <a:solidFill>
                  <a:srgbClr val="800000"/>
                </a:solidFill>
                <a:effectLst/>
                <a:latin typeface="Consolas" panose="020B0609020204030204" pitchFamily="49" charset="0"/>
              </a:rPr>
              <a:t>&lt;/div&gt;</a:t>
            </a:r>
            <a:endParaRPr lang="vi-VN"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96025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DA78048-E6D7-D992-8A1D-0C2612D265F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CA30364-C9BE-41BF-9411-A45593FBBB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7C72DC3-C6E8-73BC-C009-4228C54720E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01A9395C-4579-A054-D5CB-73776E99A7D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A92B30C-CFE9-6276-70CF-1AA16FA65B4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F4FCCF9-FF69-7A18-3ADD-7F1813FDCEA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002A4E9-2D9B-7A95-21DB-6D28977FA7F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D56852-A301-37EE-99AB-31B451872F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ADBB46-ADD9-208D-672D-2AB7837035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CFBCFF5-7313-7F79-95A5-E2128D50A98A}"/>
              </a:ext>
            </a:extLst>
          </p:cNvPr>
          <p:cNvSpPr txBox="1"/>
          <p:nvPr/>
        </p:nvSpPr>
        <p:spPr>
          <a:xfrm>
            <a:off x="462279" y="813512"/>
            <a:ext cx="11564547" cy="1133965"/>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F</a:t>
            </a:r>
            <a:r>
              <a:rPr lang="vi-VN" sz="2400" b="1">
                <a:latin typeface="Times New Roman" panose="02020603050405020304" pitchFamily="18" charset="0"/>
                <a:cs typeface="Times New Roman" panose="02020603050405020304" pitchFamily="18" charset="0"/>
              </a:rPr>
              <a:t>orm Validation </a:t>
            </a:r>
            <a:r>
              <a:rPr lang="vi-VN" sz="2400">
                <a:latin typeface="Times New Roman" panose="02020603050405020304" pitchFamily="18" charset="0"/>
                <a:cs typeface="Times New Roman" panose="02020603050405020304" pitchFamily="18" charset="0"/>
              </a:rPr>
              <a:t>là quá trình kiểm tra xem dữ liệu người dùng nhập vào có thỏa mãn các yêu cầu nghiệp vụ hay không trước khi gửi lên máy chủ.</a:t>
            </a:r>
          </a:p>
        </p:txBody>
      </p:sp>
      <p:sp>
        <p:nvSpPr>
          <p:cNvPr id="10" name="TextBox 9">
            <a:extLst>
              <a:ext uri="{FF2B5EF4-FFF2-40B4-BE49-F238E27FC236}">
                <a16:creationId xmlns:a16="http://schemas.microsoft.com/office/drawing/2014/main" id="{216DC3D1-1A68-AD7C-BDFA-7C9D00D3B57E}"/>
              </a:ext>
            </a:extLst>
          </p:cNvPr>
          <p:cNvSpPr txBox="1"/>
          <p:nvPr/>
        </p:nvSpPr>
        <p:spPr>
          <a:xfrm>
            <a:off x="595205" y="2031021"/>
            <a:ext cx="11298694" cy="2795958"/>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Phân loại Validation</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Client-side Validation:</a:t>
            </a:r>
            <a:r>
              <a:rPr lang="vi-VN" sz="2400">
                <a:latin typeface="Times New Roman" panose="02020603050405020304" pitchFamily="18" charset="0"/>
                <a:cs typeface="Times New Roman" panose="02020603050405020304" pitchFamily="18" charset="0"/>
              </a:rPr>
              <a:t> Thực hiện ngay trên trình duyệt để phản hồi tức thì cho người dùng, giúp tăng trải nghiệm (UX) và giảm tải cho máy chủ.</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Server-side Validation:</a:t>
            </a:r>
            <a:r>
              <a:rPr lang="vi-VN" sz="2400">
                <a:latin typeface="Times New Roman" panose="02020603050405020304" pitchFamily="18" charset="0"/>
                <a:cs typeface="Times New Roman" panose="02020603050405020304" pitchFamily="18" charset="0"/>
              </a:rPr>
              <a:t> Thực hiện trên máy chủ sau khi form được gửi. Đây là bước bắt buộc để đảm bảo an toàn dữ liệu và chống lại các hành vi cố tình gian lận.</a:t>
            </a:r>
          </a:p>
        </p:txBody>
      </p:sp>
    </p:spTree>
    <p:extLst>
      <p:ext uri="{BB962C8B-B14F-4D97-AF65-F5344CB8AC3E}">
        <p14:creationId xmlns:p14="http://schemas.microsoft.com/office/powerpoint/2010/main" val="3275050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C3044F9-A9FD-1A25-310D-E1DC9DCB91B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9032A3E-3222-FEF6-3259-1C63EB09AC6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09DA6FA-D666-717E-781E-379F407ED1E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3AA8EF56-A54C-F412-C37A-B45F8913A3DC}"/>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007489E5-05B0-E1A9-9E37-10F5621F83A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6BBD593-0009-70F9-3A84-216FF016E2C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C5775C-DD04-FCCB-15EE-18355127EFA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24C94F1-E730-CD38-5778-1A7A8737C87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856D9A3-551C-9741-B426-2762D6EB2AE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CB718FC9-45E2-9C6E-894B-79CC1FBAE5FF}"/>
              </a:ext>
            </a:extLst>
          </p:cNvPr>
          <p:cNvSpPr txBox="1"/>
          <p:nvPr/>
        </p:nvSpPr>
        <p:spPr>
          <a:xfrm>
            <a:off x="542785" y="841012"/>
            <a:ext cx="11316913" cy="3349956"/>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Các trạng thái kiểm soát của Form (FormGroup)</a:t>
            </a:r>
          </a:p>
          <a:p>
            <a:pPr>
              <a:lnSpc>
                <a:spcPct val="150000"/>
              </a:lnSpc>
              <a:buNone/>
            </a:pPr>
            <a:r>
              <a:rPr lang="en-US" sz="2400">
                <a:latin typeface="Times New Roman" panose="02020603050405020304" pitchFamily="18" charset="0"/>
                <a:cs typeface="Times New Roman" panose="02020603050405020304" pitchFamily="18" charset="0"/>
              </a:rPr>
              <a:t>Ví dụ ta thực hiện màn hình Login: D</a:t>
            </a:r>
            <a:r>
              <a:rPr lang="vi-VN" sz="2400">
                <a:latin typeface="Times New Roman" panose="02020603050405020304" pitchFamily="18" charset="0"/>
                <a:cs typeface="Times New Roman" panose="02020603050405020304" pitchFamily="18" charset="0"/>
              </a:rPr>
              <a:t>ùng biến tham chiếu #loginForm="ngForm", Angular cung cấp các thuộc tính để quản lý trạng thái tổng thể của toàn bộ form:</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valid</a:t>
            </a:r>
            <a:r>
              <a:rPr lang="vi-VN" sz="2400">
                <a:latin typeface="Times New Roman" panose="02020603050405020304" pitchFamily="18" charset="0"/>
                <a:cs typeface="Times New Roman" panose="02020603050405020304" pitchFamily="18" charset="0"/>
              </a:rPr>
              <a:t>: Chỉ đúng khi </a:t>
            </a:r>
            <a:r>
              <a:rPr lang="vi-VN" sz="2400" b="1">
                <a:latin typeface="Times New Roman" panose="02020603050405020304" pitchFamily="18" charset="0"/>
                <a:cs typeface="Times New Roman" panose="02020603050405020304" pitchFamily="18" charset="0"/>
              </a:rPr>
              <a:t>tất cả</a:t>
            </a:r>
            <a:r>
              <a:rPr lang="vi-VN" sz="2400">
                <a:latin typeface="Times New Roman" panose="02020603050405020304" pitchFamily="18" charset="0"/>
                <a:cs typeface="Times New Roman" panose="02020603050405020304" pitchFamily="18" charset="0"/>
              </a:rPr>
              <a:t> các thành phần con đều hợp lệ.</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invalid</a:t>
            </a:r>
            <a:r>
              <a:rPr lang="vi-VN" sz="2400">
                <a:latin typeface="Times New Roman" panose="02020603050405020304" pitchFamily="18" charset="0"/>
                <a:cs typeface="Times New Roman" panose="02020603050405020304" pitchFamily="18" charset="0"/>
              </a:rPr>
              <a:t>: Đúng khi có </a:t>
            </a:r>
            <a:r>
              <a:rPr lang="vi-VN" sz="2400" b="1">
                <a:latin typeface="Times New Roman" panose="02020603050405020304" pitchFamily="18" charset="0"/>
                <a:cs typeface="Times New Roman" panose="02020603050405020304" pitchFamily="18" charset="0"/>
              </a:rPr>
              <a:t>ít nhất một</a:t>
            </a:r>
            <a:r>
              <a:rPr lang="vi-VN" sz="2400">
                <a:latin typeface="Times New Roman" panose="02020603050405020304" pitchFamily="18" charset="0"/>
                <a:cs typeface="Times New Roman" panose="02020603050405020304" pitchFamily="18" charset="0"/>
              </a:rPr>
              <a:t> thành phần con không đạt yêu cầu.</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submitted</a:t>
            </a:r>
            <a:r>
              <a:rPr lang="vi-VN" sz="2400">
                <a:latin typeface="Times New Roman" panose="02020603050405020304" pitchFamily="18" charset="0"/>
                <a:cs typeface="Times New Roman" panose="02020603050405020304" pitchFamily="18" charset="0"/>
              </a:rPr>
              <a:t>: Trở thành true sau khi người dùng nhấn nút Submit lần đầu tiên.</a:t>
            </a:r>
          </a:p>
        </p:txBody>
      </p:sp>
    </p:spTree>
    <p:extLst>
      <p:ext uri="{BB962C8B-B14F-4D97-AF65-F5344CB8AC3E}">
        <p14:creationId xmlns:p14="http://schemas.microsoft.com/office/powerpoint/2010/main" val="2261834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1FEC8C6-CF63-E085-4DB5-382C4A4635E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F14589-48D0-5847-2385-019CD3D5823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08003D6-CF6E-AFF6-A26B-714544B6B69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5C4A6BE2-5C6B-1149-643F-C25F96EF7ED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DF21DFB-4FDF-1712-72BF-FBBC2829663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BC0F6A0-F81F-8FEA-FC42-9E0F2D3915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1262F92-41B0-0F08-7570-B4EC59B5D4C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751EE1-521A-5FAB-7B3C-AA05B4A8BDF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A68DF2-EC21-A2A5-A1FB-D6CADADC9E3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55AB48DE-BD53-EFBA-74AE-6AE21CE4752A}"/>
              </a:ext>
            </a:extLst>
          </p:cNvPr>
          <p:cNvSpPr txBox="1"/>
          <p:nvPr/>
        </p:nvSpPr>
        <p:spPr>
          <a:xfrm>
            <a:off x="437543" y="761279"/>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 </a:t>
            </a:r>
            <a:r>
              <a:rPr lang="en-US" sz="2400">
                <a:latin typeface="Times New Roman" panose="02020603050405020304" pitchFamily="18" charset="0"/>
                <a:cs typeface="Times New Roman" panose="02020603050405020304" pitchFamily="18" charset="0"/>
              </a:rPr>
              <a:t>Tạo class UserLogin . Trong thư mục classes, tạo UserLogin.ts</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D382912-7629-D86C-AC36-CD0630FE9C1C}"/>
              </a:ext>
            </a:extLst>
          </p:cNvPr>
          <p:cNvPicPr>
            <a:picLocks noChangeAspect="1"/>
          </p:cNvPicPr>
          <p:nvPr/>
        </p:nvPicPr>
        <p:blipFill>
          <a:blip r:embed="rId3"/>
          <a:stretch>
            <a:fillRect/>
          </a:stretch>
        </p:blipFill>
        <p:spPr>
          <a:xfrm>
            <a:off x="542784" y="1472837"/>
            <a:ext cx="11316914" cy="4155600"/>
          </a:xfrm>
          <a:prstGeom prst="rect">
            <a:avLst/>
          </a:prstGeom>
        </p:spPr>
      </p:pic>
    </p:spTree>
    <p:extLst>
      <p:ext uri="{BB962C8B-B14F-4D97-AF65-F5344CB8AC3E}">
        <p14:creationId xmlns:p14="http://schemas.microsoft.com/office/powerpoint/2010/main" val="2443200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797A898-B564-369E-2BE0-1F603374808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10A9DB0-C638-2C33-CB4B-B93180D6031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40BE0E0-7FC1-EACA-6D62-9579E296D5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8AAD5F51-3E0C-2AEE-FFE9-15F19BBB0139}"/>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3754923-781A-C7D8-5E12-75425EF6B78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7957501-E24E-DFDE-B8B3-44DC491DA73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F9AACDD-04A6-7C02-73F1-4AAC3DCB555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06D4DA0-4D31-E922-60C9-91D9D227A40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E9387E3-73C7-AC78-5652-DA5EF7F5F2E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9EB10FBA-4F79-87F3-67A2-85A217B70263}"/>
              </a:ext>
            </a:extLst>
          </p:cNvPr>
          <p:cNvSpPr txBox="1"/>
          <p:nvPr/>
        </p:nvSpPr>
        <p:spPr>
          <a:xfrm>
            <a:off x="437543" y="761279"/>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Tạo component </a:t>
            </a:r>
            <a:r>
              <a:rPr lang="en-US" sz="2400" b="1">
                <a:latin typeface="Times New Roman" panose="02020603050405020304" pitchFamily="18" charset="0"/>
                <a:cs typeface="Times New Roman" panose="02020603050405020304" pitchFamily="18" charset="0"/>
              </a:rPr>
              <a:t>LoginComponent</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A5895D9-5834-30D2-A6B5-210273709ABE}"/>
              </a:ext>
            </a:extLst>
          </p:cNvPr>
          <p:cNvPicPr>
            <a:picLocks noChangeAspect="1"/>
          </p:cNvPicPr>
          <p:nvPr/>
        </p:nvPicPr>
        <p:blipFill>
          <a:blip r:embed="rId3"/>
          <a:stretch>
            <a:fillRect/>
          </a:stretch>
        </p:blipFill>
        <p:spPr>
          <a:xfrm>
            <a:off x="6260655" y="1823531"/>
            <a:ext cx="5220152" cy="678239"/>
          </a:xfrm>
          <a:prstGeom prst="rect">
            <a:avLst/>
          </a:prstGeom>
        </p:spPr>
      </p:pic>
      <p:pic>
        <p:nvPicPr>
          <p:cNvPr id="13" name="Picture 12">
            <a:extLst>
              <a:ext uri="{FF2B5EF4-FFF2-40B4-BE49-F238E27FC236}">
                <a16:creationId xmlns:a16="http://schemas.microsoft.com/office/drawing/2014/main" id="{035A381A-ADB8-C050-79ED-4C4844A6436D}"/>
              </a:ext>
            </a:extLst>
          </p:cNvPr>
          <p:cNvPicPr>
            <a:picLocks noChangeAspect="1"/>
          </p:cNvPicPr>
          <p:nvPr/>
        </p:nvPicPr>
        <p:blipFill>
          <a:blip r:embed="rId4"/>
          <a:stretch>
            <a:fillRect/>
          </a:stretch>
        </p:blipFill>
        <p:spPr>
          <a:xfrm>
            <a:off x="514401" y="1518968"/>
            <a:ext cx="4564776" cy="1874682"/>
          </a:xfrm>
          <a:prstGeom prst="rect">
            <a:avLst/>
          </a:prstGeom>
        </p:spPr>
      </p:pic>
      <p:pic>
        <p:nvPicPr>
          <p:cNvPr id="15" name="Picture 14">
            <a:extLst>
              <a:ext uri="{FF2B5EF4-FFF2-40B4-BE49-F238E27FC236}">
                <a16:creationId xmlns:a16="http://schemas.microsoft.com/office/drawing/2014/main" id="{F2F64F03-536D-3B6D-3508-4E9FB339A674}"/>
              </a:ext>
            </a:extLst>
          </p:cNvPr>
          <p:cNvPicPr>
            <a:picLocks noChangeAspect="1"/>
          </p:cNvPicPr>
          <p:nvPr/>
        </p:nvPicPr>
        <p:blipFill>
          <a:blip r:embed="rId5"/>
          <a:stretch>
            <a:fillRect/>
          </a:stretch>
        </p:blipFill>
        <p:spPr>
          <a:xfrm>
            <a:off x="6190593" y="3791654"/>
            <a:ext cx="5669771" cy="2408129"/>
          </a:xfrm>
          <a:prstGeom prst="rect">
            <a:avLst/>
          </a:prstGeom>
        </p:spPr>
      </p:pic>
      <p:pic>
        <p:nvPicPr>
          <p:cNvPr id="17" name="Picture 16">
            <a:extLst>
              <a:ext uri="{FF2B5EF4-FFF2-40B4-BE49-F238E27FC236}">
                <a16:creationId xmlns:a16="http://schemas.microsoft.com/office/drawing/2014/main" id="{A6BEFB50-BF18-0DD3-E753-58B2531BCEB4}"/>
              </a:ext>
            </a:extLst>
          </p:cNvPr>
          <p:cNvPicPr>
            <a:picLocks noChangeAspect="1"/>
          </p:cNvPicPr>
          <p:nvPr/>
        </p:nvPicPr>
        <p:blipFill>
          <a:blip r:embed="rId6"/>
          <a:stretch>
            <a:fillRect/>
          </a:stretch>
        </p:blipFill>
        <p:spPr>
          <a:xfrm>
            <a:off x="542786" y="3921206"/>
            <a:ext cx="3635055" cy="2278577"/>
          </a:xfrm>
          <a:prstGeom prst="rect">
            <a:avLst/>
          </a:prstGeom>
        </p:spPr>
      </p:pic>
      <p:cxnSp>
        <p:nvCxnSpPr>
          <p:cNvPr id="18" name="Connector: Elbow 17">
            <a:extLst>
              <a:ext uri="{FF2B5EF4-FFF2-40B4-BE49-F238E27FC236}">
                <a16:creationId xmlns:a16="http://schemas.microsoft.com/office/drawing/2014/main" id="{AA71BC19-D0C7-C040-378B-B6E8F751ADFE}"/>
              </a:ext>
            </a:extLst>
          </p:cNvPr>
          <p:cNvCxnSpPr>
            <a:cxnSpLocks/>
          </p:cNvCxnSpPr>
          <p:nvPr/>
        </p:nvCxnSpPr>
        <p:spPr>
          <a:xfrm flipV="1">
            <a:off x="3944356" y="2470730"/>
            <a:ext cx="4926375" cy="70476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679BFD7-802E-1917-0388-4BC6F2767B9D}"/>
              </a:ext>
            </a:extLst>
          </p:cNvPr>
          <p:cNvCxnSpPr>
            <a:cxnSpLocks/>
          </p:cNvCxnSpPr>
          <p:nvPr/>
        </p:nvCxnSpPr>
        <p:spPr>
          <a:xfrm>
            <a:off x="10139817" y="2664372"/>
            <a:ext cx="0" cy="15089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48D3EB5-E1C4-3902-8D95-BB64B9438950}"/>
              </a:ext>
            </a:extLst>
          </p:cNvPr>
          <p:cNvCxnSpPr>
            <a:cxnSpLocks/>
          </p:cNvCxnSpPr>
          <p:nvPr/>
        </p:nvCxnSpPr>
        <p:spPr>
          <a:xfrm flipH="1">
            <a:off x="4369488" y="5110607"/>
            <a:ext cx="158199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1133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E5BEB6E-C0E4-40A6-903B-C0558B0744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7248D9E-60F0-5578-A33A-1B87B7D3237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9DF8ABC-FE69-199B-2459-70C8AA3FA18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D4197CE6-F2C2-C2F7-A0AE-D473EAC2EEB9}"/>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0CCB3347-C722-D2C4-3B5D-A604CDA997C3}"/>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FB5F3F-E68F-9EF5-2025-C487926D339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02A2A8-4012-1A28-66B4-3188A329E23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4E708BF-41B7-78C0-2CD8-9278648E981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EB94192-E947-8666-B2D7-70B0683A357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28F375FF-789F-EDE7-0164-DF7A0D65E127}"/>
              </a:ext>
            </a:extLst>
          </p:cNvPr>
          <p:cNvSpPr txBox="1"/>
          <p:nvPr/>
        </p:nvSpPr>
        <p:spPr>
          <a:xfrm>
            <a:off x="437543" y="761279"/>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3: </a:t>
            </a:r>
            <a:r>
              <a:rPr lang="en-US" sz="2400">
                <a:latin typeface="Times New Roman" panose="02020603050405020304" pitchFamily="18" charset="0"/>
                <a:cs typeface="Times New Roman" panose="02020603050405020304" pitchFamily="18" charset="0"/>
              </a:rPr>
              <a:t>login-component.ts</a:t>
            </a:r>
            <a:endParaRPr lang="vi-VN" sz="2400" b="1">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06E7190-BB15-85A1-C1BA-FC93CE5C04AD}"/>
              </a:ext>
            </a:extLst>
          </p:cNvPr>
          <p:cNvPicPr>
            <a:picLocks noChangeAspect="1"/>
          </p:cNvPicPr>
          <p:nvPr/>
        </p:nvPicPr>
        <p:blipFill>
          <a:blip r:embed="rId3"/>
          <a:stretch>
            <a:fillRect/>
          </a:stretch>
        </p:blipFill>
        <p:spPr>
          <a:xfrm>
            <a:off x="4425797" y="840935"/>
            <a:ext cx="6468176" cy="5536570"/>
          </a:xfrm>
          <a:prstGeom prst="rect">
            <a:avLst/>
          </a:prstGeom>
        </p:spPr>
      </p:pic>
    </p:spTree>
    <p:extLst>
      <p:ext uri="{BB962C8B-B14F-4D97-AF65-F5344CB8AC3E}">
        <p14:creationId xmlns:p14="http://schemas.microsoft.com/office/powerpoint/2010/main" val="9590436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D4318B9-B89B-15F0-6F49-6DDC6BE0576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3D716E-3D79-63C7-C055-5D2228D4EC9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A7A8DCF-0D46-32F6-E685-904BAA769CC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1F6A87B0-CDF1-4CD7-27CB-F6C9DE3E1A6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02807AD-4DD6-D3C4-187D-620C47BF0261}"/>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08D0D8D-3ACA-1133-B21A-FC1BDFDA7B1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D527EE0-435A-7393-C738-5E681060416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164A35E-7CF6-539B-578F-73C973FC024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BDA4AEC-4252-3447-1B3B-2726BC8E5B5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B0077A4F-3AF5-AF31-DA2C-CC70DF3A2863}"/>
              </a:ext>
            </a:extLst>
          </p:cNvPr>
          <p:cNvSpPr txBox="1"/>
          <p:nvPr/>
        </p:nvSpPr>
        <p:spPr>
          <a:xfrm>
            <a:off x="437543" y="745513"/>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4: </a:t>
            </a:r>
            <a:r>
              <a:rPr lang="en-US" sz="2400">
                <a:latin typeface="Times New Roman" panose="02020603050405020304" pitchFamily="18" charset="0"/>
                <a:cs typeface="Times New Roman" panose="02020603050405020304" pitchFamily="18" charset="0"/>
              </a:rPr>
              <a:t>login-component.html</a:t>
            </a:r>
            <a:endParaRPr lang="vi-VN"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1CEBDE0-3424-1E7A-7742-0F883642C498}"/>
              </a:ext>
            </a:extLst>
          </p:cNvPr>
          <p:cNvSpPr txBox="1"/>
          <p:nvPr/>
        </p:nvSpPr>
        <p:spPr>
          <a:xfrm>
            <a:off x="548920" y="1308849"/>
            <a:ext cx="11495935" cy="5092163"/>
          </a:xfrm>
          <a:prstGeom prst="rect">
            <a:avLst/>
          </a:prstGeom>
          <a:noFill/>
          <a:ln>
            <a:solidFill>
              <a:schemeClr val="accent1"/>
            </a:solidFill>
          </a:ln>
        </p:spPr>
        <p:txBody>
          <a:bodyPr wrap="square">
            <a:spAutoFit/>
          </a:bodyPr>
          <a:lstStyle/>
          <a:p>
            <a:pPr>
              <a:lnSpc>
                <a:spcPts val="2250"/>
              </a:lnSpc>
              <a:buNone/>
            </a:pP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"container mt-5"</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style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"max-width: 400px; border: 1px solid #ccc; padding: 30px; border-radius: 10px; background: #f9f9f9;"</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&lt;h3</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"text-center mb-4"</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Đăng Nhập</a:t>
            </a:r>
            <a:r>
              <a:rPr lang="vi-VN" sz="1800" b="0">
                <a:solidFill>
                  <a:srgbClr val="800000"/>
                </a:solidFill>
                <a:effectLst/>
                <a:latin typeface="Consolas" panose="020B0609020204030204" pitchFamily="49" charset="0"/>
              </a:rPr>
              <a:t>&lt;/h3&gt;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&lt;form</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#loginForm</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"ngForm"</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(ngSubmit)</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onLogin()</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008000"/>
                </a:solidFill>
                <a:effectLst/>
                <a:latin typeface="Consolas" panose="020B0609020204030204" pitchFamily="49" charset="0"/>
              </a:rPr>
              <a:t>&lt;!-- Tên đăng nhập --&gt;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"mb-3"</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&lt;label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"form-label"</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Tên đăng nhập:</a:t>
            </a:r>
            <a:r>
              <a:rPr lang="vi-VN" sz="1800" b="0">
                <a:solidFill>
                  <a:srgbClr val="800000"/>
                </a:solidFill>
                <a:effectLst/>
                <a:latin typeface="Consolas" panose="020B0609020204030204" pitchFamily="49" charset="0"/>
              </a:rPr>
              <a:t>&lt;/label&gt;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&lt;input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type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"text"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"form-control"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name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"username"</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[(ngModel)]</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user.username</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#username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"ngModel"</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required</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minlength</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"4"</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[class.is-invalid]</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username.invalid &amp;&amp; username.touched</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"invalid-feedback"</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&lt;small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*ngIf</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username.errors?.[</a:t>
            </a:r>
            <a:r>
              <a:rPr lang="vi-VN" sz="1800" b="0">
                <a:solidFill>
                  <a:srgbClr val="A31515"/>
                </a:solidFill>
                <a:effectLst/>
                <a:latin typeface="Consolas" panose="020B0609020204030204" pitchFamily="49" charset="0"/>
              </a:rPr>
              <a:t>'required'</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Vui lòng nhập tên đăng nhập.</a:t>
            </a:r>
            <a:r>
              <a:rPr lang="vi-VN" sz="1800" b="0">
                <a:solidFill>
                  <a:srgbClr val="800000"/>
                </a:solidFill>
                <a:effectLst/>
                <a:latin typeface="Consolas" panose="020B0609020204030204" pitchFamily="49" charset="0"/>
              </a:rPr>
              <a:t>&lt;/small&gt;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&lt;small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*ngIf</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username.errors?.[</a:t>
            </a:r>
            <a:r>
              <a:rPr lang="vi-VN" sz="1800" b="0">
                <a:solidFill>
                  <a:srgbClr val="A31515"/>
                </a:solidFill>
                <a:effectLst/>
                <a:latin typeface="Consolas" panose="020B0609020204030204" pitchFamily="49" charset="0"/>
              </a:rPr>
              <a:t>'minlength'</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Tên đăng nhập phải từ 4 ký tự.</a:t>
            </a:r>
            <a:r>
              <a:rPr lang="en-US" sz="1800" b="0">
                <a:solidFill>
                  <a:srgbClr val="000000"/>
                </a:solidFill>
                <a:effectLst/>
                <a:latin typeface="Consolas" panose="020B0609020204030204" pitchFamily="49" charset="0"/>
              </a:rPr>
              <a:t>  </a:t>
            </a:r>
          </a:p>
          <a:p>
            <a:pPr>
              <a:lnSpc>
                <a:spcPts val="2250"/>
              </a:lnSpc>
              <a:buNone/>
            </a:pPr>
            <a:r>
              <a:rPr lang="en-US" sz="1800">
                <a:latin typeface="Consolas" panose="020B0609020204030204" pitchFamily="49" charset="0"/>
              </a:rPr>
              <a:t>        </a:t>
            </a:r>
            <a:r>
              <a:rPr lang="vi-VN" sz="1800" b="0">
                <a:solidFill>
                  <a:srgbClr val="800000"/>
                </a:solidFill>
                <a:effectLst/>
                <a:latin typeface="Consolas" panose="020B0609020204030204" pitchFamily="49" charset="0"/>
              </a:rPr>
              <a:t>&lt;/small&gt;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3677936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EB33F84-1724-3B81-1C37-114ADC6B5FC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EEAA540-B009-4C6B-254E-5784C4D6D7C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5DCA118-A04B-8177-9822-B0226035139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E7A7E6DB-D9E8-FD76-337E-E17D23F6ED0D}"/>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1AB78E2-7DCC-D36B-C097-7278AE44587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86EAC29-2F40-DFB9-C49A-9D7243A3B1F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4E836D-B9D0-486F-09FC-C972E00CD85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2F28214-9FB7-6BDE-28D7-9F6C33663EE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A860F2F-0D53-BC0D-3288-16DF175311C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4A4E617B-0388-4419-ADB0-2A1EE0E839CE}"/>
              </a:ext>
            </a:extLst>
          </p:cNvPr>
          <p:cNvSpPr txBox="1"/>
          <p:nvPr/>
        </p:nvSpPr>
        <p:spPr>
          <a:xfrm>
            <a:off x="415252" y="788933"/>
            <a:ext cx="11339205" cy="5092163"/>
          </a:xfrm>
          <a:prstGeom prst="rect">
            <a:avLst/>
          </a:prstGeom>
          <a:noFill/>
          <a:ln>
            <a:solidFill>
              <a:schemeClr val="accent1"/>
            </a:solidFill>
          </a:ln>
        </p:spPr>
        <p:txBody>
          <a:bodyPr wrap="square">
            <a:spAutoFit/>
          </a:bodyPr>
          <a:lstStyle/>
          <a:p>
            <a:pPr>
              <a:lnSpc>
                <a:spcPts val="2250"/>
              </a:lnSpc>
              <a:buNone/>
            </a:pPr>
            <a:r>
              <a:rPr lang="vi-VN" sz="1800" b="0">
                <a:solidFill>
                  <a:srgbClr val="000000"/>
                </a:solidFill>
                <a:effectLst/>
                <a:latin typeface="Consolas" panose="020B0609020204030204" pitchFamily="49" charset="0"/>
              </a:rPr>
              <a:t>    </a:t>
            </a:r>
            <a:r>
              <a:rPr lang="vi-VN" sz="1800" b="0">
                <a:solidFill>
                  <a:srgbClr val="008000"/>
                </a:solidFill>
                <a:effectLst/>
                <a:latin typeface="Consolas" panose="020B0609020204030204" pitchFamily="49" charset="0"/>
              </a:rPr>
              <a:t>&lt;!-- Mật khẩu --&gt;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"mb-3"</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&lt;label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"form-label"</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Mật khẩu:</a:t>
            </a:r>
            <a:r>
              <a:rPr lang="vi-VN" sz="1800" b="0">
                <a:solidFill>
                  <a:srgbClr val="800000"/>
                </a:solidFill>
                <a:effectLst/>
                <a:latin typeface="Consolas" panose="020B0609020204030204" pitchFamily="49" charset="0"/>
              </a:rPr>
              <a:t>&lt;/label&gt;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&lt;input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type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"password"</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"form-control"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name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"password"</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[(ngModel)]</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user.password</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#password</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"ngModel"</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required</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[class.is-invalid]</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password.invalid &amp;&amp; password.touched</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"invalid-feedback"</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&lt;small&gt;</a:t>
            </a:r>
            <a:r>
              <a:rPr lang="vi-VN" sz="1800" b="0">
                <a:solidFill>
                  <a:srgbClr val="000000"/>
                </a:solidFill>
                <a:effectLst/>
                <a:latin typeface="Consolas" panose="020B0609020204030204" pitchFamily="49" charset="0"/>
              </a:rPr>
              <a:t>Vui lòng nhập mật khẩu.</a:t>
            </a:r>
            <a:r>
              <a:rPr lang="vi-VN" sz="1800" b="0">
                <a:solidFill>
                  <a:srgbClr val="800000"/>
                </a:solidFill>
                <a:effectLst/>
                <a:latin typeface="Consolas" panose="020B0609020204030204" pitchFamily="49" charset="0"/>
              </a:rPr>
              <a:t>&lt;/small&gt;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008000"/>
                </a:solidFill>
                <a:effectLst/>
                <a:latin typeface="Consolas" panose="020B0609020204030204" pitchFamily="49" charset="0"/>
              </a:rPr>
              <a:t>&lt;!-- Lưu thông tin đăng nhập --&gt;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"mb-3 form-check"</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&lt;input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type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"checkbox"</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"form-check-input"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name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"rememberMe"</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id</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"remember"</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[(ngModel)]</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user.rememberMe</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&lt;label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"form-check-label"</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for</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"remember"</a:t>
            </a:r>
            <a:r>
              <a:rPr lang="vi-VN" sz="1800" b="0">
                <a:solidFill>
                  <a:srgbClr val="800000"/>
                </a:solidFill>
                <a:effectLst/>
                <a:latin typeface="Consolas" panose="020B0609020204030204" pitchFamily="49" charset="0"/>
              </a:rPr>
              <a:t>&gt;</a:t>
            </a:r>
            <a:r>
              <a:rPr lang="vi-VN" sz="1800" b="0">
                <a:solidFill>
                  <a:srgbClr val="000000"/>
                </a:solidFill>
                <a:effectLst/>
                <a:latin typeface="Consolas" panose="020B0609020204030204" pitchFamily="49" charset="0"/>
              </a:rPr>
              <a:t>Lưu thông tin đăng nhập</a:t>
            </a:r>
            <a:r>
              <a:rPr lang="vi-VN" sz="1800" b="0">
                <a:solidFill>
                  <a:srgbClr val="800000"/>
                </a:solidFill>
                <a:effectLst/>
                <a:latin typeface="Consolas" panose="020B0609020204030204" pitchFamily="49" charset="0"/>
              </a:rPr>
              <a:t>&lt;/label&gt;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48198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A8B70C-5DCF-3D65-25A6-04CB9EF4C3F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8CBC8D-9984-CD4E-961C-E01C7E44D0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06C4B2-B5F3-B223-CDC4-03EE129D9A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78D9C76E-A6D1-4DC3-86CB-A0605C536D4F}"/>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8045447C-5436-ACDD-43AF-4D00DEF4C63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C5D2EAC-792E-608B-7F79-09476FC172A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A0F3E0E-B0DF-0DCD-2274-5A01568828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AFA8520-7BD1-C0D7-2164-DE6CAEAEBF8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CE9312-4E29-7E4C-66B6-7F8667623C7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62FBAC2-677F-D18E-6A5A-EFA005FDF4FE}"/>
              </a:ext>
            </a:extLst>
          </p:cNvPr>
          <p:cNvSpPr txBox="1"/>
          <p:nvPr/>
        </p:nvSpPr>
        <p:spPr>
          <a:xfrm>
            <a:off x="542786" y="967137"/>
            <a:ext cx="11339205" cy="1847685"/>
          </a:xfrm>
          <a:prstGeom prst="rect">
            <a:avLst/>
          </a:prstGeom>
          <a:noFill/>
          <a:ln>
            <a:solidFill>
              <a:schemeClr val="accent1"/>
            </a:solidFill>
          </a:ln>
        </p:spPr>
        <p:txBody>
          <a:bodyPr wrap="square">
            <a:spAutoFit/>
          </a:bodyPr>
          <a:lstStyle/>
          <a:p>
            <a:pPr>
              <a:lnSpc>
                <a:spcPts val="2250"/>
              </a:lnSpc>
              <a:buNone/>
            </a:pPr>
            <a:r>
              <a:rPr lang="vi-VN" sz="1800" b="0">
                <a:solidFill>
                  <a:srgbClr val="000000"/>
                </a:solidFill>
                <a:effectLst/>
                <a:latin typeface="Consolas" panose="020B0609020204030204" pitchFamily="49" charset="0"/>
              </a:rPr>
              <a:t>    </a:t>
            </a:r>
            <a:r>
              <a:rPr lang="vi-VN" sz="1800" b="0">
                <a:solidFill>
                  <a:srgbClr val="008000"/>
                </a:solidFill>
                <a:effectLst/>
                <a:latin typeface="Consolas" panose="020B0609020204030204" pitchFamily="49" charset="0"/>
              </a:rPr>
              <a:t>&lt;!-- Nút Đăng nhập: Chỉ sáng khi form.valid = true --&gt;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&lt;button</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type</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"submit"</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class</a:t>
            </a:r>
            <a:r>
              <a:rPr lang="vi-VN" sz="1800" b="0">
                <a:solidFill>
                  <a:srgbClr val="000000"/>
                </a:solidFill>
                <a:effectLst/>
                <a:latin typeface="Consolas" panose="020B0609020204030204" pitchFamily="49" charset="0"/>
              </a:rPr>
              <a:t>=</a:t>
            </a:r>
            <a:r>
              <a:rPr lang="vi-VN" sz="1800" b="0">
                <a:solidFill>
                  <a:srgbClr val="0000FF"/>
                </a:solidFill>
                <a:effectLst/>
                <a:latin typeface="Consolas" panose="020B0609020204030204" pitchFamily="49" charset="0"/>
              </a:rPr>
              <a:t>"btn btn-success w-100"</a:t>
            </a:r>
            <a:r>
              <a:rPr lang="vi-VN" sz="1800" b="0">
                <a:solidFill>
                  <a:srgbClr val="000000"/>
                </a:solidFill>
                <a:effectLst/>
                <a:latin typeface="Consolas" panose="020B0609020204030204" pitchFamily="49" charset="0"/>
              </a:rPr>
              <a:t> </a:t>
            </a:r>
            <a:r>
              <a:rPr lang="vi-VN" sz="1800" b="0">
                <a:solidFill>
                  <a:srgbClr val="E50000"/>
                </a:solidFill>
                <a:effectLst/>
                <a:latin typeface="Consolas" panose="020B0609020204030204" pitchFamily="49" charset="0"/>
              </a:rPr>
              <a:t>[disabled]</a:t>
            </a:r>
            <a:r>
              <a:rPr lang="vi-VN" sz="1800" b="0">
                <a:solidFill>
                  <a:srgbClr val="000000"/>
                </a:solidFill>
                <a:effectLst/>
                <a:latin typeface="Consolas" panose="020B0609020204030204" pitchFamily="49" charset="0"/>
              </a:rPr>
              <a:t>=</a:t>
            </a:r>
            <a:r>
              <a:rPr lang="vi-VN" sz="1800" b="0">
                <a:solidFill>
                  <a:srgbClr val="A31515"/>
                </a:solidFill>
                <a:effectLst/>
                <a:latin typeface="Consolas" panose="020B0609020204030204" pitchFamily="49" charset="0"/>
              </a:rPr>
              <a:t>"</a:t>
            </a:r>
            <a:r>
              <a:rPr lang="vi-VN" sz="1800" b="0">
                <a:solidFill>
                  <a:srgbClr val="000000"/>
                </a:solidFill>
                <a:effectLst/>
                <a:latin typeface="Consolas" panose="020B0609020204030204" pitchFamily="49" charset="0"/>
              </a:rPr>
              <a:t>loginForm.invalid</a:t>
            </a:r>
            <a:r>
              <a:rPr lang="vi-VN" sz="1800" b="0">
                <a:solidFill>
                  <a:srgbClr val="A31515"/>
                </a:solidFill>
                <a:effectLst/>
                <a:latin typeface="Consolas" panose="020B0609020204030204" pitchFamily="49" charset="0"/>
              </a:rPr>
              <a:t>"</a:t>
            </a:r>
            <a:r>
              <a:rPr lang="vi-VN" sz="1800" b="0">
                <a:solidFill>
                  <a:srgbClr val="800000"/>
                </a:solidFill>
                <a:effectLst/>
                <a:latin typeface="Consolas" panose="020B0609020204030204" pitchFamily="49" charset="0"/>
              </a:rPr>
              <a:t>&gt;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Đăng nhập</a:t>
            </a: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&lt;/button&gt;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000000"/>
                </a:solidFill>
                <a:effectLst/>
                <a:latin typeface="Consolas" panose="020B0609020204030204" pitchFamily="49" charset="0"/>
              </a:rPr>
              <a:t>  </a:t>
            </a:r>
            <a:r>
              <a:rPr lang="vi-VN" sz="1800" b="0">
                <a:solidFill>
                  <a:srgbClr val="800000"/>
                </a:solidFill>
                <a:effectLst/>
                <a:latin typeface="Consolas" panose="020B0609020204030204" pitchFamily="49" charset="0"/>
              </a:rPr>
              <a:t>&lt;/form&gt;</a:t>
            </a:r>
            <a:endParaRPr lang="vi-VN" sz="1800" b="0">
              <a:solidFill>
                <a:srgbClr val="000000"/>
              </a:solidFill>
              <a:effectLst/>
              <a:latin typeface="Consolas" panose="020B0609020204030204" pitchFamily="49" charset="0"/>
            </a:endParaRPr>
          </a:p>
          <a:p>
            <a:pPr>
              <a:lnSpc>
                <a:spcPts val="2250"/>
              </a:lnSpc>
              <a:buNone/>
            </a:pPr>
            <a:r>
              <a:rPr lang="vi-VN" sz="1800" b="0">
                <a:solidFill>
                  <a:srgbClr val="800000"/>
                </a:solidFill>
                <a:effectLst/>
                <a:latin typeface="Consolas" panose="020B0609020204030204" pitchFamily="49" charset="0"/>
              </a:rPr>
              <a:t>&lt;/div&gt;</a:t>
            </a:r>
            <a:endParaRPr lang="vi-VN"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02145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98DCF66-7A86-7612-30A9-77A939CEC8C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8B6AD22-7ECB-218D-40E1-FDC85A7CE15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671763-C205-559C-0635-0A3978B4487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DA92C84A-5DE1-E0F5-CE59-6277AC357BE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0F3F51F-DD46-49A6-1930-5F160EB076A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C9FE8B6-5C56-6874-98CF-0142584F95A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58853CD-79E0-894E-A810-2E076F0597C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520E19E-F2B3-6845-D0A0-6AD9A24EA54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C4414B8-72BD-B6F1-00EE-8C6EB16DB4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021E6F6-4461-957E-9207-8997302C8727}"/>
              </a:ext>
            </a:extLst>
          </p:cNvPr>
          <p:cNvSpPr txBox="1"/>
          <p:nvPr/>
        </p:nvSpPr>
        <p:spPr>
          <a:xfrm>
            <a:off x="437543" y="745513"/>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Cấu hình Routing </a:t>
            </a:r>
            <a:r>
              <a:rPr lang="en-US" sz="2400" b="1">
                <a:latin typeface="Times New Roman" panose="02020603050405020304" pitchFamily="18" charset="0"/>
                <a:cs typeface="Times New Roman" panose="02020603050405020304" pitchFamily="18" charset="0"/>
              </a:rPr>
              <a:t>app-routing-module.ts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5DF784F-4932-8D1C-1804-E0F92F8578C5}"/>
              </a:ext>
            </a:extLst>
          </p:cNvPr>
          <p:cNvPicPr>
            <a:picLocks noChangeAspect="1"/>
          </p:cNvPicPr>
          <p:nvPr/>
        </p:nvPicPr>
        <p:blipFill>
          <a:blip r:embed="rId3"/>
          <a:stretch>
            <a:fillRect/>
          </a:stretch>
        </p:blipFill>
        <p:spPr>
          <a:xfrm>
            <a:off x="728132" y="1542876"/>
            <a:ext cx="10318374" cy="3055885"/>
          </a:xfrm>
          <a:prstGeom prst="rect">
            <a:avLst/>
          </a:prstGeom>
        </p:spPr>
      </p:pic>
      <p:sp>
        <p:nvSpPr>
          <p:cNvPr id="12" name="Rectangle 11">
            <a:extLst>
              <a:ext uri="{FF2B5EF4-FFF2-40B4-BE49-F238E27FC236}">
                <a16:creationId xmlns:a16="http://schemas.microsoft.com/office/drawing/2014/main" id="{FFE0E070-4E15-35B6-D69C-9223ED453AE0}"/>
              </a:ext>
            </a:extLst>
          </p:cNvPr>
          <p:cNvSpPr/>
          <p:nvPr/>
        </p:nvSpPr>
        <p:spPr>
          <a:xfrm>
            <a:off x="843455" y="3523593"/>
            <a:ext cx="8781393"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26067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0BDA48-4017-34E2-A4DA-01EF3B3CBDA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C030F62-80DB-9149-D0B9-021E26F4F3D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E6366B-4CBD-BE85-A925-D73AA4C31A3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924195BB-5FC0-9F51-CA03-EBA9D943DBC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0EB48D9C-FF0A-CAC7-20D2-23F699634FA0}"/>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CB2B97D-2AD8-5A11-E656-634395FE2B4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FA60222-FCE3-FB7F-8959-0F8CBA57EFA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3A1CD6B-FFE0-2C99-DE99-442618FAAD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9486AB3-D28C-7AAE-302C-6F61D21F9A7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5BAC639-044A-7D6F-25F4-FF4C3C8A0E43}"/>
              </a:ext>
            </a:extLst>
          </p:cNvPr>
          <p:cNvSpPr txBox="1"/>
          <p:nvPr/>
        </p:nvSpPr>
        <p:spPr>
          <a:xfrm>
            <a:off x="437543" y="745513"/>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6: </a:t>
            </a:r>
            <a:r>
              <a:rPr lang="en-US" sz="2400">
                <a:latin typeface="Times New Roman" panose="02020603050405020304" pitchFamily="18" charset="0"/>
                <a:cs typeface="Times New Roman" panose="02020603050405020304" pitchFamily="18" charset="0"/>
              </a:rPr>
              <a:t>app.html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2A92592-B6B5-2DC2-33B2-6C124FCA8D9D}"/>
              </a:ext>
            </a:extLst>
          </p:cNvPr>
          <p:cNvPicPr>
            <a:picLocks noChangeAspect="1"/>
          </p:cNvPicPr>
          <p:nvPr/>
        </p:nvPicPr>
        <p:blipFill>
          <a:blip r:embed="rId3"/>
          <a:stretch>
            <a:fillRect/>
          </a:stretch>
        </p:blipFill>
        <p:spPr>
          <a:xfrm>
            <a:off x="3159830" y="874986"/>
            <a:ext cx="8062935" cy="5428367"/>
          </a:xfrm>
          <a:prstGeom prst="rect">
            <a:avLst/>
          </a:prstGeom>
        </p:spPr>
      </p:pic>
    </p:spTree>
    <p:extLst>
      <p:ext uri="{BB962C8B-B14F-4D97-AF65-F5344CB8AC3E}">
        <p14:creationId xmlns:p14="http://schemas.microsoft.com/office/powerpoint/2010/main" val="4081320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BAA92A5-7ABA-9877-3A71-55CBF55635D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2953135-277E-B929-23BA-9E0B4AD5891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15543B-73AE-8A4C-5D5C-8484B36278E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14000626-BA94-B940-F15E-65C40BD3FAC8}"/>
              </a:ext>
            </a:extLst>
          </p:cNvPr>
          <p:cNvGrpSpPr/>
          <p:nvPr/>
        </p:nvGrpSpPr>
        <p:grpSpPr>
          <a:xfrm>
            <a:off x="214276" y="229075"/>
            <a:ext cx="6233578" cy="508000"/>
            <a:chOff x="789624" y="1191463"/>
            <a:chExt cx="6233578" cy="508000"/>
          </a:xfrm>
        </p:grpSpPr>
        <p:sp>
          <p:nvSpPr>
            <p:cNvPr id="3" name="AutoShape 52">
              <a:extLst>
                <a:ext uri="{FF2B5EF4-FFF2-40B4-BE49-F238E27FC236}">
                  <a16:creationId xmlns:a16="http://schemas.microsoft.com/office/drawing/2014/main" id="{FF7ADBCB-9808-0C15-56F8-9FBCC83C7542}"/>
                </a:ext>
              </a:extLst>
            </p:cNvPr>
            <p:cNvSpPr>
              <a:spLocks noChangeArrowheads="1"/>
            </p:cNvSpPr>
            <p:nvPr/>
          </p:nvSpPr>
          <p:spPr bwMode="gray">
            <a:xfrm>
              <a:off x="990600" y="1191463"/>
              <a:ext cx="60326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5.2.4.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Form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1FC2AD1-67F2-CA03-BFA8-E47EE79ECFD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24C536-168C-7259-BEF9-9B76762EDFB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4F04605-67EC-E336-6FA9-09C4DA0F926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580BE77-06F4-AB6D-F9B6-5D8FAC96DA1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329CC779-E878-A367-D590-9BEABE7D7B3E}"/>
              </a:ext>
            </a:extLst>
          </p:cNvPr>
          <p:cNvSpPr txBox="1"/>
          <p:nvPr/>
        </p:nvSpPr>
        <p:spPr>
          <a:xfrm>
            <a:off x="437543" y="745513"/>
            <a:ext cx="11316913"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Chạy web</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3AC9B5F-31A2-DE76-BF00-C16FD55B4F9D}"/>
              </a:ext>
            </a:extLst>
          </p:cNvPr>
          <p:cNvPicPr>
            <a:picLocks noChangeAspect="1"/>
          </p:cNvPicPr>
          <p:nvPr/>
        </p:nvPicPr>
        <p:blipFill>
          <a:blip r:embed="rId3"/>
          <a:stretch>
            <a:fillRect/>
          </a:stretch>
        </p:blipFill>
        <p:spPr>
          <a:xfrm>
            <a:off x="728132" y="1306920"/>
            <a:ext cx="5719722" cy="5037287"/>
          </a:xfrm>
          <a:prstGeom prst="rect">
            <a:avLst/>
          </a:prstGeom>
        </p:spPr>
      </p:pic>
      <p:pic>
        <p:nvPicPr>
          <p:cNvPr id="13" name="Picture 12">
            <a:extLst>
              <a:ext uri="{FF2B5EF4-FFF2-40B4-BE49-F238E27FC236}">
                <a16:creationId xmlns:a16="http://schemas.microsoft.com/office/drawing/2014/main" id="{08BB9349-0B5A-FA66-C5BE-18E46082FF7C}"/>
              </a:ext>
            </a:extLst>
          </p:cNvPr>
          <p:cNvPicPr>
            <a:picLocks noChangeAspect="1"/>
          </p:cNvPicPr>
          <p:nvPr/>
        </p:nvPicPr>
        <p:blipFill>
          <a:blip r:embed="rId4"/>
          <a:stretch>
            <a:fillRect/>
          </a:stretch>
        </p:blipFill>
        <p:spPr>
          <a:xfrm>
            <a:off x="6624868" y="466928"/>
            <a:ext cx="5420177" cy="4773482"/>
          </a:xfrm>
          <a:prstGeom prst="rect">
            <a:avLst/>
          </a:prstGeom>
        </p:spPr>
      </p:pic>
      <p:pic>
        <p:nvPicPr>
          <p:cNvPr id="15" name="Picture 14">
            <a:extLst>
              <a:ext uri="{FF2B5EF4-FFF2-40B4-BE49-F238E27FC236}">
                <a16:creationId xmlns:a16="http://schemas.microsoft.com/office/drawing/2014/main" id="{6EC8666E-854B-A506-4F99-0A34C1841152}"/>
              </a:ext>
            </a:extLst>
          </p:cNvPr>
          <p:cNvPicPr>
            <a:picLocks noChangeAspect="1"/>
          </p:cNvPicPr>
          <p:nvPr/>
        </p:nvPicPr>
        <p:blipFill>
          <a:blip r:embed="rId5"/>
          <a:stretch>
            <a:fillRect/>
          </a:stretch>
        </p:blipFill>
        <p:spPr>
          <a:xfrm>
            <a:off x="7158195" y="4615646"/>
            <a:ext cx="4305673" cy="1813717"/>
          </a:xfrm>
          <a:prstGeom prst="rect">
            <a:avLst/>
          </a:prstGeom>
        </p:spPr>
      </p:pic>
    </p:spTree>
    <p:extLst>
      <p:ext uri="{BB962C8B-B14F-4D97-AF65-F5344CB8AC3E}">
        <p14:creationId xmlns:p14="http://schemas.microsoft.com/office/powerpoint/2010/main" val="4283213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60BEEDB-59B1-F196-2BC0-1C7CDE60EAB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5A0CA40-089A-3216-AB49-598C9517F32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432EE49-7031-5890-C175-997C07B7793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B40A7A3E-FB8D-49E6-C5E1-1F1C9353E65B}"/>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A8EF144-F322-DB63-BDC9-9E46F6BB11F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654E9A0-95AA-6F60-4D09-DBCD54972C6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DB686B3-5D7F-9BC7-0C48-8C1D2157DA2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39BF7D-20B2-DF42-3E4F-53F25C09FB3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B5E5284-98E0-045C-7F16-8BFF8001F53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BD07AEB-EBF9-6B6F-E2E0-DF43D7CFAB81}"/>
              </a:ext>
            </a:extLst>
          </p:cNvPr>
          <p:cNvSpPr txBox="1"/>
          <p:nvPr/>
        </p:nvSpPr>
        <p:spPr>
          <a:xfrm>
            <a:off x="462279" y="813512"/>
            <a:ext cx="11564547" cy="2308324"/>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5.3.1.</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Tạo Form Model</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Load Data</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Custom Validation</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5.3.5.</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Cross Field Validation</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5.3.6.</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Post form data to a server</a:t>
            </a:r>
          </a:p>
        </p:txBody>
      </p:sp>
    </p:spTree>
    <p:extLst>
      <p:ext uri="{BB962C8B-B14F-4D97-AF65-F5344CB8AC3E}">
        <p14:creationId xmlns:p14="http://schemas.microsoft.com/office/powerpoint/2010/main" val="3273264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612C3C5-092B-BF07-2AEE-D42AEDE92A5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5843D6C-A0CB-8863-05A4-F5084A895F5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2EEF364-D2FD-DCD6-38ED-DDD95ABD9A7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FD6AC6D1-F7D5-E4BB-8EED-0DD74FC0C51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9D982E75-19EB-02F7-EB6E-875EFF7F7963}"/>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54630A-8420-6C72-AE77-C0E08D4D1D0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45161B8-ED2F-8D59-D920-84D25B813AB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59E95CE-4504-16D2-FA60-AA3BD680AFD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430E80-DC7D-71F2-7709-334657B79B8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15E453F-40D1-8427-B233-CDB4C00295C9}"/>
              </a:ext>
            </a:extLst>
          </p:cNvPr>
          <p:cNvSpPr txBox="1"/>
          <p:nvPr/>
        </p:nvSpPr>
        <p:spPr>
          <a:xfrm>
            <a:off x="462279" y="813512"/>
            <a:ext cx="11564547"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Reactive Forms</a:t>
            </a:r>
            <a:r>
              <a:rPr lang="vi-VN" sz="2400">
                <a:latin typeface="Times New Roman" panose="02020603050405020304" pitchFamily="18" charset="0"/>
                <a:cs typeface="Times New Roman" panose="02020603050405020304" pitchFamily="18" charset="0"/>
              </a:rPr>
              <a:t> là một cách tiếp cận hướng đối tượng (model-driven) để quản lý trạng thái của Form trong Angular. Thay vì để Angular tự động suy luận logic từ HTML (như Template-Driven), chúng ta sẽ tự tay định nghĩa cấu trúc, giá trị và các quy tắc kiểm tra (validation) ngay trong file </a:t>
            </a:r>
            <a:r>
              <a:rPr lang="vi-VN" sz="2400" b="1">
                <a:latin typeface="Times New Roman" panose="02020603050405020304" pitchFamily="18" charset="0"/>
                <a:cs typeface="Times New Roman" panose="02020603050405020304" pitchFamily="18" charset="0"/>
              </a:rPr>
              <a:t>component.ts</a:t>
            </a:r>
            <a:r>
              <a:rPr lang="vi-VN" sz="240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761ADF01-EF20-AED3-4409-20B70485B1FF}"/>
              </a:ext>
            </a:extLst>
          </p:cNvPr>
          <p:cNvPicPr>
            <a:picLocks noChangeAspect="1"/>
          </p:cNvPicPr>
          <p:nvPr/>
        </p:nvPicPr>
        <p:blipFill>
          <a:blip r:embed="rId3"/>
          <a:stretch>
            <a:fillRect/>
          </a:stretch>
        </p:blipFill>
        <p:spPr>
          <a:xfrm>
            <a:off x="4155114" y="3033350"/>
            <a:ext cx="5154426" cy="3366278"/>
          </a:xfrm>
          <a:prstGeom prst="rect">
            <a:avLst/>
          </a:prstGeom>
        </p:spPr>
      </p:pic>
    </p:spTree>
    <p:extLst>
      <p:ext uri="{BB962C8B-B14F-4D97-AF65-F5344CB8AC3E}">
        <p14:creationId xmlns:p14="http://schemas.microsoft.com/office/powerpoint/2010/main" val="25301315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43049E7-F642-DBD1-536C-8268CDE5F0C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4610421-C568-186B-818E-14DE08954D3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1A1C710-B7F2-7408-374E-FCE4E1648B4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D40E2DCC-890E-34B3-1DF8-AE9B70481E1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F6B134C8-3CC6-6D55-DD1D-BC21C3C4302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C315125-21FB-11F7-D7D0-88B80D792F1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99FC0F5-58E2-B837-ADD3-DAAD1B09AD5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A8EBF4B-EF17-5EFD-8341-8460651DF58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798A021-5FD5-8028-881B-3383DDAB7E5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372C228-D319-A137-5667-7B18C0EF8102}"/>
              </a:ext>
            </a:extLst>
          </p:cNvPr>
          <p:cNvSpPr txBox="1"/>
          <p:nvPr/>
        </p:nvSpPr>
        <p:spPr>
          <a:xfrm>
            <a:off x="462279" y="813512"/>
            <a:ext cx="11564547" cy="3903954"/>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Các thành phần cốt lõi</a:t>
            </a:r>
          </a:p>
          <a:p>
            <a:pPr>
              <a:lnSpc>
                <a:spcPct val="150000"/>
              </a:lnSpc>
            </a:pPr>
            <a:r>
              <a:rPr lang="vi-VN" sz="2400">
                <a:latin typeface="Times New Roman" panose="02020603050405020304" pitchFamily="18" charset="0"/>
                <a:cs typeface="Times New Roman" panose="02020603050405020304" pitchFamily="18" charset="0"/>
              </a:rPr>
              <a:t>Để xây dựng một Reactive Form, </a:t>
            </a:r>
            <a:r>
              <a:rPr lang="en-US" sz="2400">
                <a:latin typeface="Times New Roman" panose="02020603050405020304" pitchFamily="18" charset="0"/>
                <a:cs typeface="Times New Roman" panose="02020603050405020304" pitchFamily="18" charset="0"/>
              </a:rPr>
              <a:t>Ta cần biết </a:t>
            </a:r>
            <a:r>
              <a:rPr lang="vi-VN" sz="2400">
                <a:latin typeface="Times New Roman" panose="02020603050405020304" pitchFamily="18" charset="0"/>
                <a:cs typeface="Times New Roman" panose="02020603050405020304" pitchFamily="18" charset="0"/>
              </a:rPr>
              <a:t>3 lớp đối tượng chính:</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FormControl:</a:t>
            </a:r>
            <a:r>
              <a:rPr lang="vi-VN" sz="2400">
                <a:latin typeface="Times New Roman" panose="02020603050405020304" pitchFamily="18" charset="0"/>
                <a:cs typeface="Times New Roman" panose="02020603050405020304" pitchFamily="18" charset="0"/>
              </a:rPr>
              <a:t> Đơn vị nhỏ nhất, quản lý giá trị và trạng thái của một ô nhập liệu duy nhất (ví dụ: ô Username).</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FormGroup:</a:t>
            </a:r>
            <a:r>
              <a:rPr lang="vi-VN" sz="2400">
                <a:latin typeface="Times New Roman" panose="02020603050405020304" pitchFamily="18" charset="0"/>
                <a:cs typeface="Times New Roman" panose="02020603050405020304" pitchFamily="18" charset="0"/>
              </a:rPr>
              <a:t> Một nhóm các FormControl. Nó quản lý trạng thái tổng thể của một tập hợp các ô nhập liệu (ví dụ: cả Form Đăng nhập).</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FormBuilder:</a:t>
            </a:r>
            <a:r>
              <a:rPr lang="vi-VN" sz="2400">
                <a:latin typeface="Times New Roman" panose="02020603050405020304" pitchFamily="18" charset="0"/>
                <a:cs typeface="Times New Roman" panose="02020603050405020304" pitchFamily="18" charset="0"/>
              </a:rPr>
              <a:t> Một dịch vụ (service) giúp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viết code khởi tạo Form ngắn gọn</a:t>
            </a:r>
            <a:r>
              <a:rPr lang="en-US" sz="2400">
                <a:latin typeface="Times New Roman" panose="02020603050405020304" pitchFamily="18" charset="0"/>
                <a:cs typeface="Times New Roman" panose="02020603050405020304" pitchFamily="18" charset="0"/>
              </a:rPr>
              <a:t> hơn</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4933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E0E2FC4-3445-7B04-02F4-AD9AA009FE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175BD51-E76C-47D6-88F2-3C7ACEEC7F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ACCA0AE-A85A-6FFB-21F2-017F6051BEB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639F6932-980E-19FE-78BE-544F434DFCA2}"/>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3D6E6AEF-B5D3-6B81-37C5-37FA214682F9}"/>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E75733E-4A37-B23B-2D0F-2007A5F4DEF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BC2D99-2C2F-5E65-63C6-FA7DB5000B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FB69EA-6ED7-C10A-83A3-E02F2AD8787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BCF2E2B-6B8A-CE6B-3C83-824C30E4C34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A2A2E35-0999-09CC-6BC0-AD0F23ADB830}"/>
              </a:ext>
            </a:extLst>
          </p:cNvPr>
          <p:cNvSpPr txBox="1"/>
          <p:nvPr/>
        </p:nvSpPr>
        <p:spPr>
          <a:xfrm>
            <a:off x="462279" y="813512"/>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Chúng ta sẽ thử nghiệm trên giao diện Đăng ký Khóa Học như dưới đây</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5DA006F-4405-3B20-C148-06E274B69DFE}"/>
              </a:ext>
            </a:extLst>
          </p:cNvPr>
          <p:cNvPicPr>
            <a:picLocks noChangeAspect="1"/>
          </p:cNvPicPr>
          <p:nvPr/>
        </p:nvPicPr>
        <p:blipFill>
          <a:blip r:embed="rId3"/>
          <a:stretch>
            <a:fillRect/>
          </a:stretch>
        </p:blipFill>
        <p:spPr>
          <a:xfrm>
            <a:off x="3297765" y="1393479"/>
            <a:ext cx="5055430" cy="4926355"/>
          </a:xfrm>
          <a:prstGeom prst="rect">
            <a:avLst/>
          </a:prstGeom>
        </p:spPr>
      </p:pic>
    </p:spTree>
    <p:extLst>
      <p:ext uri="{BB962C8B-B14F-4D97-AF65-F5344CB8AC3E}">
        <p14:creationId xmlns:p14="http://schemas.microsoft.com/office/powerpoint/2010/main" val="7022318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2072D8D-35BD-C129-065C-F12D57212A6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80C1BFE-88ED-6A03-700B-02FED9878D8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9AB9FEB-6724-28F5-8749-D0752EE3298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C8D89822-2454-2EE7-536B-D3CDB384B291}"/>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5E9329D7-EB4C-90C1-504F-FEE6CA46D6A9}"/>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6DA662A-D7BE-869D-C3C2-9C4F9375CEF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CF1D47-877F-8E7E-8709-0EF682C6581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A4967E-4D24-7C1B-3755-AD846EB2533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EE38F3C-CBD7-7446-AC84-A2D574EFC74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C08629E-C854-78CD-330B-7281A27378A5}"/>
              </a:ext>
            </a:extLst>
          </p:cNvPr>
          <p:cNvSpPr txBox="1"/>
          <p:nvPr/>
        </p:nvSpPr>
        <p:spPr>
          <a:xfrm>
            <a:off x="462279" y="813512"/>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app-module.ts</a:t>
            </a:r>
            <a:endParaRPr lang="vi-VN" sz="2400" b="1">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B3282CF8-F23B-DD67-6EA1-9F87F5A0F194}"/>
              </a:ext>
            </a:extLst>
          </p:cNvPr>
          <p:cNvSpPr txBox="1"/>
          <p:nvPr/>
        </p:nvSpPr>
        <p:spPr>
          <a:xfrm>
            <a:off x="728132" y="1738934"/>
            <a:ext cx="9642584" cy="372923"/>
          </a:xfrm>
          <a:prstGeom prst="rect">
            <a:avLst/>
          </a:prstGeom>
          <a:noFill/>
          <a:ln>
            <a:solidFill>
              <a:srgbClr val="002060"/>
            </a:solidFill>
          </a:ln>
        </p:spPr>
        <p:txBody>
          <a:bodyPr wrap="square">
            <a:spAutoFit/>
          </a:bodyPr>
          <a:lstStyle/>
          <a:p>
            <a:pPr>
              <a:lnSpc>
                <a:spcPts val="2250"/>
              </a:lnSpc>
              <a:buNone/>
            </a:pPr>
            <a:r>
              <a:rPr lang="en-US" sz="1800" b="0">
                <a:solidFill>
                  <a:srgbClr val="0000FF"/>
                </a:solidFill>
                <a:effectLst/>
                <a:latin typeface="Consolas" panose="020B0609020204030204" pitchFamily="49" charset="0"/>
              </a:rPr>
              <a:t>import</a:t>
            </a:r>
            <a:r>
              <a:rPr lang="en-US" sz="1800" b="0">
                <a:solidFill>
                  <a:srgbClr val="000000"/>
                </a:solidFill>
                <a:effectLst/>
                <a:latin typeface="Consolas" panose="020B0609020204030204" pitchFamily="49" charset="0"/>
              </a:rPr>
              <a:t> { FormsModule, </a:t>
            </a:r>
            <a:r>
              <a:rPr lang="en-US" sz="1800" b="0">
                <a:solidFill>
                  <a:srgbClr val="FF0000"/>
                </a:solidFill>
                <a:effectLst/>
                <a:latin typeface="Consolas" panose="020B0609020204030204" pitchFamily="49" charset="0"/>
              </a:rPr>
              <a:t>ReactiveFormsModule</a:t>
            </a:r>
            <a:r>
              <a:rPr lang="en-US" sz="1800" b="0">
                <a:solidFill>
                  <a:srgbClr val="000000"/>
                </a:solidFill>
                <a:effectLst/>
                <a:latin typeface="Consolas" panose="020B0609020204030204" pitchFamily="49" charset="0"/>
              </a:rPr>
              <a:t> } </a:t>
            </a:r>
            <a:r>
              <a:rPr lang="en-US" sz="1800" b="0">
                <a:solidFill>
                  <a:srgbClr val="0000FF"/>
                </a:solidFill>
                <a:effectLst/>
                <a:latin typeface="Consolas" panose="020B0609020204030204" pitchFamily="49" charset="0"/>
              </a:rPr>
              <a:t>from</a:t>
            </a:r>
            <a:r>
              <a:rPr lang="en-US" sz="1800" b="0">
                <a:solidFill>
                  <a:srgbClr val="000000"/>
                </a:solidFill>
                <a:effectLst/>
                <a:latin typeface="Consolas" panose="020B0609020204030204" pitchFamily="49" charset="0"/>
              </a:rPr>
              <a:t> </a:t>
            </a:r>
            <a:r>
              <a:rPr lang="en-US" sz="1800" b="0">
                <a:solidFill>
                  <a:srgbClr val="A31515"/>
                </a:solidFill>
                <a:effectLst/>
                <a:latin typeface="Consolas" panose="020B0609020204030204" pitchFamily="49" charset="0"/>
              </a:rPr>
              <a:t>'@angular/forms'</a:t>
            </a:r>
            <a:r>
              <a:rPr lang="en-US" sz="1800" b="0">
                <a:solidFill>
                  <a:srgbClr val="000000"/>
                </a:solidFill>
                <a:effectLst/>
                <a:latin typeface="Consolas" panose="020B0609020204030204" pitchFamily="49" charset="0"/>
              </a:rPr>
              <a:t>;</a:t>
            </a:r>
          </a:p>
        </p:txBody>
      </p:sp>
      <p:sp>
        <p:nvSpPr>
          <p:cNvPr id="25" name="TextBox 24">
            <a:extLst>
              <a:ext uri="{FF2B5EF4-FFF2-40B4-BE49-F238E27FC236}">
                <a16:creationId xmlns:a16="http://schemas.microsoft.com/office/drawing/2014/main" id="{EE7C2F4E-4584-F37F-F072-F192138F994F}"/>
              </a:ext>
            </a:extLst>
          </p:cNvPr>
          <p:cNvSpPr txBox="1"/>
          <p:nvPr/>
        </p:nvSpPr>
        <p:spPr>
          <a:xfrm>
            <a:off x="707636" y="2867731"/>
            <a:ext cx="11073831" cy="387286"/>
          </a:xfrm>
          <a:prstGeom prst="rect">
            <a:avLst/>
          </a:prstGeom>
          <a:noFill/>
          <a:ln>
            <a:solidFill>
              <a:srgbClr val="002060"/>
            </a:solidFill>
          </a:ln>
        </p:spPr>
        <p:txBody>
          <a:bodyPr wrap="square">
            <a:spAutoFit/>
          </a:bodyPr>
          <a:lstStyle/>
          <a:p>
            <a:pPr>
              <a:lnSpc>
                <a:spcPts val="2250"/>
              </a:lnSpc>
              <a:buNone/>
            </a:pPr>
            <a:r>
              <a:rPr lang="en-US" sz="2000" b="0">
                <a:solidFill>
                  <a:srgbClr val="000000"/>
                </a:solidFill>
                <a:effectLst/>
                <a:latin typeface="Consolas" panose="020B0609020204030204" pitchFamily="49" charset="0"/>
              </a:rPr>
              <a:t>imports: [BrowserModule, AppRoutingModule, FormsModule,</a:t>
            </a:r>
            <a:r>
              <a:rPr lang="en-US" sz="2000" b="0">
                <a:solidFill>
                  <a:srgbClr val="FF0000"/>
                </a:solidFill>
                <a:effectLst/>
                <a:latin typeface="Consolas" panose="020B0609020204030204" pitchFamily="49" charset="0"/>
              </a:rPr>
              <a:t>ReactiveFormsModule</a:t>
            </a: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156753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E95E4C1-3CD8-0530-6623-E077509D0A1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F206CAC-9E2A-EC8D-76A0-964E74D1837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2E4744E-4C85-AF52-71F1-AA24B211A2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8FE76E30-1542-955C-9B30-BC3D1065C5D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773B39A-EFBF-C685-EFE2-39F679FCD2A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 Reactive Forms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787DDD1-E09B-ED60-C323-2DEB83C6F47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926261B-274D-EF28-69A4-7E27A87D62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A8E90FF-587A-E15D-4088-DB07E7B3EA2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ECB93DC-0588-D1F8-BD3F-3D87EC53AA5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58C34D8-40B3-B1A3-0F4C-8D995E63DB3A}"/>
              </a:ext>
            </a:extLst>
          </p:cNvPr>
          <p:cNvSpPr txBox="1"/>
          <p:nvPr/>
        </p:nvSpPr>
        <p:spPr>
          <a:xfrm>
            <a:off x="462279" y="813512"/>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Tạo component </a:t>
            </a:r>
            <a:r>
              <a:rPr lang="en-US" sz="2400" b="1">
                <a:latin typeface="Times New Roman" panose="02020603050405020304" pitchFamily="18" charset="0"/>
                <a:cs typeface="Times New Roman" panose="02020603050405020304" pitchFamily="18" charset="0"/>
              </a:rPr>
              <a:t>course-registration-component</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87289E3-DC18-1680-58D0-38F0848C431A}"/>
              </a:ext>
            </a:extLst>
          </p:cNvPr>
          <p:cNvPicPr>
            <a:picLocks noChangeAspect="1"/>
          </p:cNvPicPr>
          <p:nvPr/>
        </p:nvPicPr>
        <p:blipFill>
          <a:blip r:embed="rId3"/>
          <a:stretch>
            <a:fillRect/>
          </a:stretch>
        </p:blipFill>
        <p:spPr>
          <a:xfrm>
            <a:off x="4999103" y="1785226"/>
            <a:ext cx="7041490" cy="762066"/>
          </a:xfrm>
          <a:prstGeom prst="rect">
            <a:avLst/>
          </a:prstGeom>
        </p:spPr>
      </p:pic>
      <p:pic>
        <p:nvPicPr>
          <p:cNvPr id="13" name="Picture 12">
            <a:extLst>
              <a:ext uri="{FF2B5EF4-FFF2-40B4-BE49-F238E27FC236}">
                <a16:creationId xmlns:a16="http://schemas.microsoft.com/office/drawing/2014/main" id="{6F0334B3-9DE6-548A-9C87-B34E9F93D6DB}"/>
              </a:ext>
            </a:extLst>
          </p:cNvPr>
          <p:cNvPicPr>
            <a:picLocks noChangeAspect="1"/>
          </p:cNvPicPr>
          <p:nvPr/>
        </p:nvPicPr>
        <p:blipFill>
          <a:blip r:embed="rId4"/>
          <a:stretch>
            <a:fillRect/>
          </a:stretch>
        </p:blipFill>
        <p:spPr>
          <a:xfrm>
            <a:off x="462279" y="1459071"/>
            <a:ext cx="4374259" cy="1821338"/>
          </a:xfrm>
          <a:prstGeom prst="rect">
            <a:avLst/>
          </a:prstGeom>
        </p:spPr>
      </p:pic>
      <p:pic>
        <p:nvPicPr>
          <p:cNvPr id="15" name="Picture 14">
            <a:extLst>
              <a:ext uri="{FF2B5EF4-FFF2-40B4-BE49-F238E27FC236}">
                <a16:creationId xmlns:a16="http://schemas.microsoft.com/office/drawing/2014/main" id="{ADAB24C1-BE4F-5CFE-6227-C83117CA8B8C}"/>
              </a:ext>
            </a:extLst>
          </p:cNvPr>
          <p:cNvPicPr>
            <a:picLocks noChangeAspect="1"/>
          </p:cNvPicPr>
          <p:nvPr/>
        </p:nvPicPr>
        <p:blipFill>
          <a:blip r:embed="rId5"/>
          <a:stretch>
            <a:fillRect/>
          </a:stretch>
        </p:blipFill>
        <p:spPr>
          <a:xfrm>
            <a:off x="4931243" y="3909849"/>
            <a:ext cx="7177211" cy="1821338"/>
          </a:xfrm>
          <a:prstGeom prst="rect">
            <a:avLst/>
          </a:prstGeom>
        </p:spPr>
      </p:pic>
      <p:pic>
        <p:nvPicPr>
          <p:cNvPr id="17" name="Picture 16">
            <a:extLst>
              <a:ext uri="{FF2B5EF4-FFF2-40B4-BE49-F238E27FC236}">
                <a16:creationId xmlns:a16="http://schemas.microsoft.com/office/drawing/2014/main" id="{50BFCDED-29A4-731E-99BF-3F0845206621}"/>
              </a:ext>
            </a:extLst>
          </p:cNvPr>
          <p:cNvPicPr>
            <a:picLocks noChangeAspect="1"/>
          </p:cNvPicPr>
          <p:nvPr/>
        </p:nvPicPr>
        <p:blipFill>
          <a:blip r:embed="rId6"/>
          <a:stretch>
            <a:fillRect/>
          </a:stretch>
        </p:blipFill>
        <p:spPr>
          <a:xfrm>
            <a:off x="542786" y="4073043"/>
            <a:ext cx="3425833" cy="1879717"/>
          </a:xfrm>
          <a:prstGeom prst="rect">
            <a:avLst/>
          </a:prstGeom>
        </p:spPr>
      </p:pic>
      <p:cxnSp>
        <p:nvCxnSpPr>
          <p:cNvPr id="18" name="Connector: Elbow 17">
            <a:extLst>
              <a:ext uri="{FF2B5EF4-FFF2-40B4-BE49-F238E27FC236}">
                <a16:creationId xmlns:a16="http://schemas.microsoft.com/office/drawing/2014/main" id="{F2B67B72-4A39-ACCB-75C0-C2DD3A1A826A}"/>
              </a:ext>
            </a:extLst>
          </p:cNvPr>
          <p:cNvCxnSpPr>
            <a:cxnSpLocks/>
          </p:cNvCxnSpPr>
          <p:nvPr/>
        </p:nvCxnSpPr>
        <p:spPr>
          <a:xfrm flipV="1">
            <a:off x="3944356" y="2470730"/>
            <a:ext cx="4926375" cy="70476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679D6A4-4123-9B68-055F-DA3A5FD5573F}"/>
              </a:ext>
            </a:extLst>
          </p:cNvPr>
          <p:cNvCxnSpPr>
            <a:cxnSpLocks/>
          </p:cNvCxnSpPr>
          <p:nvPr/>
        </p:nvCxnSpPr>
        <p:spPr>
          <a:xfrm>
            <a:off x="10139817" y="2664372"/>
            <a:ext cx="0" cy="15089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B441944-3A3C-C72E-2B04-DA60894A5FF3}"/>
              </a:ext>
            </a:extLst>
          </p:cNvPr>
          <p:cNvCxnSpPr>
            <a:cxnSpLocks/>
          </p:cNvCxnSpPr>
          <p:nvPr/>
        </p:nvCxnSpPr>
        <p:spPr>
          <a:xfrm flipH="1">
            <a:off x="3968619" y="5252496"/>
            <a:ext cx="9626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5408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1368A2-C1F9-1A01-1E4F-D3DF319E881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E35C2C9-D040-CCB5-25A7-3027017F85A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C51FACB-DDD7-1F4A-CD07-41419B6ED43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AF1E97E6-6FEC-5B12-2B2D-AE1C634570D0}"/>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5B378860-9B72-DC40-C6E8-20BBEC3FD1E4}"/>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C5B8D24-BAAC-65ED-58B7-3A50646A866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76047B-9317-E567-B8DA-06F963060C5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62BB557-C5BE-1F44-1528-E9EF2228531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02CEE4B-DB2F-E7A9-5012-7276E5D6F26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5FB68F-79E6-5CE4-5B01-5E41167E6E0F}"/>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a:t>
            </a:r>
            <a:r>
              <a:rPr lang="vi-VN" sz="2400">
                <a:latin typeface="Times New Roman" panose="02020603050405020304" pitchFamily="18" charset="0"/>
                <a:cs typeface="Times New Roman" panose="02020603050405020304" pitchFamily="18" charset="0"/>
              </a:rPr>
              <a:t>course-registration-reactive-component.</a:t>
            </a:r>
            <a:r>
              <a:rPr lang="en-US" sz="2400">
                <a:latin typeface="Times New Roman" panose="02020603050405020304" pitchFamily="18" charset="0"/>
                <a:cs typeface="Times New Roman" panose="02020603050405020304" pitchFamily="18" charset="0"/>
              </a:rPr>
              <a:t>ts</a:t>
            </a:r>
            <a:endParaRPr lang="vi-VN" sz="240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DFC2BCC1-FA59-B9DD-097E-F561CA22F5ED}"/>
              </a:ext>
            </a:extLst>
          </p:cNvPr>
          <p:cNvPicPr>
            <a:picLocks noChangeAspect="1"/>
          </p:cNvPicPr>
          <p:nvPr/>
        </p:nvPicPr>
        <p:blipFill>
          <a:blip r:embed="rId3"/>
          <a:stretch>
            <a:fillRect/>
          </a:stretch>
        </p:blipFill>
        <p:spPr>
          <a:xfrm>
            <a:off x="5374959" y="1351614"/>
            <a:ext cx="6582233" cy="4732722"/>
          </a:xfrm>
          <a:prstGeom prst="rect">
            <a:avLst/>
          </a:prstGeom>
        </p:spPr>
      </p:pic>
      <p:sp>
        <p:nvSpPr>
          <p:cNvPr id="24" name="TextBox 23">
            <a:extLst>
              <a:ext uri="{FF2B5EF4-FFF2-40B4-BE49-F238E27FC236}">
                <a16:creationId xmlns:a16="http://schemas.microsoft.com/office/drawing/2014/main" id="{26E0DCB0-C6DA-0369-4239-7C7EFD9675C4}"/>
              </a:ext>
            </a:extLst>
          </p:cNvPr>
          <p:cNvSpPr txBox="1"/>
          <p:nvPr/>
        </p:nvSpPr>
        <p:spPr>
          <a:xfrm>
            <a:off x="165174" y="1965747"/>
            <a:ext cx="5209785" cy="2424382"/>
          </a:xfrm>
          <a:prstGeom prst="rect">
            <a:avLst/>
          </a:prstGeom>
          <a:noFill/>
          <a:ln>
            <a:solidFill>
              <a:srgbClr val="002060"/>
            </a:solidFill>
          </a:ln>
        </p:spPr>
        <p:txBody>
          <a:bodyPr wrap="square">
            <a:spAutoFit/>
          </a:bodyPr>
          <a:lstStyle/>
          <a:p>
            <a:pPr>
              <a:lnSpc>
                <a:spcPts val="2250"/>
              </a:lnSpc>
              <a:buNone/>
            </a:pP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regForm: FormGroup =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FormGroup(</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name: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FormControl(</a:t>
            </a:r>
            <a:r>
              <a:rPr lang="en-US" b="0">
                <a:solidFill>
                  <a:srgbClr val="A31515"/>
                </a:solidFill>
                <a:effectLst/>
                <a:latin typeface="Consolas" panose="020B0609020204030204" pitchFamily="49" charset="0"/>
              </a:rPr>
              <a:t>'Trần Duy Thanh'</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email: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FormControl(</a:t>
            </a:r>
            <a:r>
              <a:rPr lang="en-US" b="0">
                <a:solidFill>
                  <a:srgbClr val="A31515"/>
                </a:solidFill>
                <a:effectLst/>
                <a:latin typeface="Consolas" panose="020B0609020204030204" pitchFamily="49" charset="0"/>
              </a:rPr>
              <a:t>'thanhtd@uel.edu.vn'</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password: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FormControl(</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confirmPass: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FormControl(</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294319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ABF341-F598-E677-8E67-0824EEF9AD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07AB649-AF94-33BD-5F1B-46C3C5D4F9D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DC8049D-7B20-C14F-A27A-2ED51A22052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DEFF8D22-B000-028C-2C6D-382B84BC764E}"/>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7470D0BE-E6EF-C05D-4CCD-B2036057257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143542E-BE3E-C813-617B-D14DAA3087D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D75E19A-E7E6-1F94-0DDA-9FED23766B1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840889A-0EBF-D972-438D-157891B0E53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F42605A-2B50-3D88-BF30-134F1E33C79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71826B1-F8BC-0326-F2F7-151AF06BFD25}"/>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a:t>
            </a:r>
            <a:r>
              <a:rPr lang="vi-VN" sz="2400">
                <a:latin typeface="Times New Roman" panose="02020603050405020304" pitchFamily="18" charset="0"/>
                <a:cs typeface="Times New Roman" panose="02020603050405020304" pitchFamily="18" charset="0"/>
              </a:rPr>
              <a:t>course-registration-reactive-component.</a:t>
            </a:r>
            <a:r>
              <a:rPr lang="en-US" sz="2400">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F575CD2-8AD7-4C07-4734-1F02BD7D30DE}"/>
              </a:ext>
            </a:extLst>
          </p:cNvPr>
          <p:cNvPicPr>
            <a:picLocks noChangeAspect="1"/>
          </p:cNvPicPr>
          <p:nvPr/>
        </p:nvPicPr>
        <p:blipFill>
          <a:blip r:embed="rId3"/>
          <a:stretch>
            <a:fillRect/>
          </a:stretch>
        </p:blipFill>
        <p:spPr>
          <a:xfrm>
            <a:off x="728132" y="1316539"/>
            <a:ext cx="9062254" cy="5075090"/>
          </a:xfrm>
          <a:prstGeom prst="rect">
            <a:avLst/>
          </a:prstGeom>
        </p:spPr>
      </p:pic>
      <p:sp>
        <p:nvSpPr>
          <p:cNvPr id="11" name="Rectangle 10">
            <a:extLst>
              <a:ext uri="{FF2B5EF4-FFF2-40B4-BE49-F238E27FC236}">
                <a16:creationId xmlns:a16="http://schemas.microsoft.com/office/drawing/2014/main" id="{830D8B24-9CA4-5EA5-5B7C-682BAC25F607}"/>
              </a:ext>
            </a:extLst>
          </p:cNvPr>
          <p:cNvSpPr/>
          <p:nvPr/>
        </p:nvSpPr>
        <p:spPr>
          <a:xfrm>
            <a:off x="728132" y="2774731"/>
            <a:ext cx="4450840" cy="29954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D4C2C1A-55FA-BC6D-3147-D38F748D5255}"/>
              </a:ext>
            </a:extLst>
          </p:cNvPr>
          <p:cNvSpPr/>
          <p:nvPr/>
        </p:nvSpPr>
        <p:spPr>
          <a:xfrm>
            <a:off x="2754001" y="4299401"/>
            <a:ext cx="2424971" cy="29954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68783DB-1C57-8061-D77B-F85620CE1B4C}"/>
              </a:ext>
            </a:extLst>
          </p:cNvPr>
          <p:cNvSpPr/>
          <p:nvPr/>
        </p:nvSpPr>
        <p:spPr>
          <a:xfrm>
            <a:off x="2754001" y="5876731"/>
            <a:ext cx="2527447" cy="29954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714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DCBA979-C979-A790-A881-9AF8765D21D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60235BC-B13F-B987-D47B-055536DF8C8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904EE5-10F9-4A69-AF24-8443A94C791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C8F20A81-1838-735A-F061-6BEBA67366B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694AC892-3A02-BE4E-4FAE-5969B082DA42}"/>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AD6253B-FE03-657A-2B82-759A675C714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7BD733E-2962-7E8E-6EB4-AAADAA2D97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85DC34-BAA8-F5F9-00F4-3BA5D648C87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5352B4B-0F76-CA5E-976F-D0F0710FBA1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3403E112-9734-9796-6495-3635E7D87248}"/>
              </a:ext>
            </a:extLst>
          </p:cNvPr>
          <p:cNvPicPr>
            <a:picLocks noChangeAspect="1"/>
          </p:cNvPicPr>
          <p:nvPr/>
        </p:nvPicPr>
        <p:blipFill>
          <a:blip r:embed="rId3"/>
          <a:stretch>
            <a:fillRect/>
          </a:stretch>
        </p:blipFill>
        <p:spPr>
          <a:xfrm>
            <a:off x="415252" y="841012"/>
            <a:ext cx="11139529" cy="5212947"/>
          </a:xfrm>
          <a:prstGeom prst="rect">
            <a:avLst/>
          </a:prstGeom>
        </p:spPr>
      </p:pic>
      <p:sp>
        <p:nvSpPr>
          <p:cNvPr id="12" name="Rectangle 11">
            <a:extLst>
              <a:ext uri="{FF2B5EF4-FFF2-40B4-BE49-F238E27FC236}">
                <a16:creationId xmlns:a16="http://schemas.microsoft.com/office/drawing/2014/main" id="{2CD73CFC-F0FB-97EA-7C5D-0EBB061C2F18}"/>
              </a:ext>
            </a:extLst>
          </p:cNvPr>
          <p:cNvSpPr/>
          <p:nvPr/>
        </p:nvSpPr>
        <p:spPr>
          <a:xfrm>
            <a:off x="7466454" y="1800566"/>
            <a:ext cx="3246215" cy="29954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2D384B-DCC0-8F74-85BE-6AF416640DB6}"/>
              </a:ext>
            </a:extLst>
          </p:cNvPr>
          <p:cNvSpPr/>
          <p:nvPr/>
        </p:nvSpPr>
        <p:spPr>
          <a:xfrm>
            <a:off x="7466454" y="3297712"/>
            <a:ext cx="3616705" cy="29954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320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B962686-49AE-170F-BE21-25807D79EB8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D06C362-C797-170D-FDB1-C2979D80C7A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153E093-4D4A-0DB5-9654-17C94CED83A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BD34B5B2-93A2-5D49-27BA-2F6B6C6542B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22599A4B-12F6-F71C-536C-0F8118B46D50}"/>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2B07298-C41F-D1AF-677D-EF4D4BD44A5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FD1AAE4-2642-EC50-A68C-BC7CC83D5C4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5530118-6857-FEBD-A484-4C29071DF4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008CC82-6619-82BE-C26A-942A754D4D4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3E018B40-4314-025A-A658-42887D7DA82C}"/>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cấu hình routing </a:t>
            </a:r>
            <a:r>
              <a:rPr lang="en-US" sz="2400" b="1">
                <a:latin typeface="Times New Roman" panose="02020603050405020304" pitchFamily="18" charset="0"/>
                <a:cs typeface="Times New Roman" panose="02020603050405020304" pitchFamily="18" charset="0"/>
              </a:rPr>
              <a:t>app-routing-module.ts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AA94FC9-0BB6-076D-6375-3A981C8BF0D9}"/>
              </a:ext>
            </a:extLst>
          </p:cNvPr>
          <p:cNvPicPr>
            <a:picLocks noChangeAspect="1"/>
          </p:cNvPicPr>
          <p:nvPr/>
        </p:nvPicPr>
        <p:blipFill>
          <a:blip r:embed="rId3"/>
          <a:stretch>
            <a:fillRect/>
          </a:stretch>
        </p:blipFill>
        <p:spPr>
          <a:xfrm>
            <a:off x="0" y="1821058"/>
            <a:ext cx="12192000" cy="3215883"/>
          </a:xfrm>
          <a:prstGeom prst="rect">
            <a:avLst/>
          </a:prstGeom>
        </p:spPr>
      </p:pic>
      <p:sp>
        <p:nvSpPr>
          <p:cNvPr id="14" name="Rectangle 13">
            <a:extLst>
              <a:ext uri="{FF2B5EF4-FFF2-40B4-BE49-F238E27FC236}">
                <a16:creationId xmlns:a16="http://schemas.microsoft.com/office/drawing/2014/main" id="{CAFE86AF-B146-B105-AF80-E0234D08ED89}"/>
              </a:ext>
            </a:extLst>
          </p:cNvPr>
          <p:cNvSpPr/>
          <p:nvPr/>
        </p:nvSpPr>
        <p:spPr>
          <a:xfrm>
            <a:off x="214276" y="3300549"/>
            <a:ext cx="11977724" cy="44413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5037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BB2A9CA-74DC-0775-8BE9-8EB45CFB476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86EBE95-DD66-A954-43EA-0C66CBD986F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6A15401-E763-AAC2-12B7-23100EDBE43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292978B1-A25A-F9BB-7329-039514C1F4F4}"/>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E8A6AC6C-42DA-7AFD-1C84-5F5A3DC70F63}"/>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5BFE25A-52F7-1C1B-4A42-958BDD68ADC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F9FF2F-3DDC-5CA4-F9E6-5FA0BD872BC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265E06-1873-BA37-E3EC-548C0A8C9D7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528E4DB-7365-43DA-C187-06F55A1C650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F250B28E-D61D-D246-3401-D15D31CF940C}"/>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app.html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E14E9EB-2FA4-D502-6FBB-8FCA61C9C41A}"/>
              </a:ext>
            </a:extLst>
          </p:cNvPr>
          <p:cNvPicPr>
            <a:picLocks noChangeAspect="1"/>
          </p:cNvPicPr>
          <p:nvPr/>
        </p:nvPicPr>
        <p:blipFill>
          <a:blip r:embed="rId3"/>
          <a:stretch>
            <a:fillRect/>
          </a:stretch>
        </p:blipFill>
        <p:spPr>
          <a:xfrm>
            <a:off x="805064" y="1304693"/>
            <a:ext cx="8783072" cy="5095153"/>
          </a:xfrm>
          <a:prstGeom prst="rect">
            <a:avLst/>
          </a:prstGeom>
        </p:spPr>
      </p:pic>
      <p:sp>
        <p:nvSpPr>
          <p:cNvPr id="12" name="Rectangle 11">
            <a:extLst>
              <a:ext uri="{FF2B5EF4-FFF2-40B4-BE49-F238E27FC236}">
                <a16:creationId xmlns:a16="http://schemas.microsoft.com/office/drawing/2014/main" id="{D67BFBF9-1863-3E80-83AA-110C38112CA9}"/>
              </a:ext>
            </a:extLst>
          </p:cNvPr>
          <p:cNvSpPr/>
          <p:nvPr/>
        </p:nvSpPr>
        <p:spPr>
          <a:xfrm>
            <a:off x="785704" y="4450081"/>
            <a:ext cx="10901199" cy="44413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879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21815B-CFAA-4BEE-3960-A943138C6E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D227B6-4352-AAD8-2718-412B9743714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7435C1A-EF85-470D-9CBF-7A3999823EA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3B5A2D77-FB75-2455-03CD-FAF2D9553D1F}"/>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2F9189A-BE6A-F64F-BDF4-804B3E8D920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Tạo Form Model</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A1479CC-6E54-7504-8E17-E60512C481A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1C96A72-CC87-3E6F-9F46-192EEFFA935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7F3029A-1006-01EB-299C-60114B3B39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1F0E4B-BCCE-3F82-4F56-569F565B285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54C367A-24C4-6881-DBC5-71BF4AA575E2}"/>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Chạy ứng dụng ta có kết quả</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7670362-FEC9-63A9-3FD9-5945BFE15F2B}"/>
              </a:ext>
            </a:extLst>
          </p:cNvPr>
          <p:cNvPicPr>
            <a:picLocks noChangeAspect="1"/>
          </p:cNvPicPr>
          <p:nvPr/>
        </p:nvPicPr>
        <p:blipFill>
          <a:blip r:embed="rId3"/>
          <a:stretch>
            <a:fillRect/>
          </a:stretch>
        </p:blipFill>
        <p:spPr>
          <a:xfrm>
            <a:off x="2465763" y="1275177"/>
            <a:ext cx="5777555" cy="5102327"/>
          </a:xfrm>
          <a:prstGeom prst="rect">
            <a:avLst/>
          </a:prstGeom>
        </p:spPr>
      </p:pic>
    </p:spTree>
    <p:extLst>
      <p:ext uri="{BB962C8B-B14F-4D97-AF65-F5344CB8AC3E}">
        <p14:creationId xmlns:p14="http://schemas.microsoft.com/office/powerpoint/2010/main" val="12538001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58E35AF-441A-7D3C-5C6B-4858B4C3710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2A213EF-A5B0-8190-3E49-580A1C7F67D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9C2E1E1-5418-EBCD-DF3C-B446F26C89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A626035C-4130-00FA-C5E7-3BCCA7A64C9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A4FC7E5-F22C-1700-18B5-22D357115BD0}"/>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Load Data</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5B83088-6420-A90C-CC02-DB1349580B0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D44C02-5F91-7632-139D-543F693C63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9E3E6A5-FF56-6940-00C7-640932F4C8C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65E56B9-52A3-81CB-9971-CE44919F03C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B345D0E-8412-5D90-DB03-B89CDAC70B1A}"/>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Bổ sung hàm setDefaultValues() trong .ts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9012973-E618-BF5B-CDCB-240D6857F3D3}"/>
              </a:ext>
            </a:extLst>
          </p:cNvPr>
          <p:cNvPicPr>
            <a:picLocks noChangeAspect="1"/>
          </p:cNvPicPr>
          <p:nvPr/>
        </p:nvPicPr>
        <p:blipFill>
          <a:blip r:embed="rId3"/>
          <a:stretch>
            <a:fillRect/>
          </a:stretch>
        </p:blipFill>
        <p:spPr>
          <a:xfrm>
            <a:off x="728132" y="1367835"/>
            <a:ext cx="6432410" cy="4957811"/>
          </a:xfrm>
          <a:prstGeom prst="rect">
            <a:avLst/>
          </a:prstGeom>
        </p:spPr>
      </p:pic>
      <p:sp>
        <p:nvSpPr>
          <p:cNvPr id="12" name="TextBox 11">
            <a:extLst>
              <a:ext uri="{FF2B5EF4-FFF2-40B4-BE49-F238E27FC236}">
                <a16:creationId xmlns:a16="http://schemas.microsoft.com/office/drawing/2014/main" id="{DF7EF77F-6A69-C82D-2770-B65111A2BD30}"/>
              </a:ext>
            </a:extLst>
          </p:cNvPr>
          <p:cNvSpPr txBox="1"/>
          <p:nvPr/>
        </p:nvSpPr>
        <p:spPr>
          <a:xfrm>
            <a:off x="7466454" y="3429000"/>
            <a:ext cx="4403329" cy="1834477"/>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setDefaultValues() {</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.regForm.patchValue({</a:t>
            </a:r>
          </a:p>
          <a:p>
            <a:pPr>
              <a:lnSpc>
                <a:spcPts val="2250"/>
              </a:lnSpc>
              <a:buNone/>
            </a:pPr>
            <a:r>
              <a:rPr lang="en-US" sz="1800" b="0">
                <a:solidFill>
                  <a:srgbClr val="000000"/>
                </a:solidFill>
                <a:effectLst/>
                <a:latin typeface="Consolas" panose="020B0609020204030204" pitchFamily="49" charset="0"/>
              </a:rPr>
              <a:t>      name: </a:t>
            </a:r>
            <a:r>
              <a:rPr lang="en-US" sz="1800" b="0">
                <a:solidFill>
                  <a:srgbClr val="A31515"/>
                </a:solidFill>
                <a:effectLst/>
                <a:latin typeface="Consolas" panose="020B0609020204030204" pitchFamily="49" charset="0"/>
              </a:rPr>
              <a:t>'Trần Duy Thanh'</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email: </a:t>
            </a:r>
            <a:r>
              <a:rPr lang="en-US" sz="1800" b="0">
                <a:solidFill>
                  <a:srgbClr val="A31515"/>
                </a:solidFill>
                <a:effectLst/>
                <a:latin typeface="Consolas" panose="020B0609020204030204" pitchFamily="49" charset="0"/>
              </a:rPr>
              <a:t>'thanhtd@uel.edu.vn'</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3295546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62959C-9FA0-30D6-4BCC-72019B0AC20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AA00512-D116-FA70-EE84-E4D81A18188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666E30-E627-6824-07BE-79B0799363B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5DADA75F-DF03-5E7F-54FE-A542A02AFD49}"/>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FB4F87B-5A64-3C51-2671-385E3047D61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Load Data</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64282F4-E52E-DCCF-0F5C-688740FC7A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DEF1320-21EE-B285-4941-2F3C6197155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1C8FABE-805C-26F3-8297-1EDA2F864E7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539FBD7-CC14-2FB9-E2DB-B6A40D8416F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50D9524-4D73-7C6F-AF3D-9ADB8030B424}"/>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gọi setDefaultValues() cho sự kiện click của nút Default values trong .html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26E9A09-D804-19D7-45E0-78ACE9A448E1}"/>
              </a:ext>
            </a:extLst>
          </p:cNvPr>
          <p:cNvPicPr>
            <a:picLocks noChangeAspect="1"/>
          </p:cNvPicPr>
          <p:nvPr/>
        </p:nvPicPr>
        <p:blipFill>
          <a:blip r:embed="rId3"/>
          <a:stretch>
            <a:fillRect/>
          </a:stretch>
        </p:blipFill>
        <p:spPr>
          <a:xfrm>
            <a:off x="214276" y="1351614"/>
            <a:ext cx="11857748" cy="4747671"/>
          </a:xfrm>
          <a:prstGeom prst="rect">
            <a:avLst/>
          </a:prstGeom>
        </p:spPr>
      </p:pic>
      <p:sp>
        <p:nvSpPr>
          <p:cNvPr id="12" name="Rectangle 11">
            <a:extLst>
              <a:ext uri="{FF2B5EF4-FFF2-40B4-BE49-F238E27FC236}">
                <a16:creationId xmlns:a16="http://schemas.microsoft.com/office/drawing/2014/main" id="{E149ABAC-B139-9C55-7674-434B1DD29585}"/>
              </a:ext>
            </a:extLst>
          </p:cNvPr>
          <p:cNvSpPr/>
          <p:nvPr/>
        </p:nvSpPr>
        <p:spPr>
          <a:xfrm>
            <a:off x="2678672" y="4032070"/>
            <a:ext cx="4787782" cy="44413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6034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E53A87-93A3-36C4-B625-D3EFA747F7D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BEB59F2-77AA-0EF3-0DBB-ECB2162C5E6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65EA6CA-5A79-ACAB-947A-A1373A1A4CB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ABF58BA4-E184-F544-5D75-A27C2BF887F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2411914B-F33E-243B-300A-AA88B7A801A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DF34155-1A35-91C2-4395-F137617763F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0530B94-5755-A109-55D4-7D894332100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07778D1-81B8-F8EA-9BCA-CC57462297A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A6CA8A4-6793-DB04-C63F-9A4FC1C836A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B9E88B3-C962-2D1A-F085-BB0B062E1B8B}"/>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Bổ sung các Validators cho regForm trong .ts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1FA8ABB-C3D4-6C0A-EDF5-EF6C1586C8E6}"/>
              </a:ext>
            </a:extLst>
          </p:cNvPr>
          <p:cNvPicPr>
            <a:picLocks noChangeAspect="1"/>
          </p:cNvPicPr>
          <p:nvPr/>
        </p:nvPicPr>
        <p:blipFill>
          <a:blip r:embed="rId3"/>
          <a:stretch>
            <a:fillRect/>
          </a:stretch>
        </p:blipFill>
        <p:spPr>
          <a:xfrm>
            <a:off x="542786" y="1428071"/>
            <a:ext cx="10981372" cy="3078747"/>
          </a:xfrm>
          <a:prstGeom prst="rect">
            <a:avLst/>
          </a:prstGeom>
        </p:spPr>
      </p:pic>
    </p:spTree>
    <p:extLst>
      <p:ext uri="{BB962C8B-B14F-4D97-AF65-F5344CB8AC3E}">
        <p14:creationId xmlns:p14="http://schemas.microsoft.com/office/powerpoint/2010/main" val="39736660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ABA15F-FFBE-5535-D619-4CEBC9EE153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01BD382-08B7-A752-1CCB-4C0E927DC49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7B0639F-F11F-9EBE-51E5-1CB01CDBC53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AD6B2EDA-B3E5-A02E-6801-158B2472189F}"/>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4C2C4E3-A976-9BE2-1003-4FB0DBC82B9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33B73FA-F52C-3C7A-7C1C-3DA9097AA7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C1667FD-63F8-92F6-EFCD-55940726424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D62FD50-74C9-50CD-8D85-FBAFBD5DCCC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52B26D4-DE7A-F5D3-5769-6DB24B67731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66433CE-22E8-7634-96CE-A31293F0AED1}"/>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Bổ sung các các thông báo lỗi trong .html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2D6AE3E-EB73-0F6D-6CBA-8959E2CD1C22}"/>
              </a:ext>
            </a:extLst>
          </p:cNvPr>
          <p:cNvPicPr>
            <a:picLocks noChangeAspect="1"/>
          </p:cNvPicPr>
          <p:nvPr/>
        </p:nvPicPr>
        <p:blipFill>
          <a:blip r:embed="rId3"/>
          <a:stretch>
            <a:fillRect/>
          </a:stretch>
        </p:blipFill>
        <p:spPr>
          <a:xfrm>
            <a:off x="69669" y="1275177"/>
            <a:ext cx="11957157" cy="4667153"/>
          </a:xfrm>
          <a:prstGeom prst="rect">
            <a:avLst/>
          </a:prstGeom>
        </p:spPr>
      </p:pic>
    </p:spTree>
    <p:extLst>
      <p:ext uri="{BB962C8B-B14F-4D97-AF65-F5344CB8AC3E}">
        <p14:creationId xmlns:p14="http://schemas.microsoft.com/office/powerpoint/2010/main" val="34585479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E4F4DDD-CC62-B95D-75F2-D7D3BC89247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C68CFFF-DF57-896E-EDE0-E827198D80E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DB0C7CD-E752-7EF2-BD30-6B0AC7B79B5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760465CE-30DF-5064-E308-E31A1BF00B9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CDE0E3A-D448-0C12-D921-01CE92CB0B0E}"/>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279A2B-EFB1-61AD-16EA-02AC6E4B6F0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718D1C9-7E57-809E-0BCC-52D37548683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FFA0A69-F0B6-A03D-74E8-53C6006332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7BAAE42-7A67-1E5F-FB60-85F3833FEF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6B6A4703-60BA-04A4-6646-F2B735FA796F}"/>
              </a:ext>
            </a:extLst>
          </p:cNvPr>
          <p:cNvPicPr>
            <a:picLocks noChangeAspect="1"/>
          </p:cNvPicPr>
          <p:nvPr/>
        </p:nvPicPr>
        <p:blipFill>
          <a:blip r:embed="rId3"/>
          <a:stretch>
            <a:fillRect/>
          </a:stretch>
        </p:blipFill>
        <p:spPr>
          <a:xfrm>
            <a:off x="175328" y="916854"/>
            <a:ext cx="11041312" cy="5464945"/>
          </a:xfrm>
          <a:prstGeom prst="rect">
            <a:avLst/>
          </a:prstGeom>
        </p:spPr>
      </p:pic>
    </p:spTree>
    <p:extLst>
      <p:ext uri="{BB962C8B-B14F-4D97-AF65-F5344CB8AC3E}">
        <p14:creationId xmlns:p14="http://schemas.microsoft.com/office/powerpoint/2010/main" val="17512269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0C1AB36-E3EC-D237-CB0C-8823A9C3E33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AE5F2C-BB81-068A-7EBF-7497B35C75D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D0F7AD-BA2B-18F5-52E9-C55F85F479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BE567414-67B1-A395-F9B5-6B15C97A17D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86D64C7-EA97-F0D9-7DAF-B06E1E78F155}"/>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8CA87EB-0D79-9D6C-DF8D-569A2A1ECAF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1E016DD-4699-D22C-09C2-A272BFC0A0D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6494630-A7FF-D80F-44FD-375BFC42A86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5D847D-A7DF-E4C6-EE83-156173A4E4F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BBF64C78-3C57-E60B-DB6D-1182037D7FC2}"/>
              </a:ext>
            </a:extLst>
          </p:cNvPr>
          <p:cNvPicPr>
            <a:picLocks noChangeAspect="1"/>
          </p:cNvPicPr>
          <p:nvPr/>
        </p:nvPicPr>
        <p:blipFill>
          <a:blip r:embed="rId3"/>
          <a:stretch>
            <a:fillRect/>
          </a:stretch>
        </p:blipFill>
        <p:spPr>
          <a:xfrm>
            <a:off x="302041" y="1048705"/>
            <a:ext cx="10089754" cy="3071126"/>
          </a:xfrm>
          <a:prstGeom prst="rect">
            <a:avLst/>
          </a:prstGeom>
        </p:spPr>
      </p:pic>
    </p:spTree>
    <p:extLst>
      <p:ext uri="{BB962C8B-B14F-4D97-AF65-F5344CB8AC3E}">
        <p14:creationId xmlns:p14="http://schemas.microsoft.com/office/powerpoint/2010/main" val="2969716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56E3BA-2FCB-D2D4-628E-C9E273A05CA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C6BD3CD-8B9F-954E-EE4E-78104B1E8D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B86C2A-CB37-A835-793D-84F1677733B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714E6753-6DD2-88A9-13EB-8CB2CD29354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E39CF456-9596-17AC-49C9-6A990C9779B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FDED866-5E65-C7D9-D074-B5A471D65C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D25C7D-5089-CC9C-5FB1-C5CB9558CFE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A634017-77B2-FC7A-26E1-3C825BE38E3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A2CE0A-267F-9271-EC63-0942761414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B5D6156-65BA-394B-B19B-FABFE5AE1B29}"/>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Chạy lại màn hình này: Chỗ nào lỗi sẽ được thông báo màu đỏ</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B46207D-8503-CA8B-3D4E-0C4C3BD4857F}"/>
              </a:ext>
            </a:extLst>
          </p:cNvPr>
          <p:cNvPicPr>
            <a:picLocks noChangeAspect="1"/>
          </p:cNvPicPr>
          <p:nvPr/>
        </p:nvPicPr>
        <p:blipFill>
          <a:blip r:embed="rId3"/>
          <a:stretch>
            <a:fillRect/>
          </a:stretch>
        </p:blipFill>
        <p:spPr>
          <a:xfrm>
            <a:off x="4015890" y="1304369"/>
            <a:ext cx="5803222" cy="5124994"/>
          </a:xfrm>
          <a:prstGeom prst="rect">
            <a:avLst/>
          </a:prstGeom>
        </p:spPr>
      </p:pic>
    </p:spTree>
    <p:extLst>
      <p:ext uri="{BB962C8B-B14F-4D97-AF65-F5344CB8AC3E}">
        <p14:creationId xmlns:p14="http://schemas.microsoft.com/office/powerpoint/2010/main" val="36075326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06D2AB6-F592-5441-7763-0D4372D5060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A722506-5901-EB5E-23AC-24566CF38DF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7B7BC9-8667-E6EB-E6EB-E8F17C163BB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643881A0-FA7E-BF81-B996-2749E866E09F}"/>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D0BA42E-8038-EC98-3C2D-2A22FA00A0D1}"/>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Custom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1DB5F7D-B5A5-65AB-41BB-60ED9C1AB7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BF55C59-DE57-7989-5BCC-094A3B673E0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9F047FB-1B84-1C46-7E9F-BC5D07835B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E9A115-B877-E99E-9732-4637990372A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D8BC38B-0602-CA7E-8FD1-0D3BC87AD6F2}"/>
              </a:ext>
            </a:extLst>
          </p:cNvPr>
          <p:cNvSpPr txBox="1"/>
          <p:nvPr/>
        </p:nvSpPr>
        <p:spPr>
          <a:xfrm>
            <a:off x="462279" y="813512"/>
            <a:ext cx="11564547"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Nếu ta Validation phức tạp, cần phải kiểm tra nhiều yếu tố, ta có thể viết Custom Validation. Ví dụ, Validation ở bài học trước mới dừng lại ở việc kiểm tra tên phải tối thiểu 3 ký tự, tuy nhiên vẫn chưa kiểm tra ký tự có hợp lý không. Giả sử tên của một người thì không thể có các ký tự đặc biệt như @, ?, #....</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4026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D252233-EBDA-E82F-03C5-84123B616B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71DDD66-DE24-1F24-82D3-857F0C8F877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1A9CEF-869D-B43C-2856-2A859DCC70F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B38AEF7A-5044-7BC8-E35D-8BA5A356B399}"/>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6193A51-E63B-F09C-B8D1-A05852979B9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Custom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ABECF12-C305-A85C-5523-BB3A7AAF08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F657C5-A0B2-B7BF-A600-B00A0B8781F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B579F17-67B7-36CF-3B79-3E6B864C03E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BD87D22-44DE-6C09-BF95-74838043A52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E8FE46F-685F-AF6E-DA3B-47805B88238E}"/>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Bổ sung thêm hàm customNameValidator vào .ts</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00E13E2-0DD1-3445-DECD-1CF8E75BA175}"/>
              </a:ext>
            </a:extLst>
          </p:cNvPr>
          <p:cNvPicPr>
            <a:picLocks noChangeAspect="1"/>
          </p:cNvPicPr>
          <p:nvPr/>
        </p:nvPicPr>
        <p:blipFill>
          <a:blip r:embed="rId3"/>
          <a:stretch>
            <a:fillRect/>
          </a:stretch>
        </p:blipFill>
        <p:spPr>
          <a:xfrm>
            <a:off x="234808" y="1515158"/>
            <a:ext cx="11903472" cy="3078747"/>
          </a:xfrm>
          <a:prstGeom prst="rect">
            <a:avLst/>
          </a:prstGeom>
        </p:spPr>
      </p:pic>
    </p:spTree>
    <p:extLst>
      <p:ext uri="{BB962C8B-B14F-4D97-AF65-F5344CB8AC3E}">
        <p14:creationId xmlns:p14="http://schemas.microsoft.com/office/powerpoint/2010/main" val="29874532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6CEB4E4-87FD-DADC-7D62-55ED2DE7ACA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C4D36CB-4F22-D3B6-B675-ACC9E43F2D3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DB22CF5-C76B-88E2-F401-ED32D813C94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E298C4B0-B066-793D-3303-32E60BF72756}"/>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84122F69-1E02-30DE-09D7-D9517E6D75D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Custom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CBC75EB-3663-7059-17F8-58F9ADA77DC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5DE3F8E-4DFD-602D-B29C-7328EF6944D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079EE57-C8ED-4577-F5E0-CE0A52D299B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1DE09E4-0790-89C3-A1BF-EE1A12ADD4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D8034C3-F0FD-682B-D894-C523CD392B69}"/>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Khai báo sử dụng customNameValidator cho regForm</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021C5FD-FDB3-431E-A6C3-7E0A67CCF019}"/>
              </a:ext>
            </a:extLst>
          </p:cNvPr>
          <p:cNvPicPr>
            <a:picLocks noChangeAspect="1"/>
          </p:cNvPicPr>
          <p:nvPr/>
        </p:nvPicPr>
        <p:blipFill>
          <a:blip r:embed="rId3"/>
          <a:stretch>
            <a:fillRect/>
          </a:stretch>
        </p:blipFill>
        <p:spPr>
          <a:xfrm>
            <a:off x="640115" y="1294146"/>
            <a:ext cx="10567818" cy="5168106"/>
          </a:xfrm>
          <a:prstGeom prst="rect">
            <a:avLst/>
          </a:prstGeom>
        </p:spPr>
      </p:pic>
      <p:sp>
        <p:nvSpPr>
          <p:cNvPr id="11" name="Rectangle 10">
            <a:extLst>
              <a:ext uri="{FF2B5EF4-FFF2-40B4-BE49-F238E27FC236}">
                <a16:creationId xmlns:a16="http://schemas.microsoft.com/office/drawing/2014/main" id="{2283C04B-82A1-6DBE-3BA2-D30FB16DC0DC}"/>
              </a:ext>
            </a:extLst>
          </p:cNvPr>
          <p:cNvSpPr/>
          <p:nvPr/>
        </p:nvSpPr>
        <p:spPr>
          <a:xfrm>
            <a:off x="7680960" y="3161211"/>
            <a:ext cx="2908663" cy="357052"/>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38B8245-874F-2971-FDDB-01E50E0E3EB0}"/>
              </a:ext>
            </a:extLst>
          </p:cNvPr>
          <p:cNvSpPr/>
          <p:nvPr/>
        </p:nvSpPr>
        <p:spPr>
          <a:xfrm>
            <a:off x="728132" y="5563854"/>
            <a:ext cx="3147182" cy="357052"/>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82605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7557D1-6E2C-F340-D5A5-6A7D787399B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F6D6E07-81A4-D7D2-DBDC-B9B660E1448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45247C8-7079-8B46-2DF1-5F585C77061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EBA5EAA7-4DAE-F23B-26A6-5C8D135BE7AE}"/>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5F567096-7977-A475-68BE-82F37DBA470D}"/>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Custom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D43D0C4-A643-6CE4-C214-82130E4057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0EB44F-1CA1-BD1F-C43F-5CBA0C4B681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585B771-68A6-88D8-791A-82FCDDEBBD9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A2147BC-2F95-BCF9-FD12-8DBE6F3A6B3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51A0B00-1978-37E0-9D5E-2A18297FE772}"/>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Khai báo sử dụng customNameValidator trong .html</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D9B4448-2FA9-4B4F-EF35-E56643EBBD80}"/>
              </a:ext>
            </a:extLst>
          </p:cNvPr>
          <p:cNvPicPr>
            <a:picLocks noChangeAspect="1"/>
          </p:cNvPicPr>
          <p:nvPr/>
        </p:nvPicPr>
        <p:blipFill>
          <a:blip r:embed="rId3"/>
          <a:stretch>
            <a:fillRect/>
          </a:stretch>
        </p:blipFill>
        <p:spPr>
          <a:xfrm>
            <a:off x="87086" y="1428188"/>
            <a:ext cx="11826240" cy="4274985"/>
          </a:xfrm>
          <a:prstGeom prst="rect">
            <a:avLst/>
          </a:prstGeom>
        </p:spPr>
      </p:pic>
      <p:sp>
        <p:nvSpPr>
          <p:cNvPr id="14" name="Rectangle 13">
            <a:extLst>
              <a:ext uri="{FF2B5EF4-FFF2-40B4-BE49-F238E27FC236}">
                <a16:creationId xmlns:a16="http://schemas.microsoft.com/office/drawing/2014/main" id="{C455B3F2-01F3-F7E5-CD6B-5A8C0FA30B3A}"/>
              </a:ext>
            </a:extLst>
          </p:cNvPr>
          <p:cNvSpPr/>
          <p:nvPr/>
        </p:nvSpPr>
        <p:spPr>
          <a:xfrm>
            <a:off x="150583" y="4554584"/>
            <a:ext cx="10865760" cy="8752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76934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B6D611E-8A6A-33F6-E613-CCBEBB4C143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E8F5C8E-E3B6-D010-9754-3D29CBF05FC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C911A9E-3FE8-7D53-C3A1-EC72032E65D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26430D96-9432-1EDC-6911-18CB483666C5}"/>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1371BEA4-F42D-1EB7-3ABF-EE86E3C37DDF}"/>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Custom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943AFEA-2098-86A5-95FC-0721408D6BE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0A45C55-BEF0-B8BA-44BE-B1299C110C0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FD4CF9D-77B1-C476-0379-819A988D670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7DD084A-BDF8-BB44-14F4-7FC5D770AC1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92F3801-5AAC-8EAA-594E-3447E944F107}"/>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màn hình</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0BAD1EA-D0C1-7590-B315-2BB07A06614A}"/>
              </a:ext>
            </a:extLst>
          </p:cNvPr>
          <p:cNvPicPr>
            <a:picLocks noChangeAspect="1"/>
          </p:cNvPicPr>
          <p:nvPr/>
        </p:nvPicPr>
        <p:blipFill>
          <a:blip r:embed="rId3"/>
          <a:stretch>
            <a:fillRect/>
          </a:stretch>
        </p:blipFill>
        <p:spPr>
          <a:xfrm>
            <a:off x="3940853" y="813512"/>
            <a:ext cx="6339841" cy="5598898"/>
          </a:xfrm>
          <a:prstGeom prst="rect">
            <a:avLst/>
          </a:prstGeom>
        </p:spPr>
      </p:pic>
    </p:spTree>
    <p:extLst>
      <p:ext uri="{BB962C8B-B14F-4D97-AF65-F5344CB8AC3E}">
        <p14:creationId xmlns:p14="http://schemas.microsoft.com/office/powerpoint/2010/main" val="40061143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DE60833-2C42-597E-9B6E-408C4B1C8EB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2AC62C7-5030-F897-2519-AE8E779D509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9A9B8E9-6B3A-5D10-ABD7-32AEB8B2F9B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AEE38B77-F84E-7916-994C-11FCE06A781C}"/>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610A9F02-9309-5850-C5D0-6BF486124FBB}"/>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Cross Field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0BD573-A61B-2AE9-9B5E-1262DB1EC64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9FEF08F-878C-0AEA-4402-80272012C6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124EF3-B9C6-AB19-388E-167CEAB87A7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407ED62-7889-4A2B-8F5C-644126EB4F5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38CD026-86DD-A1E4-9C26-C9A0C003141B}"/>
              </a:ext>
            </a:extLst>
          </p:cNvPr>
          <p:cNvSpPr txBox="1"/>
          <p:nvPr/>
        </p:nvSpPr>
        <p:spPr>
          <a:xfrm>
            <a:off x="388798" y="813512"/>
            <a:ext cx="11276206"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Cross Field Validation là kỹ thuật thực hiện kiểm tra logic nghiệp vụ mà giá trị của một trường phụ thuộc vào giá trị của một trường khác. Ví dụ phổ biến nhất là chức năng </a:t>
            </a:r>
            <a:r>
              <a:rPr lang="vi-VN" sz="2400" b="1">
                <a:latin typeface="Times New Roman" panose="02020603050405020304" pitchFamily="18" charset="0"/>
                <a:cs typeface="Times New Roman" panose="02020603050405020304" pitchFamily="18" charset="0"/>
              </a:rPr>
              <a:t>Xác nhận mật khẩu</a:t>
            </a:r>
            <a:r>
              <a:rPr lang="vi-VN" sz="2400">
                <a:latin typeface="Times New Roman" panose="02020603050405020304" pitchFamily="18" charset="0"/>
                <a:cs typeface="Times New Roman" panose="02020603050405020304" pitchFamily="18" charset="0"/>
              </a:rPr>
              <a:t> (Mật khẩu và Nhập lại mật khẩu phải khớp nhau) hoặc </a:t>
            </a:r>
            <a:r>
              <a:rPr lang="vi-VN" sz="2400" b="1">
                <a:latin typeface="Times New Roman" panose="02020603050405020304" pitchFamily="18" charset="0"/>
                <a:cs typeface="Times New Roman" panose="02020603050405020304" pitchFamily="18" charset="0"/>
              </a:rPr>
              <a:t>Kiểm tra ngày tháng</a:t>
            </a:r>
            <a:r>
              <a:rPr lang="vi-VN" sz="2400">
                <a:latin typeface="Times New Roman" panose="02020603050405020304" pitchFamily="18" charset="0"/>
                <a:cs typeface="Times New Roman" panose="02020603050405020304" pitchFamily="18" charset="0"/>
              </a:rPr>
              <a:t> (Ngày kết thúc phải sau ngày bắt đầu).</a:t>
            </a:r>
          </a:p>
        </p:txBody>
      </p:sp>
      <p:sp>
        <p:nvSpPr>
          <p:cNvPr id="10" name="TextBox 9">
            <a:extLst>
              <a:ext uri="{FF2B5EF4-FFF2-40B4-BE49-F238E27FC236}">
                <a16:creationId xmlns:a16="http://schemas.microsoft.com/office/drawing/2014/main" id="{B7F9B425-AF3A-A13C-34B2-ADED2E91ED55}"/>
              </a:ext>
            </a:extLst>
          </p:cNvPr>
          <p:cNvSpPr txBox="1"/>
          <p:nvPr/>
        </p:nvSpPr>
        <p:spPr>
          <a:xfrm>
            <a:off x="542786" y="3131909"/>
            <a:ext cx="11122217"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Khác với các Validator thông thường được gắn trực tiếp vào từng FormControl, Cross Field Validator phải được gắn vào cấp </a:t>
            </a:r>
            <a:r>
              <a:rPr lang="vi-VN" sz="2400" b="1">
                <a:latin typeface="Times New Roman" panose="02020603050405020304" pitchFamily="18" charset="0"/>
                <a:cs typeface="Times New Roman" panose="02020603050405020304" pitchFamily="18" charset="0"/>
              </a:rPr>
              <a:t>FormGroup</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Lý do:</a:t>
            </a:r>
            <a:r>
              <a:rPr lang="vi-VN" sz="2400">
                <a:latin typeface="Times New Roman" panose="02020603050405020304" pitchFamily="18" charset="0"/>
                <a:cs typeface="Times New Roman" panose="02020603050405020304" pitchFamily="18" charset="0"/>
              </a:rPr>
              <a:t> Ở cấp độ FormControl đơn lẻ, Angular chỉ biết giá trị của chính ô đó. Để so sánh giữa hai ô, chúng ta cần "đứng" ở cấp độ cha (FormGroup) để có thể truy cập và lấy dữ liệu của tất cả các control con bên trong.</a:t>
            </a:r>
          </a:p>
        </p:txBody>
      </p:sp>
    </p:spTree>
    <p:extLst>
      <p:ext uri="{BB962C8B-B14F-4D97-AF65-F5344CB8AC3E}">
        <p14:creationId xmlns:p14="http://schemas.microsoft.com/office/powerpoint/2010/main" val="41693072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A8DACB5-7B9E-E6C1-1E88-D216634ABAC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AA9813-5184-6524-04F2-D2E0D1B5C2E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B29B602-2A79-3F81-9B0E-9A0EFEC75A9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1EBD5040-9A22-CF32-B294-96F97E919BFD}"/>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B6AE0C06-AF9A-0EA5-5581-0B776BEF0E0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Cross Field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D2B03C6-1DF3-99DB-BFC3-4E58AA71807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6AC58FE-DBE4-2AC7-5A1A-0424D8A4B5D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54CA260-F6B3-E39D-563C-D0BB0F045C6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CA66682-DFF6-1A5F-6C5B-ED1008A31EF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D8A18DE-6AB5-5451-8BF8-21CE0F446687}"/>
              </a:ext>
            </a:extLst>
          </p:cNvPr>
          <p:cNvSpPr txBox="1"/>
          <p:nvPr/>
        </p:nvSpPr>
        <p:spPr>
          <a:xfrm>
            <a:off x="388798" y="813512"/>
            <a:ext cx="1127620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Trong </a:t>
            </a:r>
            <a:r>
              <a:rPr lang="en-US" sz="2400" b="1">
                <a:latin typeface="Times New Roman" panose="02020603050405020304" pitchFamily="18" charset="0"/>
                <a:cs typeface="Times New Roman" panose="02020603050405020304" pitchFamily="18" charset="0"/>
              </a:rPr>
              <a:t>.ts </a:t>
            </a:r>
            <a:r>
              <a:rPr lang="en-US" sz="2400">
                <a:latin typeface="Times New Roman" panose="02020603050405020304" pitchFamily="18" charset="0"/>
                <a:cs typeface="Times New Roman" panose="02020603050405020304" pitchFamily="18" charset="0"/>
              </a:rPr>
              <a:t>khai báo hàm </a:t>
            </a:r>
            <a:r>
              <a:rPr lang="en-US" sz="2400" b="1">
                <a:latin typeface="Times New Roman" panose="02020603050405020304" pitchFamily="18" charset="0"/>
                <a:cs typeface="Times New Roman" panose="02020603050405020304" pitchFamily="18" charset="0"/>
              </a:rPr>
              <a:t>passwordMatchValidator</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FF24EC2-63C7-1670-92EC-435ADE82FDF7}"/>
              </a:ext>
            </a:extLst>
          </p:cNvPr>
          <p:cNvPicPr>
            <a:picLocks noChangeAspect="1"/>
          </p:cNvPicPr>
          <p:nvPr/>
        </p:nvPicPr>
        <p:blipFill>
          <a:blip r:embed="rId3"/>
          <a:stretch>
            <a:fillRect/>
          </a:stretch>
        </p:blipFill>
        <p:spPr>
          <a:xfrm>
            <a:off x="234808" y="1514723"/>
            <a:ext cx="11842506" cy="4793395"/>
          </a:xfrm>
          <a:prstGeom prst="rect">
            <a:avLst/>
          </a:prstGeom>
        </p:spPr>
      </p:pic>
    </p:spTree>
    <p:extLst>
      <p:ext uri="{BB962C8B-B14F-4D97-AF65-F5344CB8AC3E}">
        <p14:creationId xmlns:p14="http://schemas.microsoft.com/office/powerpoint/2010/main" val="16420974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27AAA0A-7CA1-D0BF-BCCC-D514B063F30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6424ADD-9A96-AF2D-C262-C49B5C70767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87D6CB-1FC1-9611-EA10-0B1143F66C0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65EF2779-240B-4ADF-963C-C10561394A08}"/>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DF39406C-F77A-E4B7-B32F-99DD5176F3E7}"/>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Cross Field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8AFF7B4-642C-3D16-C560-98E461FF862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A0F23FE-F22C-82C9-A377-A8E65936A23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08CCE87-9A27-3669-735B-54AF79E9DF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4AC581D-A5C2-3395-D8E6-4B33094CA18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B0E9635-9A78-5E93-A682-10CB8D2A273D}"/>
              </a:ext>
            </a:extLst>
          </p:cNvPr>
          <p:cNvSpPr txBox="1"/>
          <p:nvPr/>
        </p:nvSpPr>
        <p:spPr>
          <a:xfrm>
            <a:off x="388798" y="813512"/>
            <a:ext cx="1127620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gán </a:t>
            </a:r>
            <a:r>
              <a:rPr lang="en-US" sz="2400" b="1">
                <a:latin typeface="Times New Roman" panose="02020603050405020304" pitchFamily="18" charset="0"/>
                <a:cs typeface="Times New Roman" panose="02020603050405020304" pitchFamily="18" charset="0"/>
              </a:rPr>
              <a:t>passwordMatchValidator </a:t>
            </a:r>
            <a:r>
              <a:rPr lang="en-US" sz="2400">
                <a:latin typeface="Times New Roman" panose="02020603050405020304" pitchFamily="18" charset="0"/>
                <a:cs typeface="Times New Roman" panose="02020603050405020304" pitchFamily="18" charset="0"/>
              </a:rPr>
              <a:t>vào FormGroup</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22E3075-504D-0886-3F34-F9431CE87AAB}"/>
              </a:ext>
            </a:extLst>
          </p:cNvPr>
          <p:cNvPicPr>
            <a:picLocks noChangeAspect="1"/>
          </p:cNvPicPr>
          <p:nvPr/>
        </p:nvPicPr>
        <p:blipFill>
          <a:blip r:embed="rId3"/>
          <a:stretch>
            <a:fillRect/>
          </a:stretch>
        </p:blipFill>
        <p:spPr>
          <a:xfrm>
            <a:off x="415252" y="1429860"/>
            <a:ext cx="11138263" cy="4895786"/>
          </a:xfrm>
          <a:prstGeom prst="rect">
            <a:avLst/>
          </a:prstGeom>
        </p:spPr>
      </p:pic>
    </p:spTree>
    <p:extLst>
      <p:ext uri="{BB962C8B-B14F-4D97-AF65-F5344CB8AC3E}">
        <p14:creationId xmlns:p14="http://schemas.microsoft.com/office/powerpoint/2010/main" val="27333800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C1AC8F4-4551-2826-DFBD-A367E634089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E03CDB5-8FFC-312C-7136-07069F36DBC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637A388-6058-948B-9CCC-EAC8A9EAC3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8405032A-69FD-C8C0-64C6-2607891A8B2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1D60654-AD84-F6F7-C0B1-C7B0DC135718}"/>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Cross Field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74BD802-94A5-1B56-BA7E-395C443B86B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3ADE7AC-BCB8-48B1-AF30-54F12EEE2C5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372F04A-2714-346B-5ECE-77F8217E3FD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D7C7DF-9CFC-C366-A156-9B824FBE59A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3700AAE-7E22-E06E-29FB-664D93BB9700}"/>
              </a:ext>
            </a:extLst>
          </p:cNvPr>
          <p:cNvSpPr txBox="1"/>
          <p:nvPr/>
        </p:nvSpPr>
        <p:spPr>
          <a:xfrm>
            <a:off x="388798" y="813512"/>
            <a:ext cx="1127620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sử dụng </a:t>
            </a:r>
            <a:r>
              <a:rPr lang="en-US" sz="2400" b="1">
                <a:latin typeface="Times New Roman" panose="02020603050405020304" pitchFamily="18" charset="0"/>
                <a:cs typeface="Times New Roman" panose="02020603050405020304" pitchFamily="18" charset="0"/>
              </a:rPr>
              <a:t>passwordMatchValidator </a:t>
            </a:r>
            <a:r>
              <a:rPr lang="en-US" sz="2400">
                <a:latin typeface="Times New Roman" panose="02020603050405020304" pitchFamily="18" charset="0"/>
                <a:cs typeface="Times New Roman" panose="02020603050405020304" pitchFamily="18" charset="0"/>
              </a:rPr>
              <a:t>trong .html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7A89A0B-6711-F011-D99E-651F75FFB167}"/>
              </a:ext>
            </a:extLst>
          </p:cNvPr>
          <p:cNvPicPr>
            <a:picLocks noChangeAspect="1"/>
          </p:cNvPicPr>
          <p:nvPr/>
        </p:nvPicPr>
        <p:blipFill>
          <a:blip r:embed="rId3"/>
          <a:stretch>
            <a:fillRect/>
          </a:stretch>
        </p:blipFill>
        <p:spPr>
          <a:xfrm>
            <a:off x="104503" y="1393479"/>
            <a:ext cx="12087497" cy="4965643"/>
          </a:xfrm>
          <a:prstGeom prst="rect">
            <a:avLst/>
          </a:prstGeom>
        </p:spPr>
      </p:pic>
      <p:sp>
        <p:nvSpPr>
          <p:cNvPr id="12" name="Rectangle 11">
            <a:extLst>
              <a:ext uri="{FF2B5EF4-FFF2-40B4-BE49-F238E27FC236}">
                <a16:creationId xmlns:a16="http://schemas.microsoft.com/office/drawing/2014/main" id="{394248B8-A13F-6A24-3ADD-2366FCE1778E}"/>
              </a:ext>
            </a:extLst>
          </p:cNvPr>
          <p:cNvSpPr/>
          <p:nvPr/>
        </p:nvSpPr>
        <p:spPr>
          <a:xfrm>
            <a:off x="313509" y="5286103"/>
            <a:ext cx="11773988" cy="7402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319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55101B-34A9-112A-FA28-5959469FD26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C77E939-105A-F4B2-446F-71913FDA94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E93A4DB-547A-97A9-070A-0C28119DB1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2E17EC9F-DD48-3697-3DC5-E2088A38CEFA}"/>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4CFAEDF8-BB15-70CB-F68B-95B3FB28246C}"/>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Cross Field Validation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8B2A875-6DFB-C518-5E12-F4B55F501BD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DED4797-4DBD-1C37-A073-21FFB185C6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9C9D1A5-60C7-33BA-D210-ACE6591458E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E3BB43-DE89-4706-E18D-FFFF4710179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51B8A38-0844-6BAE-7EA3-4C70E5A897F7}"/>
              </a:ext>
            </a:extLst>
          </p:cNvPr>
          <p:cNvSpPr txBox="1"/>
          <p:nvPr/>
        </p:nvSpPr>
        <p:spPr>
          <a:xfrm>
            <a:off x="388798" y="813512"/>
            <a:ext cx="1127620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lại màn hình</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0CBA1BB-CBB5-58D7-A8A7-6495C292BFE6}"/>
              </a:ext>
            </a:extLst>
          </p:cNvPr>
          <p:cNvPicPr>
            <a:picLocks noChangeAspect="1"/>
          </p:cNvPicPr>
          <p:nvPr/>
        </p:nvPicPr>
        <p:blipFill>
          <a:blip r:embed="rId3"/>
          <a:stretch>
            <a:fillRect/>
          </a:stretch>
        </p:blipFill>
        <p:spPr>
          <a:xfrm>
            <a:off x="4329398" y="813512"/>
            <a:ext cx="6300316" cy="5563993"/>
          </a:xfrm>
          <a:prstGeom prst="rect">
            <a:avLst/>
          </a:prstGeom>
        </p:spPr>
      </p:pic>
    </p:spTree>
    <p:extLst>
      <p:ext uri="{BB962C8B-B14F-4D97-AF65-F5344CB8AC3E}">
        <p14:creationId xmlns:p14="http://schemas.microsoft.com/office/powerpoint/2010/main" val="25872282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FCF8835-8509-BDF9-4428-C487FBF320F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553784-5856-1565-6B8D-3B92B230660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34550F1-31DF-671F-77B0-B748CC8707D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0DFFE876-D0B4-43C9-1189-7508FADC083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C844CA4F-8140-FE9E-E8D9-0A0788A7DDF6}"/>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5.3.6.</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Post form data to a server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DF96A4D-904E-72AC-5889-48118C13948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A6698BB-A3ED-77D6-5F3D-51D3589DE78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6894C27-7816-7A5F-9C74-CC5815B430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FC5D2B2-AF75-EE2E-AF53-00F6D7C28F7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8F6D54A-5791-876F-219E-02FC82900922}"/>
              </a:ext>
            </a:extLst>
          </p:cNvPr>
          <p:cNvSpPr txBox="1"/>
          <p:nvPr/>
        </p:nvSpPr>
        <p:spPr>
          <a:xfrm>
            <a:off x="462279" y="8135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Dữ liệu trong Form cần gửi lên Server để xử lý</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Trong </a:t>
            </a:r>
            <a:r>
              <a:rPr lang="en-US" sz="2400" b="1">
                <a:latin typeface="Times New Roman" panose="02020603050405020304" pitchFamily="18" charset="0"/>
                <a:cs typeface="Times New Roman" panose="02020603050405020304" pitchFamily="18" charset="0"/>
              </a:rPr>
              <a:t>course-registration-reactive-component.ts </a:t>
            </a:r>
            <a:r>
              <a:rPr lang="en-US" sz="2400">
                <a:latin typeface="Times New Roman" panose="02020603050405020304" pitchFamily="18" charset="0"/>
                <a:cs typeface="Times New Roman" panose="02020603050405020304" pitchFamily="18" charset="0"/>
              </a:rPr>
              <a:t>bổ sung thêm hàm onSubmit()</a:t>
            </a:r>
            <a:endParaRPr lang="vi-VN"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2D99AAA-8295-0B06-64CF-34179F6D57B8}"/>
              </a:ext>
            </a:extLst>
          </p:cNvPr>
          <p:cNvSpPr txBox="1"/>
          <p:nvPr/>
        </p:nvSpPr>
        <p:spPr>
          <a:xfrm>
            <a:off x="869768" y="2129980"/>
            <a:ext cx="10452463" cy="2142638"/>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onSubmit() {</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if</a:t>
            </a: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.regForm.valid) {</a:t>
            </a:r>
          </a:p>
          <a:p>
            <a:pPr>
              <a:lnSpc>
                <a:spcPts val="2250"/>
              </a:lnSpc>
              <a:buNone/>
            </a:pPr>
            <a:r>
              <a:rPr lang="en-US" sz="1800" b="0">
                <a:solidFill>
                  <a:srgbClr val="000000"/>
                </a:solidFill>
                <a:effectLst/>
                <a:latin typeface="Consolas" panose="020B0609020204030204" pitchFamily="49" charset="0"/>
              </a:rPr>
              <a:t>      console.log(</a:t>
            </a:r>
            <a:r>
              <a:rPr lang="en-US" sz="1800" b="0">
                <a:solidFill>
                  <a:srgbClr val="A31515"/>
                </a:solidFill>
                <a:effectLst/>
                <a:latin typeface="Consolas" panose="020B0609020204030204" pitchFamily="49" charset="0"/>
              </a:rPr>
              <a:t>'Dữ liệu gửi đi:'</a:t>
            </a: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.regForm.value);</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let</a:t>
            </a:r>
            <a:r>
              <a:rPr lang="en-US" sz="1800" b="0">
                <a:solidFill>
                  <a:srgbClr val="000000"/>
                </a:solidFill>
                <a:effectLst/>
                <a:latin typeface="Consolas" panose="020B0609020204030204" pitchFamily="49" charset="0"/>
              </a:rPr>
              <a:t> infor=JSON.stringify(</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.regForm.value);</a:t>
            </a:r>
          </a:p>
          <a:p>
            <a:pPr>
              <a:lnSpc>
                <a:spcPts val="2250"/>
              </a:lnSpc>
              <a:buNone/>
            </a:pPr>
            <a:r>
              <a:rPr lang="en-US" sz="1800" b="0">
                <a:solidFill>
                  <a:srgbClr val="000000"/>
                </a:solidFill>
                <a:effectLst/>
                <a:latin typeface="Consolas" panose="020B0609020204030204" pitchFamily="49" charset="0"/>
              </a:rPr>
              <a:t>      alert(</a:t>
            </a:r>
            <a:r>
              <a:rPr lang="en-US" sz="1800" b="0">
                <a:solidFill>
                  <a:srgbClr val="A31515"/>
                </a:solidFill>
                <a:effectLst/>
                <a:latin typeface="Consolas" panose="020B0609020204030204" pitchFamily="49" charset="0"/>
              </a:rPr>
              <a:t>"Xử lý dữ liệu:\n"</a:t>
            </a:r>
            <a:r>
              <a:rPr lang="en-US" sz="1800" b="0">
                <a:solidFill>
                  <a:srgbClr val="000000"/>
                </a:solidFill>
                <a:effectLst/>
                <a:latin typeface="Consolas" panose="020B0609020204030204" pitchFamily="49" charset="0"/>
              </a:rPr>
              <a:t>+infor)</a:t>
            </a: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9113470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9B4792-22F7-F137-1CBF-323D3213D23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5D164E0-30B9-BD82-A613-EB7E6F0B9B8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2E1C650-3350-2F19-1371-6CFAC307B47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EDA5C4D6-D5FB-A32E-12BF-8AFC9A382AC7}"/>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AE63868C-5FF3-4699-59C2-62B989BC5399}"/>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5.3.6.</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Post form data to a server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37F13ED-E134-B103-3631-47A381CAA3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22AF1E4-6A66-5401-FEE4-0A02ECEFF75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144F5D-9213-158C-D712-A309BCE9826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232AF97-DC37-A48C-6A49-72ED0B7B6C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58B6AD1-CA92-7CAD-AE03-3121F5742A81}"/>
              </a:ext>
            </a:extLst>
          </p:cNvPr>
          <p:cNvSpPr txBox="1"/>
          <p:nvPr/>
        </p:nvSpPr>
        <p:spPr>
          <a:xfrm>
            <a:off x="462279" y="8135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Trong </a:t>
            </a:r>
            <a:r>
              <a:rPr lang="en-US" sz="2400" b="1">
                <a:latin typeface="Times New Roman" panose="02020603050405020304" pitchFamily="18" charset="0"/>
                <a:cs typeface="Times New Roman" panose="02020603050405020304" pitchFamily="18" charset="0"/>
              </a:rPr>
              <a:t>course-registration-reactive-component.html </a:t>
            </a:r>
            <a:r>
              <a:rPr lang="en-US" sz="2400">
                <a:latin typeface="Times New Roman" panose="02020603050405020304" pitchFamily="18" charset="0"/>
                <a:cs typeface="Times New Roman" panose="02020603050405020304" pitchFamily="18" charset="0"/>
              </a:rPr>
              <a:t>Khai báo sử dụng hàm onSubmit()</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D311A2B-A03E-AC34-012D-226DDF27B47E}"/>
              </a:ext>
            </a:extLst>
          </p:cNvPr>
          <p:cNvSpPr txBox="1"/>
          <p:nvPr/>
        </p:nvSpPr>
        <p:spPr>
          <a:xfrm>
            <a:off x="3297765" y="1720946"/>
            <a:ext cx="5688874" cy="400110"/>
          </a:xfrm>
          <a:prstGeom prst="rect">
            <a:avLst/>
          </a:prstGeom>
          <a:noFill/>
          <a:ln>
            <a:solidFill>
              <a:srgbClr val="002060"/>
            </a:solidFill>
          </a:ln>
        </p:spPr>
        <p:txBody>
          <a:bodyPr wrap="square">
            <a:spAutoFit/>
          </a:bodyPr>
          <a:lstStyle/>
          <a:p>
            <a:pPr algn="ctr"/>
            <a:r>
              <a:rPr lang="en-US" sz="2000"/>
              <a:t> (ngSubmit)="onSubmit()"</a:t>
            </a:r>
          </a:p>
        </p:txBody>
      </p:sp>
      <p:pic>
        <p:nvPicPr>
          <p:cNvPr id="11" name="Picture 10">
            <a:extLst>
              <a:ext uri="{FF2B5EF4-FFF2-40B4-BE49-F238E27FC236}">
                <a16:creationId xmlns:a16="http://schemas.microsoft.com/office/drawing/2014/main" id="{467E60E0-6678-8F44-A9C7-546D9F95E3C4}"/>
              </a:ext>
            </a:extLst>
          </p:cNvPr>
          <p:cNvPicPr>
            <a:picLocks noChangeAspect="1"/>
          </p:cNvPicPr>
          <p:nvPr/>
        </p:nvPicPr>
        <p:blipFill>
          <a:blip r:embed="rId3"/>
          <a:stretch>
            <a:fillRect/>
          </a:stretch>
        </p:blipFill>
        <p:spPr>
          <a:xfrm>
            <a:off x="82771" y="2357323"/>
            <a:ext cx="12109229" cy="3307367"/>
          </a:xfrm>
          <a:prstGeom prst="rect">
            <a:avLst/>
          </a:prstGeom>
        </p:spPr>
      </p:pic>
      <p:sp>
        <p:nvSpPr>
          <p:cNvPr id="13" name="Rectangle 12">
            <a:extLst>
              <a:ext uri="{FF2B5EF4-FFF2-40B4-BE49-F238E27FC236}">
                <a16:creationId xmlns:a16="http://schemas.microsoft.com/office/drawing/2014/main" id="{88D49FA7-418C-7FC6-81BC-7ECD9617FC62}"/>
              </a:ext>
            </a:extLst>
          </p:cNvPr>
          <p:cNvSpPr/>
          <p:nvPr/>
        </p:nvSpPr>
        <p:spPr>
          <a:xfrm>
            <a:off x="234808" y="4214949"/>
            <a:ext cx="8473763" cy="508000"/>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89074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14653D2-F7F1-AA1C-5082-C3A7F65B626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D7D1C75-2DAC-4185-CDB8-F8374BBCF02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B70F579-8AAB-B622-C11B-F1FB49EC7D4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803363B0-17C9-79A2-4E86-F18D221C7EBD}"/>
              </a:ext>
            </a:extLst>
          </p:cNvPr>
          <p:cNvGrpSpPr/>
          <p:nvPr/>
        </p:nvGrpSpPr>
        <p:grpSpPr>
          <a:xfrm>
            <a:off x="214276" y="229075"/>
            <a:ext cx="7252178" cy="508000"/>
            <a:chOff x="789624" y="1191463"/>
            <a:chExt cx="7252178" cy="508000"/>
          </a:xfrm>
        </p:grpSpPr>
        <p:sp>
          <p:nvSpPr>
            <p:cNvPr id="3" name="AutoShape 52">
              <a:extLst>
                <a:ext uri="{FF2B5EF4-FFF2-40B4-BE49-F238E27FC236}">
                  <a16:creationId xmlns:a16="http://schemas.microsoft.com/office/drawing/2014/main" id="{68C58247-1802-8420-1000-3C99AFC51B4F}"/>
                </a:ext>
              </a:extLst>
            </p:cNvPr>
            <p:cNvSpPr>
              <a:spLocks noChangeArrowheads="1"/>
            </p:cNvSpPr>
            <p:nvPr/>
          </p:nvSpPr>
          <p:spPr bwMode="gray">
            <a:xfrm>
              <a:off x="990600" y="1191463"/>
              <a:ext cx="70512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5.3.6.</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Post form data to a server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D4F028A-5B79-9D52-5D97-9909DF2A778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5225F8-D180-3CB9-51AF-329F0787D5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0B72772-EB15-19E9-4E5B-DF34FF89AA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A7A5600-DDF2-B84F-6BDA-8E5A145561E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48BD428-051A-84CB-F412-EB595662E4CC}"/>
              </a:ext>
            </a:extLst>
          </p:cNvPr>
          <p:cNvSpPr txBox="1"/>
          <p:nvPr/>
        </p:nvSpPr>
        <p:spPr>
          <a:xfrm>
            <a:off x="462279" y="8135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Chạy lại màn hình</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9EF861B-DB9E-29AE-7CF9-5786540DD63A}"/>
              </a:ext>
            </a:extLst>
          </p:cNvPr>
          <p:cNvPicPr>
            <a:picLocks noChangeAspect="1"/>
          </p:cNvPicPr>
          <p:nvPr/>
        </p:nvPicPr>
        <p:blipFill>
          <a:blip r:embed="rId3"/>
          <a:stretch>
            <a:fillRect/>
          </a:stretch>
        </p:blipFill>
        <p:spPr>
          <a:xfrm>
            <a:off x="4293326" y="813511"/>
            <a:ext cx="6252756" cy="5521991"/>
          </a:xfrm>
          <a:prstGeom prst="rect">
            <a:avLst/>
          </a:prstGeom>
        </p:spPr>
      </p:pic>
    </p:spTree>
    <p:extLst>
      <p:ext uri="{BB962C8B-B14F-4D97-AF65-F5344CB8AC3E}">
        <p14:creationId xmlns:p14="http://schemas.microsoft.com/office/powerpoint/2010/main" val="30483630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217802" cy="508000"/>
            <a:chOff x="789624" y="1191463"/>
            <a:chExt cx="7217802"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8AFE54E9-3A00-0475-54B0-93C5768A38D5}"/>
              </a:ext>
            </a:extLst>
          </p:cNvPr>
          <p:cNvSpPr txBox="1"/>
          <p:nvPr/>
        </p:nvSpPr>
        <p:spPr>
          <a:xfrm>
            <a:off x="462279" y="841012"/>
            <a:ext cx="11564547" cy="452431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6.1.Giới thiệu MVC pattern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6.2. Giới thiệu Restful API</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6.3. Cách triệu gọi External Restful API trong Angular</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6.4. Cách tạo Restful API với NodeJS + ExpressJS</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6.5. Cài đặt nodemon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6.6. Cài đặt morgan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6.7. R</a:t>
            </a:r>
            <a:r>
              <a:rPr lang="en-US" sz="2400" b="1" dirty="0">
                <a:latin typeface="Times New Roman" panose="02020603050405020304" pitchFamily="18" charset="0"/>
                <a:cs typeface="Times New Roman" panose="02020603050405020304" pitchFamily="18" charset="0"/>
              </a:rPr>
              <a:t>EST</a:t>
            </a:r>
            <a:r>
              <a:rPr lang="vi-VN" sz="2400" b="1" dirty="0">
                <a:latin typeface="Times New Roman" panose="02020603050405020304" pitchFamily="18" charset="0"/>
                <a:cs typeface="Times New Roman" panose="02020603050405020304" pitchFamily="18" charset="0"/>
              </a:rPr>
              <a:t>ful với CRUD</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6.7.1. Restful API – HTTP GET: Tạo và triệu gọi danh sách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2</a:t>
            </a:r>
            <a:r>
              <a:rPr lang="vi-VN" sz="2400" dirty="0">
                <a:latin typeface="Times New Roman" panose="02020603050405020304" pitchFamily="18" charset="0"/>
                <a:cs typeface="Times New Roman" panose="02020603050405020304" pitchFamily="18" charset="0"/>
              </a:rPr>
              <a:t>. Restful API – HTTP GET: Tạo và triệu gọi một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3</a:t>
            </a:r>
            <a:r>
              <a:rPr lang="vi-VN" sz="2400" dirty="0">
                <a:latin typeface="Times New Roman" panose="02020603050405020304" pitchFamily="18" charset="0"/>
                <a:cs typeface="Times New Roman" panose="02020603050405020304" pitchFamily="18" charset="0"/>
              </a:rPr>
              <a:t>. Restful API – HTTP POST: Tạo và triệu gọi thêm mới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4</a:t>
            </a:r>
            <a:r>
              <a:rPr lang="vi-VN" sz="2400" dirty="0">
                <a:latin typeface="Times New Roman" panose="02020603050405020304" pitchFamily="18" charset="0"/>
                <a:cs typeface="Times New Roman" panose="02020603050405020304" pitchFamily="18" charset="0"/>
              </a:rPr>
              <a:t>. Restful API – HTTP PUT: Tạo và triệu gọi sửa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5</a:t>
            </a:r>
            <a:r>
              <a:rPr lang="vi-VN" sz="2400" dirty="0">
                <a:latin typeface="Times New Roman" panose="02020603050405020304" pitchFamily="18" charset="0"/>
                <a:cs typeface="Times New Roman" panose="02020603050405020304" pitchFamily="18" charset="0"/>
              </a:rPr>
              <a:t>. Restful API – HTTP DELETE: Tạo và triệu gọi xóa </a:t>
            </a:r>
            <a:r>
              <a:rPr lang="vi-VN" sz="2400">
                <a:latin typeface="Times New Roman" panose="02020603050405020304" pitchFamily="18" charset="0"/>
                <a:cs typeface="Times New Roman" panose="02020603050405020304" pitchFamily="18" charset="0"/>
              </a:rPr>
              <a:t>đối tượng</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8999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TotalTime>
  <Words>7763</Words>
  <Application>Microsoft Office PowerPoint</Application>
  <PresentationFormat>Widescreen</PresentationFormat>
  <Paragraphs>901</Paragraphs>
  <Slides>84</Slides>
  <Notes>84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84</vt:i4>
      </vt:variant>
    </vt:vector>
  </HeadingPairs>
  <TitlesOfParts>
    <vt:vector size="94" baseType="lpstr">
      <vt:lpstr>Times New Roman</vt:lpstr>
      <vt:lpstr>Wingdings</vt:lpstr>
      <vt:lpstr>Calibri</vt:lpstr>
      <vt:lpstr>Lato Black</vt:lpstr>
      <vt:lpstr>Lato</vt:lpstr>
      <vt:lpstr>Cambria</vt:lpstr>
      <vt:lpstr>Georgia</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698</cp:revision>
  <dcterms:created xsi:type="dcterms:W3CDTF">2022-12-02T04:21:00Z</dcterms:created>
  <dcterms:modified xsi:type="dcterms:W3CDTF">2026-05-02T17:18:50Z</dcterms:modified>
</cp:coreProperties>
</file>