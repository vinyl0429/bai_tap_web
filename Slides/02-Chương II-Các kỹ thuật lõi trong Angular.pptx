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5"/>
  </p:notesMasterIdLst>
  <p:sldIdLst>
    <p:sldId id="256" r:id="rId2"/>
    <p:sldId id="274" r:id="rId3"/>
    <p:sldId id="268" r:id="rId4"/>
    <p:sldId id="278" r:id="rId5"/>
    <p:sldId id="289" r:id="rId6"/>
    <p:sldId id="291" r:id="rId7"/>
    <p:sldId id="292" r:id="rId8"/>
    <p:sldId id="290" r:id="rId9"/>
    <p:sldId id="281" r:id="rId10"/>
    <p:sldId id="293" r:id="rId11"/>
    <p:sldId id="294" r:id="rId12"/>
    <p:sldId id="295" r:id="rId13"/>
    <p:sldId id="296" r:id="rId14"/>
    <p:sldId id="297" r:id="rId15"/>
    <p:sldId id="298" r:id="rId16"/>
    <p:sldId id="299" r:id="rId17"/>
    <p:sldId id="300" r:id="rId18"/>
    <p:sldId id="282" r:id="rId19"/>
    <p:sldId id="301" r:id="rId20"/>
    <p:sldId id="302" r:id="rId21"/>
    <p:sldId id="303" r:id="rId22"/>
    <p:sldId id="304" r:id="rId23"/>
    <p:sldId id="305" r:id="rId24"/>
    <p:sldId id="306" r:id="rId25"/>
    <p:sldId id="307" r:id="rId26"/>
    <p:sldId id="308" r:id="rId27"/>
    <p:sldId id="310" r:id="rId28"/>
    <p:sldId id="283" r:id="rId29"/>
    <p:sldId id="311" r:id="rId30"/>
    <p:sldId id="312" r:id="rId31"/>
    <p:sldId id="313" r:id="rId32"/>
    <p:sldId id="314" r:id="rId33"/>
    <p:sldId id="317" r:id="rId34"/>
    <p:sldId id="315" r:id="rId35"/>
    <p:sldId id="316" r:id="rId36"/>
    <p:sldId id="284" r:id="rId37"/>
    <p:sldId id="318" r:id="rId38"/>
    <p:sldId id="319" r:id="rId39"/>
    <p:sldId id="320" r:id="rId40"/>
    <p:sldId id="321" r:id="rId41"/>
    <p:sldId id="322" r:id="rId42"/>
    <p:sldId id="285" r:id="rId43"/>
    <p:sldId id="327" r:id="rId44"/>
    <p:sldId id="323" r:id="rId45"/>
    <p:sldId id="324" r:id="rId46"/>
    <p:sldId id="325" r:id="rId47"/>
    <p:sldId id="326" r:id="rId48"/>
    <p:sldId id="328" r:id="rId49"/>
    <p:sldId id="330" r:id="rId50"/>
    <p:sldId id="279" r:id="rId51"/>
    <p:sldId id="329" r:id="rId52"/>
    <p:sldId id="286" r:id="rId53"/>
    <p:sldId id="354" r:id="rId54"/>
    <p:sldId id="331" r:id="rId55"/>
    <p:sldId id="332" r:id="rId56"/>
    <p:sldId id="333" r:id="rId57"/>
    <p:sldId id="287" r:id="rId58"/>
    <p:sldId id="355" r:id="rId59"/>
    <p:sldId id="334" r:id="rId60"/>
    <p:sldId id="288" r:id="rId61"/>
    <p:sldId id="356" r:id="rId62"/>
    <p:sldId id="335" r:id="rId63"/>
    <p:sldId id="336" r:id="rId64"/>
    <p:sldId id="338" r:id="rId65"/>
    <p:sldId id="339" r:id="rId66"/>
    <p:sldId id="340" r:id="rId67"/>
    <p:sldId id="341" r:id="rId68"/>
    <p:sldId id="342" r:id="rId69"/>
    <p:sldId id="343" r:id="rId70"/>
    <p:sldId id="353" r:id="rId71"/>
    <p:sldId id="337" r:id="rId72"/>
    <p:sldId id="344" r:id="rId73"/>
    <p:sldId id="280" r:id="rId74"/>
    <p:sldId id="345" r:id="rId75"/>
    <p:sldId id="347" r:id="rId76"/>
    <p:sldId id="348" r:id="rId77"/>
    <p:sldId id="349" r:id="rId78"/>
    <p:sldId id="346" r:id="rId79"/>
    <p:sldId id="350" r:id="rId80"/>
    <p:sldId id="351" r:id="rId81"/>
    <p:sldId id="352" r:id="rId82"/>
    <p:sldId id="277" r:id="rId83"/>
    <p:sldId id="263" r:id="rId84"/>
  </p:sldIdLst>
  <p:sldSz cx="12192000" cy="6858000"/>
  <p:notesSz cx="6858000" cy="9144000"/>
  <p:embeddedFontLst>
    <p:embeddedFont>
      <p:font typeface="Cambria" panose="02040503050406030204" pitchFamily="18" charset="0"/>
      <p:regular r:id="rId86"/>
      <p:bold r:id="rId87"/>
      <p:italic r:id="rId88"/>
      <p:boldItalic r:id="rId89"/>
    </p:embeddedFont>
    <p:embeddedFont>
      <p:font typeface="Consolas" panose="020B0609020204030204" pitchFamily="49" charset="0"/>
      <p:regular r:id="rId90"/>
      <p:bold r:id="rId91"/>
      <p:italic r:id="rId92"/>
      <p:boldItalic r:id="rId93"/>
    </p:embeddedFont>
    <p:embeddedFont>
      <p:font typeface="Georgia" panose="02040502050405020303" pitchFamily="18" charset="0"/>
      <p:regular r:id="rId94"/>
      <p:bold r:id="rId95"/>
      <p:italic r:id="rId96"/>
      <p:boldItalic r:id="rId97"/>
    </p:embeddedFont>
    <p:embeddedFont>
      <p:font typeface="Lato" panose="020F0502020204030203" pitchFamily="34" charset="0"/>
      <p:regular r:id="rId98"/>
      <p:bold r:id="rId99"/>
      <p:italic r:id="rId100"/>
      <p:boldItalic r:id="rId101"/>
    </p:embeddedFont>
    <p:embeddedFont>
      <p:font typeface="Lato Black" panose="020F0502020204030203" pitchFamily="34" charset="0"/>
      <p:bold r:id="rId102"/>
      <p:boldItalic r:id="rId103"/>
    </p:embeddedFont>
    <p:embeddedFont>
      <p:font typeface="Times" panose="02020603050405020304" pitchFamily="18" charset="0"/>
      <p:regular r:id="rId104"/>
      <p:bold r:id="rId105"/>
      <p:italic r:id="rId106"/>
      <p:boldItalic r:id="rId10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8"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86" autoAdjust="0"/>
    <p:restoredTop sz="94660"/>
  </p:normalViewPr>
  <p:slideViewPr>
    <p:cSldViewPr snapToGrid="0">
      <p:cViewPr varScale="1">
        <p:scale>
          <a:sx n="78" d="100"/>
          <a:sy n="78" d="100"/>
        </p:scale>
        <p:origin x="686" y="62"/>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font" Target="fonts/font22.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7.fntdata"/><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8.fntdata"/><Relationship Id="rId108" Type="http://customschemas.google.com/relationships/presentationmetadata" Target="meta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2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font" Target="fonts/font14.fntdata"/><Relationship Id="rId10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2.fntdata"/><Relationship Id="rId104" Type="http://schemas.openxmlformats.org/officeDocument/2006/relationships/font" Target="fonts/font1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5.fntdata"/><Relationship Id="rId105"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font" Target="fonts/font3.fntdata"/><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BC26BE1-8E7F-382D-CE24-602831DB38C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CCEA18B-16AE-FC61-A8CB-EE10E44328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553F88B-EE1E-2484-7134-B03E8DD16B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5755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06F6D3C-5F64-7FAC-2B12-1C2F57C3431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6C06732-D3FB-63C0-5410-DB94CD237AD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415C712-5FDC-848B-9CAA-659314A0B0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7377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98247BE-1D4E-181B-D001-22221D4C660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D620B4E-A973-2384-8EE3-640F5DC96F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42F4870-852D-864A-B1ED-22C2154D24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2928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6348887-464A-6D2F-42FF-81F4E88437F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E43184-39B6-5FB6-B9C8-4D3464794BF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5EC7C7F-A3D6-FAB2-B40F-1CB035AA03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5163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3463197-B7E4-BD38-D97F-744F3B7C8FA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F22EE1E-0FE2-8156-C3A2-C620CFC721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948C861-BF6D-D9D6-63B0-F10B4DCA3F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5666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FACEB91-209D-921D-0136-30BDBA70CF4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25B3D43-A186-1428-D501-9C5609EACC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33CE57E-E929-16D5-F75A-54AB5F17E4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0547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0AB4EC7-F90E-5113-B5E5-59EBC41229D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4838EBC-5EB9-58B3-D49A-B43A433D95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EA956C6-FE4E-ECD9-93BC-37B1F1E001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2992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43F04A2-D838-0325-2E5C-08B778AED9F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BBFA0B8-0F8A-2BF9-9729-FB75DF435DA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2390492-204B-CE66-6751-BCF74A833A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6154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C4DAC6B-3A74-BAB4-16E1-B0EA049D622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DFFA30B-4E61-E70C-1384-9C6E6196B13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FFB6AA-746E-2C8E-3CC6-8834B1DF97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6277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5017C2D-766F-9ABC-F0EF-FA99D4432F2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7099298-75EE-87E6-EEBC-AAA674A2D1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E579E07-AA11-8937-C07C-C3201E629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0292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59BA8B6-95ED-6938-8E77-79F873651F1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B3C7893-8CA9-203F-DD18-CA026D5911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062B661-0896-2A84-5D89-3E32FFA88B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9154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1254A8F-76E5-6E8A-75C2-C903504B4CA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AC2551E-1C3B-B574-E992-5A02EB70DE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DDE4967-8622-8B11-1CB6-63AB7A6244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7719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2C16AD4-C2C2-A6E4-1698-A5888B3B9F1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34EF387-28E3-3FA0-0D14-DD8B5EE29D4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E277D5C-376F-7A6E-3DAF-6F4B08DC1A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5163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0E4ED66-E4EA-34B3-B926-251A86C817F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324DA11-E7F5-9C71-9B5C-3C8C983FD1C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062D95D-847A-AA27-54B4-CED8323D0F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4794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FEC9A6B-C808-C510-6F54-524653BC078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61DBC5E-FEA4-2D6C-173D-5DC6DE6D72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2555DFF-FEDB-CEEA-6F13-634B979260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2186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BA9DB8E-2668-F116-8CD7-D4D36CB1344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727FAF6-7DCD-5433-0993-96968A77BF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D65D86A-8907-22EC-5FD4-CFBFC46D94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6226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5C25D2A-337D-A0AA-48E3-E6BBF78B10A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6642EF8-E6E1-E486-EA4D-D45FEB7163F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1992D21-BB7D-897C-C071-F423DF314E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6608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8071782-5851-C637-2BEC-63B8DA6FB42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AA17031-2EB6-C2A8-90E7-24EF8CC509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AB7F857-6D7C-F111-942E-D70E1F059E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20058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B362EF6-8A35-6E2D-D7D3-2DF4FD169CD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EC14BF-25A6-BDE7-647D-C6ACBCCCB1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790A8A9-9EE6-A234-646A-588EE776B6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07320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5CDE74D-9E15-42F5-677D-649AD794ABC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84DF23E-5830-49B7-FB26-945D192479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B3C2F49-6F3E-3774-F609-3943F27AB9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5240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3BBF863-FAD3-56FE-EB74-4FEDA611FD0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0527A59-331B-6ECC-B897-57AFA7B483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77A5EF8-32A9-EE93-88BA-7F06EBA6F2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81658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C7F69D0-77FE-7D9C-8563-2CF2072358A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749CBD9-E082-9128-7685-847986FF17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FC13533-4592-B09A-F53A-91E126279B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97552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D60DA08-9F82-6BB7-084C-D86E9097751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FF2B9BA-B23C-0BB4-1105-984D8E9809E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E06D616-AB7A-F45A-2FD4-E64E0A2543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743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1FBE951-3A1B-A354-F6DD-CDFD8E03D66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C0E20BB-34CE-8AB8-75CB-5B327126EE2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BBA9A01-69BB-B617-E086-CCC6EA149A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44119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A63731D-D6AA-713E-CAD8-4428B13C381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9ACC138-B65F-FFE5-15D9-AC8F067073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165A4B3-7A1F-3F2D-55C9-81AA7AA1DC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569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E6F6159-6AF9-A859-C09C-4013F42D681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BAAD188-080B-3CF5-7E48-49B0E42976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4C19C0A-7908-DC97-14D6-881524F9E5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9908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B1CB207-6EEA-B16E-6E74-9C6BF14EC1C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2FDB50-7BFA-1C24-7DAA-C3EAAE474CB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C993F5E-D2AA-7B0A-2C6B-E9B42D17DF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4936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A42406D-3A91-8699-B401-20384E00456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E6A26A4-BDA5-CC9C-BB6A-83A7B72D25A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AC40D7B-79D8-90D5-DC56-E4241132C0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1474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27674E4-42A0-3B4B-0111-359C6F8FDA4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DBFAF97-CF65-D40A-159A-A00BFAC7D5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D0D1029-D036-23BA-2A1B-336C1BF6C2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2079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E3EE958-2764-9974-9DAD-2D90CE84272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15CF265-6FA8-246C-50C9-53ABEC6D9C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49E171F-DFC1-15B9-9BF3-F63CCA8F76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70006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8EADCC4-4457-6AD1-66BD-8B62C60A70E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F513D7B-CD1D-5C8A-1663-526A7BE66D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5A816C3-0187-99EB-BDD3-A5CC8F5C56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852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E19CB8A-69CB-5D92-2414-30C24FB5443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CC49869-8DB9-08F2-42D0-AF21162EE2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3514172-EE0B-297C-C7FB-38DFC3ADDE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24211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5F5D84D-2538-C94C-D2F1-98ACFE7153E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94A0BBB-F05B-B60B-EF37-D09B2C78FD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D96936D-85C2-6FBE-F879-920EDA1BF1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358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09CA9B9-C39B-71CD-AC29-D2DC7D69B50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C50E06-AD29-4308-C254-F1FAE358C61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C62894C-D167-E201-D9B2-145994F2A5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2246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50B9C02-2516-0B25-3534-2A563C176BD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0F3DD9A-E0BB-D4E0-B80F-2A7357A9932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B7686B3-93C4-4590-DFD8-CD76E57B11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45551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9C98423-0A45-19A1-170A-7E35C0AE3F4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41223C5-0D2E-E19D-5B5C-771E96D4E6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FFB9271-1920-CFB6-23F1-86AE0EA946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5105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B954814-ED70-CF3D-1F6C-E7E1C872118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84EDAB1-9805-5EA0-9D8D-EB855BCF60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408607C-7626-BEB7-B7D3-F5A2FA127B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14674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9BD150F-2C6D-450D-4FA3-EA8901D5285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0622E59-20E8-8AE4-590B-BE38239633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68460E9-A58D-EC2E-171F-EAA9C27519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84963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445399D-7171-136B-633F-AAB056C4711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C0F804C-A1F3-6AE5-C7C8-CF3A2D9E15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C82CD5B-347B-9C40-0A13-D1A3DBEF7E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9750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A7A8C12-CBDF-CB8A-5550-9F8B080D92F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9019A4E-4FD8-4201-3973-C7A027009D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6D4D456-6FCA-DF55-3C35-8F0F147D09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23783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6017805-D51C-A646-51C7-E4139BC8B1B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188BF93-3AD9-2D5D-0911-2489653943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33838E6-8912-198E-F22B-E78376415F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7661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D6B02F0-0955-6ECE-58F7-4A804D555D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ABDC0A5-41F4-27B0-CA71-B6DAA71EA31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7576CB0-BEFD-6046-EEBD-3B3EA37F46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14757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112532B-300C-68E6-5219-E51C0760E9C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BA5298-A09B-3D9F-A811-505567D6CAD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5BCC5C0-C78F-2950-5043-67F44FA61C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86983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2002286-6B2F-DBDE-E347-D14AC1B6ECF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AAE2583-7CD2-3A0D-5185-59F85F2D20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84BD84-7FC8-7657-A29C-6ECEDFF691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3686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CC3EE94-01AB-C9F7-9201-F52DBB2B31D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9EF05D4-23A5-0454-F3B2-E2205304CA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C85056D-79CD-9815-A885-2A70AA3E27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09861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DDD6C94-F4F2-95A8-6D2D-E87BB741799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C408A3F-8A59-E63B-A427-BB6C998D4D5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D9969C2-C92F-E23C-C75A-2E1C816E52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31445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FDCB772-AF04-BD35-D869-279F34ABF50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24CAB9-B90D-9A61-FD94-21A7E14D48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6CF9C06-FAF1-7DFB-1CEA-C217AD996C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43163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9034E06-82DD-7CE9-B261-883A135DF5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2571D7F-B393-5480-98F6-60A1C8D1B0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9136DF2-B438-B54A-0E0A-C2FF2C12F5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15245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5E0FD04-C84D-000A-BAD9-0106073AD7E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27E18FC-8FB9-267C-F9F8-7BB5C1C2B5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0C2875C-193C-B288-7340-33A4DA6FFB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34651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9BEFE1E-F4D9-C275-92AC-F86B18ABB3D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E9B9525-EE5D-CCCE-A0AB-76702B73626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5CA0FFA-8784-BD47-0FA5-3EFB3D981E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0836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184BA4D-6FC4-2102-1089-16E17D8EEB9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620D33C-24D4-9999-6035-D5FF1B9F33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387CF95-7F40-3438-B4FB-6E5984757B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14364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8083924-2D41-5CE4-2462-A510A2C6875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A5F3F8D-94DD-98E8-8ED9-00186DE3CDB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218FED2-D742-CA5C-81CE-3CC919FA67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50910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ABA0A4B-614C-8A5B-2412-58FC85A7B37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E446374-B182-E5A5-15B6-517C3682B4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92E38D8-B1C1-2F04-FA7B-3D1F467A7B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18163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179125D-7671-EF2B-3C8B-A86C818EE28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A1B0A26-825E-1327-4D4F-787FC17C55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5CC3DA-E5B8-1A6A-DF29-7F3F382504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3098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768D492-6E34-3093-1A27-D114A52F789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46D9FFB-0606-EA3C-5987-92083525302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0964397-8D58-AE06-0EC3-24351F6C85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58888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DFC4B9A-6CF2-3B6E-2E49-484E9DEFD09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024E7FA-2802-855E-F081-2C84C2FC18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5C4B85-A682-30CF-5039-29995C2A4E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7688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7D39A9F-69D5-E906-0A4B-4DF60EA8B64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C3C9F5E-9F11-3BAA-9CC0-19ED2902A7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1D4974F-892C-64D7-A59A-9CAEA288B8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22187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7E0E32B-E247-3940-FA22-C914F35922D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FCE5B3B-E9DF-076D-AB48-B9CE6E369D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17E379A-90D9-185C-07B5-CF1BC1A50F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91246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6833FE3-F33B-0C75-A023-E53F9D4FC66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5D93BC9-6EDF-24BD-8209-85DC29FFAE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C393F9F-2B1A-55BC-813D-2000016123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180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13D854-18EF-8B6A-DAB0-9C8C672CC3B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6B0FB7F-D2E8-4458-9408-1DD6A60C1B7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5902FBD-122C-10BC-8B2F-B547F50C2E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68685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BBF478F-DEA7-FE82-DC07-53CD812DF3D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558EEBA-FF0B-BADA-05C3-7A0ABFF9CC8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CD06CD8-9471-B42A-7F9B-4B2036CA57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95923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B3E95E8-D302-5BC7-9897-8F64EDD4B68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D9C4167-2B86-7D6E-ED83-ED86BE4170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05B2362-8198-7F73-3194-031EFB1E55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66488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B8933AE-0AB6-DD32-0DF3-8137AAF75C2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F8272C8-ED8E-39C6-2F40-9AF7CBEB19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9D69451-84E3-84EB-A8CD-4D2D339643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92492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04C57FF-2364-3E60-B765-DD6AEECEB39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CF74422-A1B7-2ADE-AD56-E315C780F2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A2E09B6-CAB3-28C4-1FD2-349C0A831E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88377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78439D6-E176-B154-F752-454679D8026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992653-1109-43CA-1DDE-84C80EAB08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7E7BDBB-6BC6-EA42-784E-47ECFE9B40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368900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4E548C-CD6D-FE09-E8E0-8C1E30292CE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8D6B27B-42B6-B16E-7547-4CBF007EE2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553CEE0-CE88-B928-AA03-106728D0AF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962863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653D234-DC57-C4C6-4786-A024EA54099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6D41546-5E97-704E-6813-07C723CA31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ED9B3BC-E848-9D0E-3411-833BACE3FD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79406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21FBCB2-40A3-DC5E-DF39-CE59AE2853F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27D9BB5-1919-30B4-1E66-D16C7C1562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4BF1E72-7FBE-49DD-2D92-C850CBCAB4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82333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53DD0BD-7148-C33C-F153-49FA90392F7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9702DC-2212-A25D-1E16-EF9D9AC077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D43FF62-FC73-3850-A965-8EFA95E90A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37220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0E605DE-B129-70BA-5A2B-F767458B020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4E04437-8EC9-ACF4-EF5E-7AA774306DC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25ADE6C-3BDB-8139-031F-2289D1CD08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52654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9F32AAB-6FC5-C5BC-626D-9D7FF129B53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2AF41CF-EF5E-F4EB-C731-8F78577512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FA01FE9-2F04-1660-8904-7617D8B7A3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91167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266AE72-F161-5227-6D57-0D066E0EB33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594355D-4361-834B-CE1F-8C16E93DD5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E75C2D-1F05-D7D4-C16A-93F4680BDC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261918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85EF612-366F-2D79-88D5-519B10C51BF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3D433B6-1A15-A141-43B2-155671B82F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C9CADD9-61B9-6E9A-54C6-B29B284D64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5113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8F4B8BA-9222-2121-8B32-4CA830C11EF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8857AC3-37F0-D85F-1E23-5E1E872822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F5D9588-3643-CB56-9CF7-A922704ABB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433194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A91F5CC-B7D0-E784-0001-CE0AF00E7E3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523BC7B-43AA-91A4-290B-71BCAA2398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8C00F42-A15B-6056-F402-E39FDC4E93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41499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E78125-803A-4B9B-0DF8-F0FB5ED366D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A8FE018-D872-CE69-D464-E458493FE5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02C04F9-8D0D-FC48-0D3A-E1581BED8E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971115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A4D898E-8A91-4E4D-92FD-29ACF8540A8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6071D5E-4732-F445-5D5F-1C8B10AF42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3344496-96E7-BD25-717F-297202603A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64219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0DB5076-5484-E768-1DA0-2C7009CE401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3E9B12C-195A-3677-CCC1-16A6D2ACCE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7D1A71B-3FF9-09EF-1CAA-5D527863F3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7817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5.png"/><Relationship Id="rId4" Type="http://schemas.openxmlformats.org/officeDocument/2006/relationships/image" Target="../media/image5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dirty="0" err="1">
                <a:solidFill>
                  <a:srgbClr val="002060"/>
                </a:solidFill>
                <a:latin typeface="Times New Roman" panose="02020603050405020304" pitchFamily="18" charset="0"/>
                <a:cs typeface="Times New Roman" panose="02020603050405020304" pitchFamily="18" charset="0"/>
              </a:rPr>
              <a:t>Chương</a:t>
            </a:r>
            <a:r>
              <a:rPr lang="en-US" sz="2800" b="0" kern="0">
                <a:solidFill>
                  <a:srgbClr val="002060"/>
                </a:solidFill>
                <a:latin typeface="Times New Roman" panose="02020603050405020304" pitchFamily="18" charset="0"/>
                <a:cs typeface="Times New Roman" panose="02020603050405020304" pitchFamily="18" charset="0"/>
              </a:rPr>
              <a:t> II:</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dirty="0">
                <a:solidFill>
                  <a:srgbClr val="002060"/>
                </a:solidFill>
                <a:latin typeface="Times New Roman" panose="02020603050405020304" pitchFamily="18" charset="0"/>
                <a:cs typeface="Times New Roman" panose="02020603050405020304" pitchFamily="18" charset="0"/>
              </a:rPr>
              <a:t>Các kỹ thuật lõi trong Angular</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II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a:latin typeface="Cambria" panose="02040503050406030204" pitchFamily="18" charset="0"/>
              </a:rPr>
              <a:t>Chương này nhằm trang bị cho người học những kiến thức nền tảng và thiết yếu nhất để xây dựng các ứng dụng Angular linh hoạt và có khả năng tương tác cao. Cụ thể, người học sẽ nắm vững cơ chế Binding để đồng bộ hóa dữ liệu giữa mã nguồn TypeScript và giao diện HTML, từ việc điều khiển thuộc tính, phong cách (Style, Class) đến xử lý sự kiện và ràng buộc dữ liệu hai chiều (Two-way binding). Bên cạnh đó, chương này giúp người học làm chủ các Built-in Directives như *ngIf, *ngFor và ngSwitch để điều khiển cấu trúc DOM một cách thông minh. Cuối cùng, nội dung về Component Interaction sẽ giúp người học hiểu rõ cách truyền tải dữ liệu và kết nối các thành phần riêng lẻ, từ đó hình thành tư duy xây dựng kiến trúc ứng dụng modular chuyên nghiệp.</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15252" y="810009"/>
            <a:ext cx="11564547" cy="4690387"/>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2.1. Kỹ thuật Binding</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a:t>
            </a:r>
            <a:r>
              <a:rPr lang="en-US" sz="2400" b="1">
                <a:latin typeface="Times New Roman" panose="02020603050405020304" pitchFamily="18" charset="0"/>
                <a:cs typeface="Times New Roman" panose="02020603050405020304" pitchFamily="18" charset="0"/>
              </a:rPr>
              <a:t>1</a:t>
            </a:r>
            <a:r>
              <a:rPr lang="vi-VN" sz="2400" b="1">
                <a:latin typeface="Times New Roman" panose="02020603050405020304" pitchFamily="18" charset="0"/>
                <a:cs typeface="Times New Roman" panose="02020603050405020304" pitchFamily="18" charset="0"/>
              </a:rPr>
              <a:t>. Binding Property</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Class</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2.1.3.</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Style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2.1.4. Binding Event</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2.1.5.</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Two-Way</a:t>
            </a:r>
          </a:p>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2.2. Built-in Directives</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2.2.1. ngIf directive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2.2.2. ngSwitch directive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2.2.3. ngFor directive</a:t>
            </a:r>
          </a:p>
          <a:p>
            <a:pPr marL="342900" indent="-3429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2.3. Component Interaction</a:t>
            </a: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0A6E491-0281-91D1-12B9-A21774AE7DC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1A955F0-3982-35CF-9B1A-0623F4FC9A7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0FB395A-DF25-7447-647A-48E2806D035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B921D78B-3A34-10C2-A8D6-1586138E748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CCB663BD-56C4-0711-A2A9-652735BFA8D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DDDE3E3C-F4AD-64FA-5735-5A27FDA70DD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DE4ABE8-C20C-8603-8599-175F6C8064A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C3F5B40-F560-425A-1841-EF6A9E657EF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3E7947B-3562-4E6B-3810-5DC4AA96673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CD0FF59-B39F-E859-33F0-CE747A3FCD7D}"/>
              </a:ext>
            </a:extLst>
          </p:cNvPr>
          <p:cNvSpPr txBox="1"/>
          <p:nvPr/>
        </p:nvSpPr>
        <p:spPr>
          <a:xfrm>
            <a:off x="415252" y="810009"/>
            <a:ext cx="11564547" cy="2164310"/>
          </a:xfrm>
          <a:prstGeom prst="rect">
            <a:avLst/>
          </a:prstGeom>
          <a:noFill/>
        </p:spPr>
        <p:txBody>
          <a:bodyPr wrap="square">
            <a:spAutoFit/>
          </a:bodyPr>
          <a:lstStyle/>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a:t>
            </a:r>
            <a:r>
              <a:rPr lang="en-US" sz="2400" b="1">
                <a:latin typeface="Times New Roman" panose="02020603050405020304" pitchFamily="18" charset="0"/>
                <a:cs typeface="Times New Roman" panose="02020603050405020304" pitchFamily="18" charset="0"/>
              </a:rPr>
              <a:t>1</a:t>
            </a:r>
            <a:r>
              <a:rPr lang="vi-VN" sz="2400" b="1">
                <a:latin typeface="Times New Roman" panose="02020603050405020304" pitchFamily="18" charset="0"/>
                <a:cs typeface="Times New Roman" panose="02020603050405020304" pitchFamily="18" charset="0"/>
              </a:rPr>
              <a:t>. Binding Property</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Class</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2.1.3.</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Style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2.1.4. Binding Event</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2.1.5.</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Two-Way</a:t>
            </a:r>
          </a:p>
        </p:txBody>
      </p:sp>
    </p:spTree>
    <p:extLst>
      <p:ext uri="{BB962C8B-B14F-4D97-AF65-F5344CB8AC3E}">
        <p14:creationId xmlns:p14="http://schemas.microsoft.com/office/powerpoint/2010/main" val="431978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B7DC78E-A61E-B857-768F-3995704BED4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7EEAF2C-39A7-D970-348B-0C3D523E0F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976BBED-AC5A-2AAB-5F97-3EEAE55757C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89EB903E-A50D-B4F6-5554-771CB7832EC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D50B781-961A-367B-C988-1EBF8E32F6A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6AA07A62-6FE6-F8D0-619E-9108C2823FD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54DB511-9314-E15E-0650-F0C4B1B4AC5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E30E804-94F6-D03B-9792-49206DADCDC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F99654-5209-C754-EA19-7194915D371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31486C9-A893-3337-2120-C3F22F9A5411}"/>
              </a:ext>
            </a:extLst>
          </p:cNvPr>
          <p:cNvSpPr txBox="1"/>
          <p:nvPr/>
        </p:nvSpPr>
        <p:spPr>
          <a:xfrm>
            <a:off x="415251" y="877587"/>
            <a:ext cx="11564547" cy="1743298"/>
          </a:xfrm>
          <a:prstGeom prst="rect">
            <a:avLst/>
          </a:prstGeom>
          <a:noFill/>
        </p:spPr>
        <p:txBody>
          <a:bodyPr wrap="square">
            <a:spAutoFit/>
          </a:bodyPr>
          <a:lstStyle/>
          <a:p>
            <a:pPr marL="342900" indent="-342900" algn="just">
              <a:lnSpc>
                <a:spcPct val="114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Data Binding </a:t>
            </a:r>
            <a:r>
              <a:rPr lang="vi-VN" sz="2400">
                <a:latin typeface="Times New Roman" panose="02020603050405020304" pitchFamily="18" charset="0"/>
                <a:cs typeface="Times New Roman" panose="02020603050405020304" pitchFamily="18" charset="0"/>
              </a:rPr>
              <a:t>là cơ chế đồng bộ hóa dữ liệu tự động giữa phần xử lý logic (</a:t>
            </a:r>
            <a:r>
              <a:rPr lang="vi-VN" sz="2400" b="1">
                <a:latin typeface="Times New Roman" panose="02020603050405020304" pitchFamily="18" charset="0"/>
                <a:cs typeface="Times New Roman" panose="02020603050405020304" pitchFamily="18" charset="0"/>
              </a:rPr>
              <a:t>Component Class - TypeScript</a:t>
            </a:r>
            <a:r>
              <a:rPr lang="vi-VN" sz="2400">
                <a:latin typeface="Times New Roman" panose="02020603050405020304" pitchFamily="18" charset="0"/>
                <a:cs typeface="Times New Roman" panose="02020603050405020304" pitchFamily="18" charset="0"/>
              </a:rPr>
              <a:t>) và phần hiển thị giao diện (</a:t>
            </a:r>
            <a:r>
              <a:rPr lang="vi-VN" sz="2400" b="1">
                <a:latin typeface="Times New Roman" panose="02020603050405020304" pitchFamily="18" charset="0"/>
                <a:cs typeface="Times New Roman" panose="02020603050405020304" pitchFamily="18" charset="0"/>
              </a:rPr>
              <a:t>Template - HTML</a:t>
            </a:r>
            <a:r>
              <a:rPr lang="vi-VN" sz="2400">
                <a:latin typeface="Times New Roman" panose="02020603050405020304" pitchFamily="18" charset="0"/>
                <a:cs typeface="Times New Roman" panose="02020603050405020304" pitchFamily="18" charset="0"/>
              </a:rPr>
              <a:t>). Nó thiết lập một giao thức truyền tải dữ liệu, giúp lập trình viên không cần viết code thao tác DOM thủ công</a:t>
            </a:r>
          </a:p>
        </p:txBody>
      </p:sp>
      <p:sp>
        <p:nvSpPr>
          <p:cNvPr id="10" name="TextBox 9">
            <a:extLst>
              <a:ext uri="{FF2B5EF4-FFF2-40B4-BE49-F238E27FC236}">
                <a16:creationId xmlns:a16="http://schemas.microsoft.com/office/drawing/2014/main" id="{BC505F1D-1D06-EEFE-1B03-5181EF33F4E6}"/>
              </a:ext>
            </a:extLst>
          </p:cNvPr>
          <p:cNvSpPr txBox="1"/>
          <p:nvPr/>
        </p:nvSpPr>
        <p:spPr>
          <a:xfrm>
            <a:off x="415251" y="2588757"/>
            <a:ext cx="629767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Ý nghĩa &amp; Vai trò (Significance)</a:t>
            </a:r>
          </a:p>
        </p:txBody>
      </p:sp>
      <p:sp>
        <p:nvSpPr>
          <p:cNvPr id="11" name="Rectangle 1">
            <a:extLst>
              <a:ext uri="{FF2B5EF4-FFF2-40B4-BE49-F238E27FC236}">
                <a16:creationId xmlns:a16="http://schemas.microsoft.com/office/drawing/2014/main" id="{732414B6-2AE2-3A55-8666-672DDDE5E073}"/>
              </a:ext>
            </a:extLst>
          </p:cNvPr>
          <p:cNvSpPr>
            <a:spLocks noChangeArrowheads="1"/>
          </p:cNvSpPr>
          <p:nvPr/>
        </p:nvSpPr>
        <p:spPr bwMode="auto">
          <a:xfrm>
            <a:off x="542786" y="3001620"/>
            <a:ext cx="11330664"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buClrTx/>
              <a:buFontTx/>
              <a:buChar char="•"/>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Tách biệt trách nhiệm (SoC</a:t>
            </a:r>
            <a:r>
              <a:rPr lang="en-US" altLang="en-US" sz="2400" b="1">
                <a:solidFill>
                  <a:schemeClr val="tx1"/>
                </a:solidFill>
                <a:latin typeface="Times New Roman" panose="02020603050405020304" pitchFamily="18" charset="0"/>
                <a:cs typeface="Times New Roman" panose="02020603050405020304" pitchFamily="18" charset="0"/>
              </a:rPr>
              <a:t> - Separation of Concerns</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Giúp Component Class chỉ tập trung quản lý trạng thái (State) và logic, còn Template chỉ tập trung vào cấu trúc hiển thị.</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Tăng hiệu suất phát triển:</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Giảm thiểu đáng kể lượng code "thừa" (boilerplate code) dùng để cập nhật giao diện khi dữ liệu thay đổi.</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Giao diện Reactive: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Đảm bảo UI luôn phản ánh chính xác trạng thái mới nhất của dữ liệu bên dưới ngay tức thì.</a:t>
            </a:r>
          </a:p>
        </p:txBody>
      </p:sp>
    </p:spTree>
    <p:extLst>
      <p:ext uri="{BB962C8B-B14F-4D97-AF65-F5344CB8AC3E}">
        <p14:creationId xmlns:p14="http://schemas.microsoft.com/office/powerpoint/2010/main" val="423220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BFF8319-C05D-9863-74B3-BD4CD41DDF5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2E4C63D-B6DE-BDE8-1D77-0D3E893DCDC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0AFF6C3-9359-2C87-A3DC-24DAEA1593E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F1B1661A-4671-8E2A-9CBB-978B13802BD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A432863-4557-5F00-69B1-8724C0385A8F}"/>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52C04C60-D03E-06EC-BA36-BB48D0D3A19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437C041-5FD0-000B-1A13-DAC91F91BFC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4545AA7-8935-BAEA-FD8E-4551C54A8A7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DD2BE2-EE1E-28F7-D0BB-54C4B7EF068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DDA4A602-2270-3B54-682D-5DEBEEF6CEC7}"/>
              </a:ext>
            </a:extLst>
          </p:cNvPr>
          <p:cNvSpPr txBox="1"/>
          <p:nvPr/>
        </p:nvSpPr>
        <p:spPr>
          <a:xfrm>
            <a:off x="542786" y="932392"/>
            <a:ext cx="6297672" cy="461665"/>
          </a:xfrm>
          <a:prstGeom prst="rect">
            <a:avLst/>
          </a:prstGeom>
          <a:noFill/>
        </p:spPr>
        <p:txBody>
          <a:bodyPr wrap="square">
            <a:spAutoFit/>
          </a:bodyPr>
          <a:lstStyle/>
          <a:p>
            <a:pPr marL="342900" indent="-342900">
              <a:buFont typeface="Wingdings" panose="05000000000000000000" pitchFamily="2" charset="2"/>
              <a:buChar char="q"/>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SoC</a:t>
            </a:r>
            <a:r>
              <a:rPr lang="en-US" altLang="en-US" sz="2400" b="1">
                <a:solidFill>
                  <a:schemeClr val="tx1"/>
                </a:solidFill>
                <a:latin typeface="Times New Roman" panose="02020603050405020304" pitchFamily="18" charset="0"/>
                <a:cs typeface="Times New Roman" panose="02020603050405020304" pitchFamily="18" charset="0"/>
              </a:rPr>
              <a:t> - Separation of Concerns</a:t>
            </a:r>
            <a:endParaRPr lang="en-US" sz="2400"/>
          </a:p>
        </p:txBody>
      </p:sp>
      <p:sp>
        <p:nvSpPr>
          <p:cNvPr id="14" name="TextBox 13">
            <a:extLst>
              <a:ext uri="{FF2B5EF4-FFF2-40B4-BE49-F238E27FC236}">
                <a16:creationId xmlns:a16="http://schemas.microsoft.com/office/drawing/2014/main" id="{36305828-288A-3AEE-BCBD-15256DE2329E}"/>
              </a:ext>
            </a:extLst>
          </p:cNvPr>
          <p:cNvSpPr txBox="1"/>
          <p:nvPr/>
        </p:nvSpPr>
        <p:spPr>
          <a:xfrm>
            <a:off x="542786" y="1580158"/>
            <a:ext cx="11282538" cy="830997"/>
          </a:xfrm>
          <a:prstGeom prst="rect">
            <a:avLst/>
          </a:prstGeom>
          <a:noFill/>
        </p:spPr>
        <p:txBody>
          <a:bodyPr wrap="square">
            <a:spAutoFit/>
          </a:bodyPr>
          <a:lstStyle/>
          <a:p>
            <a:pPr marL="342900" indent="-34290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Đây là nguyên lý thiết kế quan trọng nhất để xây dựng hệ thống phần mềm có khả năng mở rộng và bảo trì.</a:t>
            </a:r>
          </a:p>
        </p:txBody>
      </p:sp>
      <p:sp>
        <p:nvSpPr>
          <p:cNvPr id="16" name="TextBox 15">
            <a:extLst>
              <a:ext uri="{FF2B5EF4-FFF2-40B4-BE49-F238E27FC236}">
                <a16:creationId xmlns:a16="http://schemas.microsoft.com/office/drawing/2014/main" id="{0E5416AF-861C-7356-11D4-CDF31015C5C3}"/>
              </a:ext>
            </a:extLst>
          </p:cNvPr>
          <p:cNvSpPr txBox="1"/>
          <p:nvPr/>
        </p:nvSpPr>
        <p:spPr>
          <a:xfrm>
            <a:off x="492545" y="2618331"/>
            <a:ext cx="11206910" cy="1569660"/>
          </a:xfrm>
          <a:prstGeom prst="rect">
            <a:avLst/>
          </a:prstGeom>
          <a:noFill/>
        </p:spPr>
        <p:txBody>
          <a:bodyPr wrap="square">
            <a:spAutoFit/>
          </a:bodyPr>
          <a:lstStyle/>
          <a:p>
            <a:pPr marL="342900" indent="-3429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Là nguyên lý phân tách chương trình thành các module </a:t>
            </a:r>
            <a:r>
              <a:rPr lang="en-US" sz="2400" b="1">
                <a:latin typeface="Times New Roman" panose="02020603050405020304" pitchFamily="18" charset="0"/>
                <a:cs typeface="Times New Roman" panose="02020603050405020304" pitchFamily="18" charset="0"/>
              </a:rPr>
              <a:t>riêng biệt</a:t>
            </a:r>
            <a:r>
              <a:rPr lang="en-US" sz="2400">
                <a:latin typeface="Times New Roman" panose="02020603050405020304" pitchFamily="18" charset="0"/>
                <a:cs typeface="Times New Roman" panose="02020603050405020304" pitchFamily="18" charset="0"/>
              </a:rPr>
              <a:t>, trong đó mỗi module đảm nhận một "trách nhiệm" (concern) duy nhất. Một mối quan tâm là một tập hợp các thông tin ảnh hưởng đến mã nguồn của chương trình (ví dụ: logic dữ liệu, giao diện, bảo mật).</a:t>
            </a:r>
          </a:p>
        </p:txBody>
      </p:sp>
    </p:spTree>
    <p:extLst>
      <p:ext uri="{BB962C8B-B14F-4D97-AF65-F5344CB8AC3E}">
        <p14:creationId xmlns:p14="http://schemas.microsoft.com/office/powerpoint/2010/main" val="1119270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F68D05F-5C95-D92A-E87E-E27072E6CA5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75C4A68-F4C0-6B6A-2DB9-8953AB91D92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7C384D1-F363-8A0C-32AC-53C04978FF0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2F85374F-8310-A63C-B26D-D28CBBFC1A9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EC3C5A94-9D5A-182C-A077-4F8F88F8A17E}"/>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EA200497-78EF-012F-CF3B-6BF964C290D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2386904-2B6C-32DA-8D84-865E71B5A38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FED6421-35C2-6ECA-8C5F-FDBE19D22E7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8266B91-2F35-6023-5546-9E5B6AF195C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20BCB552-16C0-9505-4E67-C7666AAA8B05}"/>
              </a:ext>
            </a:extLst>
          </p:cNvPr>
          <p:cNvSpPr txBox="1"/>
          <p:nvPr/>
        </p:nvSpPr>
        <p:spPr>
          <a:xfrm>
            <a:off x="542786" y="932392"/>
            <a:ext cx="6297672" cy="461665"/>
          </a:xfrm>
          <a:prstGeom prst="rect">
            <a:avLst/>
          </a:prstGeom>
          <a:noFill/>
        </p:spPr>
        <p:txBody>
          <a:bodyPr wrap="square">
            <a:spAutoFit/>
          </a:bodyPr>
          <a:lstStyle/>
          <a:p>
            <a:pPr marL="342900" indent="-342900">
              <a:buFont typeface="Wingdings" panose="05000000000000000000" pitchFamily="2" charset="2"/>
              <a:buChar char="q"/>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SoC</a:t>
            </a:r>
            <a:r>
              <a:rPr lang="en-US" altLang="en-US" sz="2400" b="1">
                <a:solidFill>
                  <a:schemeClr val="tx1"/>
                </a:solidFill>
                <a:latin typeface="Times New Roman" panose="02020603050405020304" pitchFamily="18" charset="0"/>
                <a:cs typeface="Times New Roman" panose="02020603050405020304" pitchFamily="18" charset="0"/>
              </a:rPr>
              <a:t> - Separation of Concerns</a:t>
            </a:r>
            <a:endParaRPr lang="en-US" sz="2400"/>
          </a:p>
        </p:txBody>
      </p:sp>
      <p:sp>
        <p:nvSpPr>
          <p:cNvPr id="18" name="TextBox 17">
            <a:extLst>
              <a:ext uri="{FF2B5EF4-FFF2-40B4-BE49-F238E27FC236}">
                <a16:creationId xmlns:a16="http://schemas.microsoft.com/office/drawing/2014/main" id="{B487C806-6D36-290D-3AF1-DCD9DD11B360}"/>
              </a:ext>
            </a:extLst>
          </p:cNvPr>
          <p:cNvSpPr txBox="1"/>
          <p:nvPr/>
        </p:nvSpPr>
        <p:spPr>
          <a:xfrm>
            <a:off x="564687" y="1445915"/>
            <a:ext cx="11267512" cy="2308324"/>
          </a:xfrm>
          <a:prstGeom prst="rect">
            <a:avLst/>
          </a:prstGeom>
          <a:noFill/>
        </p:spPr>
        <p:txBody>
          <a:bodyPr wrap="square">
            <a:spAutoFit/>
          </a:bodyPr>
          <a:lstStyle/>
          <a:p>
            <a:pPr marL="342900" indent="-342900" algn="just">
              <a:buFont typeface="Wingdings" panose="05000000000000000000" pitchFamily="2" charset="2"/>
              <a:buChar char="ü"/>
            </a:pPr>
            <a:r>
              <a:rPr lang="vi-VN" sz="2400" b="1">
                <a:latin typeface="+mj-lt"/>
              </a:rPr>
              <a:t>Giảm sự phụ thuộc (Decoupling):</a:t>
            </a:r>
            <a:r>
              <a:rPr lang="vi-VN" sz="2400">
                <a:latin typeface="+mj-lt"/>
              </a:rPr>
              <a:t> Thay đổi ở phần này không làm ảnh hưởng (hoặc ảnh hưởng tối thiểu) đến phần kia.</a:t>
            </a:r>
          </a:p>
          <a:p>
            <a:pPr marL="342900" indent="-342900" algn="just">
              <a:buFont typeface="Wingdings" panose="05000000000000000000" pitchFamily="2" charset="2"/>
              <a:buChar char="ü"/>
            </a:pPr>
            <a:r>
              <a:rPr lang="vi-VN" sz="2400" b="1">
                <a:latin typeface="+mj-lt"/>
              </a:rPr>
              <a:t>Tăng khả năng bảo trì:</a:t>
            </a:r>
            <a:r>
              <a:rPr lang="vi-VN" sz="2400">
                <a:latin typeface="+mj-lt"/>
              </a:rPr>
              <a:t> Lập trình viên biết chính xác cần sửa code ở đâu khi có yêu cầu thay đổi.</a:t>
            </a:r>
          </a:p>
          <a:p>
            <a:pPr marL="342900" indent="-342900" algn="just">
              <a:buFont typeface="Wingdings" panose="05000000000000000000" pitchFamily="2" charset="2"/>
              <a:buChar char="ü"/>
            </a:pPr>
            <a:r>
              <a:rPr lang="vi-VN" sz="2400" b="1">
                <a:latin typeface="+mj-lt"/>
              </a:rPr>
              <a:t>Tăng khả năng tái sử dụng (Reusability):</a:t>
            </a:r>
            <a:r>
              <a:rPr lang="vi-VN" sz="2400">
                <a:latin typeface="+mj-lt"/>
              </a:rPr>
              <a:t> Các module độc lập dễ dàng được mang sang dự án khác.</a:t>
            </a:r>
          </a:p>
        </p:txBody>
      </p:sp>
      <p:graphicFrame>
        <p:nvGraphicFramePr>
          <p:cNvPr id="19" name="Table 18">
            <a:extLst>
              <a:ext uri="{FF2B5EF4-FFF2-40B4-BE49-F238E27FC236}">
                <a16:creationId xmlns:a16="http://schemas.microsoft.com/office/drawing/2014/main" id="{DC8648BE-AC5A-3794-2192-3357A19D65A1}"/>
              </a:ext>
            </a:extLst>
          </p:cNvPr>
          <p:cNvGraphicFramePr>
            <a:graphicFrameLocks noGrp="1"/>
          </p:cNvGraphicFramePr>
          <p:nvPr>
            <p:extLst>
              <p:ext uri="{D42A27DB-BD31-4B8C-83A1-F6EECF244321}">
                <p14:modId xmlns:p14="http://schemas.microsoft.com/office/powerpoint/2010/main" val="620407019"/>
              </p:ext>
            </p:extLst>
          </p:nvPr>
        </p:nvGraphicFramePr>
        <p:xfrm>
          <a:off x="1008585" y="3821129"/>
          <a:ext cx="10515600" cy="2438400"/>
        </p:xfrm>
        <a:graphic>
          <a:graphicData uri="http://schemas.openxmlformats.org/drawingml/2006/table">
            <a:tbl>
              <a:tblPr>
                <a:tableStyleId>{5940675A-B579-460E-94D1-54222C63F5DA}</a:tableStyleId>
              </a:tblPr>
              <a:tblGrid>
                <a:gridCol w="2908778">
                  <a:extLst>
                    <a:ext uri="{9D8B030D-6E8A-4147-A177-3AD203B41FA5}">
                      <a16:colId xmlns:a16="http://schemas.microsoft.com/office/drawing/2014/main" val="1717010496"/>
                    </a:ext>
                  </a:extLst>
                </a:gridCol>
                <a:gridCol w="7606822">
                  <a:extLst>
                    <a:ext uri="{9D8B030D-6E8A-4147-A177-3AD203B41FA5}">
                      <a16:colId xmlns:a16="http://schemas.microsoft.com/office/drawing/2014/main" val="1826800173"/>
                    </a:ext>
                  </a:extLst>
                </a:gridCol>
              </a:tblGrid>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Thành phần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Trách nhiệm (Concern)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1741660091"/>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Template (HTML)</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Chỉ lo phần hiển thị (UI/View).</a:t>
                      </a:r>
                    </a:p>
                  </a:txBody>
                  <a:tcPr marT="121920" marB="121920" anchor="ctr"/>
                </a:tc>
                <a:extLst>
                  <a:ext uri="{0D108BD9-81ED-4DB2-BD59-A6C34878D82A}">
                    <a16:rowId xmlns:a16="http://schemas.microsoft.com/office/drawing/2014/main" val="3592172954"/>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Component Class</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400">
                          <a:solidFill>
                            <a:srgbClr val="1F1F1F"/>
                          </a:solidFill>
                          <a:effectLst/>
                          <a:latin typeface="Times New Roman" panose="02020603050405020304" pitchFamily="18" charset="0"/>
                          <a:cs typeface="Times New Roman" panose="02020603050405020304" pitchFamily="18" charset="0"/>
                        </a:rPr>
                        <a:t>Điều phối sự kiện người dùng và cập nhật dữ liệu.</a:t>
                      </a:r>
                    </a:p>
                  </a:txBody>
                  <a:tcPr marT="121920" marB="121920" anchor="ctr"/>
                </a:tc>
                <a:extLst>
                  <a:ext uri="{0D108BD9-81ED-4DB2-BD59-A6C34878D82A}">
                    <a16:rowId xmlns:a16="http://schemas.microsoft.com/office/drawing/2014/main" val="233495135"/>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Service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Xử lý nghiệp vụ (Business Logic) và gọi API.</a:t>
                      </a:r>
                    </a:p>
                  </a:txBody>
                  <a:tcPr marT="121920" marB="121920" anchor="ctr"/>
                </a:tc>
                <a:extLst>
                  <a:ext uri="{0D108BD9-81ED-4DB2-BD59-A6C34878D82A}">
                    <a16:rowId xmlns:a16="http://schemas.microsoft.com/office/drawing/2014/main" val="2236727534"/>
                  </a:ext>
                </a:extLst>
              </a:tr>
            </a:tbl>
          </a:graphicData>
        </a:graphic>
      </p:graphicFrame>
    </p:spTree>
    <p:extLst>
      <p:ext uri="{BB962C8B-B14F-4D97-AF65-F5344CB8AC3E}">
        <p14:creationId xmlns:p14="http://schemas.microsoft.com/office/powerpoint/2010/main" val="2573173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97DC2CD-744A-26D7-9988-F0A866052F5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9D9CB5C-54E0-32C9-A6D8-78D030BEB83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FB9D376-AEC6-C9CD-9C31-2ED1E8A258E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C4719FD6-71BB-B0E6-39A4-070D7577564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F42F96B-86DF-8682-1D3D-D485C0BBB0B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B52CF9F8-5BFA-0D0E-027C-8E799EEBAB8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A7FD2C2-2C9B-3A9F-E65B-9A114E42F16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B28DDD2-1820-6D6A-8E85-4DBD6B44B0B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AE85B3A-CDA9-D5BE-AEC5-F5670AD0CA9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ECD7BD53-727F-A18A-2E18-0D9B1A36A6A8}"/>
              </a:ext>
            </a:extLst>
          </p:cNvPr>
          <p:cNvSpPr txBox="1"/>
          <p:nvPr/>
        </p:nvSpPr>
        <p:spPr>
          <a:xfrm>
            <a:off x="214276" y="1827536"/>
            <a:ext cx="3081481" cy="2164310"/>
          </a:xfrm>
          <a:prstGeom prst="rect">
            <a:avLst/>
          </a:prstGeom>
          <a:noFill/>
        </p:spPr>
        <p:txBody>
          <a:bodyPr wrap="square">
            <a:spAutoFit/>
          </a:bodyPr>
          <a:lstStyle/>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Property</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Class</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Style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Event</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Two-Way</a:t>
            </a:r>
          </a:p>
        </p:txBody>
      </p:sp>
      <p:pic>
        <p:nvPicPr>
          <p:cNvPr id="15" name="Picture 14">
            <a:extLst>
              <a:ext uri="{FF2B5EF4-FFF2-40B4-BE49-F238E27FC236}">
                <a16:creationId xmlns:a16="http://schemas.microsoft.com/office/drawing/2014/main" id="{BDA5C2EF-0512-326D-6B72-211747C70D66}"/>
              </a:ext>
            </a:extLst>
          </p:cNvPr>
          <p:cNvPicPr>
            <a:picLocks noChangeAspect="1"/>
          </p:cNvPicPr>
          <p:nvPr/>
        </p:nvPicPr>
        <p:blipFill>
          <a:blip r:embed="rId3"/>
          <a:stretch>
            <a:fillRect/>
          </a:stretch>
        </p:blipFill>
        <p:spPr>
          <a:xfrm>
            <a:off x="3396076" y="925613"/>
            <a:ext cx="8692915" cy="4643289"/>
          </a:xfrm>
          <a:prstGeom prst="rect">
            <a:avLst/>
          </a:prstGeom>
        </p:spPr>
      </p:pic>
    </p:spTree>
    <p:extLst>
      <p:ext uri="{BB962C8B-B14F-4D97-AF65-F5344CB8AC3E}">
        <p14:creationId xmlns:p14="http://schemas.microsoft.com/office/powerpoint/2010/main" val="2646012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6D00780-63F6-E75B-486F-A427A2AD109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DDE7B51-91E4-8968-72F1-BB1D62EF5CF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ADE0AAD-51E0-B759-20CC-EF337F8A455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FA2A710E-A9F5-1BA2-F184-0D441DC08DD3}"/>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FC9E9E25-E8B7-6432-7C88-04232D6BDC19}"/>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9F385E1D-62AA-F420-81C3-C19835E8D2F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2472529-228A-600F-8921-785D1AEC220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505BA08-8CA5-BE56-68F2-FA951A3705C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1EC3A7C-F4E0-DB51-AF41-A940A6A2CA0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81993C4E-F21C-DAD4-9056-25DA7E5A3B97}"/>
              </a:ext>
            </a:extLst>
          </p:cNvPr>
          <p:cNvSpPr txBox="1"/>
          <p:nvPr/>
        </p:nvSpPr>
        <p:spPr>
          <a:xfrm>
            <a:off x="388797" y="814160"/>
            <a:ext cx="11343141" cy="1687963"/>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Property Binding </a:t>
            </a:r>
            <a:r>
              <a:rPr lang="en-US" sz="2400">
                <a:latin typeface="Times New Roman" panose="02020603050405020304" pitchFamily="18" charset="0"/>
                <a:cs typeface="Times New Roman" panose="02020603050405020304" pitchFamily="18" charset="0"/>
              </a:rPr>
              <a:t>là kỹ thuật One-way Data Binding (liên kết dữ liệu một chiều) từ Component (Source) sang Template (View). Đây là cơ chế dùng để gán giá trị của một thuộc tính trong Component Class vào một thuộc tính (property) của phần tử HTML.</a:t>
            </a:r>
          </a:p>
        </p:txBody>
      </p:sp>
      <p:sp>
        <p:nvSpPr>
          <p:cNvPr id="11" name="Rectangle 1">
            <a:extLst>
              <a:ext uri="{FF2B5EF4-FFF2-40B4-BE49-F238E27FC236}">
                <a16:creationId xmlns:a16="http://schemas.microsoft.com/office/drawing/2014/main" id="{1E0BC299-3A65-1DAE-C525-F7EF7A076D36}"/>
              </a:ext>
            </a:extLst>
          </p:cNvPr>
          <p:cNvSpPr>
            <a:spLocks noChangeArrowheads="1"/>
          </p:cNvSpPr>
          <p:nvPr/>
        </p:nvSpPr>
        <p:spPr bwMode="auto">
          <a:xfrm>
            <a:off x="480909" y="2542634"/>
            <a:ext cx="11466894" cy="385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Cơ chế kỹ thuật (Theoretical Concept)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Hướng dữ liệu:</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Chỉ đi một chiều từ Component Class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DOM Property.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Cú pháp:</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Sử dụng dấu ngoặc vuông [target]="expression". Hoặc {{}} interpolation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Nguyên tắc:</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Khi giá trị của expression trong Component thay đổi, Angular tự động cập nhật thuộc tính target của phần tử DOM tương ứng.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Bản chất: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Angular không gán giá trị vào </a:t>
            </a:r>
            <a:r>
              <a:rPr kumimoji="0" lang="en-US" altLang="en-US" sz="2400" b="0" i="1"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Attribute</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của HTML mà gán trực tiếp vào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Property</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của đối tượng DOM (DOM Object). Điều này đảm bảo tính an toàn và hiệu năng.</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257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EA46E8E-F494-F159-98A6-451236A039B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8015727-7510-AB59-3D97-543883DA2ED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71AEA4E-A505-1AAC-90AE-E662DECAA16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1CC67AB3-8BED-23CC-4067-79D752CD76C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EAFB51E-86D7-083F-53A4-6243EE32659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50CF1AEE-27DF-FCC1-EF0C-D190489784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94FBC76-9482-492C-F4B9-87C13894112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2445684-A400-D7C1-5464-F23DF74685B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5872C96-344E-C4B3-CBF7-3E4C8C42E9B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FDBDF398-5438-C09D-7BFB-B362BCE80068}"/>
              </a:ext>
            </a:extLst>
          </p:cNvPr>
          <p:cNvGraphicFramePr>
            <a:graphicFrameLocks noGrp="1"/>
          </p:cNvGraphicFramePr>
          <p:nvPr>
            <p:extLst>
              <p:ext uri="{D42A27DB-BD31-4B8C-83A1-F6EECF244321}">
                <p14:modId xmlns:p14="http://schemas.microsoft.com/office/powerpoint/2010/main" val="735283086"/>
              </p:ext>
            </p:extLst>
          </p:nvPr>
        </p:nvGraphicFramePr>
        <p:xfrm>
          <a:off x="415250" y="1072464"/>
          <a:ext cx="11506326" cy="3939548"/>
        </p:xfrm>
        <a:graphic>
          <a:graphicData uri="http://schemas.openxmlformats.org/drawingml/2006/table">
            <a:tbl>
              <a:tblPr>
                <a:tableStyleId>{5940675A-B579-460E-94D1-54222C63F5DA}</a:tableStyleId>
              </a:tblPr>
              <a:tblGrid>
                <a:gridCol w="2678585">
                  <a:extLst>
                    <a:ext uri="{9D8B030D-6E8A-4147-A177-3AD203B41FA5}">
                      <a16:colId xmlns:a16="http://schemas.microsoft.com/office/drawing/2014/main" val="2766687395"/>
                    </a:ext>
                  </a:extLst>
                </a:gridCol>
                <a:gridCol w="4888258">
                  <a:extLst>
                    <a:ext uri="{9D8B030D-6E8A-4147-A177-3AD203B41FA5}">
                      <a16:colId xmlns:a16="http://schemas.microsoft.com/office/drawing/2014/main" val="2741728640"/>
                    </a:ext>
                  </a:extLst>
                </a:gridCol>
                <a:gridCol w="3939483">
                  <a:extLst>
                    <a:ext uri="{9D8B030D-6E8A-4147-A177-3AD203B41FA5}">
                      <a16:colId xmlns:a16="http://schemas.microsoft.com/office/drawing/2014/main" val="3256213024"/>
                    </a:ext>
                  </a:extLst>
                </a:gridCol>
              </a:tblGrid>
              <a:tr h="615554">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Tiêu chí</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Interpolation {{ }}</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Property Binding [ ]</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2439907771"/>
                  </a:ext>
                </a:extLst>
              </a:tr>
              <a:tr h="984887">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Mục đích</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dirty="0">
                          <a:solidFill>
                            <a:srgbClr val="1F1F1F"/>
                          </a:solidFill>
                          <a:effectLst/>
                          <a:latin typeface="Times New Roman" panose="02020603050405020304" pitchFamily="18" charset="0"/>
                          <a:cs typeface="Times New Roman" panose="02020603050405020304" pitchFamily="18" charset="0"/>
                        </a:rPr>
                        <a:t>Hiển </a:t>
                      </a:r>
                      <a:r>
                        <a:rPr lang="en-US" sz="2400" dirty="0" err="1">
                          <a:solidFill>
                            <a:srgbClr val="1F1F1F"/>
                          </a:solidFill>
                          <a:effectLst/>
                          <a:latin typeface="Times New Roman" panose="02020603050405020304" pitchFamily="18" charset="0"/>
                          <a:cs typeface="Times New Roman" panose="02020603050405020304" pitchFamily="18" charset="0"/>
                        </a:rPr>
                        <a:t>thị</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nội</a:t>
                      </a:r>
                      <a:r>
                        <a:rPr lang="en-US" sz="2400" dirty="0">
                          <a:solidFill>
                            <a:srgbClr val="1F1F1F"/>
                          </a:solidFill>
                          <a:effectLst/>
                          <a:latin typeface="Times New Roman" panose="02020603050405020304" pitchFamily="18" charset="0"/>
                          <a:cs typeface="Times New Roman" panose="02020603050405020304" pitchFamily="18" charset="0"/>
                        </a:rPr>
                        <a:t> dung </a:t>
                      </a:r>
                      <a:r>
                        <a:rPr lang="en-US" sz="2400" dirty="0" err="1">
                          <a:solidFill>
                            <a:srgbClr val="1F1F1F"/>
                          </a:solidFill>
                          <a:effectLst/>
                          <a:latin typeface="Times New Roman" panose="02020603050405020304" pitchFamily="18" charset="0"/>
                          <a:cs typeface="Times New Roman" panose="02020603050405020304" pitchFamily="18" charset="0"/>
                        </a:rPr>
                        <a:t>văn</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bản</a:t>
                      </a:r>
                      <a:r>
                        <a:rPr lang="en-US" sz="2400" dirty="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tc>
                  <a:txBody>
                    <a:bodyPr/>
                    <a:lstStyle/>
                    <a:p>
                      <a:pPr rtl="0">
                        <a:buNone/>
                      </a:pPr>
                      <a:r>
                        <a:rPr lang="en-US" sz="2400" dirty="0" err="1">
                          <a:solidFill>
                            <a:srgbClr val="1F1F1F"/>
                          </a:solidFill>
                          <a:effectLst/>
                          <a:latin typeface="Times New Roman" panose="02020603050405020304" pitchFamily="18" charset="0"/>
                          <a:cs typeface="Times New Roman" panose="02020603050405020304" pitchFamily="18" charset="0"/>
                        </a:rPr>
                        <a:t>Gán</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giá</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trị</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vào</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thuộc</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tính</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của</a:t>
                      </a:r>
                      <a:r>
                        <a:rPr lang="en-US" sz="2400" dirty="0">
                          <a:solidFill>
                            <a:srgbClr val="1F1F1F"/>
                          </a:solidFill>
                          <a:effectLst/>
                          <a:latin typeface="Times New Roman" panose="02020603050405020304" pitchFamily="18" charset="0"/>
                          <a:cs typeface="Times New Roman" panose="02020603050405020304" pitchFamily="18" charset="0"/>
                        </a:rPr>
                        <a:t> element.</a:t>
                      </a:r>
                    </a:p>
                  </a:txBody>
                  <a:tcPr marT="121920" marB="121920" anchor="ctr"/>
                </a:tc>
                <a:extLst>
                  <a:ext uri="{0D108BD9-81ED-4DB2-BD59-A6C34878D82A}">
                    <a16:rowId xmlns:a16="http://schemas.microsoft.com/office/drawing/2014/main" val="3681263933"/>
                  </a:ext>
                </a:extLst>
              </a:tr>
              <a:tr h="135422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Vị trí</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dirty="0" err="1">
                          <a:solidFill>
                            <a:srgbClr val="1F1F1F"/>
                          </a:solidFill>
                          <a:effectLst/>
                          <a:latin typeface="Times New Roman" panose="02020603050405020304" pitchFamily="18" charset="0"/>
                          <a:cs typeface="Times New Roman" panose="02020603050405020304" pitchFamily="18" charset="0"/>
                        </a:rPr>
                        <a:t>Nằm</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giữa</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các</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thẻ</a:t>
                      </a:r>
                      <a:r>
                        <a:rPr lang="en-US" sz="2400" dirty="0">
                          <a:solidFill>
                            <a:srgbClr val="1F1F1F"/>
                          </a:solidFill>
                          <a:effectLst/>
                          <a:latin typeface="Times New Roman" panose="02020603050405020304" pitchFamily="18" charset="0"/>
                          <a:cs typeface="Times New Roman" panose="02020603050405020304" pitchFamily="18" charset="0"/>
                        </a:rPr>
                        <a:t> HTML. </a:t>
                      </a:r>
                      <a:r>
                        <a:rPr lang="en-US" sz="2400" dirty="0" err="1">
                          <a:solidFill>
                            <a:srgbClr val="1F1F1F"/>
                          </a:solidFill>
                          <a:effectLst/>
                          <a:latin typeface="Times New Roman" panose="02020603050405020304" pitchFamily="18" charset="0"/>
                          <a:cs typeface="Times New Roman" panose="02020603050405020304" pitchFamily="18" charset="0"/>
                        </a:rPr>
                        <a:t>Hoặc</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trong</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thẻ</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mở</a:t>
                      </a:r>
                      <a:endParaRPr lang="en-US" sz="2400" dirty="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Nằm trong thẻ mở của HTML.</a:t>
                      </a:r>
                    </a:p>
                  </a:txBody>
                  <a:tcPr marT="121920" marB="121920" anchor="ctr"/>
                </a:tc>
                <a:extLst>
                  <a:ext uri="{0D108BD9-81ED-4DB2-BD59-A6C34878D82A}">
                    <a16:rowId xmlns:a16="http://schemas.microsoft.com/office/drawing/2014/main" val="3662307896"/>
                  </a:ext>
                </a:extLst>
              </a:tr>
              <a:tr h="984887">
                <a:tc>
                  <a:txBody>
                    <a:bodyPr/>
                    <a:lstStyle/>
                    <a:p>
                      <a:pPr rtl="0">
                        <a:buNone/>
                      </a:pPr>
                      <a:r>
                        <a:rPr lang="vi-VN" sz="2400" b="1">
                          <a:solidFill>
                            <a:srgbClr val="1F1F1F"/>
                          </a:solidFill>
                          <a:effectLst/>
                          <a:latin typeface="Times New Roman" panose="02020603050405020304" pitchFamily="18" charset="0"/>
                          <a:cs typeface="Times New Roman" panose="02020603050405020304" pitchFamily="18" charset="0"/>
                        </a:rPr>
                        <a:t>Trường hợp dùng</a:t>
                      </a:r>
                      <a:endParaRPr lang="vi-VN"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dirty="0">
                          <a:solidFill>
                            <a:srgbClr val="1F1F1F"/>
                          </a:solidFill>
                          <a:effectLst/>
                          <a:latin typeface="Times New Roman" panose="02020603050405020304" pitchFamily="18" charset="0"/>
                          <a:cs typeface="Times New Roman" panose="02020603050405020304" pitchFamily="18" charset="0"/>
                        </a:rPr>
                        <a:t>Hiển </a:t>
                      </a:r>
                      <a:r>
                        <a:rPr lang="en-US" sz="2400" dirty="0" err="1">
                          <a:solidFill>
                            <a:srgbClr val="1F1F1F"/>
                          </a:solidFill>
                          <a:effectLst/>
                          <a:latin typeface="Times New Roman" panose="02020603050405020304" pitchFamily="18" charset="0"/>
                          <a:cs typeface="Times New Roman" panose="02020603050405020304" pitchFamily="18" charset="0"/>
                        </a:rPr>
                        <a:t>thị</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dữ</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liệu</a:t>
                      </a:r>
                      <a:r>
                        <a:rPr lang="en-US" sz="2400" dirty="0">
                          <a:solidFill>
                            <a:srgbClr val="1F1F1F"/>
                          </a:solidFill>
                          <a:effectLst/>
                          <a:latin typeface="Times New Roman" panose="02020603050405020304" pitchFamily="18" charset="0"/>
                          <a:cs typeface="Times New Roman" panose="02020603050405020304" pitchFamily="18" charset="0"/>
                        </a:rPr>
                        <a:t> text (</a:t>
                      </a:r>
                      <a:r>
                        <a:rPr lang="en-US" sz="2400" dirty="0">
                          <a:solidFill>
                            <a:srgbClr val="444746"/>
                          </a:solidFill>
                          <a:effectLst/>
                          <a:latin typeface="Times New Roman" panose="02020603050405020304" pitchFamily="18" charset="0"/>
                          <a:cs typeface="Times New Roman" panose="02020603050405020304" pitchFamily="18" charset="0"/>
                        </a:rPr>
                        <a:t>{{ name }}</a:t>
                      </a:r>
                      <a:r>
                        <a:rPr lang="en-US" sz="2400" dirty="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tc>
                  <a:txBody>
                    <a:bodyPr/>
                    <a:lstStyle/>
                    <a:p>
                      <a:pPr rtl="0">
                        <a:buNone/>
                      </a:pPr>
                      <a:r>
                        <a:rPr lang="en-US" sz="2400" dirty="0" err="1">
                          <a:solidFill>
                            <a:srgbClr val="1F1F1F"/>
                          </a:solidFill>
                          <a:effectLst/>
                          <a:latin typeface="Times New Roman" panose="02020603050405020304" pitchFamily="18" charset="0"/>
                          <a:cs typeface="Times New Roman" panose="02020603050405020304" pitchFamily="18" charset="0"/>
                        </a:rPr>
                        <a:t>Dùng</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cho</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444746"/>
                          </a:solidFill>
                          <a:effectLst/>
                          <a:latin typeface="Times New Roman" panose="02020603050405020304" pitchFamily="18" charset="0"/>
                          <a:cs typeface="Times New Roman" panose="02020603050405020304" pitchFamily="18" charset="0"/>
                        </a:rPr>
                        <a:t>src</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444746"/>
                          </a:solidFill>
                          <a:effectLst/>
                          <a:latin typeface="Times New Roman" panose="02020603050405020304" pitchFamily="18" charset="0"/>
                          <a:cs typeface="Times New Roman" panose="02020603050405020304" pitchFamily="18" charset="0"/>
                        </a:rPr>
                        <a:t>href</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a:solidFill>
                            <a:srgbClr val="444746"/>
                          </a:solidFill>
                          <a:effectLst/>
                          <a:latin typeface="Times New Roman" panose="02020603050405020304" pitchFamily="18" charset="0"/>
                          <a:cs typeface="Times New Roman" panose="02020603050405020304" pitchFamily="18" charset="0"/>
                        </a:rPr>
                        <a:t>disabled</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a:solidFill>
                            <a:srgbClr val="444746"/>
                          </a:solidFill>
                          <a:effectLst/>
                          <a:latin typeface="Times New Roman" panose="02020603050405020304" pitchFamily="18" charset="0"/>
                          <a:cs typeface="Times New Roman" panose="02020603050405020304" pitchFamily="18" charset="0"/>
                        </a:rPr>
                        <a:t>value</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a:solidFill>
                            <a:srgbClr val="444746"/>
                          </a:solidFill>
                          <a:effectLst/>
                          <a:latin typeface="Times New Roman" panose="02020603050405020304" pitchFamily="18" charset="0"/>
                          <a:cs typeface="Times New Roman" panose="02020603050405020304" pitchFamily="18" charset="0"/>
                        </a:rPr>
                        <a:t>style</a:t>
                      </a:r>
                      <a:r>
                        <a:rPr lang="en-US" sz="2400" dirty="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extLst>
                  <a:ext uri="{0D108BD9-81ED-4DB2-BD59-A6C34878D82A}">
                    <a16:rowId xmlns:a16="http://schemas.microsoft.com/office/drawing/2014/main" val="1795557267"/>
                  </a:ext>
                </a:extLst>
              </a:tr>
            </a:tbl>
          </a:graphicData>
        </a:graphic>
      </p:graphicFrame>
    </p:spTree>
    <p:extLst>
      <p:ext uri="{BB962C8B-B14F-4D97-AF65-F5344CB8AC3E}">
        <p14:creationId xmlns:p14="http://schemas.microsoft.com/office/powerpoint/2010/main" val="2413677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FFC90DB-CF82-EAF7-B0B7-9E134D8A10E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524C6F7-CC8A-5195-2945-0D46F6E5F1D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A00F35F-51A3-713F-D42E-9F011C6F570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ED39DAAF-2D25-9D84-0F62-C55444C55BA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528534E5-BFBE-C763-59F3-5F90E150D48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09D7C965-C1AD-66CE-BD6E-90F6778CA96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ADEE5E2-9B77-6167-CFA5-6B7FC641F87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82BB1F5-5E0C-74FE-0814-6F8EDE8BCA6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FF99710-3AFC-3AC4-6F5D-2DC445E1EB3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3FEF462E-1CF2-3613-FA07-404198058755}"/>
              </a:ext>
            </a:extLst>
          </p:cNvPr>
          <p:cNvSpPr txBox="1"/>
          <p:nvPr/>
        </p:nvSpPr>
        <p:spPr>
          <a:xfrm>
            <a:off x="645914" y="920412"/>
            <a:ext cx="6297672" cy="461665"/>
          </a:xfrm>
          <a:prstGeom prst="rect">
            <a:avLst/>
          </a:prstGeom>
          <a:noFill/>
          <a:ln>
            <a:solidFill>
              <a:schemeClr val="accent1"/>
            </a:solidFill>
          </a:ln>
        </p:spPr>
        <p:txBody>
          <a:bodyPr wrap="square">
            <a:spAutoFit/>
          </a:bodyPr>
          <a:lstStyle/>
          <a:p>
            <a:r>
              <a:rPr lang="en-US" sz="2400">
                <a:latin typeface="Times New Roman" panose="02020603050405020304" pitchFamily="18" charset="0"/>
                <a:cs typeface="Times New Roman" panose="02020603050405020304" pitchFamily="18" charset="0"/>
              </a:rPr>
              <a:t>&lt;img src="{{ productImageUrl }}"&gt;</a:t>
            </a:r>
          </a:p>
        </p:txBody>
      </p:sp>
      <p:sp>
        <p:nvSpPr>
          <p:cNvPr id="12" name="TextBox 11">
            <a:extLst>
              <a:ext uri="{FF2B5EF4-FFF2-40B4-BE49-F238E27FC236}">
                <a16:creationId xmlns:a16="http://schemas.microsoft.com/office/drawing/2014/main" id="{4060533D-5F3F-B76A-7B4F-53043FE11ABC}"/>
              </a:ext>
            </a:extLst>
          </p:cNvPr>
          <p:cNvSpPr txBox="1"/>
          <p:nvPr/>
        </p:nvSpPr>
        <p:spPr>
          <a:xfrm>
            <a:off x="637127" y="2150100"/>
            <a:ext cx="6297672" cy="461665"/>
          </a:xfrm>
          <a:prstGeom prst="rect">
            <a:avLst/>
          </a:prstGeom>
          <a:noFill/>
          <a:ln>
            <a:solidFill>
              <a:schemeClr val="accent1"/>
            </a:solidFill>
          </a:ln>
        </p:spPr>
        <p:txBody>
          <a:bodyPr wrap="square">
            <a:spAutoFit/>
          </a:bodyPr>
          <a:lstStyle/>
          <a:p>
            <a:r>
              <a:rPr lang="en-US" sz="2400">
                <a:latin typeface="Times New Roman" panose="02020603050405020304" pitchFamily="18" charset="0"/>
                <a:cs typeface="Times New Roman" panose="02020603050405020304" pitchFamily="18" charset="0"/>
              </a:rPr>
              <a:t>&lt;img [src]="productImageUrl"&gt;</a:t>
            </a:r>
          </a:p>
        </p:txBody>
      </p:sp>
      <p:sp>
        <p:nvSpPr>
          <p:cNvPr id="14" name="TextBox 13">
            <a:extLst>
              <a:ext uri="{FF2B5EF4-FFF2-40B4-BE49-F238E27FC236}">
                <a16:creationId xmlns:a16="http://schemas.microsoft.com/office/drawing/2014/main" id="{FC224F93-1502-E2FB-CEE7-F05C78BB0F2A}"/>
              </a:ext>
            </a:extLst>
          </p:cNvPr>
          <p:cNvSpPr txBox="1"/>
          <p:nvPr/>
        </p:nvSpPr>
        <p:spPr>
          <a:xfrm>
            <a:off x="645913" y="1505484"/>
            <a:ext cx="11165659" cy="461665"/>
          </a:xfrm>
          <a:prstGeom prst="rect">
            <a:avLst/>
          </a:prstGeom>
          <a:noFill/>
        </p:spPr>
        <p:txBody>
          <a:bodyPr wrap="square">
            <a:spAutoFit/>
          </a:bodyPr>
          <a:lstStyle/>
          <a:p>
            <a:pPr>
              <a:buNone/>
            </a:pPr>
            <a:r>
              <a:rPr lang="vi-VN" sz="2400">
                <a:latin typeface="Times New Roman" panose="02020603050405020304" pitchFamily="18" charset="0"/>
                <a:cs typeface="Times New Roman" panose="02020603050405020304" pitchFamily="18" charset="0"/>
              </a:rPr>
              <a:t>Thực tế, Angular Compiler sẽ tự động chuyển đổi nó thành </a:t>
            </a:r>
            <a:r>
              <a:rPr lang="vi-VN" sz="2400" b="1">
                <a:latin typeface="Times New Roman" panose="02020603050405020304" pitchFamily="18" charset="0"/>
                <a:cs typeface="Times New Roman" panose="02020603050405020304" pitchFamily="18" charset="0"/>
              </a:rPr>
              <a:t>Property Binding</a:t>
            </a:r>
            <a:r>
              <a:rPr lang="vi-VN" sz="2400">
                <a:latin typeface="Times New Roman" panose="02020603050405020304" pitchFamily="18" charset="0"/>
                <a:cs typeface="Times New Roman" panose="02020603050405020304" pitchFamily="18" charset="0"/>
              </a:rPr>
              <a:t> tương ứng:</a:t>
            </a:r>
          </a:p>
        </p:txBody>
      </p:sp>
      <p:pic>
        <p:nvPicPr>
          <p:cNvPr id="20" name="Picture 19">
            <a:extLst>
              <a:ext uri="{FF2B5EF4-FFF2-40B4-BE49-F238E27FC236}">
                <a16:creationId xmlns:a16="http://schemas.microsoft.com/office/drawing/2014/main" id="{64BA0429-25CF-AF8F-2CB6-DDDC42588C8C}"/>
              </a:ext>
            </a:extLst>
          </p:cNvPr>
          <p:cNvPicPr>
            <a:picLocks noChangeAspect="1"/>
          </p:cNvPicPr>
          <p:nvPr/>
        </p:nvPicPr>
        <p:blipFill>
          <a:blip r:embed="rId3"/>
          <a:stretch>
            <a:fillRect/>
          </a:stretch>
        </p:blipFill>
        <p:spPr>
          <a:xfrm>
            <a:off x="1935119" y="2802848"/>
            <a:ext cx="8321761" cy="3383573"/>
          </a:xfrm>
          <a:prstGeom prst="rect">
            <a:avLst/>
          </a:prstGeom>
        </p:spPr>
      </p:pic>
    </p:spTree>
    <p:extLst>
      <p:ext uri="{BB962C8B-B14F-4D97-AF65-F5344CB8AC3E}">
        <p14:creationId xmlns:p14="http://schemas.microsoft.com/office/powerpoint/2010/main" val="191328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9347E46-A6DA-656E-B2C1-FA882421B79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4D8E25E-396E-5CE4-90EB-5AC227D4C3A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BE149AF-53E4-4019-D33B-F70B3D0ECBA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66EB1B7D-413F-A4BB-5FE7-1522B257C5C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5BBF47F-1BCB-5F2D-9CAA-4170647A7D0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7C4EE128-7C90-B028-4087-A18DE185E01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E302778-F846-0C0A-ED4F-A7EA21F283C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1B1642F-BB42-70FD-9047-FD3F313C1AE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F0BE031-2711-D195-CAE4-BC0433A6F38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9245FA9-7F34-2F78-CC52-77B77BF930CE}"/>
              </a:ext>
            </a:extLst>
          </p:cNvPr>
          <p:cNvSpPr txBox="1"/>
          <p:nvPr/>
        </p:nvSpPr>
        <p:spPr>
          <a:xfrm>
            <a:off x="488137" y="877587"/>
            <a:ext cx="11220307" cy="461665"/>
          </a:xfrm>
          <a:prstGeom prst="rect">
            <a:avLst/>
          </a:prstGeom>
          <a:noFill/>
        </p:spPr>
        <p:txBody>
          <a:bodyPr wrap="square">
            <a:spAutoFit/>
          </a:bodyPr>
          <a:lstStyle/>
          <a:p>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BindingPropertyComponent</a:t>
            </a:r>
            <a:endParaRPr lang="en-US" sz="2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27DDAFB-1842-8020-BB29-556741422A69}"/>
              </a:ext>
            </a:extLst>
          </p:cNvPr>
          <p:cNvPicPr>
            <a:picLocks noChangeAspect="1"/>
          </p:cNvPicPr>
          <p:nvPr/>
        </p:nvPicPr>
        <p:blipFill>
          <a:blip r:embed="rId3"/>
          <a:stretch>
            <a:fillRect/>
          </a:stretch>
        </p:blipFill>
        <p:spPr>
          <a:xfrm>
            <a:off x="728132" y="1634292"/>
            <a:ext cx="6317527" cy="998307"/>
          </a:xfrm>
          <a:prstGeom prst="rect">
            <a:avLst/>
          </a:prstGeom>
          <a:ln>
            <a:solidFill>
              <a:schemeClr val="tx1"/>
            </a:solidFill>
          </a:ln>
        </p:spPr>
      </p:pic>
      <p:pic>
        <p:nvPicPr>
          <p:cNvPr id="16" name="Picture 15">
            <a:extLst>
              <a:ext uri="{FF2B5EF4-FFF2-40B4-BE49-F238E27FC236}">
                <a16:creationId xmlns:a16="http://schemas.microsoft.com/office/drawing/2014/main" id="{F60545FB-C6D0-EFAD-3D85-0EB5CBCEAB8B}"/>
              </a:ext>
            </a:extLst>
          </p:cNvPr>
          <p:cNvPicPr>
            <a:picLocks noChangeAspect="1"/>
          </p:cNvPicPr>
          <p:nvPr/>
        </p:nvPicPr>
        <p:blipFill>
          <a:blip r:embed="rId4"/>
          <a:stretch>
            <a:fillRect/>
          </a:stretch>
        </p:blipFill>
        <p:spPr>
          <a:xfrm>
            <a:off x="651460" y="3760551"/>
            <a:ext cx="8283658" cy="2591025"/>
          </a:xfrm>
          <a:prstGeom prst="rect">
            <a:avLst/>
          </a:prstGeom>
          <a:ln>
            <a:solidFill>
              <a:schemeClr val="tx1"/>
            </a:solidFill>
          </a:ln>
        </p:spPr>
      </p:pic>
      <p:sp>
        <p:nvSpPr>
          <p:cNvPr id="17" name="Arrow: Down 16">
            <a:extLst>
              <a:ext uri="{FF2B5EF4-FFF2-40B4-BE49-F238E27FC236}">
                <a16:creationId xmlns:a16="http://schemas.microsoft.com/office/drawing/2014/main" id="{3E3F1458-53CC-ADAF-F6FE-E20D5568AD87}"/>
              </a:ext>
            </a:extLst>
          </p:cNvPr>
          <p:cNvSpPr/>
          <p:nvPr/>
        </p:nvSpPr>
        <p:spPr>
          <a:xfrm>
            <a:off x="3253775" y="2710386"/>
            <a:ext cx="566504" cy="953932"/>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537D3266-1198-02E0-071F-BA6634B2106D}"/>
              </a:ext>
            </a:extLst>
          </p:cNvPr>
          <p:cNvPicPr>
            <a:picLocks noChangeAspect="1"/>
          </p:cNvPicPr>
          <p:nvPr/>
        </p:nvPicPr>
        <p:blipFill>
          <a:blip r:embed="rId5"/>
          <a:stretch>
            <a:fillRect/>
          </a:stretch>
        </p:blipFill>
        <p:spPr>
          <a:xfrm>
            <a:off x="8289807" y="456044"/>
            <a:ext cx="3414056" cy="3688400"/>
          </a:xfrm>
          <a:prstGeom prst="rect">
            <a:avLst/>
          </a:prstGeom>
        </p:spPr>
      </p:pic>
      <p:sp>
        <p:nvSpPr>
          <p:cNvPr id="21" name="Arrow: Bent-Up 20">
            <a:extLst>
              <a:ext uri="{FF2B5EF4-FFF2-40B4-BE49-F238E27FC236}">
                <a16:creationId xmlns:a16="http://schemas.microsoft.com/office/drawing/2014/main" id="{8968BB08-E409-5EA5-1D19-F15AD0946D03}"/>
              </a:ext>
            </a:extLst>
          </p:cNvPr>
          <p:cNvSpPr/>
          <p:nvPr/>
        </p:nvSpPr>
        <p:spPr>
          <a:xfrm>
            <a:off x="9141374" y="3664318"/>
            <a:ext cx="628268" cy="187022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5895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F4C78C-9682-1CED-4906-BF200190939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9D518E9-D2CB-7667-09FA-634C35E0E4C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437844D-CA01-1E1F-E89E-1D18771AAAB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7553CD94-E940-2724-637C-FD4B9F7CC23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E3D7CB0-A78B-12F7-FA1E-3391C3136CB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1B633EC5-56E8-D9B4-018C-B22D3B44F0E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E1C0C53-C688-6B14-F9B9-3919952FC5E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B1538B1-5F98-BBEC-201E-132359FFD0E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FC77A0-CC9D-7042-FDD9-FB8CF6C3BBB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48C3624-9AD4-53C0-781B-7846F26EEEE7}"/>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binding-property-component.ts</a:t>
            </a:r>
            <a:endParaRPr lang="en-US"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FE11A6E-90E7-BB4C-FA53-5C081331D92C}"/>
              </a:ext>
            </a:extLst>
          </p:cNvPr>
          <p:cNvPicPr>
            <a:picLocks noChangeAspect="1"/>
          </p:cNvPicPr>
          <p:nvPr/>
        </p:nvPicPr>
        <p:blipFill>
          <a:blip r:embed="rId3"/>
          <a:srcRect/>
          <a:stretch/>
        </p:blipFill>
        <p:spPr>
          <a:xfrm>
            <a:off x="796884" y="1312337"/>
            <a:ext cx="6646221" cy="5019087"/>
          </a:xfrm>
          <a:prstGeom prst="rect">
            <a:avLst/>
          </a:prstGeom>
        </p:spPr>
      </p:pic>
      <p:sp>
        <p:nvSpPr>
          <p:cNvPr id="18" name="Rectangle 17">
            <a:extLst>
              <a:ext uri="{FF2B5EF4-FFF2-40B4-BE49-F238E27FC236}">
                <a16:creationId xmlns:a16="http://schemas.microsoft.com/office/drawing/2014/main" id="{3276F978-EBC0-38B4-6B96-7F6258C1ED31}"/>
              </a:ext>
            </a:extLst>
          </p:cNvPr>
          <p:cNvSpPr/>
          <p:nvPr/>
        </p:nvSpPr>
        <p:spPr>
          <a:xfrm>
            <a:off x="1718797" y="2674448"/>
            <a:ext cx="5562027" cy="3093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FFD99E3-C865-A100-4B66-F768D6556B47}"/>
              </a:ext>
            </a:extLst>
          </p:cNvPr>
          <p:cNvSpPr txBox="1"/>
          <p:nvPr/>
        </p:nvSpPr>
        <p:spPr>
          <a:xfrm>
            <a:off x="6953106" y="3930083"/>
            <a:ext cx="4753047" cy="2424382"/>
          </a:xfrm>
          <a:prstGeom prst="rect">
            <a:avLst/>
          </a:prstGeom>
          <a:noFill/>
          <a:ln>
            <a:solidFill>
              <a:schemeClr val="tx1"/>
            </a:solidFill>
          </a:ln>
        </p:spPr>
        <p:txBody>
          <a:bodyPr wrap="square">
            <a:spAutoFit/>
          </a:bodyPr>
          <a:lstStyle/>
          <a:p>
            <a:pPr>
              <a:lnSpc>
                <a:spcPts val="2250"/>
              </a:lnSpc>
              <a:buNone/>
            </a:pPr>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BindingPropertyComponent {</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name:string=</a:t>
            </a:r>
            <a:r>
              <a:rPr lang="en-US" b="0">
                <a:solidFill>
                  <a:srgbClr val="A31515"/>
                </a:solidFill>
                <a:effectLst/>
                <a:latin typeface="Consolas" panose="020B0609020204030204" pitchFamily="49" charset="0"/>
              </a:rPr>
              <a:t>"Trần Duy Thanh"</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email:string=</a:t>
            </a:r>
            <a:r>
              <a:rPr lang="en-US" b="0">
                <a:solidFill>
                  <a:srgbClr val="A31515"/>
                </a:solidFill>
                <a:effectLst/>
                <a:latin typeface="Consolas" panose="020B0609020204030204" pitchFamily="49" charset="0"/>
              </a:rPr>
              <a:t>"thanhtd@uel.edu.vn"</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nameid:string=</a:t>
            </a:r>
            <a:r>
              <a:rPr lang="en-US" b="0">
                <a:solidFill>
                  <a:srgbClr val="A31515"/>
                </a:solidFill>
                <a:effectLst/>
                <a:latin typeface="Consolas" panose="020B0609020204030204" pitchFamily="49" charset="0"/>
              </a:rPr>
              <a:t>"nameid"</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emailid:string=</a:t>
            </a:r>
            <a:r>
              <a:rPr lang="en-US" b="0">
                <a:solidFill>
                  <a:srgbClr val="A31515"/>
                </a:solidFill>
                <a:effectLst/>
                <a:latin typeface="Consolas" panose="020B0609020204030204" pitchFamily="49" charset="0"/>
              </a:rPr>
              <a:t>"emailid"</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isDisabled:boolean=</a:t>
            </a:r>
            <a:r>
              <a:rPr lang="en-US" b="0">
                <a:solidFill>
                  <a:srgbClr val="0000FF"/>
                </a:solidFill>
                <a:effectLst/>
                <a:latin typeface="Consolas" panose="020B0609020204030204" pitchFamily="49" charset="0"/>
              </a:rPr>
              <a:t>true</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hello:string=</a:t>
            </a:r>
            <a:r>
              <a:rPr lang="en-US" b="0">
                <a:solidFill>
                  <a:srgbClr val="A31515"/>
                </a:solidFill>
                <a:effectLst/>
                <a:latin typeface="Consolas" panose="020B0609020204030204" pitchFamily="49" charset="0"/>
              </a:rPr>
              <a:t>"Hey! how is going?"</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013591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5A16FB-5FB1-9DF1-48F1-79560055567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39104A0-BC2A-8CBD-FA25-7959D3B465A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7081329-1AB0-B5CA-9CD2-82AFDD93581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64F30B0B-8CFA-FC20-F626-FB4BBFF0C93C}"/>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BDA9B08-7A39-E333-2C88-88C51F1FF76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C2A650E8-5FDD-C0B1-4E18-97AD1117913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658AC4F-24B9-CEF7-F098-A9376865DF4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E3C6EE-276B-5C5C-1CF9-0BE2F435F42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3823B1E-86B8-624D-8DE9-E7D79B0928A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BC7FD21-18CC-B28A-6C15-3F03CF20D6B1}"/>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binding-property-component.html</a:t>
            </a:r>
            <a:endParaRPr lang="en-US" sz="2400" b="1">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50838E9-787B-5CB9-8193-49A7223B2F77}"/>
              </a:ext>
            </a:extLst>
          </p:cNvPr>
          <p:cNvPicPr>
            <a:picLocks noChangeAspect="1"/>
          </p:cNvPicPr>
          <p:nvPr/>
        </p:nvPicPr>
        <p:blipFill>
          <a:blip r:embed="rId3"/>
          <a:stretch>
            <a:fillRect/>
          </a:stretch>
        </p:blipFill>
        <p:spPr>
          <a:xfrm>
            <a:off x="667842" y="1422532"/>
            <a:ext cx="8393655" cy="4579019"/>
          </a:xfrm>
          <a:prstGeom prst="rect">
            <a:avLst/>
          </a:prstGeom>
        </p:spPr>
      </p:pic>
    </p:spTree>
    <p:extLst>
      <p:ext uri="{BB962C8B-B14F-4D97-AF65-F5344CB8AC3E}">
        <p14:creationId xmlns:p14="http://schemas.microsoft.com/office/powerpoint/2010/main" val="1210371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CB2885D-B126-D85E-ECF7-D3D91F0B8FD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6025270-9995-89BF-BED2-2B71BCB745D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A1F0F48-A024-3205-0F96-945BD669D0A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65D91DFB-3066-5EA3-4CCF-304B19E5E67B}"/>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D4519B2-EAA8-DCB5-C73D-B457B6C8E65C}"/>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A36D76CD-685C-722D-12FE-7586B1E8AD1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5690E3A-ED98-BE6D-9870-ED4F6ED1B07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20FA1D0-555A-6E18-2353-AD62F0D9E8A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F922CB2-1C74-F65C-BC2F-E6D9B5EA0CE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46EC840-28B1-4D52-7FF8-5983DB509F0F}"/>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app.html</a:t>
            </a:r>
            <a:endParaRPr lang="en-US"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FDBE71C-8417-2D06-5D9E-36311D1A5D48}"/>
              </a:ext>
            </a:extLst>
          </p:cNvPr>
          <p:cNvPicPr>
            <a:picLocks noChangeAspect="1"/>
          </p:cNvPicPr>
          <p:nvPr/>
        </p:nvPicPr>
        <p:blipFill>
          <a:blip r:embed="rId3"/>
          <a:stretch>
            <a:fillRect/>
          </a:stretch>
        </p:blipFill>
        <p:spPr>
          <a:xfrm>
            <a:off x="667271" y="1485732"/>
            <a:ext cx="10417443" cy="1943268"/>
          </a:xfrm>
          <a:prstGeom prst="rect">
            <a:avLst/>
          </a:prstGeom>
        </p:spPr>
      </p:pic>
    </p:spTree>
    <p:extLst>
      <p:ext uri="{BB962C8B-B14F-4D97-AF65-F5344CB8AC3E}">
        <p14:creationId xmlns:p14="http://schemas.microsoft.com/office/powerpoint/2010/main" val="2411703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A8D0777-3FD0-B32E-56E8-C166584009A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46B8908-FE95-F623-F79A-74FF6EC906F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097A8ED-BC35-EC26-8681-379362266C6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C4F277B8-E6EC-73C8-9820-87842BF24C9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76FA504-FF1A-70C8-342E-E3E1407886C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B57EC0F4-A210-6E98-6529-C9089EB1439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C0F004D-E803-27C7-92EE-C0068EB4C73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2D976A9-9F93-7F00-FAE9-CAC24436E72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3F7B74B-4A20-ADD1-B36D-4600A8A5D9A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C6E7473-354D-18AB-946A-15AFC5776E74}"/>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Bấm lưu, chạy và xem lại giao diện</a:t>
            </a:r>
            <a:endParaRPr lang="en-US" sz="2400" b="1">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E313AED-CC21-3B99-6BEE-DDF3F1A24047}"/>
              </a:ext>
            </a:extLst>
          </p:cNvPr>
          <p:cNvPicPr>
            <a:picLocks noChangeAspect="1"/>
          </p:cNvPicPr>
          <p:nvPr/>
        </p:nvPicPr>
        <p:blipFill>
          <a:blip r:embed="rId3"/>
          <a:stretch>
            <a:fillRect/>
          </a:stretch>
        </p:blipFill>
        <p:spPr>
          <a:xfrm>
            <a:off x="898265" y="1443792"/>
            <a:ext cx="9258300" cy="4333875"/>
          </a:xfrm>
          <a:prstGeom prst="rect">
            <a:avLst/>
          </a:prstGeom>
        </p:spPr>
      </p:pic>
    </p:spTree>
    <p:extLst>
      <p:ext uri="{BB962C8B-B14F-4D97-AF65-F5344CB8AC3E}">
        <p14:creationId xmlns:p14="http://schemas.microsoft.com/office/powerpoint/2010/main" val="381628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04FBC1D-666E-B02D-3C69-8C87577E069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5EAB42C-DB7D-BBE6-86EB-FC8300FE496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D1D8B36-CB43-E168-03C4-673B29ECF62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9537DBBA-925F-4D3D-BF3B-D05214746FF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81AA413-3EAF-7EC2-4312-39617E1170B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1BDBD318-E538-C390-8916-92ACCE6DBF8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C5B357E-AC7E-1FD1-223B-F8880701681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F2BF3B5-5FFF-93ED-37B6-427B62E1CB1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680CA13-23CF-6438-DD82-2811EF75DD9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8074F5B-3F0C-7063-79FF-64A7705C0984}"/>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Xem </a:t>
            </a:r>
            <a:r>
              <a:rPr lang="en-US" sz="2400" b="1">
                <a:latin typeface="Times New Roman" panose="02020603050405020304" pitchFamily="18" charset="0"/>
                <a:cs typeface="Times New Roman" panose="02020603050405020304" pitchFamily="18" charset="0"/>
              </a:rPr>
              <a:t>Inspect</a:t>
            </a:r>
            <a:r>
              <a:rPr lang="en-US" sz="2400">
                <a:latin typeface="Times New Roman" panose="02020603050405020304" pitchFamily="18" charset="0"/>
                <a:cs typeface="Times New Roman" panose="02020603050405020304" pitchFamily="18" charset="0"/>
              </a:rPr>
              <a:t> để kiểm tra các Property được binding lên View:</a:t>
            </a:r>
            <a:endParaRPr lang="en-US"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4FB6279-A4DF-18AA-79E2-CB295B193EBF}"/>
              </a:ext>
            </a:extLst>
          </p:cNvPr>
          <p:cNvPicPr>
            <a:picLocks noChangeAspect="1"/>
          </p:cNvPicPr>
          <p:nvPr/>
        </p:nvPicPr>
        <p:blipFill>
          <a:blip r:embed="rId3"/>
          <a:stretch>
            <a:fillRect/>
          </a:stretch>
        </p:blipFill>
        <p:spPr>
          <a:xfrm>
            <a:off x="1029418" y="1369972"/>
            <a:ext cx="7514597" cy="4887401"/>
          </a:xfrm>
          <a:prstGeom prst="rect">
            <a:avLst/>
          </a:prstGeom>
        </p:spPr>
      </p:pic>
    </p:spTree>
    <p:extLst>
      <p:ext uri="{BB962C8B-B14F-4D97-AF65-F5344CB8AC3E}">
        <p14:creationId xmlns:p14="http://schemas.microsoft.com/office/powerpoint/2010/main" val="1220464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CFE2000-AE31-0FD7-6D47-A37CAA8FD69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89AF41C-06EC-4E82-CC40-E46D0010EDB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8B1ACA7-56DF-1D9E-4642-6CDFCD0F28F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B9B57FBA-9D14-D078-0B22-6E1E512C463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E35D86CD-BDE7-F9A5-5E7B-ADC885F3538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934FA2A8-32C9-C91B-9928-8DAF758CD46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B9EFAC-C1FA-134C-7CD3-CEE81D49097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06D83FF-5631-0F12-AC2A-FD317E39276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6FE83D5-38EB-6CD0-78E8-C8679141BDA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5DE7AAB3-3829-7C74-D532-5D68EBD42F1E}"/>
              </a:ext>
            </a:extLst>
          </p:cNvPr>
          <p:cNvSpPr txBox="1"/>
          <p:nvPr/>
        </p:nvSpPr>
        <p:spPr>
          <a:xfrm>
            <a:off x="415251" y="825508"/>
            <a:ext cx="11301761" cy="2241576"/>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mj-lt"/>
              </a:rPr>
              <a:t>Class</a:t>
            </a:r>
            <a:r>
              <a:rPr lang="vi-VN" sz="2400">
                <a:latin typeface="+mj-lt"/>
              </a:rPr>
              <a:t> Binding là một kỹ thuật </a:t>
            </a:r>
            <a:r>
              <a:rPr lang="vi-VN" sz="2400" b="1">
                <a:latin typeface="+mj-lt"/>
              </a:rPr>
              <a:t>One-way Data Binding</a:t>
            </a:r>
            <a:r>
              <a:rPr lang="vi-VN" sz="2400">
                <a:latin typeface="+mj-lt"/>
              </a:rPr>
              <a:t> (liên kết dữ liệu một chiều) từ Component Class sang Template. Nó được sử dụng để </a:t>
            </a:r>
            <a:r>
              <a:rPr lang="vi-VN" sz="2400" b="1">
                <a:latin typeface="+mj-lt"/>
              </a:rPr>
              <a:t>thêm hoặc xóa các CSS class khỏi một phần tử HTML một cách động</a:t>
            </a:r>
            <a:r>
              <a:rPr lang="vi-VN" sz="2400">
                <a:latin typeface="+mj-lt"/>
              </a:rPr>
              <a:t>, dựa trên trạng thái (state) của ứng dụng hoặc logic xử lý trong TypeScript.</a:t>
            </a:r>
            <a:endParaRPr lang="en-US" sz="2400">
              <a:latin typeface="+mj-lt"/>
            </a:endParaRPr>
          </a:p>
        </p:txBody>
      </p:sp>
      <p:pic>
        <p:nvPicPr>
          <p:cNvPr id="14" name="Picture 13">
            <a:extLst>
              <a:ext uri="{FF2B5EF4-FFF2-40B4-BE49-F238E27FC236}">
                <a16:creationId xmlns:a16="http://schemas.microsoft.com/office/drawing/2014/main" id="{5EB2EC9E-55D2-3F3B-45D6-4DBD5FFB411E}"/>
              </a:ext>
            </a:extLst>
          </p:cNvPr>
          <p:cNvPicPr>
            <a:picLocks noChangeAspect="1"/>
          </p:cNvPicPr>
          <p:nvPr/>
        </p:nvPicPr>
        <p:blipFill>
          <a:blip r:embed="rId3"/>
          <a:stretch>
            <a:fillRect/>
          </a:stretch>
        </p:blipFill>
        <p:spPr>
          <a:xfrm>
            <a:off x="2439742" y="3062488"/>
            <a:ext cx="7900541" cy="3319613"/>
          </a:xfrm>
          <a:prstGeom prst="rect">
            <a:avLst/>
          </a:prstGeom>
        </p:spPr>
      </p:pic>
    </p:spTree>
    <p:extLst>
      <p:ext uri="{BB962C8B-B14F-4D97-AF65-F5344CB8AC3E}">
        <p14:creationId xmlns:p14="http://schemas.microsoft.com/office/powerpoint/2010/main" val="1320269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314BDCD-0160-AFBD-194D-85382BB1108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B9D56E1-F1C3-12D1-6D88-21A7D9DEABB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C469543-0210-7BD9-BF02-58471EE934B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560ADB8D-DF4E-9C8D-9104-4007F0A55A0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124EDF64-5635-3CE2-E6E9-C87BD53DD7F9}"/>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F598A556-68C6-B940-89B4-221739DFC5B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1F4EF99-E261-1226-3D29-DFF438140A9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3C1A7A-2CDB-EB46-E9D3-6A58EC96373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89A2DF6-E29B-A49F-9693-873B2782FEC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13CCBFAA-9B09-6D01-8484-2D451406E60C}"/>
              </a:ext>
            </a:extLst>
          </p:cNvPr>
          <p:cNvSpPr txBox="1"/>
          <p:nvPr/>
        </p:nvSpPr>
        <p:spPr>
          <a:xfrm>
            <a:off x="475357" y="877587"/>
            <a:ext cx="11241286" cy="4457952"/>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mj-lt"/>
              </a:rPr>
              <a:t>Ý nghĩa &amp; Vai trò</a:t>
            </a:r>
            <a:r>
              <a:rPr lang="en-US" sz="2400" b="1">
                <a:latin typeface="+mj-lt"/>
              </a:rPr>
              <a:t>:</a:t>
            </a:r>
            <a:endParaRPr lang="vi-VN" sz="2400" b="1">
              <a:latin typeface="+mj-lt"/>
            </a:endParaRPr>
          </a:p>
          <a:p>
            <a:pPr algn="just">
              <a:lnSpc>
                <a:spcPct val="150000"/>
              </a:lnSpc>
              <a:buFont typeface="Arial" panose="020B0604020202020204" pitchFamily="34" charset="0"/>
              <a:buChar char="•"/>
            </a:pPr>
            <a:r>
              <a:rPr lang="vi-VN" sz="2400" b="1">
                <a:latin typeface="+mj-lt"/>
              </a:rPr>
              <a:t>Cải thiện trải nghiệm người dùng (UX):</a:t>
            </a:r>
            <a:r>
              <a:rPr lang="vi-VN" sz="2400">
                <a:latin typeface="+mj-lt"/>
              </a:rPr>
              <a:t> Giúp giao diện phản hồi trực quan và tức thì với các thay đổi trạng thái của ứng dụng (ví dụ: nút bấm đổi màu khi được active, input hiện viền đỏ khi có lỗi).</a:t>
            </a:r>
          </a:p>
          <a:p>
            <a:pPr algn="just">
              <a:lnSpc>
                <a:spcPct val="150000"/>
              </a:lnSpc>
              <a:buFont typeface="Arial" panose="020B0604020202020204" pitchFamily="34" charset="0"/>
              <a:buChar char="•"/>
            </a:pPr>
            <a:r>
              <a:rPr lang="vi-VN" sz="2400" b="1">
                <a:latin typeface="+mj-lt"/>
              </a:rPr>
              <a:t>Tách biệt logic hiển thị:</a:t>
            </a:r>
            <a:r>
              <a:rPr lang="vi-VN" sz="2400">
                <a:latin typeface="+mj-lt"/>
              </a:rPr>
              <a:t> Thay vì dùng if/else phức tạp trong HTML để chọn thẻ mở khác nhau,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a:t>
            </a:r>
            <a:r>
              <a:rPr lang="vi-VN" sz="2400">
                <a:latin typeface="+mj-lt"/>
              </a:rPr>
              <a:t>dùng một thẻ mở duy nhất và thay đổi class bằng Class Binding.</a:t>
            </a:r>
          </a:p>
          <a:p>
            <a:pPr algn="just">
              <a:lnSpc>
                <a:spcPct val="150000"/>
              </a:lnSpc>
              <a:buFont typeface="Arial" panose="020B0604020202020204" pitchFamily="34" charset="0"/>
              <a:buChar char="•"/>
            </a:pPr>
            <a:r>
              <a:rPr lang="vi-VN" sz="2400" b="1">
                <a:latin typeface="+mj-lt"/>
              </a:rPr>
              <a:t>Tăng khả năng bảo trì:</a:t>
            </a:r>
            <a:r>
              <a:rPr lang="vi-VN" sz="2400">
                <a:latin typeface="+mj-lt"/>
              </a:rPr>
              <a:t> Mọi logic quyết định class nào được áp dụng đều nằm trong Component Class (TypeScript), giúp code gọn gàng và dễ kiểm thử.</a:t>
            </a:r>
          </a:p>
        </p:txBody>
      </p:sp>
    </p:spTree>
    <p:extLst>
      <p:ext uri="{BB962C8B-B14F-4D97-AF65-F5344CB8AC3E}">
        <p14:creationId xmlns:p14="http://schemas.microsoft.com/office/powerpoint/2010/main" val="3067781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B82804B-4C33-44AB-9D6F-E66FC92E776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321EA04-8A8D-22FD-2560-13D69C7C95D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36525A6-6F77-FB9B-6D56-3279476F8EF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792EFEDE-D156-D178-2A15-1E1D7D47212B}"/>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45D2B128-F788-BD5B-681F-9C1A5896F62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2C90D8A9-B61F-4726-F2BB-F39146360FC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68A5DE3-CFEB-34AF-C2EF-92D07E15107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7D29B78-E597-081C-8045-476BA113245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CE78971-3FF9-FEE4-E68C-70795C0C59C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4A74280-1AEA-96AC-78FF-A4E9C871AE45}"/>
              </a:ext>
            </a:extLst>
          </p:cNvPr>
          <p:cNvSpPr txBox="1"/>
          <p:nvPr/>
        </p:nvSpPr>
        <p:spPr>
          <a:xfrm>
            <a:off x="415251" y="912629"/>
            <a:ext cx="11396322" cy="3903954"/>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vi-VN" sz="2400" b="1">
                <a:latin typeface="+mj-lt"/>
              </a:rPr>
              <a:t>Các kịch bản sử dụng &amp; Cú pháp (Scenarios &amp; Syntax)</a:t>
            </a:r>
          </a:p>
          <a:p>
            <a:pPr>
              <a:lnSpc>
                <a:spcPct val="150000"/>
              </a:lnSpc>
              <a:buNone/>
            </a:pPr>
            <a:r>
              <a:rPr lang="vi-VN" sz="2400">
                <a:latin typeface="+mj-lt"/>
              </a:rPr>
              <a:t>Có 2 cách chính để triển khai Class Binding:</a:t>
            </a:r>
          </a:p>
          <a:p>
            <a:pPr marL="342900" indent="-342900">
              <a:lnSpc>
                <a:spcPct val="150000"/>
              </a:lnSpc>
              <a:buFont typeface="Wingdings" panose="05000000000000000000" pitchFamily="2" charset="2"/>
              <a:buChar char="v"/>
            </a:pPr>
            <a:r>
              <a:rPr lang="vi-VN" sz="2400" b="1">
                <a:latin typeface="+mj-lt"/>
              </a:rPr>
              <a:t>Kịch </a:t>
            </a:r>
            <a:r>
              <a:rPr lang="vi-VN" sz="2400" b="1">
                <a:latin typeface="Times New Roman" panose="02020603050405020304" pitchFamily="18" charset="0"/>
                <a:cs typeface="Times New Roman" panose="02020603050405020304" pitchFamily="18" charset="0"/>
              </a:rPr>
              <a:t>bản </a:t>
            </a:r>
            <a:r>
              <a:rPr lang="en-US" sz="2400" b="1">
                <a:latin typeface="Times New Roman" panose="02020603050405020304" pitchFamily="18" charset="0"/>
                <a:cs typeface="Times New Roman" panose="02020603050405020304" pitchFamily="18" charset="0"/>
              </a:rPr>
              <a:t>1</a:t>
            </a:r>
            <a:r>
              <a:rPr lang="vi-VN" sz="2400" b="1">
                <a:latin typeface="Times New Roman" panose="02020603050405020304" pitchFamily="18" charset="0"/>
                <a:cs typeface="Times New Roman" panose="02020603050405020304" pitchFamily="18" charset="0"/>
              </a:rPr>
              <a:t>: </a:t>
            </a:r>
            <a:r>
              <a:rPr lang="vi-VN" sz="2400" b="1">
                <a:latin typeface="+mj-lt"/>
              </a:rPr>
              <a:t>Binding đơn (Single Class Binding)</a:t>
            </a:r>
          </a:p>
          <a:p>
            <a:pPr>
              <a:lnSpc>
                <a:spcPct val="150000"/>
              </a:lnSpc>
              <a:buNone/>
            </a:pPr>
            <a:r>
              <a:rPr lang="vi-VN" sz="2400">
                <a:latin typeface="+mj-lt"/>
              </a:rPr>
              <a:t>Dùng khi chỉ muốn bật/tắt </a:t>
            </a:r>
            <a:r>
              <a:rPr lang="vi-VN" sz="2400" b="1">
                <a:latin typeface="+mj-lt"/>
              </a:rPr>
              <a:t>duy nhất một CSS class</a:t>
            </a:r>
            <a:r>
              <a:rPr lang="vi-VN" sz="2400">
                <a:latin typeface="+mj-lt"/>
              </a:rPr>
              <a:t> dựa trên một điều kiện Boolean.</a:t>
            </a:r>
          </a:p>
          <a:p>
            <a:pPr>
              <a:lnSpc>
                <a:spcPct val="150000"/>
              </a:lnSpc>
              <a:buFont typeface="Arial" panose="020B0604020202020204" pitchFamily="34" charset="0"/>
              <a:buChar char="•"/>
            </a:pPr>
            <a:r>
              <a:rPr lang="vi-VN" sz="2400" b="1">
                <a:latin typeface="+mj-lt"/>
              </a:rPr>
              <a:t>Cú pháp:</a:t>
            </a:r>
            <a:r>
              <a:rPr lang="vi-VN" sz="2400">
                <a:latin typeface="+mj-lt"/>
              </a:rPr>
              <a:t> [class.className]="condition"</a:t>
            </a:r>
          </a:p>
          <a:p>
            <a:pPr marL="742950" lvl="1" indent="-285750">
              <a:lnSpc>
                <a:spcPct val="150000"/>
              </a:lnSpc>
              <a:buFont typeface="Arial" panose="020B0604020202020204" pitchFamily="34" charset="0"/>
              <a:buChar char="•"/>
            </a:pPr>
            <a:r>
              <a:rPr lang="vi-VN" sz="2400">
                <a:latin typeface="+mj-lt"/>
              </a:rPr>
              <a:t>Nếu condition là true: class className được thêm vào element.</a:t>
            </a:r>
          </a:p>
          <a:p>
            <a:pPr marL="742950" lvl="1" indent="-285750">
              <a:lnSpc>
                <a:spcPct val="150000"/>
              </a:lnSpc>
              <a:buFont typeface="Arial" panose="020B0604020202020204" pitchFamily="34" charset="0"/>
              <a:buChar char="•"/>
            </a:pPr>
            <a:r>
              <a:rPr lang="vi-VN" sz="2400">
                <a:latin typeface="+mj-lt"/>
              </a:rPr>
              <a:t>Nếu condition là false: class className bị xóa khỏi element.</a:t>
            </a:r>
          </a:p>
        </p:txBody>
      </p:sp>
    </p:spTree>
    <p:extLst>
      <p:ext uri="{BB962C8B-B14F-4D97-AF65-F5344CB8AC3E}">
        <p14:creationId xmlns:p14="http://schemas.microsoft.com/office/powerpoint/2010/main" val="1900105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4C052E0-545C-3E4A-D925-A73FF40E5ED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F72EBC0-B644-90AB-9D2E-D95CDAFB37A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76139F0-F908-A3A5-8058-C2ACF08AC3B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BBD4BEA6-A1B1-4996-F960-E53DF6B6561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4CB1956-4CB9-CA04-A1DE-942B3BA0DB0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EEB271A0-8B85-A5A9-A188-50F8CD8AC42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33849FE-4E92-04A7-A02D-3E42A8E61EB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D73BD05-7748-4B1F-A636-1C3EBCA399F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59F5A64-A9FE-B7D6-3224-F86CD05C49C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8CFF5D2-701D-263B-FD3A-8049576090AB}"/>
              </a:ext>
            </a:extLst>
          </p:cNvPr>
          <p:cNvSpPr txBox="1"/>
          <p:nvPr/>
        </p:nvSpPr>
        <p:spPr>
          <a:xfrm>
            <a:off x="388797" y="759699"/>
            <a:ext cx="11396322" cy="556594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Kịch bản </a:t>
            </a:r>
            <a:r>
              <a:rPr lang="en-US" sz="2400" b="1">
                <a:latin typeface="Times New Roman" panose="02020603050405020304" pitchFamily="18" charset="0"/>
                <a:cs typeface="Times New Roman" panose="02020603050405020304" pitchFamily="18" charset="0"/>
              </a:rPr>
              <a:t>2</a:t>
            </a:r>
            <a:r>
              <a:rPr lang="vi-VN" sz="2400" b="1">
                <a:latin typeface="Times New Roman" panose="02020603050405020304" pitchFamily="18" charset="0"/>
                <a:cs typeface="Times New Roman" panose="02020603050405020304" pitchFamily="18" charset="0"/>
              </a:rPr>
              <a:t>: Binding nhiều (Nhiều Class Binding)</a:t>
            </a:r>
          </a:p>
          <a:p>
            <a:pPr algn="just">
              <a:lnSpc>
                <a:spcPct val="150000"/>
              </a:lnSpc>
              <a:buNone/>
            </a:pPr>
            <a:r>
              <a:rPr lang="vi-VN" sz="2400">
                <a:latin typeface="Times New Roman" panose="02020603050405020304" pitchFamily="18" charset="0"/>
                <a:cs typeface="Times New Roman" panose="02020603050405020304" pitchFamily="18" charset="0"/>
              </a:rPr>
              <a:t>Dùng khi muốn áp dụng </a:t>
            </a:r>
            <a:r>
              <a:rPr lang="vi-VN" sz="2400" b="1">
                <a:latin typeface="Times New Roman" panose="02020603050405020304" pitchFamily="18" charset="0"/>
                <a:cs typeface="Times New Roman" panose="02020603050405020304" pitchFamily="18" charset="0"/>
              </a:rPr>
              <a:t>nhiều CSS class cùng lúc</a:t>
            </a:r>
            <a:r>
              <a:rPr lang="vi-VN" sz="2400">
                <a:latin typeface="Times New Roman" panose="02020603050405020304" pitchFamily="18" charset="0"/>
                <a:cs typeface="Times New Roman" panose="02020603050405020304" pitchFamily="18" charset="0"/>
              </a:rPr>
              <a:t> dựa trên các trạng thái khác nhau. Angular hỗ trợ bind trực tiếp vào thuộc tính [class] bằng Object, Array, hoặc một chuỗi được tính toán.</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Cú pháp:</a:t>
            </a:r>
            <a:r>
              <a:rPr lang="vi-VN" sz="2400">
                <a:latin typeface="Times New Roman" panose="02020603050405020304" pitchFamily="18" charset="0"/>
                <a:cs typeface="Times New Roman" panose="02020603050405020304" pitchFamily="18" charset="0"/>
              </a:rPr>
              <a:t> [class]="classExpression"</a:t>
            </a:r>
          </a:p>
          <a:p>
            <a:pPr marL="742950" lvl="1" indent="-285750" algn="just">
              <a:lnSpc>
                <a:spcPct val="150000"/>
              </a:lnSpc>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classExpression có thể là:</a:t>
            </a:r>
          </a:p>
          <a:p>
            <a:pPr marL="1143000" lvl="2" indent="-228600"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String:</a:t>
            </a:r>
            <a:r>
              <a:rPr lang="vi-VN" sz="2400">
                <a:latin typeface="Times New Roman" panose="02020603050405020304" pitchFamily="18" charset="0"/>
                <a:cs typeface="Times New Roman" panose="02020603050405020304" pitchFamily="18" charset="0"/>
              </a:rPr>
              <a:t> "class1 class2"</a:t>
            </a:r>
          </a:p>
          <a:p>
            <a:pPr marL="1143000" lvl="2" indent="-228600"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Array:</a:t>
            </a:r>
            <a:r>
              <a:rPr lang="vi-VN" sz="2400">
                <a:latin typeface="Times New Roman" panose="02020603050405020304" pitchFamily="18" charset="0"/>
                <a:cs typeface="Times New Roman" panose="02020603050405020304" pitchFamily="18" charset="0"/>
              </a:rPr>
              <a:t> ['class1', 'class2']</a:t>
            </a:r>
          </a:p>
          <a:p>
            <a:pPr marL="1143000" lvl="2" indent="-228600"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Object:</a:t>
            </a:r>
            <a:r>
              <a:rPr lang="vi-VN" sz="2400">
                <a:latin typeface="Times New Roman" panose="02020603050405020304" pitchFamily="18" charset="0"/>
                <a:cs typeface="Times New Roman" panose="02020603050405020304" pitchFamily="18" charset="0"/>
              </a:rPr>
              <a:t> {'class1': condition1, 'class2': condition2} (</a:t>
            </a:r>
            <a:r>
              <a:rPr lang="en-US" sz="2400">
                <a:latin typeface="Times New Roman" panose="02020603050405020304" pitchFamily="18" charset="0"/>
                <a:cs typeface="Times New Roman" panose="02020603050405020304" pitchFamily="18" charset="0"/>
              </a:rPr>
              <a:t>với </a:t>
            </a:r>
            <a:r>
              <a:rPr lang="vi-VN" sz="2400" b="1">
                <a:latin typeface="Times New Roman" panose="02020603050405020304" pitchFamily="18" charset="0"/>
                <a:cs typeface="Times New Roman" panose="02020603050405020304" pitchFamily="18" charset="0"/>
              </a:rPr>
              <a:t>key</a:t>
            </a:r>
            <a:r>
              <a:rPr lang="vi-VN" sz="2400">
                <a:latin typeface="Times New Roman" panose="02020603050405020304" pitchFamily="18" charset="0"/>
                <a:cs typeface="Times New Roman" panose="02020603050405020304" pitchFamily="18" charset="0"/>
              </a:rPr>
              <a:t> là tên class, </a:t>
            </a:r>
            <a:r>
              <a:rPr lang="vi-VN" sz="2400" b="1">
                <a:latin typeface="Times New Roman" panose="02020603050405020304" pitchFamily="18" charset="0"/>
                <a:cs typeface="Times New Roman" panose="02020603050405020304" pitchFamily="18" charset="0"/>
              </a:rPr>
              <a:t>value</a:t>
            </a:r>
            <a:r>
              <a:rPr lang="vi-VN" sz="2400">
                <a:latin typeface="Times New Roman" panose="02020603050405020304" pitchFamily="18" charset="0"/>
                <a:cs typeface="Times New Roman" panose="02020603050405020304" pitchFamily="18" charset="0"/>
              </a:rPr>
              <a:t> là điều kiện true/false).</a:t>
            </a:r>
          </a:p>
        </p:txBody>
      </p:sp>
    </p:spTree>
    <p:extLst>
      <p:ext uri="{BB962C8B-B14F-4D97-AF65-F5344CB8AC3E}">
        <p14:creationId xmlns:p14="http://schemas.microsoft.com/office/powerpoint/2010/main" val="958322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1C5468C-3040-A83A-3DC9-AA3063583E5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D5A7F6C-5828-A62D-D1B5-3AB679BBFA8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5B406D7-B9C5-147C-8852-F58C4EC0E83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BF67B8E4-CE03-2C82-C101-B19CD36E535B}"/>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5CAB663-4C52-02D2-C35C-D077DBB7757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41FE2287-F860-2670-6211-A4ED8A92980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06F1D61-A27B-D25B-3A9C-53ACD60675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48B4AC1-8624-A3BC-01AB-AA5900694CB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3DAE944-9C38-D190-EBF3-3E759D46998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7D396DC9-AD41-E0F5-AECE-081E0604F5CB}"/>
              </a:ext>
            </a:extLst>
          </p:cNvPr>
          <p:cNvSpPr txBox="1"/>
          <p:nvPr/>
        </p:nvSpPr>
        <p:spPr>
          <a:xfrm>
            <a:off x="625642" y="877390"/>
            <a:ext cx="9989648" cy="461665"/>
          </a:xfrm>
          <a:prstGeom prst="rect">
            <a:avLst/>
          </a:prstGeom>
          <a:noFill/>
        </p:spPr>
        <p:txBody>
          <a:bodyPr wrap="square">
            <a:spAutoFit/>
          </a:bodyPr>
          <a:lstStyle/>
          <a:p>
            <a:r>
              <a:rPr lang="en-US" sz="2400" dirty="0" err="1">
                <a:effectLst/>
                <a:latin typeface="Times New Roman" panose="02020603050405020304" pitchFamily="18" charset="0"/>
                <a:ea typeface="Arial Unicode MS" panose="020B0604020202020204" pitchFamily="34" charset="-128"/>
              </a:rPr>
              <a:t>Tạo</a:t>
            </a:r>
            <a:r>
              <a:rPr lang="en-US" sz="2400" dirty="0">
                <a:effectLst/>
                <a:latin typeface="Times New Roman" panose="02020603050405020304" pitchFamily="18" charset="0"/>
                <a:ea typeface="Arial Unicode MS" panose="020B0604020202020204" pitchFamily="34" charset="-128"/>
              </a:rPr>
              <a:t> </a:t>
            </a:r>
            <a:r>
              <a:rPr lang="en-US" sz="2400" dirty="0" err="1">
                <a:effectLst/>
                <a:latin typeface="Times New Roman" panose="02020603050405020304" pitchFamily="18" charset="0"/>
                <a:ea typeface="Arial Unicode MS" panose="020B0604020202020204" pitchFamily="34" charset="-128"/>
              </a:rPr>
              <a:t>một</a:t>
            </a:r>
            <a:r>
              <a:rPr lang="en-US" sz="2400" dirty="0">
                <a:effectLst/>
                <a:latin typeface="Times New Roman" panose="02020603050405020304" pitchFamily="18" charset="0"/>
                <a:ea typeface="Arial Unicode MS" panose="020B0604020202020204" pitchFamily="34" charset="-128"/>
              </a:rPr>
              <a:t> Component </a:t>
            </a:r>
            <a:r>
              <a:rPr lang="en-US" sz="2400" dirty="0" err="1">
                <a:effectLst/>
                <a:latin typeface="Times New Roman" panose="02020603050405020304" pitchFamily="18" charset="0"/>
                <a:ea typeface="Arial Unicode MS" panose="020B0604020202020204" pitchFamily="34" charset="-128"/>
              </a:rPr>
              <a:t>tên</a:t>
            </a:r>
            <a:r>
              <a:rPr lang="en-US" sz="2400" dirty="0">
                <a:effectLst/>
                <a:latin typeface="Times New Roman" panose="02020603050405020304" pitchFamily="18" charset="0"/>
                <a:ea typeface="Arial Unicode MS" panose="020B0604020202020204" pitchFamily="34" charset="-128"/>
              </a:rPr>
              <a:t> </a:t>
            </a:r>
            <a:r>
              <a:rPr lang="en-US" sz="2400" b="1" dirty="0" err="1">
                <a:effectLst/>
                <a:latin typeface="Times New Roman" panose="02020603050405020304" pitchFamily="18" charset="0"/>
                <a:ea typeface="Arial Unicode MS" panose="020B0604020202020204" pitchFamily="34" charset="-128"/>
              </a:rPr>
              <a:t>BindingClassComponent</a:t>
            </a:r>
            <a:endParaRPr lang="en-US" sz="2400" b="1" dirty="0"/>
          </a:p>
        </p:txBody>
      </p:sp>
      <p:pic>
        <p:nvPicPr>
          <p:cNvPr id="12" name="Picture 11">
            <a:extLst>
              <a:ext uri="{FF2B5EF4-FFF2-40B4-BE49-F238E27FC236}">
                <a16:creationId xmlns:a16="http://schemas.microsoft.com/office/drawing/2014/main" id="{6E66F6DD-A298-664E-BCAF-1ABAF8EE7422}"/>
              </a:ext>
            </a:extLst>
          </p:cNvPr>
          <p:cNvPicPr>
            <a:picLocks noChangeAspect="1"/>
          </p:cNvPicPr>
          <p:nvPr/>
        </p:nvPicPr>
        <p:blipFill>
          <a:blip r:embed="rId3"/>
          <a:stretch>
            <a:fillRect/>
          </a:stretch>
        </p:blipFill>
        <p:spPr>
          <a:xfrm>
            <a:off x="791431" y="1442795"/>
            <a:ext cx="5700254" cy="815411"/>
          </a:xfrm>
          <a:prstGeom prst="rect">
            <a:avLst/>
          </a:prstGeom>
          <a:ln>
            <a:solidFill>
              <a:schemeClr val="tx1"/>
            </a:solidFill>
          </a:ln>
        </p:spPr>
      </p:pic>
      <p:pic>
        <p:nvPicPr>
          <p:cNvPr id="14" name="Picture 13">
            <a:extLst>
              <a:ext uri="{FF2B5EF4-FFF2-40B4-BE49-F238E27FC236}">
                <a16:creationId xmlns:a16="http://schemas.microsoft.com/office/drawing/2014/main" id="{EB5AE70C-4455-4790-7100-5C89FBEE2EC0}"/>
              </a:ext>
            </a:extLst>
          </p:cNvPr>
          <p:cNvPicPr>
            <a:picLocks noChangeAspect="1"/>
          </p:cNvPicPr>
          <p:nvPr/>
        </p:nvPicPr>
        <p:blipFill>
          <a:blip r:embed="rId4"/>
          <a:stretch>
            <a:fillRect/>
          </a:stretch>
        </p:blipFill>
        <p:spPr>
          <a:xfrm>
            <a:off x="728132" y="3543563"/>
            <a:ext cx="7270110" cy="2507197"/>
          </a:xfrm>
          <a:prstGeom prst="rect">
            <a:avLst/>
          </a:prstGeom>
          <a:ln>
            <a:solidFill>
              <a:schemeClr val="tx1"/>
            </a:solidFill>
          </a:ln>
        </p:spPr>
      </p:pic>
      <p:pic>
        <p:nvPicPr>
          <p:cNvPr id="16" name="Picture 15">
            <a:extLst>
              <a:ext uri="{FF2B5EF4-FFF2-40B4-BE49-F238E27FC236}">
                <a16:creationId xmlns:a16="http://schemas.microsoft.com/office/drawing/2014/main" id="{4920E229-E9A9-797E-7265-0BE3BA01530E}"/>
              </a:ext>
            </a:extLst>
          </p:cNvPr>
          <p:cNvPicPr>
            <a:picLocks noChangeAspect="1"/>
          </p:cNvPicPr>
          <p:nvPr/>
        </p:nvPicPr>
        <p:blipFill>
          <a:blip r:embed="rId5"/>
          <a:stretch>
            <a:fillRect/>
          </a:stretch>
        </p:blipFill>
        <p:spPr>
          <a:xfrm>
            <a:off x="8253236" y="621286"/>
            <a:ext cx="3147333" cy="3535986"/>
          </a:xfrm>
          <a:prstGeom prst="rect">
            <a:avLst/>
          </a:prstGeom>
        </p:spPr>
      </p:pic>
      <p:sp>
        <p:nvSpPr>
          <p:cNvPr id="17" name="Arrow: Down 16">
            <a:extLst>
              <a:ext uri="{FF2B5EF4-FFF2-40B4-BE49-F238E27FC236}">
                <a16:creationId xmlns:a16="http://schemas.microsoft.com/office/drawing/2014/main" id="{EED549DD-97A5-FF79-35C0-13B488C674FC}"/>
              </a:ext>
            </a:extLst>
          </p:cNvPr>
          <p:cNvSpPr/>
          <p:nvPr/>
        </p:nvSpPr>
        <p:spPr>
          <a:xfrm>
            <a:off x="3358306" y="2364872"/>
            <a:ext cx="566504" cy="953932"/>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Bent-Up 17">
            <a:extLst>
              <a:ext uri="{FF2B5EF4-FFF2-40B4-BE49-F238E27FC236}">
                <a16:creationId xmlns:a16="http://schemas.microsoft.com/office/drawing/2014/main" id="{748D6FB8-C31E-0749-5A10-F57B1C0549A1}"/>
              </a:ext>
            </a:extLst>
          </p:cNvPr>
          <p:cNvSpPr/>
          <p:nvPr/>
        </p:nvSpPr>
        <p:spPr>
          <a:xfrm>
            <a:off x="8357603" y="4333007"/>
            <a:ext cx="628268" cy="92830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4316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80576B6-A827-05DE-31A7-3DAB1255A21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EA017E7-E26E-3F03-0B15-2ADDB126B00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D6B267D-F498-DAB6-CFE2-BF80332088F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A46DA9E7-9E19-60B0-64B8-B036119573B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825F05A-26B1-34A4-F4C4-0D428D05F44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DC33A27B-8371-B7EF-68ED-7B9B8756DB4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3D15D96-1776-4020-446E-7E0220E8AB2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C512223-5E4B-3B7E-93C0-13E6B630F1A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26A1D16-C1AD-7BB4-87E9-AEA68587172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F6E0D422-2038-67A9-BA22-79FDFCF47633}"/>
              </a:ext>
            </a:extLst>
          </p:cNvPr>
          <p:cNvPicPr>
            <a:picLocks noChangeAspect="1"/>
          </p:cNvPicPr>
          <p:nvPr/>
        </p:nvPicPr>
        <p:blipFill>
          <a:blip r:embed="rId3"/>
          <a:srcRect/>
          <a:stretch/>
        </p:blipFill>
        <p:spPr>
          <a:xfrm>
            <a:off x="3496732" y="1287508"/>
            <a:ext cx="4653918" cy="5034881"/>
          </a:xfrm>
          <a:prstGeom prst="rect">
            <a:avLst/>
          </a:prstGeom>
        </p:spPr>
      </p:pic>
      <p:sp>
        <p:nvSpPr>
          <p:cNvPr id="13" name="TextBox 12">
            <a:extLst>
              <a:ext uri="{FF2B5EF4-FFF2-40B4-BE49-F238E27FC236}">
                <a16:creationId xmlns:a16="http://schemas.microsoft.com/office/drawing/2014/main" id="{D517632C-757C-3800-11EE-3E38CF1FB148}"/>
              </a:ext>
            </a:extLst>
          </p:cNvPr>
          <p:cNvSpPr txBox="1"/>
          <p:nvPr/>
        </p:nvSpPr>
        <p:spPr>
          <a:xfrm>
            <a:off x="415251" y="877587"/>
            <a:ext cx="4103851"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binding-class-component.css</a:t>
            </a: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2189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5743A5E-1BD9-3DC5-A6C9-4EA7A44355F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316B21C-C202-0BE5-30FF-7426F877D9E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8C0E188-B07A-9608-CB6A-C5465946037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7DA54964-859E-C6DA-D0CC-4D1DF60CCE36}"/>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D2D893C-FC40-5C10-7417-3101BCA3039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608FC0F7-E119-E510-CD09-2B5CD3DDFAC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B0CE05C-2C38-6291-2470-FA361198FE4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2935B57-E28B-183E-77C3-125DA4498C0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9155F69-2FA3-1A5C-C45F-6F8BBE61BD4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8275D26B-A583-9C6B-AD24-56E1B21D7273}"/>
              </a:ext>
            </a:extLst>
          </p:cNvPr>
          <p:cNvSpPr txBox="1"/>
          <p:nvPr/>
        </p:nvSpPr>
        <p:spPr>
          <a:xfrm>
            <a:off x="415251" y="877587"/>
            <a:ext cx="4103851"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binding-class-component.ts</a:t>
            </a:r>
            <a:endParaRPr lang="en-US"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F899E9E-C02F-F9AC-19EC-D3FEFDE00FA5}"/>
              </a:ext>
            </a:extLst>
          </p:cNvPr>
          <p:cNvPicPr>
            <a:picLocks noChangeAspect="1"/>
          </p:cNvPicPr>
          <p:nvPr/>
        </p:nvPicPr>
        <p:blipFill>
          <a:blip r:embed="rId3"/>
          <a:srcRect/>
          <a:stretch/>
        </p:blipFill>
        <p:spPr>
          <a:xfrm>
            <a:off x="3206581" y="1339252"/>
            <a:ext cx="5626990" cy="5033188"/>
          </a:xfrm>
          <a:prstGeom prst="rect">
            <a:avLst/>
          </a:prstGeom>
        </p:spPr>
      </p:pic>
    </p:spTree>
    <p:extLst>
      <p:ext uri="{BB962C8B-B14F-4D97-AF65-F5344CB8AC3E}">
        <p14:creationId xmlns:p14="http://schemas.microsoft.com/office/powerpoint/2010/main" val="1267220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137F7FC-2A69-33BB-16BB-1B328184800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50A7917-AF6A-2250-2AF1-2A5180ED5D6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0CD9EA7-C932-B43C-3D9A-062E0A118C6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4444C231-DB5D-E4F8-C69E-0969A1762B2C}"/>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511131DC-B5EC-A4D6-A8FD-54731CB80E4C}"/>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F6CA0BE2-D6E6-56E8-2FEF-B8BA31ACD99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EF1772-48FC-A7B2-19BF-E4F259FF15B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4FD14EC-8B6E-7B2B-0AFF-DA447782B7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176B41F-A6F3-6C85-65B7-C19AACFD05E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B519217-8E2E-BD3D-967E-485C8A62D03F}"/>
              </a:ext>
            </a:extLst>
          </p:cNvPr>
          <p:cNvSpPr txBox="1"/>
          <p:nvPr/>
        </p:nvSpPr>
        <p:spPr>
          <a:xfrm>
            <a:off x="415251" y="877587"/>
            <a:ext cx="5628039"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binding-class-component.html</a:t>
            </a:r>
            <a:endParaRPr lang="en-US"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0BA7BBF-883A-27B3-EC82-0DDB9AC63F1F}"/>
              </a:ext>
            </a:extLst>
          </p:cNvPr>
          <p:cNvPicPr>
            <a:picLocks noChangeAspect="1"/>
          </p:cNvPicPr>
          <p:nvPr/>
        </p:nvPicPr>
        <p:blipFill>
          <a:blip r:embed="rId3"/>
          <a:srcRect/>
          <a:stretch/>
        </p:blipFill>
        <p:spPr>
          <a:xfrm>
            <a:off x="307519" y="1414237"/>
            <a:ext cx="11620877" cy="4313294"/>
          </a:xfrm>
          <a:prstGeom prst="rect">
            <a:avLst/>
          </a:prstGeom>
        </p:spPr>
      </p:pic>
    </p:spTree>
    <p:extLst>
      <p:ext uri="{BB962C8B-B14F-4D97-AF65-F5344CB8AC3E}">
        <p14:creationId xmlns:p14="http://schemas.microsoft.com/office/powerpoint/2010/main" val="717545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4763367-E480-1BA8-F4D1-0B9FD520542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B562342-F2B3-CFB0-CF2D-8FBC5422BC1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5D631CF-6E62-A5CA-6DE1-37492E842C7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205A754C-7A33-8D84-E71C-1473839976A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4B89285-435B-FB21-A576-2BA48360A914}"/>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AA7C72CB-3DDD-A659-17F3-CE3676C749F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884A7E5-84CC-B8B2-F758-99634E0DB5F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1544DB2-114B-6328-45E1-BEBE228AF32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7F3F4EC-8620-A962-1E52-B6441A36DD5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C4B2B01-45CB-E786-9A8E-7A1C359D472A}"/>
              </a:ext>
            </a:extLst>
          </p:cNvPr>
          <p:cNvSpPr txBox="1"/>
          <p:nvPr/>
        </p:nvSpPr>
        <p:spPr>
          <a:xfrm>
            <a:off x="415251" y="877587"/>
            <a:ext cx="5628039"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app.html</a:t>
            </a:r>
            <a:endParaRPr lang="en-US" sz="2400"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2113652-53D0-471E-0B4A-87DA64005F9B}"/>
              </a:ext>
            </a:extLst>
          </p:cNvPr>
          <p:cNvSpPr txBox="1"/>
          <p:nvPr/>
        </p:nvSpPr>
        <p:spPr>
          <a:xfrm>
            <a:off x="542785" y="1443189"/>
            <a:ext cx="11378791" cy="1889556"/>
          </a:xfrm>
          <a:prstGeom prst="rect">
            <a:avLst/>
          </a:prstGeom>
          <a:noFill/>
          <a:ln>
            <a:solidFill>
              <a:schemeClr val="tx1"/>
            </a:solidFill>
          </a:ln>
        </p:spPr>
        <p:txBody>
          <a:bodyPr wrap="square">
            <a:spAutoFit/>
          </a:bodyPr>
          <a:lstStyle/>
          <a:p>
            <a:pPr>
              <a:lnSpc>
                <a:spcPct val="150000"/>
              </a:lnSpc>
              <a:buNone/>
            </a:pPr>
            <a:r>
              <a:rPr lang="en-US" sz="2000" b="0" dirty="0">
                <a:solidFill>
                  <a:srgbClr val="008000"/>
                </a:solidFill>
                <a:effectLst/>
                <a:latin typeface="Consolas" panose="020B0609020204030204" pitchFamily="49" charset="0"/>
              </a:rPr>
              <a:t>&lt;!-- &lt;app-contact&gt;&lt;/app-contact&gt; --&gt;</a:t>
            </a:r>
            <a:endParaRPr lang="en-US" sz="2000" b="0" dirty="0">
              <a:solidFill>
                <a:srgbClr val="000000"/>
              </a:solidFill>
              <a:effectLst/>
              <a:latin typeface="Consolas" panose="020B0609020204030204" pitchFamily="49" charset="0"/>
            </a:endParaRPr>
          </a:p>
          <a:p>
            <a:pPr>
              <a:lnSpc>
                <a:spcPct val="150000"/>
              </a:lnSpc>
              <a:buNone/>
            </a:pPr>
            <a:r>
              <a:rPr lang="en-US" sz="2000" b="0" dirty="0">
                <a:solidFill>
                  <a:srgbClr val="008000"/>
                </a:solidFill>
                <a:effectLst/>
                <a:latin typeface="Consolas" panose="020B0609020204030204" pitchFamily="49" charset="0"/>
              </a:rPr>
              <a:t>&lt;!-- &lt;app-binding-property-component&gt;&lt;/app-binding-property-component&gt; --&gt;</a:t>
            </a:r>
            <a:endParaRPr lang="en-US" sz="2000" b="0" dirty="0">
              <a:solidFill>
                <a:srgbClr val="000000"/>
              </a:solidFill>
              <a:effectLst/>
              <a:latin typeface="Consolas" panose="020B0609020204030204" pitchFamily="49" charset="0"/>
            </a:endParaRPr>
          </a:p>
          <a:p>
            <a:pPr>
              <a:lnSpc>
                <a:spcPct val="150000"/>
              </a:lnSpc>
              <a:buNone/>
            </a:pPr>
            <a:r>
              <a:rPr lang="en-US" sz="2000" b="0" dirty="0">
                <a:solidFill>
                  <a:srgbClr val="800000"/>
                </a:solidFill>
                <a:effectLst/>
                <a:latin typeface="Consolas" panose="020B0609020204030204" pitchFamily="49" charset="0"/>
              </a:rPr>
              <a:t>&lt;app-binding-class-component&gt;&lt;/app-binding-class-component&gt;</a:t>
            </a:r>
            <a:endParaRPr lang="en-US" sz="2000" b="0" dirty="0">
              <a:solidFill>
                <a:srgbClr val="000000"/>
              </a:solidFill>
              <a:effectLst/>
              <a:latin typeface="Consolas" panose="020B0609020204030204" pitchFamily="49" charset="0"/>
            </a:endParaRPr>
          </a:p>
          <a:p>
            <a:pPr>
              <a:lnSpc>
                <a:spcPct val="150000"/>
              </a:lnSpc>
              <a:buNone/>
            </a:pPr>
            <a:r>
              <a:rPr lang="en-US" sz="2000" b="0" dirty="0">
                <a:solidFill>
                  <a:srgbClr val="800000"/>
                </a:solidFill>
                <a:effectLst/>
                <a:latin typeface="Consolas" panose="020B0609020204030204" pitchFamily="49" charset="0"/>
              </a:rPr>
              <a:t>&lt;router-outlet</a:t>
            </a:r>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AD2D5C0E-7AFF-AAE7-D860-C384946043A1}"/>
              </a:ext>
            </a:extLst>
          </p:cNvPr>
          <p:cNvPicPr>
            <a:picLocks noChangeAspect="1"/>
          </p:cNvPicPr>
          <p:nvPr/>
        </p:nvPicPr>
        <p:blipFill>
          <a:blip r:embed="rId3"/>
          <a:stretch>
            <a:fillRect/>
          </a:stretch>
        </p:blipFill>
        <p:spPr>
          <a:xfrm>
            <a:off x="490585" y="3571664"/>
            <a:ext cx="11430991" cy="2331922"/>
          </a:xfrm>
          <a:prstGeom prst="rect">
            <a:avLst/>
          </a:prstGeom>
        </p:spPr>
      </p:pic>
    </p:spTree>
    <p:extLst>
      <p:ext uri="{BB962C8B-B14F-4D97-AF65-F5344CB8AC3E}">
        <p14:creationId xmlns:p14="http://schemas.microsoft.com/office/powerpoint/2010/main" val="3162393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9A71FEE-A6C6-CA42-3DCC-B1D13B1BFEA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BBE3856-DD64-7259-3107-8CBD2ACD0D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908BA1E-0735-1A1A-934A-E3CC2E58F5B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8D2D97F2-5FA4-8F07-2E19-740D45E5A997}"/>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C2B7396-8574-2C84-13B6-EBACE9032321}"/>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302F409F-8F62-21EF-933A-DF2902F4DE8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44CFD03-A184-A63C-06A0-E3A7B746A2C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E1FAA7-B977-0073-AAFE-C26B6747EB3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532DE30-2949-1B2B-9A7D-23E7EBD62CF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2F44A57-AAB7-1B9E-537A-51074B70A9D0}"/>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Bấm lưu, chạy và xem lại giao diện</a:t>
            </a:r>
            <a:endParaRPr lang="en-US" sz="2400" b="1">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B602E27A-F6B4-BE06-B7E4-3A9A2A8A4D80}"/>
              </a:ext>
            </a:extLst>
          </p:cNvPr>
          <p:cNvPicPr>
            <a:picLocks noChangeAspect="1"/>
          </p:cNvPicPr>
          <p:nvPr/>
        </p:nvPicPr>
        <p:blipFill>
          <a:blip r:embed="rId3"/>
          <a:srcRect/>
          <a:stretch/>
        </p:blipFill>
        <p:spPr>
          <a:xfrm>
            <a:off x="728133" y="1554342"/>
            <a:ext cx="5033276" cy="2396797"/>
          </a:xfrm>
          <a:prstGeom prst="rect">
            <a:avLst/>
          </a:prstGeom>
        </p:spPr>
      </p:pic>
      <p:pic>
        <p:nvPicPr>
          <p:cNvPr id="16" name="Picture 15">
            <a:extLst>
              <a:ext uri="{FF2B5EF4-FFF2-40B4-BE49-F238E27FC236}">
                <a16:creationId xmlns:a16="http://schemas.microsoft.com/office/drawing/2014/main" id="{7AF6EEAC-2772-F7ED-0BA0-429604595BFD}"/>
              </a:ext>
            </a:extLst>
          </p:cNvPr>
          <p:cNvPicPr>
            <a:picLocks noChangeAspect="1"/>
          </p:cNvPicPr>
          <p:nvPr/>
        </p:nvPicPr>
        <p:blipFill>
          <a:blip r:embed="rId4"/>
          <a:srcRect/>
          <a:stretch/>
        </p:blipFill>
        <p:spPr>
          <a:xfrm>
            <a:off x="6377152" y="1348520"/>
            <a:ext cx="5159223" cy="2456772"/>
          </a:xfrm>
          <a:prstGeom prst="rect">
            <a:avLst/>
          </a:prstGeom>
        </p:spPr>
      </p:pic>
      <p:pic>
        <p:nvPicPr>
          <p:cNvPr id="18" name="Picture 17">
            <a:extLst>
              <a:ext uri="{FF2B5EF4-FFF2-40B4-BE49-F238E27FC236}">
                <a16:creationId xmlns:a16="http://schemas.microsoft.com/office/drawing/2014/main" id="{656D2250-46AB-CB24-2F21-61C30C9A7EED}"/>
              </a:ext>
            </a:extLst>
          </p:cNvPr>
          <p:cNvPicPr>
            <a:picLocks noChangeAspect="1"/>
          </p:cNvPicPr>
          <p:nvPr/>
        </p:nvPicPr>
        <p:blipFill>
          <a:blip r:embed="rId5"/>
          <a:srcRect/>
          <a:stretch/>
        </p:blipFill>
        <p:spPr>
          <a:xfrm>
            <a:off x="6377152" y="4011209"/>
            <a:ext cx="5159221" cy="2456771"/>
          </a:xfrm>
          <a:prstGeom prst="rect">
            <a:avLst/>
          </a:prstGeom>
        </p:spPr>
      </p:pic>
      <p:sp>
        <p:nvSpPr>
          <p:cNvPr id="19" name="Arrow: Up 18">
            <a:extLst>
              <a:ext uri="{FF2B5EF4-FFF2-40B4-BE49-F238E27FC236}">
                <a16:creationId xmlns:a16="http://schemas.microsoft.com/office/drawing/2014/main" id="{29B9EEC8-2DC5-670F-A6EC-F126167394FE}"/>
              </a:ext>
            </a:extLst>
          </p:cNvPr>
          <p:cNvSpPr/>
          <p:nvPr/>
        </p:nvSpPr>
        <p:spPr>
          <a:xfrm>
            <a:off x="1285660" y="3712670"/>
            <a:ext cx="206256" cy="53626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Up 19">
            <a:extLst>
              <a:ext uri="{FF2B5EF4-FFF2-40B4-BE49-F238E27FC236}">
                <a16:creationId xmlns:a16="http://schemas.microsoft.com/office/drawing/2014/main" id="{FD67C05B-4D1D-1C60-3DE2-D303FEF97E19}"/>
              </a:ext>
            </a:extLst>
          </p:cNvPr>
          <p:cNvSpPr/>
          <p:nvPr/>
        </p:nvSpPr>
        <p:spPr>
          <a:xfrm rot="5400000">
            <a:off x="5966152" y="3160868"/>
            <a:ext cx="206256" cy="53626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Up 20">
            <a:extLst>
              <a:ext uri="{FF2B5EF4-FFF2-40B4-BE49-F238E27FC236}">
                <a16:creationId xmlns:a16="http://schemas.microsoft.com/office/drawing/2014/main" id="{D3D8B399-9650-651A-552C-DFD126D01544}"/>
              </a:ext>
            </a:extLst>
          </p:cNvPr>
          <p:cNvSpPr/>
          <p:nvPr/>
        </p:nvSpPr>
        <p:spPr>
          <a:xfrm rot="10800000">
            <a:off x="7894643" y="3669043"/>
            <a:ext cx="206256" cy="53626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1374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8C95573-F928-A9D2-EC49-1DC53CE2891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A5744D-0BA9-A873-4DED-917FCBD8449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42FB116-972B-5C14-75C9-8913D971D9A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8A84D384-BE0E-57DD-0414-3AD3CC2041C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2B8312D-1788-C412-245C-2E76E074DEB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88577A7F-E7DC-4758-910A-903651B72E9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DA56BF1-86AE-BBD8-0137-D84F7600BDC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672151C-5C21-ED1E-868B-9CB40F1057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3C21EE4-2FB3-49A2-DA39-91585149F8B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671683D2-D02D-77F2-0CAA-7BC99D496398}"/>
              </a:ext>
            </a:extLst>
          </p:cNvPr>
          <p:cNvSpPr>
            <a:spLocks noChangeArrowheads="1"/>
          </p:cNvSpPr>
          <p:nvPr/>
        </p:nvSpPr>
        <p:spPr bwMode="auto">
          <a:xfrm>
            <a:off x="415251" y="897102"/>
            <a:ext cx="11426916" cy="3303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Style</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Binding là kỹ thuật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One-way Data Binding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cho phép lập trình viên thay đổi trực tiếp các thuộc tính CSS (inline styles) của một phần tử HTML dựa trên dữ liệu từ Component Class.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Cơ chế:</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Dữ liệu được truyền một chiều từ Component Class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DOM Style Property.</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Đặc điểm:</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Không giống như Class Binding (chuyển đổi danh sách class), Style Binding tác động trực tiếp vào thuộc tính style của phần tử DOM.</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928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8819F27-7C01-E877-89A4-D2F202109C3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1B170F0-F493-AAA8-B875-BF9DB047C58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2CD00D3-18B8-2E52-D283-91186A1E32D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31D738C3-0A63-785C-2909-1DA10617DEB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912348C-7B2E-64A4-F9A0-DC2E3527579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0E028433-01DD-C2AE-C56B-76B700554B5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EFDFB8D-940E-F684-B5A5-94A0006CDC1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6FE1F75-5DD0-6100-7364-19FB0E136A2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A2AA0FB-B89D-1AFC-3301-B928D4E1A2D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C994FC15-0B4E-F4E3-8EE3-C397409B225D}"/>
              </a:ext>
            </a:extLst>
          </p:cNvPr>
          <p:cNvSpPr txBox="1"/>
          <p:nvPr/>
        </p:nvSpPr>
        <p:spPr>
          <a:xfrm>
            <a:off x="542786" y="877587"/>
            <a:ext cx="11446268" cy="1687963"/>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vi-VN" sz="2400">
                <a:latin typeface="+mj-lt"/>
              </a:rPr>
              <a:t>Angular cung cấp cú pháp rất tường minh để thao tác với CSS:</a:t>
            </a:r>
          </a:p>
          <a:p>
            <a:pPr>
              <a:lnSpc>
                <a:spcPct val="150000"/>
              </a:lnSpc>
              <a:buFont typeface="Arial" panose="020B0604020202020204" pitchFamily="34" charset="0"/>
              <a:buChar char="•"/>
            </a:pPr>
            <a:r>
              <a:rPr lang="vi-VN" sz="2400" b="1">
                <a:latin typeface="+mj-lt"/>
              </a:rPr>
              <a:t>Cú pháp cơ bản:</a:t>
            </a:r>
            <a:r>
              <a:rPr lang="vi-VN" sz="2400">
                <a:latin typeface="+mj-lt"/>
              </a:rPr>
              <a:t> [style.styleProperty]="value"</a:t>
            </a:r>
          </a:p>
          <a:p>
            <a:pPr>
              <a:lnSpc>
                <a:spcPct val="150000"/>
              </a:lnSpc>
              <a:buFont typeface="Arial" panose="020B0604020202020204" pitchFamily="34" charset="0"/>
              <a:buChar char="•"/>
            </a:pPr>
            <a:r>
              <a:rPr lang="vi-VN" sz="2400" b="1">
                <a:latin typeface="+mj-lt"/>
              </a:rPr>
              <a:t>Cú pháp có đơn vị (Unit):</a:t>
            </a:r>
            <a:r>
              <a:rPr lang="vi-VN" sz="2400">
                <a:latin typeface="+mj-lt"/>
              </a:rPr>
              <a:t> [style.styleProperty.unit]="value" (ví dụ: px, em, %, vh, rem).</a:t>
            </a:r>
          </a:p>
        </p:txBody>
      </p:sp>
      <p:sp>
        <p:nvSpPr>
          <p:cNvPr id="12" name="TextBox 11">
            <a:extLst>
              <a:ext uri="{FF2B5EF4-FFF2-40B4-BE49-F238E27FC236}">
                <a16:creationId xmlns:a16="http://schemas.microsoft.com/office/drawing/2014/main" id="{0DFCD904-4162-38CB-2410-4896450CA666}"/>
              </a:ext>
            </a:extLst>
          </p:cNvPr>
          <p:cNvSpPr txBox="1"/>
          <p:nvPr/>
        </p:nvSpPr>
        <p:spPr>
          <a:xfrm>
            <a:off x="564686" y="2669487"/>
            <a:ext cx="11253762" cy="2795958"/>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Khi nào nên dùng Style Binding?</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Thay đổi động dựa trên tính toán:</a:t>
            </a:r>
            <a:r>
              <a:rPr lang="vi-VN" sz="2400">
                <a:latin typeface="Times New Roman" panose="02020603050405020304" pitchFamily="18" charset="0"/>
                <a:cs typeface="Times New Roman" panose="02020603050405020304" pitchFamily="18" charset="0"/>
              </a:rPr>
              <a:t> Khi giá trị CSS không thể biết trước (ví dụ: thanh tiến trình - progress bar thay đổi độ rộng theo %, màu sắc dựa trên giá trị của dữ liệu).</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Thay đổi duy nhất một thuộc tính:</a:t>
            </a:r>
            <a:r>
              <a:rPr lang="vi-VN" sz="2400">
                <a:latin typeface="Times New Roman" panose="02020603050405020304" pitchFamily="18" charset="0"/>
                <a:cs typeface="Times New Roman" panose="02020603050405020304" pitchFamily="18" charset="0"/>
              </a:rPr>
              <a:t> Chỉ cần đổi màu (color) hoặc kích thước (width), không cần thiết phải tạo một CSS class riêng.</a:t>
            </a:r>
          </a:p>
        </p:txBody>
      </p:sp>
    </p:spTree>
    <p:extLst>
      <p:ext uri="{BB962C8B-B14F-4D97-AF65-F5344CB8AC3E}">
        <p14:creationId xmlns:p14="http://schemas.microsoft.com/office/powerpoint/2010/main" val="1602662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7A4BA9B-4E03-B5C1-951B-A02E7202BC0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D795948-1398-7E2C-F378-2DA5A38CD7D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22E5088-903F-A8BA-1855-3E31E50BCA4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9840C599-D022-3648-A413-D9E6AE964B8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0BF43E99-DA90-ADC2-AB5F-C77A5BE9D64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8F20CC32-73F5-B69E-0D42-CAE4CF8BA15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F980EBD-8A36-E676-23C0-C56577B52C8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0F97197-7F31-EED1-5793-D466331A39E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07B7F8A-51C5-D313-97F1-8F805FBE773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04532DD-272F-58BB-A138-F78E48BDE6A0}"/>
              </a:ext>
            </a:extLst>
          </p:cNvPr>
          <p:cNvSpPr txBox="1"/>
          <p:nvPr/>
        </p:nvSpPr>
        <p:spPr>
          <a:xfrm>
            <a:off x="542786" y="877587"/>
            <a:ext cx="11267512" cy="1687963"/>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u="sng">
                <a:latin typeface="Times New Roman" panose="02020603050405020304" pitchFamily="18" charset="0"/>
                <a:cs typeface="Times New Roman" panose="02020603050405020304" pitchFamily="18" charset="0"/>
              </a:rPr>
              <a:t>Lưu ý:</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N</a:t>
            </a:r>
            <a:r>
              <a:rPr lang="vi-VN" sz="2400">
                <a:latin typeface="Times New Roman" panose="02020603050405020304" pitchFamily="18" charset="0"/>
                <a:cs typeface="Times New Roman" panose="02020603050405020304" pitchFamily="18" charset="0"/>
              </a:rPr>
              <a:t>ếu </a:t>
            </a:r>
            <a:r>
              <a:rPr lang="en-US" sz="2400">
                <a:latin typeface="Times New Roman" panose="02020603050405020304" pitchFamily="18" charset="0"/>
                <a:cs typeface="Times New Roman" panose="02020603050405020304" pitchFamily="18" charset="0"/>
              </a:rPr>
              <a:t>Ta </a:t>
            </a:r>
            <a:r>
              <a:rPr lang="vi-VN" sz="2400">
                <a:latin typeface="Times New Roman" panose="02020603050405020304" pitchFamily="18" charset="0"/>
                <a:cs typeface="Times New Roman" panose="02020603050405020304" pitchFamily="18" charset="0"/>
              </a:rPr>
              <a:t>cần thay đổi nhiều thuộc tính CSS cùng lúc hoặc thay đổi thường xuyên, hãy ưu tiên </a:t>
            </a:r>
            <a:r>
              <a:rPr lang="vi-VN" sz="2400" b="1">
                <a:latin typeface="Times New Roman" panose="02020603050405020304" pitchFamily="18" charset="0"/>
                <a:cs typeface="Times New Roman" panose="02020603050405020304" pitchFamily="18" charset="0"/>
              </a:rPr>
              <a:t>Class Binding</a:t>
            </a:r>
            <a:r>
              <a:rPr lang="vi-VN" sz="2400">
                <a:latin typeface="Times New Roman" panose="02020603050405020304" pitchFamily="18" charset="0"/>
                <a:cs typeface="Times New Roman" panose="02020603050405020304" pitchFamily="18" charset="0"/>
              </a:rPr>
              <a:t>. Việc lạm dụng Style Binding trong template làm code HTML trở nên khó quản lý và làm giảm khả năng tái sử dụng style toàn cục.</a:t>
            </a:r>
            <a:endParaRPr lang="en-US" sz="240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6807CAB1-8EA3-135C-6E41-399B37B76D4C}"/>
              </a:ext>
            </a:extLst>
          </p:cNvPr>
          <p:cNvPicPr>
            <a:picLocks noChangeAspect="1"/>
          </p:cNvPicPr>
          <p:nvPr/>
        </p:nvPicPr>
        <p:blipFill>
          <a:blip r:embed="rId3"/>
          <a:stretch>
            <a:fillRect/>
          </a:stretch>
        </p:blipFill>
        <p:spPr>
          <a:xfrm>
            <a:off x="2206935" y="2669487"/>
            <a:ext cx="8208974" cy="3389255"/>
          </a:xfrm>
          <a:prstGeom prst="rect">
            <a:avLst/>
          </a:prstGeom>
        </p:spPr>
      </p:pic>
    </p:spTree>
    <p:extLst>
      <p:ext uri="{BB962C8B-B14F-4D97-AF65-F5344CB8AC3E}">
        <p14:creationId xmlns:p14="http://schemas.microsoft.com/office/powerpoint/2010/main" val="3343198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70E0720-6BB7-E424-1EE0-3F54077F551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9F32A03-2B80-7EF4-80B3-FB196083B97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763138B-E9C5-FBF8-8AF7-34B8A8CC073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C9BCFCF6-7605-7F4C-E535-8A445042AC8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98F8CBD-219C-3F5F-C832-53D2AF49C6C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DE50A984-DDC6-79C9-73B2-F9BCA35777D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7E1B277-9917-82A2-F47B-F98758C90F5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CBDBC9A-518A-351E-C282-DB36C1545A0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2D3693B-4E04-8B6B-C6D4-E3844658703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E7F111B-E218-D995-424C-EDFD0916E9E1}"/>
              </a:ext>
            </a:extLst>
          </p:cNvPr>
          <p:cNvSpPr txBox="1"/>
          <p:nvPr/>
        </p:nvSpPr>
        <p:spPr>
          <a:xfrm>
            <a:off x="462244" y="798021"/>
            <a:ext cx="11267512" cy="579967"/>
          </a:xfrm>
          <a:prstGeom prst="rect">
            <a:avLst/>
          </a:prstGeom>
          <a:noFill/>
        </p:spPr>
        <p:txBody>
          <a:bodyPr wrap="square">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BindingStyleComponent</a:t>
            </a:r>
            <a:r>
              <a:rPr lang="en-US" sz="2400" dirty="0">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019CAD99-B811-02C0-6613-5E76609569A5}"/>
              </a:ext>
            </a:extLst>
          </p:cNvPr>
          <p:cNvPicPr>
            <a:picLocks noChangeAspect="1"/>
          </p:cNvPicPr>
          <p:nvPr/>
        </p:nvPicPr>
        <p:blipFill>
          <a:blip r:embed="rId3"/>
          <a:stretch>
            <a:fillRect/>
          </a:stretch>
        </p:blipFill>
        <p:spPr>
          <a:xfrm>
            <a:off x="564686" y="1517045"/>
            <a:ext cx="5608806" cy="1097375"/>
          </a:xfrm>
          <a:prstGeom prst="rect">
            <a:avLst/>
          </a:prstGeom>
          <a:ln>
            <a:solidFill>
              <a:schemeClr val="tx1"/>
            </a:solidFill>
          </a:ln>
        </p:spPr>
      </p:pic>
      <p:pic>
        <p:nvPicPr>
          <p:cNvPr id="12" name="Picture 11">
            <a:extLst>
              <a:ext uri="{FF2B5EF4-FFF2-40B4-BE49-F238E27FC236}">
                <a16:creationId xmlns:a16="http://schemas.microsoft.com/office/drawing/2014/main" id="{19DB264A-6A94-988D-5F85-BE8F8F471E46}"/>
              </a:ext>
            </a:extLst>
          </p:cNvPr>
          <p:cNvPicPr>
            <a:picLocks noChangeAspect="1"/>
          </p:cNvPicPr>
          <p:nvPr/>
        </p:nvPicPr>
        <p:blipFill>
          <a:blip r:embed="rId4"/>
          <a:stretch>
            <a:fillRect/>
          </a:stretch>
        </p:blipFill>
        <p:spPr>
          <a:xfrm>
            <a:off x="542786" y="3429000"/>
            <a:ext cx="7270110" cy="2796782"/>
          </a:xfrm>
          <a:prstGeom prst="rect">
            <a:avLst/>
          </a:prstGeom>
          <a:ln>
            <a:solidFill>
              <a:schemeClr val="tx1"/>
            </a:solidFill>
          </a:ln>
        </p:spPr>
      </p:pic>
      <p:pic>
        <p:nvPicPr>
          <p:cNvPr id="16" name="Picture 15">
            <a:extLst>
              <a:ext uri="{FF2B5EF4-FFF2-40B4-BE49-F238E27FC236}">
                <a16:creationId xmlns:a16="http://schemas.microsoft.com/office/drawing/2014/main" id="{DEC2743E-3882-3F80-8A9E-0308C5FB4DA4}"/>
              </a:ext>
            </a:extLst>
          </p:cNvPr>
          <p:cNvPicPr>
            <a:picLocks noChangeAspect="1"/>
          </p:cNvPicPr>
          <p:nvPr/>
        </p:nvPicPr>
        <p:blipFill>
          <a:blip r:embed="rId5"/>
          <a:stretch>
            <a:fillRect/>
          </a:stretch>
        </p:blipFill>
        <p:spPr>
          <a:xfrm>
            <a:off x="8068466" y="773650"/>
            <a:ext cx="3558848" cy="4000847"/>
          </a:xfrm>
          <a:prstGeom prst="rect">
            <a:avLst/>
          </a:prstGeom>
        </p:spPr>
      </p:pic>
      <p:sp>
        <p:nvSpPr>
          <p:cNvPr id="17" name="Arrow: Down 16">
            <a:extLst>
              <a:ext uri="{FF2B5EF4-FFF2-40B4-BE49-F238E27FC236}">
                <a16:creationId xmlns:a16="http://schemas.microsoft.com/office/drawing/2014/main" id="{A4BFC572-FABE-8483-F1AB-819948D9D71E}"/>
              </a:ext>
            </a:extLst>
          </p:cNvPr>
          <p:cNvSpPr/>
          <p:nvPr/>
        </p:nvSpPr>
        <p:spPr>
          <a:xfrm>
            <a:off x="3153566" y="2685482"/>
            <a:ext cx="431045" cy="69165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Bent-Up 17">
            <a:extLst>
              <a:ext uri="{FF2B5EF4-FFF2-40B4-BE49-F238E27FC236}">
                <a16:creationId xmlns:a16="http://schemas.microsoft.com/office/drawing/2014/main" id="{84AEC243-9D12-6BA6-CC39-294796F43DF6}"/>
              </a:ext>
            </a:extLst>
          </p:cNvPr>
          <p:cNvSpPr/>
          <p:nvPr/>
        </p:nvSpPr>
        <p:spPr>
          <a:xfrm>
            <a:off x="8116971" y="4896772"/>
            <a:ext cx="628268" cy="92830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0741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50B39B9-E345-BD2D-8A08-9742B0393D4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69D0F6E-0B75-FFB3-900B-4BC82C4CCCF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3BEC96D-0E9E-8AD4-B979-F97A36703DD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3E952DA9-4632-70F7-3BD8-86C07306C34E}"/>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0CB0D94C-C00A-FF0B-355E-A71E254CACD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7F67918B-C2E2-41A9-8BFC-769A45099DB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6E686F-27FD-F1F8-23BA-AB12EDACC23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E08B69E-A0B6-1476-587A-E6E1D84A193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5982644-E845-8134-7D86-EC28ED639D9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7F7B57B-1A71-E5D4-3D27-BC651F53A2E4}"/>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BindingStyleComponent.ts </a:t>
            </a:r>
          </a:p>
        </p:txBody>
      </p:sp>
      <p:pic>
        <p:nvPicPr>
          <p:cNvPr id="14" name="Picture 13">
            <a:extLst>
              <a:ext uri="{FF2B5EF4-FFF2-40B4-BE49-F238E27FC236}">
                <a16:creationId xmlns:a16="http://schemas.microsoft.com/office/drawing/2014/main" id="{07DCFEB1-29B2-1789-A890-F35F0A8F2A7F}"/>
              </a:ext>
            </a:extLst>
          </p:cNvPr>
          <p:cNvPicPr>
            <a:picLocks noChangeAspect="1"/>
          </p:cNvPicPr>
          <p:nvPr/>
        </p:nvPicPr>
        <p:blipFill>
          <a:blip r:embed="rId3"/>
          <a:srcRect/>
          <a:stretch/>
        </p:blipFill>
        <p:spPr>
          <a:xfrm>
            <a:off x="1446609" y="1363402"/>
            <a:ext cx="7653038" cy="4962244"/>
          </a:xfrm>
          <a:prstGeom prst="rect">
            <a:avLst/>
          </a:prstGeom>
        </p:spPr>
      </p:pic>
    </p:spTree>
    <p:extLst>
      <p:ext uri="{BB962C8B-B14F-4D97-AF65-F5344CB8AC3E}">
        <p14:creationId xmlns:p14="http://schemas.microsoft.com/office/powerpoint/2010/main" val="693447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DDC7F0D-6CB4-40CB-1047-669615C63D3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1E1D9D9-E26D-2FD1-EF86-29076ED0B40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774DEB-3245-FAF3-7221-F871C5FF688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74B6F784-B2FF-D0D7-A89F-B41B9130800B}"/>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FD0C529-4CAA-DE69-4A5F-6DFD8B7B148F}"/>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CBE97B64-7462-4A06-B45E-0449A9174AC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5E5A97D-E134-249E-0B1E-D9548B44FD9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844CF7F-61BA-290A-EB00-2C8E98DCDCE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25522A8-B3F0-DE22-3C8C-78073F5A9D7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4DA9836-6706-3B7E-6B3B-9CB4DA5135E6}"/>
              </a:ext>
            </a:extLst>
          </p:cNvPr>
          <p:cNvSpPr txBox="1"/>
          <p:nvPr/>
        </p:nvSpPr>
        <p:spPr>
          <a:xfrm>
            <a:off x="462244" y="791146"/>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BindingStyleComponent.css </a:t>
            </a:r>
          </a:p>
        </p:txBody>
      </p:sp>
      <p:pic>
        <p:nvPicPr>
          <p:cNvPr id="10" name="Picture 9">
            <a:extLst>
              <a:ext uri="{FF2B5EF4-FFF2-40B4-BE49-F238E27FC236}">
                <a16:creationId xmlns:a16="http://schemas.microsoft.com/office/drawing/2014/main" id="{5E4DD6C1-B9A6-82C1-9696-36A4455C38FF}"/>
              </a:ext>
            </a:extLst>
          </p:cNvPr>
          <p:cNvPicPr>
            <a:picLocks noChangeAspect="1"/>
          </p:cNvPicPr>
          <p:nvPr/>
        </p:nvPicPr>
        <p:blipFill>
          <a:blip r:embed="rId3"/>
          <a:stretch>
            <a:fillRect/>
          </a:stretch>
        </p:blipFill>
        <p:spPr>
          <a:xfrm>
            <a:off x="894979" y="1322158"/>
            <a:ext cx="7567359" cy="5055346"/>
          </a:xfrm>
          <a:prstGeom prst="rect">
            <a:avLst/>
          </a:prstGeom>
        </p:spPr>
      </p:pic>
    </p:spTree>
    <p:extLst>
      <p:ext uri="{BB962C8B-B14F-4D97-AF65-F5344CB8AC3E}">
        <p14:creationId xmlns:p14="http://schemas.microsoft.com/office/powerpoint/2010/main" val="3176283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4E63AA-D696-2C01-72D8-3432CF884AF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3B5D385-93B3-720C-AF70-06BA084E16F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B9E6866-31FF-FF1C-D215-FC5C164D691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C837962A-FC73-C587-AD5D-9D3DADC68B5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42087C56-1095-91DF-2158-D033D1DF8D7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E78C33EA-3317-A9A7-CA0A-26724CC2808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E08A53E-7E93-970A-9E39-AAC6EC532E3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D14FB15-C97D-3E4F-220D-646DD9D090D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A6C3811-68FB-DE57-112E-25AABA22293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FE6B8F6-884E-AFF5-E969-8A7B09779080}"/>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BindingStyleComponent.html</a:t>
            </a:r>
          </a:p>
        </p:txBody>
      </p:sp>
      <p:pic>
        <p:nvPicPr>
          <p:cNvPr id="12" name="Picture 11">
            <a:extLst>
              <a:ext uri="{FF2B5EF4-FFF2-40B4-BE49-F238E27FC236}">
                <a16:creationId xmlns:a16="http://schemas.microsoft.com/office/drawing/2014/main" id="{0E659EF4-3ED1-C05F-1C88-41F74A0F5C0C}"/>
              </a:ext>
            </a:extLst>
          </p:cNvPr>
          <p:cNvPicPr>
            <a:picLocks noChangeAspect="1"/>
          </p:cNvPicPr>
          <p:nvPr/>
        </p:nvPicPr>
        <p:blipFill>
          <a:blip r:embed="rId3"/>
          <a:stretch>
            <a:fillRect/>
          </a:stretch>
        </p:blipFill>
        <p:spPr>
          <a:xfrm>
            <a:off x="728132" y="1429846"/>
            <a:ext cx="10044030" cy="3817951"/>
          </a:xfrm>
          <a:prstGeom prst="rect">
            <a:avLst/>
          </a:prstGeom>
        </p:spPr>
      </p:pic>
    </p:spTree>
    <p:extLst>
      <p:ext uri="{BB962C8B-B14F-4D97-AF65-F5344CB8AC3E}">
        <p14:creationId xmlns:p14="http://schemas.microsoft.com/office/powerpoint/2010/main" val="25291625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06F8E3B-680B-5CE0-7916-0033A33015F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C54A8A-B384-5B3C-FEA9-12B0D89338A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07010D2-2388-4CE7-D0F2-7A49E104105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AA7D9DB8-8B58-E58A-C726-A1045F96649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9721D5C-104C-2957-19AD-274DA281CD1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406744D7-16A8-C671-F3CA-D13548659B3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805DB47-9714-F445-60E9-EAF0CF00B8C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89BE6FC-77CF-DFB3-5641-5785B40479E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30F45C9-5CFD-ECFC-B84E-69FAA72024A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551D2F7-8705-CC4D-85E7-9796DAAEA3A2}"/>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app.html</a:t>
            </a:r>
          </a:p>
        </p:txBody>
      </p:sp>
      <p:sp>
        <p:nvSpPr>
          <p:cNvPr id="11" name="TextBox 10">
            <a:extLst>
              <a:ext uri="{FF2B5EF4-FFF2-40B4-BE49-F238E27FC236}">
                <a16:creationId xmlns:a16="http://schemas.microsoft.com/office/drawing/2014/main" id="{A7AE2671-A895-ADA0-540A-DABFD3AE5A2D}"/>
              </a:ext>
            </a:extLst>
          </p:cNvPr>
          <p:cNvSpPr txBox="1"/>
          <p:nvPr/>
        </p:nvSpPr>
        <p:spPr>
          <a:xfrm>
            <a:off x="625641" y="1488398"/>
            <a:ext cx="10979675" cy="966227"/>
          </a:xfrm>
          <a:prstGeom prst="rect">
            <a:avLst/>
          </a:prstGeom>
          <a:noFill/>
          <a:ln>
            <a:solidFill>
              <a:schemeClr val="tx1"/>
            </a:solidFill>
          </a:ln>
        </p:spPr>
        <p:txBody>
          <a:bodyPr wrap="square">
            <a:spAutoFit/>
          </a:bodyPr>
          <a:lstStyle/>
          <a:p>
            <a:pPr>
              <a:lnSpc>
                <a:spcPct val="150000"/>
              </a:lnSpc>
              <a:buNone/>
            </a:pPr>
            <a:r>
              <a:rPr lang="en-US" sz="2000" b="0" dirty="0">
                <a:solidFill>
                  <a:srgbClr val="800000"/>
                </a:solidFill>
                <a:effectLst/>
                <a:latin typeface="Consolas" panose="020B0609020204030204" pitchFamily="49" charset="0"/>
              </a:rPr>
              <a:t>&lt;app-binding-style-component&gt;&lt;/app-binding-style-component&gt;</a:t>
            </a:r>
            <a:endParaRPr lang="en-US" sz="2000" b="0" dirty="0">
              <a:solidFill>
                <a:srgbClr val="000000"/>
              </a:solidFill>
              <a:effectLst/>
              <a:latin typeface="Consolas" panose="020B0609020204030204" pitchFamily="49" charset="0"/>
            </a:endParaRPr>
          </a:p>
          <a:p>
            <a:pPr>
              <a:lnSpc>
                <a:spcPct val="150000"/>
              </a:lnSpc>
              <a:buNone/>
            </a:pPr>
            <a:r>
              <a:rPr lang="en-US" sz="2000" b="0" dirty="0">
                <a:solidFill>
                  <a:srgbClr val="800000"/>
                </a:solidFill>
                <a:effectLst/>
                <a:latin typeface="Consolas" panose="020B0609020204030204" pitchFamily="49" charset="0"/>
              </a:rPr>
              <a:t>&lt;router-outlet</a:t>
            </a:r>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3D18BDD6-FAC8-047F-88BF-8F605DB3ED73}"/>
              </a:ext>
            </a:extLst>
          </p:cNvPr>
          <p:cNvPicPr>
            <a:picLocks noChangeAspect="1"/>
          </p:cNvPicPr>
          <p:nvPr/>
        </p:nvPicPr>
        <p:blipFill>
          <a:blip r:embed="rId3"/>
          <a:stretch>
            <a:fillRect/>
          </a:stretch>
        </p:blipFill>
        <p:spPr>
          <a:xfrm>
            <a:off x="728132" y="2741666"/>
            <a:ext cx="6800850" cy="3238500"/>
          </a:xfrm>
          <a:prstGeom prst="rect">
            <a:avLst/>
          </a:prstGeom>
        </p:spPr>
      </p:pic>
    </p:spTree>
    <p:extLst>
      <p:ext uri="{BB962C8B-B14F-4D97-AF65-F5344CB8AC3E}">
        <p14:creationId xmlns:p14="http://schemas.microsoft.com/office/powerpoint/2010/main" val="21737155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3A2E973-CFE0-8439-E6EA-8435277387B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65F7D22-F91D-EB19-FC7A-1818B4D8EF1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AA75A0E-2A0E-8E09-DE99-54D257923F3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946680C4-1B47-558B-82AC-7454E6C6DFA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B9052DC-9368-F139-E8AC-0FF5B951333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0EDA6936-172F-F0E3-1EB9-F2C0DA8E476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8F88910-D80C-8602-81E2-3F7D76FF4DF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9F1B6D9-426A-FF00-BE6F-CB31E1B369B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8A785C-D21E-29F9-CDF7-2B5BD873895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901995F1-A27A-6D7E-33E4-3EC6D1882EB5}"/>
              </a:ext>
            </a:extLst>
          </p:cNvPr>
          <p:cNvSpPr>
            <a:spLocks noChangeArrowheads="1"/>
          </p:cNvSpPr>
          <p:nvPr/>
        </p:nvSpPr>
        <p:spPr bwMode="auto">
          <a:xfrm>
            <a:off x="388797" y="877587"/>
            <a:ext cx="11344060" cy="4965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Event Binding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là kỹ thuật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One-way Data Binding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theo hướng từ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View (Template) đến Source (Component Class)</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Đây là cơ chế cho phép ứng dụng "lắng nghe" và phản hồi các tương tác của người dùng từ trình duyệt như click, di chuyển chuột, nhập liệu, hoặc nhấn phím.</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Direction (Hướng dữ liệu):</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Từ DOM Element (View)</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Component Class (Logic).</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Syntax (Cú pháp):</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Sử dụng dấu ngoặc đơn (event)="handler()" (Ví dụ: (click)="save()").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Mechanism (Cơ chế):</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Khi sự kiện xảy ra trên phần tử DOM, Angular sẽ thực thi phương thức (method) tương ứng đã khai báo trong Component Class.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596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253590E-B348-E383-1272-C0EF94C30B1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A525431-F4A3-AF5D-ECF8-76047ABBE69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7D10471-003A-A4DB-56C5-262922D2DAF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34C9AB13-DCDB-DF15-E19E-C6277DB368F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48A76FD-4D46-D70E-5156-9252D298CD9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C5D88004-4708-4A41-16A7-93BABC95CAC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35A8068-68A7-BB44-309B-BA3C18CB6B7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FF41B43-C173-8F80-DFB0-5F58191FE46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0E185-590F-2964-F066-645AC4A80AF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67ADF50E-BC14-7E0E-EF83-7B2257187E4C}"/>
              </a:ext>
            </a:extLst>
          </p:cNvPr>
          <p:cNvSpPr txBox="1"/>
          <p:nvPr/>
        </p:nvSpPr>
        <p:spPr>
          <a:xfrm>
            <a:off x="503495" y="825508"/>
            <a:ext cx="11185010" cy="1687963"/>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The </a:t>
            </a:r>
            <a:r>
              <a:rPr lang="vi-VN" sz="2400" b="1">
                <a:solidFill>
                  <a:srgbClr val="FF0000"/>
                </a:solidFill>
                <a:latin typeface="Times New Roman" panose="02020603050405020304" pitchFamily="18" charset="0"/>
                <a:cs typeface="Times New Roman" panose="02020603050405020304" pitchFamily="18" charset="0"/>
              </a:rPr>
              <a:t>$event </a:t>
            </a:r>
            <a:r>
              <a:rPr lang="vi-VN" sz="2400" b="1">
                <a:latin typeface="Times New Roman" panose="02020603050405020304" pitchFamily="18" charset="0"/>
                <a:cs typeface="Times New Roman" panose="02020603050405020304" pitchFamily="18" charset="0"/>
              </a:rPr>
              <a:t>Object (Đối tượng sự kiện)</a:t>
            </a:r>
          </a:p>
          <a:p>
            <a:pPr algn="just">
              <a:lnSpc>
                <a:spcPct val="150000"/>
              </a:lnSpc>
              <a:buNone/>
            </a:pPr>
            <a:r>
              <a:rPr lang="vi-VN" sz="2400">
                <a:latin typeface="Times New Roman" panose="02020603050405020304" pitchFamily="18" charset="0"/>
                <a:cs typeface="Times New Roman" panose="02020603050405020304" pitchFamily="18" charset="0"/>
              </a:rPr>
              <a:t>Khi sự kiện xảy ra, Angular cung cấp một biến đặc biệt tên là </a:t>
            </a:r>
            <a:r>
              <a:rPr lang="vi-VN" sz="2400">
                <a:solidFill>
                  <a:srgbClr val="FF0000"/>
                </a:solidFill>
                <a:latin typeface="Times New Roman" panose="02020603050405020304" pitchFamily="18" charset="0"/>
                <a:cs typeface="Times New Roman" panose="02020603050405020304" pitchFamily="18" charset="0"/>
              </a:rPr>
              <a:t>$event</a:t>
            </a:r>
            <a:r>
              <a:rPr lang="vi-VN" sz="2400">
                <a:latin typeface="Times New Roman" panose="02020603050405020304" pitchFamily="18" charset="0"/>
                <a:cs typeface="Times New Roman" panose="02020603050405020304" pitchFamily="18" charset="0"/>
              </a:rPr>
              <a:t>. Biến này chứa toàn bộ dữ liệu về sự kiện (tọa độ chuột, giá trị trong ô input, mã phím nhấn, v.v.).</a:t>
            </a:r>
          </a:p>
        </p:txBody>
      </p:sp>
      <p:grpSp>
        <p:nvGrpSpPr>
          <p:cNvPr id="20" name="Group 19">
            <a:extLst>
              <a:ext uri="{FF2B5EF4-FFF2-40B4-BE49-F238E27FC236}">
                <a16:creationId xmlns:a16="http://schemas.microsoft.com/office/drawing/2014/main" id="{B792874C-4FD9-D87D-4236-A0BA16CD007C}"/>
              </a:ext>
            </a:extLst>
          </p:cNvPr>
          <p:cNvGrpSpPr/>
          <p:nvPr/>
        </p:nvGrpSpPr>
        <p:grpSpPr>
          <a:xfrm>
            <a:off x="388797" y="2565329"/>
            <a:ext cx="4114800" cy="3486173"/>
            <a:chOff x="1676400" y="2762227"/>
            <a:chExt cx="4114800" cy="3486173"/>
          </a:xfrm>
        </p:grpSpPr>
        <p:sp>
          <p:nvSpPr>
            <p:cNvPr id="21" name="Rectangle 20">
              <a:extLst>
                <a:ext uri="{FF2B5EF4-FFF2-40B4-BE49-F238E27FC236}">
                  <a16:creationId xmlns:a16="http://schemas.microsoft.com/office/drawing/2014/main" id="{93759C51-FC33-CBCE-69B8-1BB82F85233E}"/>
                </a:ext>
              </a:extLst>
            </p:cNvPr>
            <p:cNvSpPr/>
            <p:nvPr/>
          </p:nvSpPr>
          <p:spPr>
            <a:xfrm>
              <a:off x="1828800" y="3124562"/>
              <a:ext cx="3962400" cy="3123838"/>
            </a:xfrm>
            <a:prstGeom prst="rect">
              <a:avLst/>
            </a:prstGeom>
            <a:noFill/>
            <a:ln w="19050"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22" name="TextBox 21">
              <a:extLst>
                <a:ext uri="{FF2B5EF4-FFF2-40B4-BE49-F238E27FC236}">
                  <a16:creationId xmlns:a16="http://schemas.microsoft.com/office/drawing/2014/main" id="{21447212-1C76-12D8-422D-7A55B6C609D9}"/>
                </a:ext>
              </a:extLst>
            </p:cNvPr>
            <p:cNvSpPr txBox="1"/>
            <p:nvPr/>
          </p:nvSpPr>
          <p:spPr>
            <a:xfrm>
              <a:off x="1676400" y="2762227"/>
              <a:ext cx="1467068"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2000" b="1" i="0" u="none" strike="noStrike" kern="1200" cap="none" spc="0" normalizeH="0" baseline="0" noProof="0">
                  <a:ln>
                    <a:noFill/>
                  </a:ln>
                  <a:solidFill>
                    <a:prstClr val="black"/>
                  </a:solidFill>
                  <a:effectLst/>
                  <a:uLnTx/>
                  <a:uFillTx/>
                  <a:latin typeface="Times" pitchFamily="2" charset="0"/>
                  <a:ea typeface="+mn-ea"/>
                  <a:cs typeface="+mn-cs"/>
                </a:rPr>
                <a:t>Component</a:t>
              </a:r>
            </a:p>
          </p:txBody>
        </p:sp>
        <p:sp>
          <p:nvSpPr>
            <p:cNvPr id="23" name="Rectangle 22">
              <a:extLst>
                <a:ext uri="{FF2B5EF4-FFF2-40B4-BE49-F238E27FC236}">
                  <a16:creationId xmlns:a16="http://schemas.microsoft.com/office/drawing/2014/main" id="{D810EA8E-2BBF-E1D5-3D7F-ABAB459F904D}"/>
                </a:ext>
              </a:extLst>
            </p:cNvPr>
            <p:cNvSpPr/>
            <p:nvPr/>
          </p:nvSpPr>
          <p:spPr>
            <a:xfrm>
              <a:off x="2743200" y="3334694"/>
              <a:ext cx="2120372" cy="1034086"/>
            </a:xfrm>
            <a:prstGeom prst="rect">
              <a:avLst/>
            </a:prstGeom>
            <a:blipFill>
              <a:blip r:embed="rId3">
                <a:duotone>
                  <a:sysClr val="windowText" lastClr="000000">
                    <a:shade val="48000"/>
                  </a:sysClr>
                  <a:sysClr val="windowText" lastClr="000000">
                    <a:tint val="96000"/>
                    <a:satMod val="150000"/>
                  </a:sysClr>
                </a:duotone>
              </a:blip>
              <a:tile tx="0" ty="0" sx="80000" sy="80000" flip="none" algn="tl"/>
            </a:blip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Template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HTML</a:t>
              </a:r>
            </a:p>
          </p:txBody>
        </p:sp>
        <p:sp>
          <p:nvSpPr>
            <p:cNvPr id="24" name="Rectangle 23">
              <a:extLst>
                <a:ext uri="{FF2B5EF4-FFF2-40B4-BE49-F238E27FC236}">
                  <a16:creationId xmlns:a16="http://schemas.microsoft.com/office/drawing/2014/main" id="{6F19D38C-F211-5F81-AD78-1E6DD4C3758C}"/>
                </a:ext>
              </a:extLst>
            </p:cNvPr>
            <p:cNvSpPr/>
            <p:nvPr/>
          </p:nvSpPr>
          <p:spPr>
            <a:xfrm>
              <a:off x="2751551" y="5041957"/>
              <a:ext cx="2120372" cy="1034086"/>
            </a:xfrm>
            <a:prstGeom prst="rect">
              <a:avLst/>
            </a:prstGeom>
            <a:solidFill>
              <a:srgbClr val="17406D"/>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Class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Code: TypeScript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Data &amp; Method</a:t>
              </a:r>
            </a:p>
          </p:txBody>
        </p:sp>
        <p:cxnSp>
          <p:nvCxnSpPr>
            <p:cNvPr id="25" name="Elbow Connector 19">
              <a:extLst>
                <a:ext uri="{FF2B5EF4-FFF2-40B4-BE49-F238E27FC236}">
                  <a16:creationId xmlns:a16="http://schemas.microsoft.com/office/drawing/2014/main" id="{3F836033-15B6-DB6E-4491-38CD2423800D}"/>
                </a:ext>
              </a:extLst>
            </p:cNvPr>
            <p:cNvCxnSpPr>
              <a:stCxn id="24" idx="1"/>
              <a:endCxn id="23" idx="1"/>
            </p:cNvCxnSpPr>
            <p:nvPr/>
          </p:nvCxnSpPr>
          <p:spPr>
            <a:xfrm rot="10800000">
              <a:off x="2743201" y="3851738"/>
              <a:ext cx="8351" cy="1707263"/>
            </a:xfrm>
            <a:prstGeom prst="bentConnector3">
              <a:avLst>
                <a:gd name="adj1" fmla="val 5087319"/>
              </a:avLst>
            </a:prstGeom>
            <a:noFill/>
            <a:ln w="9525" cap="flat" cmpd="sng" algn="ctr">
              <a:solidFill>
                <a:srgbClr val="17406D">
                  <a:lumMod val="75000"/>
                </a:srgbClr>
              </a:solidFill>
              <a:prstDash val="solid"/>
              <a:tailEnd type="triangle"/>
            </a:ln>
            <a:effectLst/>
          </p:spPr>
        </p:cxnSp>
        <p:cxnSp>
          <p:nvCxnSpPr>
            <p:cNvPr id="26" name="Elbow Connector 20">
              <a:extLst>
                <a:ext uri="{FF2B5EF4-FFF2-40B4-BE49-F238E27FC236}">
                  <a16:creationId xmlns:a16="http://schemas.microsoft.com/office/drawing/2014/main" id="{14F457CA-0DA9-B8D9-D100-2DC2FC6A4F1B}"/>
                </a:ext>
              </a:extLst>
            </p:cNvPr>
            <p:cNvCxnSpPr>
              <a:stCxn id="23" idx="3"/>
              <a:endCxn id="24" idx="3"/>
            </p:cNvCxnSpPr>
            <p:nvPr/>
          </p:nvCxnSpPr>
          <p:spPr>
            <a:xfrm>
              <a:off x="4863572" y="3851737"/>
              <a:ext cx="8351" cy="1707263"/>
            </a:xfrm>
            <a:prstGeom prst="bentConnector3">
              <a:avLst>
                <a:gd name="adj1" fmla="val 5237313"/>
              </a:avLst>
            </a:prstGeom>
            <a:noFill/>
            <a:ln w="9525" cap="flat" cmpd="sng" algn="ctr">
              <a:solidFill>
                <a:srgbClr val="17406D">
                  <a:lumMod val="75000"/>
                </a:srgbClr>
              </a:solidFill>
              <a:prstDash val="solid"/>
              <a:tailEnd type="triangle"/>
            </a:ln>
            <a:effectLst/>
          </p:spPr>
        </p:cxnSp>
        <p:sp>
          <p:nvSpPr>
            <p:cNvPr id="27" name="TextBox 26">
              <a:extLst>
                <a:ext uri="{FF2B5EF4-FFF2-40B4-BE49-F238E27FC236}">
                  <a16:creationId xmlns:a16="http://schemas.microsoft.com/office/drawing/2014/main" id="{2FAD1CCF-7A4A-6909-81B3-FBB74B96AD43}"/>
                </a:ext>
              </a:extLst>
            </p:cNvPr>
            <p:cNvSpPr txBox="1"/>
            <p:nvPr/>
          </p:nvSpPr>
          <p:spPr>
            <a:xfrm rot="16200000">
              <a:off x="1365941" y="4447092"/>
              <a:ext cx="156004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Data binding</a:t>
              </a:r>
            </a:p>
          </p:txBody>
        </p:sp>
        <p:sp>
          <p:nvSpPr>
            <p:cNvPr id="28" name="TextBox 27">
              <a:extLst>
                <a:ext uri="{FF2B5EF4-FFF2-40B4-BE49-F238E27FC236}">
                  <a16:creationId xmlns:a16="http://schemas.microsoft.com/office/drawing/2014/main" id="{EFB6ECE0-A511-20C8-66DD-BDCD0046D50E}"/>
                </a:ext>
              </a:extLst>
            </p:cNvPr>
            <p:cNvSpPr txBox="1"/>
            <p:nvPr/>
          </p:nvSpPr>
          <p:spPr>
            <a:xfrm rot="5400000">
              <a:off x="4696967" y="4563054"/>
              <a:ext cx="1643399"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Event binding</a:t>
              </a:r>
            </a:p>
          </p:txBody>
        </p:sp>
      </p:grpSp>
      <p:pic>
        <p:nvPicPr>
          <p:cNvPr id="30" name="Picture 29">
            <a:extLst>
              <a:ext uri="{FF2B5EF4-FFF2-40B4-BE49-F238E27FC236}">
                <a16:creationId xmlns:a16="http://schemas.microsoft.com/office/drawing/2014/main" id="{776EC67C-695F-0EE3-CC79-6F7A254B8A22}"/>
              </a:ext>
            </a:extLst>
          </p:cNvPr>
          <p:cNvPicPr>
            <a:picLocks noChangeAspect="1"/>
          </p:cNvPicPr>
          <p:nvPr/>
        </p:nvPicPr>
        <p:blipFill>
          <a:blip r:embed="rId4"/>
          <a:stretch>
            <a:fillRect/>
          </a:stretch>
        </p:blipFill>
        <p:spPr>
          <a:xfrm>
            <a:off x="4752931" y="2888765"/>
            <a:ext cx="7243200" cy="2911529"/>
          </a:xfrm>
          <a:prstGeom prst="rect">
            <a:avLst/>
          </a:prstGeom>
        </p:spPr>
      </p:pic>
    </p:spTree>
    <p:extLst>
      <p:ext uri="{BB962C8B-B14F-4D97-AF65-F5344CB8AC3E}">
        <p14:creationId xmlns:p14="http://schemas.microsoft.com/office/powerpoint/2010/main" val="3095693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FDDE264-2DE7-C795-D1FC-A89E5B12FBC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088C62E-C800-BDF4-AAB4-55EC9C97DED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BB542AB-CE48-F026-5763-E9520FE9475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FB58B13C-E883-5ABF-2152-415DD032A70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35A1D13-0C81-A2D4-9312-CB20CA5B4A3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5B23CD6B-D0F8-B406-3F01-D6139781323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DF856FD-4E39-593E-CD80-A69302B9336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A786CF5-B880-F109-3CFD-EED1A707022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382A1BC-D96B-5E6D-17BA-22356E95C08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EB80E30B-AC56-1404-D0DF-A7583656D38A}"/>
              </a:ext>
            </a:extLst>
          </p:cNvPr>
          <p:cNvSpPr txBox="1"/>
          <p:nvPr/>
        </p:nvSpPr>
        <p:spPr>
          <a:xfrm>
            <a:off x="462244" y="798021"/>
            <a:ext cx="11267512" cy="579967"/>
          </a:xfrm>
          <a:prstGeom prst="rect">
            <a:avLst/>
          </a:prstGeom>
          <a:noFill/>
        </p:spPr>
        <p:txBody>
          <a:bodyPr wrap="square">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BindingEventComponent</a:t>
            </a:r>
            <a:r>
              <a:rPr lang="en-US" sz="2400" dirty="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id="{D8EBDA0C-4834-1F27-3299-9E0DE5E1D3A3}"/>
              </a:ext>
            </a:extLst>
          </p:cNvPr>
          <p:cNvPicPr>
            <a:picLocks noChangeAspect="1"/>
          </p:cNvPicPr>
          <p:nvPr/>
        </p:nvPicPr>
        <p:blipFill>
          <a:blip r:embed="rId3"/>
          <a:stretch>
            <a:fillRect/>
          </a:stretch>
        </p:blipFill>
        <p:spPr>
          <a:xfrm>
            <a:off x="510056" y="1534763"/>
            <a:ext cx="5585944" cy="845893"/>
          </a:xfrm>
          <a:prstGeom prst="rect">
            <a:avLst/>
          </a:prstGeom>
          <a:ln>
            <a:solidFill>
              <a:schemeClr val="tx1"/>
            </a:solidFill>
          </a:ln>
        </p:spPr>
      </p:pic>
      <p:pic>
        <p:nvPicPr>
          <p:cNvPr id="13" name="Picture 12">
            <a:extLst>
              <a:ext uri="{FF2B5EF4-FFF2-40B4-BE49-F238E27FC236}">
                <a16:creationId xmlns:a16="http://schemas.microsoft.com/office/drawing/2014/main" id="{C7FF2CB8-758B-50B9-FAB6-DAB52A6EECA9}"/>
              </a:ext>
            </a:extLst>
          </p:cNvPr>
          <p:cNvPicPr>
            <a:picLocks noChangeAspect="1"/>
          </p:cNvPicPr>
          <p:nvPr/>
        </p:nvPicPr>
        <p:blipFill>
          <a:blip r:embed="rId4"/>
          <a:stretch>
            <a:fillRect/>
          </a:stretch>
        </p:blipFill>
        <p:spPr>
          <a:xfrm>
            <a:off x="564686" y="3382994"/>
            <a:ext cx="7323455" cy="2606266"/>
          </a:xfrm>
          <a:prstGeom prst="rect">
            <a:avLst/>
          </a:prstGeom>
          <a:ln>
            <a:solidFill>
              <a:schemeClr val="tx1"/>
            </a:solidFill>
          </a:ln>
        </p:spPr>
      </p:pic>
      <p:pic>
        <p:nvPicPr>
          <p:cNvPr id="15" name="Picture 14">
            <a:extLst>
              <a:ext uri="{FF2B5EF4-FFF2-40B4-BE49-F238E27FC236}">
                <a16:creationId xmlns:a16="http://schemas.microsoft.com/office/drawing/2014/main" id="{49E5B50D-852F-BF77-C3F3-FE3F20AF30D8}"/>
              </a:ext>
            </a:extLst>
          </p:cNvPr>
          <p:cNvPicPr>
            <a:picLocks noChangeAspect="1"/>
          </p:cNvPicPr>
          <p:nvPr/>
        </p:nvPicPr>
        <p:blipFill>
          <a:blip r:embed="rId5"/>
          <a:stretch>
            <a:fillRect/>
          </a:stretch>
        </p:blipFill>
        <p:spPr>
          <a:xfrm>
            <a:off x="8099500" y="878147"/>
            <a:ext cx="2964437" cy="3657917"/>
          </a:xfrm>
          <a:prstGeom prst="rect">
            <a:avLst/>
          </a:prstGeom>
        </p:spPr>
      </p:pic>
      <p:sp>
        <p:nvSpPr>
          <p:cNvPr id="16" name="Arrow: Down 15">
            <a:extLst>
              <a:ext uri="{FF2B5EF4-FFF2-40B4-BE49-F238E27FC236}">
                <a16:creationId xmlns:a16="http://schemas.microsoft.com/office/drawing/2014/main" id="{220AEF46-BCB4-A280-2EEC-928D13B032BE}"/>
              </a:ext>
            </a:extLst>
          </p:cNvPr>
          <p:cNvSpPr/>
          <p:nvPr/>
        </p:nvSpPr>
        <p:spPr>
          <a:xfrm>
            <a:off x="3130436" y="2603291"/>
            <a:ext cx="431045" cy="69165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Bent-Up 16">
            <a:extLst>
              <a:ext uri="{FF2B5EF4-FFF2-40B4-BE49-F238E27FC236}">
                <a16:creationId xmlns:a16="http://schemas.microsoft.com/office/drawing/2014/main" id="{8202663E-9DED-F843-05B4-DB3F35C724E1}"/>
              </a:ext>
            </a:extLst>
          </p:cNvPr>
          <p:cNvSpPr/>
          <p:nvPr/>
        </p:nvSpPr>
        <p:spPr>
          <a:xfrm>
            <a:off x="8027594" y="4602438"/>
            <a:ext cx="628268" cy="92830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97936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B25BEA7-2450-B1A8-7FA5-261EF3F8E11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6B4D12D-79F0-4F0F-8238-1B662200A6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5A88D0D-07E8-8AA3-38E4-FE164916F13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41D8267D-F156-3D35-2AB6-0E845334A95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E228FDB-0837-A3B1-847D-C377E206ADD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BCB0DC4B-515B-DF42-4E82-058820AAD84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B5E23EC-F1E7-B9FE-C342-FA1F5ABE153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29B66A0-8414-FB46-C3E3-DC528B23C39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B3756CA-A016-50EF-C552-1BBE39E333E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DAEBF31-68D0-8496-0BB8-1142D21818C6}"/>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binding-event-component.ts</a:t>
            </a:r>
          </a:p>
        </p:txBody>
      </p:sp>
      <p:pic>
        <p:nvPicPr>
          <p:cNvPr id="18" name="Picture 17">
            <a:extLst>
              <a:ext uri="{FF2B5EF4-FFF2-40B4-BE49-F238E27FC236}">
                <a16:creationId xmlns:a16="http://schemas.microsoft.com/office/drawing/2014/main" id="{03EB4F51-DA6A-AD3C-CAA2-CA9FFBA677E1}"/>
              </a:ext>
            </a:extLst>
          </p:cNvPr>
          <p:cNvPicPr>
            <a:picLocks noChangeAspect="1"/>
          </p:cNvPicPr>
          <p:nvPr/>
        </p:nvPicPr>
        <p:blipFill>
          <a:blip r:embed="rId3"/>
          <a:stretch>
            <a:fillRect/>
          </a:stretch>
        </p:blipFill>
        <p:spPr>
          <a:xfrm>
            <a:off x="664686" y="1358033"/>
            <a:ext cx="6244878" cy="4967613"/>
          </a:xfrm>
          <a:prstGeom prst="rect">
            <a:avLst/>
          </a:prstGeom>
        </p:spPr>
      </p:pic>
    </p:spTree>
    <p:extLst>
      <p:ext uri="{BB962C8B-B14F-4D97-AF65-F5344CB8AC3E}">
        <p14:creationId xmlns:p14="http://schemas.microsoft.com/office/powerpoint/2010/main" val="4286635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8169841-94A3-9D91-C2A0-DAD81DB6748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D371D3D-1150-7CF3-4739-2A75603B1BA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466952B-FD96-A41B-1EA1-CA15F7C53C5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66D591DF-048D-F748-0074-66F9297F9923}"/>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51EC6D2-4BE0-CBB1-BD96-DCE16D9A33C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82BD40BB-C579-4705-E607-952CB3FF942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5C06E74-5920-E59D-394A-FD149C23FBC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BC4F5CC-01CC-95C6-5D80-3D42E24DDD3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31E4189-230D-1AED-CB7C-2302A5DE0EB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6BA2880-0BC9-BE3B-3747-D5EF356667EF}"/>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binding-event-component.html</a:t>
            </a:r>
          </a:p>
        </p:txBody>
      </p:sp>
      <p:pic>
        <p:nvPicPr>
          <p:cNvPr id="10" name="Picture 9">
            <a:extLst>
              <a:ext uri="{FF2B5EF4-FFF2-40B4-BE49-F238E27FC236}">
                <a16:creationId xmlns:a16="http://schemas.microsoft.com/office/drawing/2014/main" id="{CF9C119C-F677-752A-253E-A1A27402B767}"/>
              </a:ext>
            </a:extLst>
          </p:cNvPr>
          <p:cNvPicPr>
            <a:picLocks noChangeAspect="1"/>
          </p:cNvPicPr>
          <p:nvPr/>
        </p:nvPicPr>
        <p:blipFill>
          <a:blip r:embed="rId3"/>
          <a:stretch>
            <a:fillRect/>
          </a:stretch>
        </p:blipFill>
        <p:spPr>
          <a:xfrm>
            <a:off x="316724" y="1429846"/>
            <a:ext cx="11751058" cy="2331922"/>
          </a:xfrm>
          <a:prstGeom prst="rect">
            <a:avLst/>
          </a:prstGeom>
        </p:spPr>
      </p:pic>
    </p:spTree>
    <p:extLst>
      <p:ext uri="{BB962C8B-B14F-4D97-AF65-F5344CB8AC3E}">
        <p14:creationId xmlns:p14="http://schemas.microsoft.com/office/powerpoint/2010/main" val="9523056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87781D-DAA0-0675-F2FD-D4189C92257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217D225-75B3-5C84-8438-2DFB61F1842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96FBBB0-C27C-63D2-563D-AE1D71CBD7B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20FC5627-C078-87FA-5DB0-187D3B7DD50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6190E70C-6899-F0A4-79CB-3DA301F88FE2}"/>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566E563E-B438-A0CC-6FF3-FDB1ACF834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F3FBFDE-8EB5-98DB-79FD-E17D26DFB45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1ACE3C1-F683-E69F-3BDA-9AFDAB84F1B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D48E6DC-FE53-C705-320A-880CEA111BF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7B37033-797E-74FC-7158-F3BAF3828EBF}"/>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app.html</a:t>
            </a:r>
          </a:p>
        </p:txBody>
      </p:sp>
      <p:sp>
        <p:nvSpPr>
          <p:cNvPr id="11" name="TextBox 10">
            <a:extLst>
              <a:ext uri="{FF2B5EF4-FFF2-40B4-BE49-F238E27FC236}">
                <a16:creationId xmlns:a16="http://schemas.microsoft.com/office/drawing/2014/main" id="{39E3AB21-BB12-1015-1C4D-E633D652ADC5}"/>
              </a:ext>
            </a:extLst>
          </p:cNvPr>
          <p:cNvSpPr txBox="1"/>
          <p:nvPr/>
        </p:nvSpPr>
        <p:spPr>
          <a:xfrm>
            <a:off x="728131" y="1577776"/>
            <a:ext cx="10574677" cy="1141018"/>
          </a:xfrm>
          <a:prstGeom prst="rect">
            <a:avLst/>
          </a:prstGeom>
          <a:noFill/>
          <a:ln>
            <a:solidFill>
              <a:schemeClr val="tx1"/>
            </a:solidFill>
          </a:ln>
        </p:spPr>
        <p:txBody>
          <a:bodyPr wrap="square">
            <a:spAutoFit/>
          </a:bodyPr>
          <a:lstStyle/>
          <a:p>
            <a:pPr>
              <a:lnSpc>
                <a:spcPct val="150000"/>
              </a:lnSpc>
              <a:buNone/>
            </a:pPr>
            <a:r>
              <a:rPr lang="en-US" sz="2400" b="0">
                <a:solidFill>
                  <a:srgbClr val="800000"/>
                </a:solidFill>
                <a:effectLst/>
                <a:latin typeface="Consolas" panose="020B0609020204030204" pitchFamily="49" charset="0"/>
              </a:rPr>
              <a:t>&lt;app-binding-event-component&gt;&lt;/app-binding-event-component&gt;</a:t>
            </a:r>
            <a:endParaRPr lang="en-US" sz="2400" b="0">
              <a:solidFill>
                <a:srgbClr val="000000"/>
              </a:solidFill>
              <a:effectLst/>
              <a:latin typeface="Consolas" panose="020B0609020204030204" pitchFamily="49" charset="0"/>
            </a:endParaRPr>
          </a:p>
          <a:p>
            <a:pPr>
              <a:lnSpc>
                <a:spcPct val="150000"/>
              </a:lnSpc>
              <a:buNone/>
            </a:pPr>
            <a:r>
              <a:rPr lang="en-US" sz="2400" b="0">
                <a:solidFill>
                  <a:srgbClr val="800000"/>
                </a:solidFill>
                <a:effectLst/>
                <a:latin typeface="Consolas" panose="020B0609020204030204" pitchFamily="49" charset="0"/>
              </a:rPr>
              <a:t>&lt;router-outlet</a:t>
            </a:r>
            <a:r>
              <a:rPr lang="en-US" sz="2400" b="0">
                <a:solidFill>
                  <a:srgbClr val="000000"/>
                </a:solidFill>
                <a:effectLst/>
                <a:latin typeface="Consolas" panose="020B0609020204030204" pitchFamily="49" charset="0"/>
              </a:rPr>
              <a:t> </a:t>
            </a:r>
            <a:r>
              <a:rPr lang="en-US" sz="2400" b="0">
                <a:solidFill>
                  <a:srgbClr val="800000"/>
                </a:solidFill>
                <a:effectLst/>
                <a:latin typeface="Consolas" panose="020B0609020204030204" pitchFamily="49" charset="0"/>
              </a:rPr>
              <a:t>/&gt;</a:t>
            </a:r>
            <a:endParaRPr lang="en-US" sz="2400" b="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1197811A-4D9E-3EE9-04D3-F978E2B54297}"/>
              </a:ext>
            </a:extLst>
          </p:cNvPr>
          <p:cNvPicPr>
            <a:picLocks noChangeAspect="1"/>
          </p:cNvPicPr>
          <p:nvPr/>
        </p:nvPicPr>
        <p:blipFill>
          <a:blip r:embed="rId3"/>
          <a:stretch>
            <a:fillRect/>
          </a:stretch>
        </p:blipFill>
        <p:spPr>
          <a:xfrm>
            <a:off x="698566" y="3099901"/>
            <a:ext cx="5596332" cy="2664920"/>
          </a:xfrm>
          <a:prstGeom prst="rect">
            <a:avLst/>
          </a:prstGeom>
        </p:spPr>
      </p:pic>
      <p:pic>
        <p:nvPicPr>
          <p:cNvPr id="15" name="Picture 14">
            <a:extLst>
              <a:ext uri="{FF2B5EF4-FFF2-40B4-BE49-F238E27FC236}">
                <a16:creationId xmlns:a16="http://schemas.microsoft.com/office/drawing/2014/main" id="{0E0069F2-6073-9F89-8EFD-59685D791FB9}"/>
              </a:ext>
            </a:extLst>
          </p:cNvPr>
          <p:cNvPicPr>
            <a:picLocks noChangeAspect="1"/>
          </p:cNvPicPr>
          <p:nvPr/>
        </p:nvPicPr>
        <p:blipFill>
          <a:blip r:embed="rId4"/>
          <a:stretch>
            <a:fillRect/>
          </a:stretch>
        </p:blipFill>
        <p:spPr>
          <a:xfrm>
            <a:off x="6485343" y="3099901"/>
            <a:ext cx="5596334" cy="2664921"/>
          </a:xfrm>
          <a:prstGeom prst="rect">
            <a:avLst/>
          </a:prstGeom>
        </p:spPr>
      </p:pic>
    </p:spTree>
    <p:extLst>
      <p:ext uri="{BB962C8B-B14F-4D97-AF65-F5344CB8AC3E}">
        <p14:creationId xmlns:p14="http://schemas.microsoft.com/office/powerpoint/2010/main" val="23371497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CAC33BA-7C60-3069-8D65-5E1217FFB85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31D7070-7485-B575-1B11-17AAB5FDCED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8D256F4-4BBB-6E5A-6134-12DCD76D66D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6305D2C9-CE3A-883D-CEB4-47C21C7EF4EE}"/>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F3520839-623D-924E-7C5B-001E02CF5F3E}"/>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D2BAE9D1-1911-CDC0-BBE3-6D52A04ACA4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B8961F5-C772-518E-57EA-23A653DF4B7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D8B1E35-44D2-0DC7-E80E-03B89E75B64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E23F754-2250-AA4E-6B4E-E705BDE2FE5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A856C013-8A58-F3F5-91BD-9F56C725465C}"/>
              </a:ext>
            </a:extLst>
          </p:cNvPr>
          <p:cNvSpPr>
            <a:spLocks noChangeArrowheads="1"/>
          </p:cNvSpPr>
          <p:nvPr/>
        </p:nvSpPr>
        <p:spPr bwMode="auto">
          <a:xfrm>
            <a:off x="388797" y="862569"/>
            <a:ext cx="11299023" cy="164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Two-way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Binding là sự kết hợp đồng thời giữa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Property Binding [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(Source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View) và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Event Binding (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(View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Source). Nó cho phép dữ liệu được đồng bộ hóa ngay lập tức theo cả hai chiều giữa Component Class và Template.</a:t>
            </a:r>
          </a:p>
        </p:txBody>
      </p:sp>
      <p:sp>
        <p:nvSpPr>
          <p:cNvPr id="10" name="Rectangle 2">
            <a:extLst>
              <a:ext uri="{FF2B5EF4-FFF2-40B4-BE49-F238E27FC236}">
                <a16:creationId xmlns:a16="http://schemas.microsoft.com/office/drawing/2014/main" id="{56DD4640-7225-2972-868F-B7F5AEE41CAD}"/>
              </a:ext>
            </a:extLst>
          </p:cNvPr>
          <p:cNvSpPr>
            <a:spLocks noChangeArrowheads="1"/>
          </p:cNvSpPr>
          <p:nvPr/>
        </p:nvSpPr>
        <p:spPr bwMode="auto">
          <a:xfrm>
            <a:off x="415251" y="2509723"/>
            <a:ext cx="11403197"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Syntax (Cú pháp):</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[(ngModel)].</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"Banana in a Box" Mnemonic:</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Đây là một thủ thuật ghi nhớ cực kỳ phổ biến trong cộng đồng Angular: Dấu ( ) (Event Binding) nằm trong dấu [ ] (Property Binding), nhìn giống quả chuối (banana) nằm trong cái hộp (box).</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Requirement (Yêu cầu):</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Để sử dụng [(ngModel)], bạn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bắt buộc</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phải import FormsModule từ @angular/forms vào app.module.ts. Nếu không, ứng dụng sẽ báo lỗi ngay lập tức.</a:t>
            </a:r>
          </a:p>
        </p:txBody>
      </p:sp>
    </p:spTree>
    <p:extLst>
      <p:ext uri="{BB962C8B-B14F-4D97-AF65-F5344CB8AC3E}">
        <p14:creationId xmlns:p14="http://schemas.microsoft.com/office/powerpoint/2010/main" val="65397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F46389F-B982-7734-8883-DDB0D4B5EE9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9B4F19C-25AA-6494-B66A-050C7F9A749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3478DEC-E26E-2B95-9F2A-DEB5488D4D2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B3CF0B0D-F8A4-F258-4BF4-070BAAE241B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1335E44A-82F1-D9AF-FF72-3292113BE5E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BFAC1E83-2C8E-437E-C6DC-EFD30E00386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5A00AA3-39EC-0DF1-E50C-3EB673EB444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1BE33D0-68BD-4250-80B5-DD00BA81842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7626C55-B745-6C07-0D3F-D55DFD9ABE0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E67FC66E-8507-B7F6-50D8-AC21E18BE402}"/>
              </a:ext>
            </a:extLst>
          </p:cNvPr>
          <p:cNvPicPr>
            <a:picLocks noChangeAspect="1"/>
          </p:cNvPicPr>
          <p:nvPr/>
        </p:nvPicPr>
        <p:blipFill>
          <a:blip r:embed="rId3"/>
          <a:stretch>
            <a:fillRect/>
          </a:stretch>
        </p:blipFill>
        <p:spPr>
          <a:xfrm>
            <a:off x="963485" y="1186786"/>
            <a:ext cx="10265030" cy="4305673"/>
          </a:xfrm>
          <a:prstGeom prst="rect">
            <a:avLst/>
          </a:prstGeom>
        </p:spPr>
      </p:pic>
    </p:spTree>
    <p:extLst>
      <p:ext uri="{BB962C8B-B14F-4D97-AF65-F5344CB8AC3E}">
        <p14:creationId xmlns:p14="http://schemas.microsoft.com/office/powerpoint/2010/main" val="2356226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E06C98B-77E0-15B3-925C-0D9EB4C8CE2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11FB2BC-7479-BF2D-E10B-20D9C57E640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963280-D13C-EB0A-AB8A-603C2D7EFD4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5C1832BC-2F63-DA28-EBD7-5ABFFB077C2C}"/>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E22855D-F558-D3C0-37DF-8E81A195FF9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F10E31BE-23A4-816E-97B9-4F62E3165AD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E92FD4C-7757-6339-16B2-DF3521AFC3A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4C54E33-2826-3463-3422-95EE1E53081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6E93473-E91D-B0A3-2FD6-1B536556B58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1CF9129E-806A-DF6D-D106-01073D364D67}"/>
              </a:ext>
            </a:extLst>
          </p:cNvPr>
          <p:cNvPicPr>
            <a:picLocks noChangeAspect="1"/>
          </p:cNvPicPr>
          <p:nvPr/>
        </p:nvPicPr>
        <p:blipFill>
          <a:blip r:embed="rId3"/>
          <a:stretch>
            <a:fillRect/>
          </a:stretch>
        </p:blipFill>
        <p:spPr>
          <a:xfrm>
            <a:off x="791345" y="904964"/>
            <a:ext cx="7438254" cy="5341227"/>
          </a:xfrm>
          <a:prstGeom prst="rect">
            <a:avLst/>
          </a:prstGeom>
        </p:spPr>
      </p:pic>
    </p:spTree>
    <p:extLst>
      <p:ext uri="{BB962C8B-B14F-4D97-AF65-F5344CB8AC3E}">
        <p14:creationId xmlns:p14="http://schemas.microsoft.com/office/powerpoint/2010/main" val="40253134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EA1169C-A12C-03CD-CBEE-3C1F0A743BC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F326F08-7BB6-DA80-E00B-8E0541A4DAD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BAA1083-3291-9045-AA26-292EFB1CDBC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8847F99E-9FE4-9E2B-CC19-63226A1BBA0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1CE3B1A0-579A-BB84-DDC4-DDA8C1C47AD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A7357367-64C5-CE37-6152-D48B1864BF1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9D1F097-BB9D-8933-226C-A7AF96FD771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B6B0C4D-C873-7E12-1673-96CE02080DB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1F12B87-16D5-736D-132A-D33788DBE9D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AC94EE5-2655-CC24-A95D-21BED35D1F0E}"/>
              </a:ext>
            </a:extLst>
          </p:cNvPr>
          <p:cNvSpPr txBox="1"/>
          <p:nvPr/>
        </p:nvSpPr>
        <p:spPr>
          <a:xfrm>
            <a:off x="462244" y="798021"/>
            <a:ext cx="11267512" cy="579967"/>
          </a:xfrm>
          <a:prstGeom prst="rect">
            <a:avLst/>
          </a:prstGeom>
          <a:noFill/>
        </p:spPr>
        <p:txBody>
          <a:bodyPr wrap="square">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BindingTwoWayComponent</a:t>
            </a:r>
            <a:r>
              <a:rPr lang="en-US" sz="2400" dirty="0">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FACDEC00-25C6-845D-0F5F-D895687A0234}"/>
              </a:ext>
            </a:extLst>
          </p:cNvPr>
          <p:cNvPicPr>
            <a:picLocks noChangeAspect="1"/>
          </p:cNvPicPr>
          <p:nvPr/>
        </p:nvPicPr>
        <p:blipFill>
          <a:blip r:embed="rId3"/>
          <a:stretch>
            <a:fillRect/>
          </a:stretch>
        </p:blipFill>
        <p:spPr>
          <a:xfrm>
            <a:off x="462244" y="1558950"/>
            <a:ext cx="5662151" cy="777307"/>
          </a:xfrm>
          <a:prstGeom prst="rect">
            <a:avLst/>
          </a:prstGeom>
          <a:ln>
            <a:solidFill>
              <a:schemeClr val="tx1"/>
            </a:solidFill>
          </a:ln>
        </p:spPr>
      </p:pic>
      <p:pic>
        <p:nvPicPr>
          <p:cNvPr id="13" name="Picture 12">
            <a:extLst>
              <a:ext uri="{FF2B5EF4-FFF2-40B4-BE49-F238E27FC236}">
                <a16:creationId xmlns:a16="http://schemas.microsoft.com/office/drawing/2014/main" id="{28F038A7-5FF0-EAF6-95BF-446D6AFF8D69}"/>
              </a:ext>
            </a:extLst>
          </p:cNvPr>
          <p:cNvPicPr>
            <a:picLocks noChangeAspect="1"/>
          </p:cNvPicPr>
          <p:nvPr/>
        </p:nvPicPr>
        <p:blipFill>
          <a:blip r:embed="rId4"/>
          <a:stretch>
            <a:fillRect/>
          </a:stretch>
        </p:blipFill>
        <p:spPr>
          <a:xfrm>
            <a:off x="462244" y="3252904"/>
            <a:ext cx="8047417" cy="2537680"/>
          </a:xfrm>
          <a:prstGeom prst="rect">
            <a:avLst/>
          </a:prstGeom>
          <a:ln>
            <a:solidFill>
              <a:schemeClr val="tx1"/>
            </a:solidFill>
          </a:ln>
        </p:spPr>
      </p:pic>
      <p:pic>
        <p:nvPicPr>
          <p:cNvPr id="15" name="Picture 14">
            <a:extLst>
              <a:ext uri="{FF2B5EF4-FFF2-40B4-BE49-F238E27FC236}">
                <a16:creationId xmlns:a16="http://schemas.microsoft.com/office/drawing/2014/main" id="{BD67FEA8-8632-ACE4-5769-7021596A28FC}"/>
              </a:ext>
            </a:extLst>
          </p:cNvPr>
          <p:cNvPicPr>
            <a:picLocks noChangeAspect="1"/>
          </p:cNvPicPr>
          <p:nvPr/>
        </p:nvPicPr>
        <p:blipFill>
          <a:blip r:embed="rId5"/>
          <a:stretch>
            <a:fillRect/>
          </a:stretch>
        </p:blipFill>
        <p:spPr>
          <a:xfrm>
            <a:off x="7973099" y="860170"/>
            <a:ext cx="3299746" cy="2690093"/>
          </a:xfrm>
          <a:prstGeom prst="rect">
            <a:avLst/>
          </a:prstGeom>
        </p:spPr>
      </p:pic>
      <p:sp>
        <p:nvSpPr>
          <p:cNvPr id="16" name="Arrow: Down 15">
            <a:extLst>
              <a:ext uri="{FF2B5EF4-FFF2-40B4-BE49-F238E27FC236}">
                <a16:creationId xmlns:a16="http://schemas.microsoft.com/office/drawing/2014/main" id="{EA6BC499-895C-8C46-8E6D-6B731C14DE1F}"/>
              </a:ext>
            </a:extLst>
          </p:cNvPr>
          <p:cNvSpPr/>
          <p:nvPr/>
        </p:nvSpPr>
        <p:spPr>
          <a:xfrm>
            <a:off x="2986057" y="2408405"/>
            <a:ext cx="431045" cy="69165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Bent-Up 16">
            <a:extLst>
              <a:ext uri="{FF2B5EF4-FFF2-40B4-BE49-F238E27FC236}">
                <a16:creationId xmlns:a16="http://schemas.microsoft.com/office/drawing/2014/main" id="{14B2E402-18CF-7B13-8A08-9A88CBCBF287}"/>
              </a:ext>
            </a:extLst>
          </p:cNvPr>
          <p:cNvSpPr/>
          <p:nvPr/>
        </p:nvSpPr>
        <p:spPr>
          <a:xfrm>
            <a:off x="8591360" y="3612412"/>
            <a:ext cx="628268" cy="92830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0411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F416B73-171B-B751-4A39-0AF8467403A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CCAE995-3D38-D559-4346-EA71D6F03CF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A9088F3-639E-7B01-D948-2AA67049AF7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023E0F84-E621-B229-58BC-31AA4525B04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B713BA7C-F686-0A08-70BE-8D4AA97D301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D3B20A63-C013-446F-E67D-C0F574EC58C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029FA42-836F-36BE-093B-4467E94B18F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D6F1BC4-3510-EBF2-BEF1-E91A214066D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2F7F005-0C7B-5507-6A9D-DEE28A43AEA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38653789-9F5C-D7EF-6612-14B90D8D6560}"/>
              </a:ext>
            </a:extLst>
          </p:cNvPr>
          <p:cNvPicPr>
            <a:picLocks noChangeAspect="1"/>
          </p:cNvPicPr>
          <p:nvPr/>
        </p:nvPicPr>
        <p:blipFill>
          <a:blip r:embed="rId3"/>
          <a:stretch>
            <a:fillRect/>
          </a:stretch>
        </p:blipFill>
        <p:spPr>
          <a:xfrm>
            <a:off x="564686" y="1429846"/>
            <a:ext cx="8085521" cy="4762913"/>
          </a:xfrm>
          <a:prstGeom prst="rect">
            <a:avLst/>
          </a:prstGeom>
        </p:spPr>
      </p:pic>
      <p:sp>
        <p:nvSpPr>
          <p:cNvPr id="12" name="TextBox 11">
            <a:extLst>
              <a:ext uri="{FF2B5EF4-FFF2-40B4-BE49-F238E27FC236}">
                <a16:creationId xmlns:a16="http://schemas.microsoft.com/office/drawing/2014/main" id="{16729EB2-9277-82A3-8CF6-9E7CF35914A4}"/>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binding-two-way-component.ts</a:t>
            </a:r>
          </a:p>
        </p:txBody>
      </p:sp>
    </p:spTree>
    <p:extLst>
      <p:ext uri="{BB962C8B-B14F-4D97-AF65-F5344CB8AC3E}">
        <p14:creationId xmlns:p14="http://schemas.microsoft.com/office/powerpoint/2010/main" val="181650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34B8F08-60F1-A9D6-EB17-3D963E5D044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90D5848-1098-2991-AF14-F6DA3ED1844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607B1EF-62D2-B0E8-9D93-B5680DC969D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28F02476-1262-BFBA-0980-23E95372BDD3}"/>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0F086B3-8983-1675-8403-369A0D34F85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A8294CF5-2E0B-4779-D1E1-5EEFD35F22C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FAD4CDF-664F-19DA-6CDC-CCD9EEC8BA2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DAE1E47-BF46-FD15-0116-5A110043CDC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A578410-CF85-8F05-FA9D-C3CF2114F95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B422EAAF-6518-DD13-F6B6-5482C3041629}"/>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binding-two-way-component.html</a:t>
            </a:r>
          </a:p>
        </p:txBody>
      </p:sp>
      <p:pic>
        <p:nvPicPr>
          <p:cNvPr id="9" name="Picture 8">
            <a:extLst>
              <a:ext uri="{FF2B5EF4-FFF2-40B4-BE49-F238E27FC236}">
                <a16:creationId xmlns:a16="http://schemas.microsoft.com/office/drawing/2014/main" id="{A28E4BC3-5C6D-3829-1BA1-C9F2B43F0846}"/>
              </a:ext>
            </a:extLst>
          </p:cNvPr>
          <p:cNvPicPr>
            <a:picLocks noChangeAspect="1"/>
          </p:cNvPicPr>
          <p:nvPr/>
        </p:nvPicPr>
        <p:blipFill>
          <a:blip r:embed="rId3"/>
          <a:stretch>
            <a:fillRect/>
          </a:stretch>
        </p:blipFill>
        <p:spPr>
          <a:xfrm>
            <a:off x="621796" y="1526029"/>
            <a:ext cx="10082134" cy="2377646"/>
          </a:xfrm>
          <a:prstGeom prst="rect">
            <a:avLst/>
          </a:prstGeom>
        </p:spPr>
      </p:pic>
    </p:spTree>
    <p:extLst>
      <p:ext uri="{BB962C8B-B14F-4D97-AF65-F5344CB8AC3E}">
        <p14:creationId xmlns:p14="http://schemas.microsoft.com/office/powerpoint/2010/main" val="27221307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ED96A4-299C-0DBE-2C55-CAE3C9BA97D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5F35AA9-459F-29C4-1A4E-832267F7972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7EE7003-34CD-9F9D-9961-66D6BE4EF9E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A0DA1BCB-688A-518B-FF3B-7FBB20E5D6E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E92128BF-C373-D636-D5B3-D964979DCF0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90858C3F-AECB-741C-0A3B-434EAE2121F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B278359-186C-3051-C5F2-B364238ABE7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1B53FDE-D86C-94E8-0E96-94506F862D4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29DC3A6-9753-E543-E7EE-5D8ADF05CF1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82A53FA1-EA18-04A5-4B23-6D8F6D8AF2EC}"/>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app.html</a:t>
            </a:r>
          </a:p>
        </p:txBody>
      </p:sp>
      <p:sp>
        <p:nvSpPr>
          <p:cNvPr id="10" name="TextBox 9">
            <a:extLst>
              <a:ext uri="{FF2B5EF4-FFF2-40B4-BE49-F238E27FC236}">
                <a16:creationId xmlns:a16="http://schemas.microsoft.com/office/drawing/2014/main" id="{99161319-A8EA-8DAA-B417-72FF78BAB20F}"/>
              </a:ext>
            </a:extLst>
          </p:cNvPr>
          <p:cNvSpPr txBox="1"/>
          <p:nvPr/>
        </p:nvSpPr>
        <p:spPr>
          <a:xfrm>
            <a:off x="564686" y="1451580"/>
            <a:ext cx="11013131" cy="1141018"/>
          </a:xfrm>
          <a:prstGeom prst="rect">
            <a:avLst/>
          </a:prstGeom>
          <a:noFill/>
          <a:ln>
            <a:solidFill>
              <a:schemeClr val="tx1"/>
            </a:solidFill>
          </a:ln>
        </p:spPr>
        <p:txBody>
          <a:bodyPr wrap="square">
            <a:spAutoFit/>
          </a:bodyPr>
          <a:lstStyle/>
          <a:p>
            <a:pPr>
              <a:lnSpc>
                <a:spcPct val="150000"/>
              </a:lnSpc>
              <a:buNone/>
            </a:pPr>
            <a:r>
              <a:rPr lang="en-US" sz="2400" b="0">
                <a:solidFill>
                  <a:srgbClr val="800000"/>
                </a:solidFill>
                <a:effectLst/>
                <a:latin typeface="Consolas" panose="020B0609020204030204" pitchFamily="49" charset="0"/>
              </a:rPr>
              <a:t>&lt;app-binding-two-way-component&gt;&lt;/app-binding-two-way-component&gt;</a:t>
            </a:r>
            <a:endParaRPr lang="en-US" sz="2400" b="0">
              <a:solidFill>
                <a:srgbClr val="000000"/>
              </a:solidFill>
              <a:effectLst/>
              <a:latin typeface="Consolas" panose="020B0609020204030204" pitchFamily="49" charset="0"/>
            </a:endParaRPr>
          </a:p>
          <a:p>
            <a:pPr>
              <a:lnSpc>
                <a:spcPct val="150000"/>
              </a:lnSpc>
              <a:buNone/>
            </a:pPr>
            <a:r>
              <a:rPr lang="en-US" sz="2400" b="0">
                <a:solidFill>
                  <a:srgbClr val="800000"/>
                </a:solidFill>
                <a:effectLst/>
                <a:latin typeface="Consolas" panose="020B0609020204030204" pitchFamily="49" charset="0"/>
              </a:rPr>
              <a:t>&lt;router-outlet</a:t>
            </a:r>
            <a:r>
              <a:rPr lang="en-US" sz="2400" b="0">
                <a:solidFill>
                  <a:srgbClr val="000000"/>
                </a:solidFill>
                <a:effectLst/>
                <a:latin typeface="Consolas" panose="020B0609020204030204" pitchFamily="49" charset="0"/>
              </a:rPr>
              <a:t> </a:t>
            </a:r>
            <a:r>
              <a:rPr lang="en-US" sz="2400" b="0">
                <a:solidFill>
                  <a:srgbClr val="800000"/>
                </a:solidFill>
                <a:effectLst/>
                <a:latin typeface="Consolas" panose="020B0609020204030204" pitchFamily="49" charset="0"/>
              </a:rPr>
              <a:t>/&gt;</a:t>
            </a:r>
            <a:endParaRPr lang="en-US" sz="2400" b="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510D58D5-1986-0D82-73F4-AF39CAF513D0}"/>
              </a:ext>
            </a:extLst>
          </p:cNvPr>
          <p:cNvPicPr>
            <a:picLocks noChangeAspect="1"/>
          </p:cNvPicPr>
          <p:nvPr/>
        </p:nvPicPr>
        <p:blipFill>
          <a:blip r:embed="rId3"/>
          <a:stretch>
            <a:fillRect/>
          </a:stretch>
        </p:blipFill>
        <p:spPr>
          <a:xfrm>
            <a:off x="2327358" y="2725908"/>
            <a:ext cx="6727265" cy="3677454"/>
          </a:xfrm>
          <a:prstGeom prst="rect">
            <a:avLst/>
          </a:prstGeom>
        </p:spPr>
      </p:pic>
    </p:spTree>
    <p:extLst>
      <p:ext uri="{BB962C8B-B14F-4D97-AF65-F5344CB8AC3E}">
        <p14:creationId xmlns:p14="http://schemas.microsoft.com/office/powerpoint/2010/main" val="9652402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E19F10E-E7C0-674D-D9C9-80CF74591BD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6131353-0667-C3EB-55A5-E434B2DBA3C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68D6EE5-995D-90C9-CDC0-D5C568C0175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CC86AA55-3995-15D5-9377-A89FF623988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1C2B625F-BF61-AF2E-22AF-346A3022AAA4}"/>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9637CFC3-5FFB-CC8A-70A3-3E817CE78E9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B536FC5-8339-7C07-255B-BC164A4B6D7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4521C54-65A1-1A04-779C-9B314431273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6492209-2F2B-DFE9-8541-9653EAC44E4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4A942938-1F9F-287E-F0C3-952FBC70BCF4}"/>
              </a:ext>
            </a:extLst>
          </p:cNvPr>
          <p:cNvGraphicFramePr>
            <a:graphicFrameLocks noGrp="1"/>
          </p:cNvGraphicFramePr>
          <p:nvPr>
            <p:extLst>
              <p:ext uri="{D42A27DB-BD31-4B8C-83A1-F6EECF244321}">
                <p14:modId xmlns:p14="http://schemas.microsoft.com/office/powerpoint/2010/main" val="3615581386"/>
              </p:ext>
            </p:extLst>
          </p:nvPr>
        </p:nvGraphicFramePr>
        <p:xfrm>
          <a:off x="415251" y="1113423"/>
          <a:ext cx="11411891" cy="3657600"/>
        </p:xfrm>
        <a:graphic>
          <a:graphicData uri="http://schemas.openxmlformats.org/drawingml/2006/table">
            <a:tbl>
              <a:tblPr>
                <a:tableStyleId>{5940675A-B579-460E-94D1-54222C63F5DA}</a:tableStyleId>
              </a:tblPr>
              <a:tblGrid>
                <a:gridCol w="1997940">
                  <a:extLst>
                    <a:ext uri="{9D8B030D-6E8A-4147-A177-3AD203B41FA5}">
                      <a16:colId xmlns:a16="http://schemas.microsoft.com/office/drawing/2014/main" val="1073043344"/>
                    </a:ext>
                  </a:extLst>
                </a:gridCol>
                <a:gridCol w="3073209">
                  <a:extLst>
                    <a:ext uri="{9D8B030D-6E8A-4147-A177-3AD203B41FA5}">
                      <a16:colId xmlns:a16="http://schemas.microsoft.com/office/drawing/2014/main" val="127100803"/>
                    </a:ext>
                  </a:extLst>
                </a:gridCol>
                <a:gridCol w="2811952">
                  <a:extLst>
                    <a:ext uri="{9D8B030D-6E8A-4147-A177-3AD203B41FA5}">
                      <a16:colId xmlns:a16="http://schemas.microsoft.com/office/drawing/2014/main" val="3773624488"/>
                    </a:ext>
                  </a:extLst>
                </a:gridCol>
                <a:gridCol w="3528790">
                  <a:extLst>
                    <a:ext uri="{9D8B030D-6E8A-4147-A177-3AD203B41FA5}">
                      <a16:colId xmlns:a16="http://schemas.microsoft.com/office/drawing/2014/main" val="2153335197"/>
                    </a:ext>
                  </a:extLst>
                </a:gridCol>
              </a:tblGrid>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Binding Type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Syntax</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Data Direction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Core Purpose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2807581524"/>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Property</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[prop]="val"</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Source </a:t>
                      </a:r>
                      <a:r>
                        <a:rPr lang="en-US" sz="2400">
                          <a:solidFill>
                            <a:srgbClr val="1F1F1F"/>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400">
                          <a:solidFill>
                            <a:srgbClr val="1F1F1F"/>
                          </a:solidFill>
                          <a:effectLst/>
                          <a:latin typeface="Times New Roman" panose="02020603050405020304" pitchFamily="18" charset="0"/>
                          <a:cs typeface="Times New Roman" panose="02020603050405020304" pitchFamily="18" charset="0"/>
                        </a:rPr>
                        <a:t> View</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Update DOM properties</a:t>
                      </a:r>
                    </a:p>
                  </a:txBody>
                  <a:tcPr marT="121920" marB="121920" anchor="ctr"/>
                </a:tc>
                <a:extLst>
                  <a:ext uri="{0D108BD9-81ED-4DB2-BD59-A6C34878D82A}">
                    <a16:rowId xmlns:a16="http://schemas.microsoft.com/office/drawing/2014/main" val="2420172248"/>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Class</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[class.name]="cond"</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Source </a:t>
                      </a:r>
                      <a:r>
                        <a:rPr lang="en-US" sz="2400">
                          <a:solidFill>
                            <a:srgbClr val="1F1F1F"/>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400">
                          <a:solidFill>
                            <a:srgbClr val="1F1F1F"/>
                          </a:solidFill>
                          <a:effectLst/>
                          <a:latin typeface="Times New Roman" panose="02020603050405020304" pitchFamily="18" charset="0"/>
                          <a:cs typeface="Times New Roman" panose="02020603050405020304" pitchFamily="18" charset="0"/>
                        </a:rPr>
                        <a:t> View</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Toggle CSS classes</a:t>
                      </a:r>
                    </a:p>
                  </a:txBody>
                  <a:tcPr marT="121920" marB="121920" anchor="ctr"/>
                </a:tc>
                <a:extLst>
                  <a:ext uri="{0D108BD9-81ED-4DB2-BD59-A6C34878D82A}">
                    <a16:rowId xmlns:a16="http://schemas.microsoft.com/office/drawing/2014/main" val="3786913118"/>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Style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[style.prop]="val"</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Source </a:t>
                      </a:r>
                      <a:r>
                        <a:rPr lang="en-US" sz="2400">
                          <a:solidFill>
                            <a:srgbClr val="1F1F1F"/>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400">
                          <a:solidFill>
                            <a:srgbClr val="1F1F1F"/>
                          </a:solidFill>
                          <a:effectLst/>
                          <a:latin typeface="Times New Roman" panose="02020603050405020304" pitchFamily="18" charset="0"/>
                          <a:cs typeface="Times New Roman" panose="02020603050405020304" pitchFamily="18" charset="0"/>
                        </a:rPr>
                        <a:t> View</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Set inline CSS styles</a:t>
                      </a:r>
                    </a:p>
                  </a:txBody>
                  <a:tcPr marT="121920" marB="121920" anchor="ctr"/>
                </a:tc>
                <a:extLst>
                  <a:ext uri="{0D108BD9-81ED-4DB2-BD59-A6C34878D82A}">
                    <a16:rowId xmlns:a16="http://schemas.microsoft.com/office/drawing/2014/main" val="3391605006"/>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Event</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(event)="handler()"</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View </a:t>
                      </a:r>
                      <a:r>
                        <a:rPr lang="en-US" sz="2400">
                          <a:solidFill>
                            <a:srgbClr val="1F1F1F"/>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400">
                          <a:solidFill>
                            <a:srgbClr val="1F1F1F"/>
                          </a:solidFill>
                          <a:effectLst/>
                          <a:latin typeface="Times New Roman" panose="02020603050405020304" pitchFamily="18" charset="0"/>
                          <a:cs typeface="Times New Roman" panose="02020603050405020304" pitchFamily="18" charset="0"/>
                        </a:rPr>
                        <a:t> Source</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Handle user actions</a:t>
                      </a:r>
                    </a:p>
                  </a:txBody>
                  <a:tcPr marT="121920" marB="121920" anchor="ctr"/>
                </a:tc>
                <a:extLst>
                  <a:ext uri="{0D108BD9-81ED-4DB2-BD59-A6C34878D82A}">
                    <a16:rowId xmlns:a16="http://schemas.microsoft.com/office/drawing/2014/main" val="488712794"/>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Two-way</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[(ngModel)]="prop"</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Bidirectional</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Sync data for Forms</a:t>
                      </a:r>
                    </a:p>
                  </a:txBody>
                  <a:tcPr marT="121920" marB="121920" anchor="ctr"/>
                </a:tc>
                <a:extLst>
                  <a:ext uri="{0D108BD9-81ED-4DB2-BD59-A6C34878D82A}">
                    <a16:rowId xmlns:a16="http://schemas.microsoft.com/office/drawing/2014/main" val="1542692088"/>
                  </a:ext>
                </a:extLst>
              </a:tr>
            </a:tbl>
          </a:graphicData>
        </a:graphic>
      </p:graphicFrame>
    </p:spTree>
    <p:extLst>
      <p:ext uri="{BB962C8B-B14F-4D97-AF65-F5344CB8AC3E}">
        <p14:creationId xmlns:p14="http://schemas.microsoft.com/office/powerpoint/2010/main" val="24022067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EA9429F-665A-0C0E-A05A-E47AF77B81E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A585684-9478-8850-9EF1-81915B851D6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643AED3-F976-BC72-AAB9-2D47AA6FBCD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933B2A49-65F9-E99D-FC7A-535594383F2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C63CBB3-E960-AB9F-6A46-44D1CB33A72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 Built-in Directives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AB590AE-B2B2-1A86-0A66-269F19BF554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56F28ED-54E5-400E-0795-C5350A3D72C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33F2E24-DD29-D2FE-96D6-193ED53AFAF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55A08CB-8FF2-39BF-07F9-AEDBFF44227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973D046-6306-9C64-6366-BE66C4C412BA}"/>
              </a:ext>
            </a:extLst>
          </p:cNvPr>
          <p:cNvSpPr txBox="1"/>
          <p:nvPr/>
        </p:nvSpPr>
        <p:spPr>
          <a:xfrm>
            <a:off x="415252" y="810009"/>
            <a:ext cx="11564547" cy="1322285"/>
          </a:xfrm>
          <a:prstGeom prst="rect">
            <a:avLst/>
          </a:prstGeom>
          <a:noFill/>
        </p:spPr>
        <p:txBody>
          <a:bodyPr wrap="square">
            <a:spAutoFit/>
          </a:bodyPr>
          <a:lstStyle/>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2.2.1. ngIf directive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2.2.2. ngSwitch directive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2.2.3. ngFor directive</a:t>
            </a:r>
          </a:p>
        </p:txBody>
      </p:sp>
    </p:spTree>
    <p:extLst>
      <p:ext uri="{BB962C8B-B14F-4D97-AF65-F5344CB8AC3E}">
        <p14:creationId xmlns:p14="http://schemas.microsoft.com/office/powerpoint/2010/main" val="3324368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40EC9E4-FD4B-0FBE-BDD3-CD9C3843E86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2F3B25B-0180-2C33-6868-13D2167E566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F581B68-A009-AED2-5053-3C423A9B5D7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B45BF446-B002-31EA-E843-D037CA614ED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7CD42A1-0E21-6EBE-46A4-53132089C11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 Built-in Directives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12BE05C-93DC-1F28-5CC4-7EB1E337434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D292FFC-F669-8128-088F-286CA2EFD38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CE75EFB-8815-D2F3-2265-F6D4AF85F10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88D2A53-85E2-6EE6-BB49-639AC8719D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EE40A480-E03B-9A18-AAC7-F7CDF4CCFF62}"/>
              </a:ext>
            </a:extLst>
          </p:cNvPr>
          <p:cNvSpPr txBox="1"/>
          <p:nvPr/>
        </p:nvSpPr>
        <p:spPr>
          <a:xfrm>
            <a:off x="415251" y="877587"/>
            <a:ext cx="11447188" cy="5011949"/>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Directive</a:t>
            </a:r>
            <a:r>
              <a:rPr lang="vi-VN" sz="2400">
                <a:latin typeface="Times New Roman" panose="02020603050405020304" pitchFamily="18" charset="0"/>
                <a:cs typeface="Times New Roman" panose="02020603050405020304" pitchFamily="18" charset="0"/>
              </a:rPr>
              <a:t> là các class có khả năng thêm các hành vi (behavior) hoặc thay đổi cấu trúc của các phần tử DOM.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có thể hình dung Directive như là các "dấu hiệu" được gắn vào HTML để Angular thực hiện một tác vụ cụ thể.</a:t>
            </a:r>
          </a:p>
          <a:p>
            <a:pPr marL="342900" indent="-342900" algn="just">
              <a:lnSpc>
                <a:spcPct val="150000"/>
              </a:lnSpc>
              <a:buFont typeface="Wingdings" panose="05000000000000000000" pitchFamily="2" charset="2"/>
              <a:buChar char="q"/>
            </a:pPr>
            <a:r>
              <a:rPr lang="vi-VN" sz="2400">
                <a:latin typeface="Times New Roman" panose="02020603050405020304" pitchFamily="18" charset="0"/>
                <a:cs typeface="Times New Roman" panose="02020603050405020304" pitchFamily="18" charset="0"/>
              </a:rPr>
              <a:t>Có 3 loại Directive chính:</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Components:</a:t>
            </a:r>
            <a:r>
              <a:rPr lang="vi-VN" sz="2400">
                <a:latin typeface="Times New Roman" panose="02020603050405020304" pitchFamily="18" charset="0"/>
                <a:cs typeface="Times New Roman" panose="02020603050405020304" pitchFamily="18" charset="0"/>
              </a:rPr>
              <a:t> Là một Directive có kèm theo Template (đã học).</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Structural Directives:</a:t>
            </a:r>
            <a:r>
              <a:rPr lang="vi-VN" sz="2400">
                <a:latin typeface="Times New Roman" panose="02020603050405020304" pitchFamily="18" charset="0"/>
                <a:cs typeface="Times New Roman" panose="02020603050405020304" pitchFamily="18" charset="0"/>
              </a:rPr>
              <a:t> Thay đổi cấu trúc của DOM bằng cách thêm hoặc xóa các phần tử (đặc trưng là dấu * ở đầu)</a:t>
            </a:r>
            <a:r>
              <a:rPr lang="en-US" sz="2400">
                <a:latin typeface="Times New Roman" panose="02020603050405020304" pitchFamily="18" charset="0"/>
                <a:cs typeface="Times New Roman" panose="02020603050405020304" pitchFamily="18" charset="0"/>
              </a:rPr>
              <a:t>: ngIf, ngSwitch, ngFor</a:t>
            </a:r>
            <a:endParaRPr lang="vi-VN" sz="24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Attribute Directives:</a:t>
            </a:r>
            <a:r>
              <a:rPr lang="vi-VN" sz="2400">
                <a:latin typeface="Times New Roman" panose="02020603050405020304" pitchFamily="18" charset="0"/>
                <a:cs typeface="Times New Roman" panose="02020603050405020304" pitchFamily="18" charset="0"/>
              </a:rPr>
              <a:t> Thay đổi giao diện hoặc hành vi của một phần tử mà không làm thay đổi cấu trúc DOM (ví dụ: ngClass, ngStyle).</a:t>
            </a:r>
          </a:p>
        </p:txBody>
      </p:sp>
    </p:spTree>
    <p:extLst>
      <p:ext uri="{BB962C8B-B14F-4D97-AF65-F5344CB8AC3E}">
        <p14:creationId xmlns:p14="http://schemas.microsoft.com/office/powerpoint/2010/main" val="3142397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291484-706F-BD3C-56B1-6B3F8254C49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0BB104C-403D-6740-E426-C85A0AB8DD1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BA2429A-3EA6-6A00-8573-8419F961A24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grpSp>
        <p:nvGrpSpPr>
          <p:cNvPr id="2" name="Group 1">
            <a:extLst>
              <a:ext uri="{FF2B5EF4-FFF2-40B4-BE49-F238E27FC236}">
                <a16:creationId xmlns:a16="http://schemas.microsoft.com/office/drawing/2014/main" id="{01841C80-AFAE-1076-2768-FF27F88A6583}"/>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C6E31E74-3394-881A-E76E-8B36133B6C5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EF61768F-383A-616E-3710-72283C1B6B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D187A85-B6C8-D3FB-7374-E9F224AEB1D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068E729-260B-B71C-CB5F-9F8A442BF61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474993E-A1B9-3A4D-2834-DBB7A7FAAC5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543ED09A-CC67-BA01-D779-40C44F903BF8}"/>
              </a:ext>
            </a:extLst>
          </p:cNvPr>
          <p:cNvSpPr txBox="1"/>
          <p:nvPr/>
        </p:nvSpPr>
        <p:spPr>
          <a:xfrm>
            <a:off x="470252" y="877587"/>
            <a:ext cx="11382572"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*ngIf Directive (Conditional Rendering)</a:t>
            </a:r>
          </a:p>
          <a:p>
            <a:pPr algn="just">
              <a:lnSpc>
                <a:spcPct val="150000"/>
              </a:lnSpc>
              <a:buNone/>
            </a:pPr>
            <a:r>
              <a:rPr lang="vi-VN" sz="2400">
                <a:latin typeface="Times New Roman" panose="02020603050405020304" pitchFamily="18" charset="0"/>
                <a:cs typeface="Times New Roman" panose="02020603050405020304" pitchFamily="18" charset="0"/>
              </a:rPr>
              <a:t>*ngIf dùng để thêm hoặc xóa hoàn toàn một phần tử khỏi DOM dựa trên một biểu thức điều kiện (boolean).</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true: Element được tạo và chèn vào DOM.</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false: Element bị xóa khỏi DOM (không phải ẩn bằng CSS display: none mà là xóa hẳn).</a:t>
            </a:r>
          </a:p>
        </p:txBody>
      </p:sp>
    </p:spTree>
    <p:extLst>
      <p:ext uri="{BB962C8B-B14F-4D97-AF65-F5344CB8AC3E}">
        <p14:creationId xmlns:p14="http://schemas.microsoft.com/office/powerpoint/2010/main" val="22312933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2EB0E77-50D3-00D3-228D-67699752808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0BB59C8-3E86-A529-401D-A7DBBBEC81F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BBD4EF1-802F-D05C-3D61-D6242C140D9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grpSp>
        <p:nvGrpSpPr>
          <p:cNvPr id="2" name="Group 1">
            <a:extLst>
              <a:ext uri="{FF2B5EF4-FFF2-40B4-BE49-F238E27FC236}">
                <a16:creationId xmlns:a16="http://schemas.microsoft.com/office/drawing/2014/main" id="{F4EEAF75-8BAE-79BF-CDB4-6D96E6177DF6}"/>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C2C03C2-3A81-4F97-DFE5-AA1ECF02A3C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F7F7C02F-6571-9132-558E-3127137F660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E54721-3181-081C-23F5-33CD6DC472C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D0AFE4E-955F-7003-1FA5-72357817016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8232DFD-9C9D-A73D-E2D9-738DC4489C7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9B19C50C-0958-62E6-FFBB-6442A4BE2204}"/>
              </a:ext>
            </a:extLst>
          </p:cNvPr>
          <p:cNvGraphicFramePr>
            <a:graphicFrameLocks noGrp="1"/>
          </p:cNvGraphicFramePr>
          <p:nvPr>
            <p:extLst>
              <p:ext uri="{D42A27DB-BD31-4B8C-83A1-F6EECF244321}">
                <p14:modId xmlns:p14="http://schemas.microsoft.com/office/powerpoint/2010/main" val="574031675"/>
              </p:ext>
            </p:extLst>
          </p:nvPr>
        </p:nvGraphicFramePr>
        <p:xfrm>
          <a:off x="542786" y="926252"/>
          <a:ext cx="11310039" cy="5059680"/>
        </p:xfrm>
        <a:graphic>
          <a:graphicData uri="http://schemas.openxmlformats.org/drawingml/2006/table">
            <a:tbl>
              <a:tblPr>
                <a:tableStyleId>{5940675A-B579-460E-94D1-54222C63F5DA}</a:tableStyleId>
              </a:tblPr>
              <a:tblGrid>
                <a:gridCol w="2241665">
                  <a:extLst>
                    <a:ext uri="{9D8B030D-6E8A-4147-A177-3AD203B41FA5}">
                      <a16:colId xmlns:a16="http://schemas.microsoft.com/office/drawing/2014/main" val="3569668520"/>
                    </a:ext>
                  </a:extLst>
                </a:gridCol>
                <a:gridCol w="4406996">
                  <a:extLst>
                    <a:ext uri="{9D8B030D-6E8A-4147-A177-3AD203B41FA5}">
                      <a16:colId xmlns:a16="http://schemas.microsoft.com/office/drawing/2014/main" val="1339278284"/>
                    </a:ext>
                  </a:extLst>
                </a:gridCol>
                <a:gridCol w="4661378">
                  <a:extLst>
                    <a:ext uri="{9D8B030D-6E8A-4147-A177-3AD203B41FA5}">
                      <a16:colId xmlns:a16="http://schemas.microsoft.com/office/drawing/2014/main" val="2384423041"/>
                    </a:ext>
                  </a:extLst>
                </a:gridCol>
              </a:tblGrid>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Đặc điểm</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noFill/>
                  </a:tcPr>
                </a:tc>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*ngIf (Structural Directive)</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@if (Built-in Control Flow)</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solidFill>
                      <a:srgbClr val="FFFF00"/>
                    </a:solidFill>
                  </a:tcPr>
                </a:tc>
                <a:extLst>
                  <a:ext uri="{0D108BD9-81ED-4DB2-BD59-A6C34878D82A}">
                    <a16:rowId xmlns:a16="http://schemas.microsoft.com/office/drawing/2014/main" val="3306083394"/>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Bản chất</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Structural Directive</a:t>
                      </a: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Built-in Control Flow (Cú pháp khối)</a:t>
                      </a:r>
                    </a:p>
                  </a:txBody>
                  <a:tcPr marT="121920" marB="121920" anchor="ctr"/>
                </a:tc>
                <a:extLst>
                  <a:ext uri="{0D108BD9-81ED-4DB2-BD59-A6C34878D82A}">
                    <a16:rowId xmlns:a16="http://schemas.microsoft.com/office/drawing/2014/main" val="2563079926"/>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Cú pháp</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Sử dụng dấu </a:t>
                      </a:r>
                      <a:r>
                        <a:rPr lang="en-US" sz="2200">
                          <a:solidFill>
                            <a:srgbClr val="444746"/>
                          </a:solidFill>
                          <a:effectLst/>
                          <a:latin typeface="Times" panose="02020603050405020304" pitchFamily="18" charset="0"/>
                          <a:cs typeface="Times" panose="02020603050405020304" pitchFamily="18" charset="0"/>
                        </a:rPr>
                        <a:t>*</a:t>
                      </a:r>
                      <a:r>
                        <a:rPr lang="en-US" sz="2200">
                          <a:solidFill>
                            <a:srgbClr val="1F1F1F"/>
                          </a:solidFill>
                          <a:effectLst/>
                          <a:latin typeface="Times" panose="02020603050405020304" pitchFamily="18" charset="0"/>
                          <a:cs typeface="Times" panose="02020603050405020304" pitchFamily="18" charset="0"/>
                        </a:rPr>
                        <a:t> trên thẻ HTML</a:t>
                      </a: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Cú pháp </a:t>
                      </a:r>
                      <a:r>
                        <a:rPr lang="en-US" sz="2200">
                          <a:solidFill>
                            <a:srgbClr val="444746"/>
                          </a:solidFill>
                          <a:effectLst/>
                          <a:latin typeface="Times" panose="02020603050405020304" pitchFamily="18" charset="0"/>
                          <a:cs typeface="Times" panose="02020603050405020304" pitchFamily="18" charset="0"/>
                        </a:rPr>
                        <a:t>@if</a:t>
                      </a:r>
                      <a:r>
                        <a:rPr lang="en-US" sz="2200">
                          <a:solidFill>
                            <a:srgbClr val="1F1F1F"/>
                          </a:solidFill>
                          <a:effectLst/>
                          <a:latin typeface="Times" panose="02020603050405020304" pitchFamily="18" charset="0"/>
                          <a:cs typeface="Times" panose="02020603050405020304" pitchFamily="18" charset="0"/>
                        </a:rPr>
                        <a:t>, </a:t>
                      </a:r>
                      <a:r>
                        <a:rPr lang="en-US" sz="2200">
                          <a:solidFill>
                            <a:srgbClr val="444746"/>
                          </a:solidFill>
                          <a:effectLst/>
                          <a:latin typeface="Times" panose="02020603050405020304" pitchFamily="18" charset="0"/>
                          <a:cs typeface="Times" panose="02020603050405020304" pitchFamily="18" charset="0"/>
                        </a:rPr>
                        <a:t>@else</a:t>
                      </a:r>
                      <a:r>
                        <a:rPr lang="en-US" sz="2200">
                          <a:solidFill>
                            <a:srgbClr val="1F1F1F"/>
                          </a:solidFill>
                          <a:effectLst/>
                          <a:latin typeface="Times" panose="02020603050405020304" pitchFamily="18" charset="0"/>
                          <a:cs typeface="Times" panose="02020603050405020304" pitchFamily="18" charset="0"/>
                        </a:rPr>
                        <a:t> trực tiếp trong template</a:t>
                      </a:r>
                    </a:p>
                  </a:txBody>
                  <a:tcPr marT="121920" marB="121920" anchor="ctr"/>
                </a:tc>
                <a:extLst>
                  <a:ext uri="{0D108BD9-81ED-4DB2-BD59-A6C34878D82A}">
                    <a16:rowId xmlns:a16="http://schemas.microsoft.com/office/drawing/2014/main" val="178814701"/>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Logic Else</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Phức tạp (cần </a:t>
                      </a:r>
                      <a:r>
                        <a:rPr lang="en-US" sz="2200">
                          <a:solidFill>
                            <a:srgbClr val="444746"/>
                          </a:solidFill>
                          <a:effectLst/>
                          <a:latin typeface="Times" panose="02020603050405020304" pitchFamily="18" charset="0"/>
                          <a:cs typeface="Times" panose="02020603050405020304" pitchFamily="18" charset="0"/>
                        </a:rPr>
                        <a:t>&lt;ng-template&gt;</a:t>
                      </a:r>
                      <a:r>
                        <a:rPr lang="en-US" sz="2200">
                          <a:solidFill>
                            <a:srgbClr val="1F1F1F"/>
                          </a:solidFill>
                          <a:effectLst/>
                          <a:latin typeface="Times" panose="02020603050405020304" pitchFamily="18" charset="0"/>
                          <a:cs typeface="Times" panose="02020603050405020304" pitchFamily="18" charset="0"/>
                        </a:rPr>
                        <a:t>)</a:t>
                      </a:r>
                    </a:p>
                  </a:txBody>
                  <a:tcPr marT="121920" marB="121920" anchor="ctr"/>
                </a:tc>
                <a:tc>
                  <a:txBody>
                    <a:bodyPr/>
                    <a:lstStyle/>
                    <a:p>
                      <a:pPr rtl="0">
                        <a:buNone/>
                      </a:pPr>
                      <a:r>
                        <a:rPr lang="vi-VN" sz="2200">
                          <a:solidFill>
                            <a:srgbClr val="1F1F1F"/>
                          </a:solidFill>
                          <a:effectLst/>
                          <a:latin typeface="Times" panose="02020603050405020304" pitchFamily="18" charset="0"/>
                          <a:cs typeface="Times" panose="02020603050405020304" pitchFamily="18" charset="0"/>
                        </a:rPr>
                        <a:t>Rất đơn giản (sử dụng </a:t>
                      </a:r>
                      <a:r>
                        <a:rPr lang="vi-VN" sz="2200">
                          <a:solidFill>
                            <a:srgbClr val="444746"/>
                          </a:solidFill>
                          <a:effectLst/>
                          <a:latin typeface="Times" panose="02020603050405020304" pitchFamily="18" charset="0"/>
                          <a:cs typeface="Times" panose="02020603050405020304" pitchFamily="18" charset="0"/>
                        </a:rPr>
                        <a:t>@else</a:t>
                      </a:r>
                      <a:r>
                        <a:rPr lang="vi-VN" sz="2200">
                          <a:solidFill>
                            <a:srgbClr val="1F1F1F"/>
                          </a:solidFill>
                          <a:effectLst/>
                          <a:latin typeface="Times" panose="02020603050405020304" pitchFamily="18" charset="0"/>
                          <a:cs typeface="Times" panose="02020603050405020304" pitchFamily="18" charset="0"/>
                        </a:rPr>
                        <a:t>)</a:t>
                      </a:r>
                    </a:p>
                  </a:txBody>
                  <a:tcPr marT="121920" marB="121920" anchor="ctr"/>
                </a:tc>
                <a:extLst>
                  <a:ext uri="{0D108BD9-81ED-4DB2-BD59-A6C34878D82A}">
                    <a16:rowId xmlns:a16="http://schemas.microsoft.com/office/drawing/2014/main" val="1582813897"/>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Hiệu năng</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vi-VN" sz="2200">
                          <a:solidFill>
                            <a:srgbClr val="1F1F1F"/>
                          </a:solidFill>
                          <a:effectLst/>
                          <a:latin typeface="Times" panose="02020603050405020304" pitchFamily="18" charset="0"/>
                          <a:cs typeface="Times" panose="02020603050405020304" pitchFamily="18" charset="0"/>
                        </a:rPr>
                        <a:t>Xử lý runtime, nặng hơn do tạo </a:t>
                      </a:r>
                      <a:r>
                        <a:rPr lang="vi-VN" sz="2200">
                          <a:solidFill>
                            <a:srgbClr val="444746"/>
                          </a:solidFill>
                          <a:effectLst/>
                          <a:latin typeface="Times" panose="02020603050405020304" pitchFamily="18" charset="0"/>
                          <a:cs typeface="Times" panose="02020603050405020304" pitchFamily="18" charset="0"/>
                        </a:rPr>
                        <a:t>ng-template</a:t>
                      </a:r>
                      <a:endParaRPr lang="vi-VN"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vi-VN" sz="2200">
                          <a:solidFill>
                            <a:srgbClr val="1F1F1F"/>
                          </a:solidFill>
                          <a:effectLst/>
                          <a:latin typeface="Times" panose="02020603050405020304" pitchFamily="18" charset="0"/>
                          <a:cs typeface="Times" panose="02020603050405020304" pitchFamily="18" charset="0"/>
                        </a:rPr>
                        <a:t>Tối ưu tại compile-time, nhanh hơn rõ rệt</a:t>
                      </a:r>
                    </a:p>
                  </a:txBody>
                  <a:tcPr marT="121920" marB="121920" anchor="ctr"/>
                </a:tc>
                <a:extLst>
                  <a:ext uri="{0D108BD9-81ED-4DB2-BD59-A6C34878D82A}">
                    <a16:rowId xmlns:a16="http://schemas.microsoft.com/office/drawing/2014/main" val="3524144869"/>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Yêu cầu import</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Cần </a:t>
                      </a:r>
                      <a:r>
                        <a:rPr lang="en-US" sz="2200">
                          <a:solidFill>
                            <a:srgbClr val="444746"/>
                          </a:solidFill>
                          <a:effectLst/>
                          <a:latin typeface="Times" panose="02020603050405020304" pitchFamily="18" charset="0"/>
                          <a:cs typeface="Times" panose="02020603050405020304" pitchFamily="18" charset="0"/>
                        </a:rPr>
                        <a:t>CommonModule</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Không cần (đã có sẵn trong Angular)</a:t>
                      </a:r>
                    </a:p>
                  </a:txBody>
                  <a:tcPr marT="121920" marB="121920" anchor="ctr"/>
                </a:tc>
                <a:extLst>
                  <a:ext uri="{0D108BD9-81ED-4DB2-BD59-A6C34878D82A}">
                    <a16:rowId xmlns:a16="http://schemas.microsoft.com/office/drawing/2014/main" val="365564507"/>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Wrapper</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vi-VN" sz="2200">
                          <a:solidFill>
                            <a:srgbClr val="1F1F1F"/>
                          </a:solidFill>
                          <a:effectLst/>
                          <a:latin typeface="Times" panose="02020603050405020304" pitchFamily="18" charset="0"/>
                          <a:cs typeface="Times" panose="02020603050405020304" pitchFamily="18" charset="0"/>
                        </a:rPr>
                        <a:t>Thường phải bao bọc bằng </a:t>
                      </a:r>
                      <a:r>
                        <a:rPr lang="vi-VN" sz="2200">
                          <a:solidFill>
                            <a:srgbClr val="444746"/>
                          </a:solidFill>
                          <a:effectLst/>
                          <a:latin typeface="Times" panose="02020603050405020304" pitchFamily="18" charset="0"/>
                          <a:cs typeface="Times" panose="02020603050405020304" pitchFamily="18" charset="0"/>
                        </a:rPr>
                        <a:t>&lt;div&gt;</a:t>
                      </a:r>
                      <a:r>
                        <a:rPr lang="vi-VN" sz="2200">
                          <a:solidFill>
                            <a:srgbClr val="1F1F1F"/>
                          </a:solidFill>
                          <a:effectLst/>
                          <a:latin typeface="Times" panose="02020603050405020304" pitchFamily="18" charset="0"/>
                          <a:cs typeface="Times" panose="02020603050405020304" pitchFamily="18" charset="0"/>
                        </a:rPr>
                        <a:t> hoặc </a:t>
                      </a:r>
                      <a:r>
                        <a:rPr lang="vi-VN" sz="2200">
                          <a:solidFill>
                            <a:srgbClr val="444746"/>
                          </a:solidFill>
                          <a:effectLst/>
                          <a:latin typeface="Times" panose="02020603050405020304" pitchFamily="18" charset="0"/>
                          <a:cs typeface="Times" panose="02020603050405020304" pitchFamily="18" charset="0"/>
                        </a:rPr>
                        <a:t>ng-container</a:t>
                      </a:r>
                      <a:endParaRPr lang="vi-VN"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Không cần wrapper, nội dung nằm trực tiếp trong khối</a:t>
                      </a:r>
                    </a:p>
                  </a:txBody>
                  <a:tcPr marT="121920" marB="121920" anchor="ctr"/>
                </a:tc>
                <a:extLst>
                  <a:ext uri="{0D108BD9-81ED-4DB2-BD59-A6C34878D82A}">
                    <a16:rowId xmlns:a16="http://schemas.microsoft.com/office/drawing/2014/main" val="4225862004"/>
                  </a:ext>
                </a:extLst>
              </a:tr>
            </a:tbl>
          </a:graphicData>
        </a:graphic>
      </p:graphicFrame>
    </p:spTree>
    <p:extLst>
      <p:ext uri="{BB962C8B-B14F-4D97-AF65-F5344CB8AC3E}">
        <p14:creationId xmlns:p14="http://schemas.microsoft.com/office/powerpoint/2010/main" val="2057026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CD77179-C96B-5CBC-51AC-6E0DEF3D19B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0BB7997-EF58-D353-2087-E218930105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61AD34A-E9F9-52FB-B09D-C516034E589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grpSp>
        <p:nvGrpSpPr>
          <p:cNvPr id="2" name="Group 1">
            <a:extLst>
              <a:ext uri="{FF2B5EF4-FFF2-40B4-BE49-F238E27FC236}">
                <a16:creationId xmlns:a16="http://schemas.microsoft.com/office/drawing/2014/main" id="{494D60D9-B253-8A6D-D671-EA0D64FE76A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24F6F56-4C4D-E35A-A439-DE8EF484637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04777E35-78D2-D0DD-DF05-98050D6D316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6CBF4CC-3D12-5454-7A9F-0B09358A590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AAF8004-A821-FE02-8AA9-1CCC78E1E1C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4ED4961-D580-386B-E2DF-0DFFF404A0F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0BFE9F1D-FF44-B164-1B16-35700E6A7314}"/>
              </a:ext>
            </a:extLst>
          </p:cNvPr>
          <p:cNvSpPr txBox="1"/>
          <p:nvPr/>
        </p:nvSpPr>
        <p:spPr>
          <a:xfrm>
            <a:off x="470252" y="877587"/>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6FE44D2-4760-674A-2CD4-8EB25A90C81B}"/>
              </a:ext>
            </a:extLst>
          </p:cNvPr>
          <p:cNvSpPr txBox="1"/>
          <p:nvPr/>
        </p:nvSpPr>
        <p:spPr>
          <a:xfrm>
            <a:off x="2255062" y="989123"/>
            <a:ext cx="6462676" cy="461665"/>
          </a:xfrm>
          <a:prstGeom prst="rect">
            <a:avLst/>
          </a:prstGeom>
          <a:noFill/>
          <a:ln>
            <a:solidFill>
              <a:schemeClr val="tx1"/>
            </a:solidFill>
          </a:ln>
        </p:spPr>
        <p:txBody>
          <a:bodyPr wrap="square">
            <a:spAutoFit/>
          </a:bodyPr>
          <a:lstStyle/>
          <a:p>
            <a:r>
              <a:rPr lang="en-US" sz="2400">
                <a:latin typeface="Times New Roman" panose="02020603050405020304" pitchFamily="18" charset="0"/>
                <a:cs typeface="Times New Roman" panose="02020603050405020304" pitchFamily="18" charset="0"/>
              </a:rPr>
              <a:t>&lt;div *ngIf="condition"&gt;Content to show&lt;/div&gt;</a:t>
            </a:r>
          </a:p>
        </p:txBody>
      </p:sp>
      <p:sp>
        <p:nvSpPr>
          <p:cNvPr id="9" name="TextBox 8">
            <a:extLst>
              <a:ext uri="{FF2B5EF4-FFF2-40B4-BE49-F238E27FC236}">
                <a16:creationId xmlns:a16="http://schemas.microsoft.com/office/drawing/2014/main" id="{0CFD9BC3-C5F2-73FB-DD57-C9CB6BC6EA71}"/>
              </a:ext>
            </a:extLst>
          </p:cNvPr>
          <p:cNvSpPr txBox="1"/>
          <p:nvPr/>
        </p:nvSpPr>
        <p:spPr>
          <a:xfrm>
            <a:off x="470252" y="1569090"/>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TypeScript</a:t>
            </a:r>
            <a:endParaRPr lang="vi-VN" sz="240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F59DA16-2164-18E5-2803-EAEAF1A6B2AD}"/>
              </a:ext>
            </a:extLst>
          </p:cNvPr>
          <p:cNvSpPr txBox="1"/>
          <p:nvPr/>
        </p:nvSpPr>
        <p:spPr>
          <a:xfrm>
            <a:off x="542786" y="4063150"/>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EA9BEB6-2CF5-4887-9B5F-C2AEEFA0D8AC}"/>
              </a:ext>
            </a:extLst>
          </p:cNvPr>
          <p:cNvSpPr txBox="1"/>
          <p:nvPr/>
        </p:nvSpPr>
        <p:spPr>
          <a:xfrm>
            <a:off x="2255063" y="4319896"/>
            <a:ext cx="4262616" cy="1862048"/>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*ngIf</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isLoggedIn</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&lt;p&gt;</a:t>
            </a:r>
            <a:r>
              <a:rPr lang="en-US" sz="2000" b="0">
                <a:solidFill>
                  <a:srgbClr val="000000"/>
                </a:solidFill>
                <a:effectLst/>
                <a:latin typeface="Consolas" panose="020B0609020204030204" pitchFamily="49" charset="0"/>
              </a:rPr>
              <a:t>Welcome back, User!</a:t>
            </a:r>
            <a:r>
              <a:rPr lang="en-US" sz="2000" b="0">
                <a:solidFill>
                  <a:srgbClr val="800000"/>
                </a:solidFill>
                <a:effectLst/>
                <a:latin typeface="Consolas" panose="020B0609020204030204" pitchFamily="49" charset="0"/>
              </a:rPr>
              <a:t>&lt;/p&gt;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*ngIf</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!isLoggedIn</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&lt;button&gt;</a:t>
            </a:r>
            <a:r>
              <a:rPr lang="en-US" sz="2000" b="0">
                <a:solidFill>
                  <a:srgbClr val="000000"/>
                </a:solidFill>
                <a:effectLst/>
                <a:latin typeface="Consolas" panose="020B0609020204030204" pitchFamily="49" charset="0"/>
              </a:rPr>
              <a:t>Login</a:t>
            </a:r>
            <a:r>
              <a:rPr lang="en-US" sz="2000" b="0">
                <a:solidFill>
                  <a:srgbClr val="800000"/>
                </a:solidFill>
                <a:effectLst/>
                <a:latin typeface="Consolas" panose="020B0609020204030204" pitchFamily="49" charset="0"/>
              </a:rPr>
              <a:t>&lt;/button&gt;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p:txBody>
      </p:sp>
      <p:sp>
        <p:nvSpPr>
          <p:cNvPr id="20" name="TextBox 19">
            <a:extLst>
              <a:ext uri="{FF2B5EF4-FFF2-40B4-BE49-F238E27FC236}">
                <a16:creationId xmlns:a16="http://schemas.microsoft.com/office/drawing/2014/main" id="{7D9B43E4-5624-1A29-4E8F-3B8801F31505}"/>
              </a:ext>
            </a:extLst>
          </p:cNvPr>
          <p:cNvSpPr txBox="1"/>
          <p:nvPr/>
        </p:nvSpPr>
        <p:spPr>
          <a:xfrm>
            <a:off x="2255061" y="2184288"/>
            <a:ext cx="6462677" cy="1567096"/>
          </a:xfrm>
          <a:prstGeom prst="rect">
            <a:avLst/>
          </a:prstGeom>
          <a:noFill/>
          <a:ln>
            <a:solidFill>
              <a:schemeClr val="tx1"/>
            </a:solidFill>
          </a:ln>
        </p:spPr>
        <p:txBody>
          <a:bodyPr wrap="square">
            <a:spAutoFit/>
          </a:bodyPr>
          <a:lstStyle/>
          <a:p>
            <a:pPr>
              <a:lnSpc>
                <a:spcPts val="2250"/>
              </a:lnSpc>
              <a:buNone/>
            </a:pPr>
            <a:r>
              <a:rPr lang="en-US" sz="2000" b="0">
                <a:solidFill>
                  <a:srgbClr val="008000"/>
                </a:solidFill>
                <a:effectLst/>
                <a:latin typeface="Consolas" panose="020B0609020204030204" pitchFamily="49" charset="0"/>
              </a:rPr>
              <a:t>// Component logic</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AuthComponent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Toggle user login state</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isLoggedIn: boolean = </a:t>
            </a:r>
            <a:r>
              <a:rPr lang="en-US" sz="2000" b="0">
                <a:solidFill>
                  <a:srgbClr val="0000FF"/>
                </a:solidFill>
                <a:effectLst/>
                <a:latin typeface="Consolas" panose="020B0609020204030204" pitchFamily="49" charset="0"/>
              </a:rPr>
              <a:t>true</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60503DE4-970A-9683-A76E-2C98AB92A327}"/>
              </a:ext>
            </a:extLst>
          </p:cNvPr>
          <p:cNvSpPr txBox="1"/>
          <p:nvPr/>
        </p:nvSpPr>
        <p:spPr>
          <a:xfrm>
            <a:off x="6781580" y="3977410"/>
            <a:ext cx="4867634" cy="2451953"/>
          </a:xfrm>
          <a:prstGeom prst="rect">
            <a:avLst/>
          </a:prstGeom>
          <a:noFill/>
          <a:ln>
            <a:solidFill>
              <a:schemeClr val="tx1"/>
            </a:solidFill>
          </a:ln>
        </p:spPr>
        <p:txBody>
          <a:bodyPr wrap="square">
            <a:spAutoFit/>
          </a:bodyPr>
          <a:lstStyle/>
          <a:p>
            <a:pPr>
              <a:lnSpc>
                <a:spcPts val="2250"/>
              </a:lnSpc>
              <a:buNone/>
            </a:pPr>
            <a:r>
              <a:rPr lang="en-US" sz="2000" b="0">
                <a:solidFill>
                  <a:srgbClr val="0000FF"/>
                </a:solidFill>
                <a:effectLst/>
                <a:latin typeface="Consolas" panose="020B0609020204030204" pitchFamily="49" charset="0"/>
              </a:rPr>
              <a:t>@if</a:t>
            </a:r>
            <a:r>
              <a:rPr lang="en-US" sz="2000" b="0">
                <a:solidFill>
                  <a:srgbClr val="000000"/>
                </a:solidFill>
                <a:effectLst/>
                <a:latin typeface="Consolas" panose="020B0609020204030204" pitchFamily="49" charset="0"/>
              </a:rPr>
              <a:t> (isLoggedIn) </a:t>
            </a:r>
          </a:p>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&lt;p&gt;</a:t>
            </a:r>
            <a:r>
              <a:rPr lang="en-US" sz="2000" b="0">
                <a:solidFill>
                  <a:srgbClr val="000000"/>
                </a:solidFill>
                <a:effectLst/>
                <a:latin typeface="Consolas" panose="020B0609020204030204" pitchFamily="49" charset="0"/>
              </a:rPr>
              <a:t>Welcome back, User!</a:t>
            </a:r>
            <a:r>
              <a:rPr lang="en-US" sz="2000" b="0">
                <a:solidFill>
                  <a:srgbClr val="800000"/>
                </a:solidFill>
                <a:effectLst/>
                <a:latin typeface="Consolas" panose="020B0609020204030204" pitchFamily="49" charset="0"/>
              </a:rPr>
              <a:t>&lt;/p&gt;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FF"/>
                </a:solidFill>
                <a:effectLst/>
                <a:latin typeface="Consolas" panose="020B0609020204030204" pitchFamily="49" charset="0"/>
              </a:rPr>
              <a:t>@else</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&lt;button&gt;</a:t>
            </a:r>
            <a:r>
              <a:rPr lang="en-US" sz="2000" b="0">
                <a:solidFill>
                  <a:srgbClr val="000000"/>
                </a:solidFill>
                <a:effectLst/>
                <a:latin typeface="Consolas" panose="020B0609020204030204" pitchFamily="49" charset="0"/>
              </a:rPr>
              <a:t>Login</a:t>
            </a:r>
            <a:r>
              <a:rPr lang="en-US" sz="2000" b="0">
                <a:solidFill>
                  <a:srgbClr val="800000"/>
                </a:solidFill>
                <a:effectLst/>
                <a:latin typeface="Consolas" panose="020B0609020204030204" pitchFamily="49" charset="0"/>
              </a:rPr>
              <a:t>&lt;/button&gt;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8410271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7E54F8C-356D-0C12-8CBE-B65FF717AB2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213ED54-D166-5B09-4363-098F15CB8F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FC94A29-C2F3-D655-832E-078C6777560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grpSp>
        <p:nvGrpSpPr>
          <p:cNvPr id="2" name="Group 1">
            <a:extLst>
              <a:ext uri="{FF2B5EF4-FFF2-40B4-BE49-F238E27FC236}">
                <a16:creationId xmlns:a16="http://schemas.microsoft.com/office/drawing/2014/main" id="{E93F4C8E-E04F-8E54-6807-39E5198F7466}"/>
              </a:ext>
            </a:extLst>
          </p:cNvPr>
          <p:cNvGrpSpPr/>
          <p:nvPr/>
        </p:nvGrpSpPr>
        <p:grpSpPr>
          <a:xfrm>
            <a:off x="214276" y="265650"/>
            <a:ext cx="5571706" cy="508000"/>
            <a:chOff x="789624" y="1191463"/>
            <a:chExt cx="5571706" cy="508000"/>
          </a:xfrm>
        </p:grpSpPr>
        <p:sp>
          <p:nvSpPr>
            <p:cNvPr id="3" name="AutoShape 52">
              <a:extLst>
                <a:ext uri="{FF2B5EF4-FFF2-40B4-BE49-F238E27FC236}">
                  <a16:creationId xmlns:a16="http://schemas.microsoft.com/office/drawing/2014/main" id="{E2D48497-4FBE-3CB5-884C-05ABBDF052F0}"/>
                </a:ext>
              </a:extLst>
            </p:cNvPr>
            <p:cNvSpPr>
              <a:spLocks noChangeArrowheads="1"/>
            </p:cNvSpPr>
            <p:nvPr/>
          </p:nvSpPr>
          <p:spPr bwMode="gray">
            <a:xfrm>
              <a:off x="990599" y="1191463"/>
              <a:ext cx="537073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C357D9A1-096C-548F-0038-C3320C7AB1E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7D00FE8-FCF1-9D30-D119-0432BC3BFFB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358C637-FF55-195F-33CC-B9922E401EF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191655F-28C5-28E1-288F-48234F8BC9C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AF85FFFC-C716-ACB7-3AD2-43E8CE83F62F}"/>
              </a:ext>
            </a:extLst>
          </p:cNvPr>
          <p:cNvPicPr>
            <a:picLocks noChangeAspect="1"/>
          </p:cNvPicPr>
          <p:nvPr/>
        </p:nvPicPr>
        <p:blipFill>
          <a:blip r:embed="rId3"/>
          <a:stretch>
            <a:fillRect/>
          </a:stretch>
        </p:blipFill>
        <p:spPr>
          <a:xfrm>
            <a:off x="295911" y="1019735"/>
            <a:ext cx="4227871" cy="4818529"/>
          </a:xfrm>
          <a:prstGeom prst="rect">
            <a:avLst/>
          </a:prstGeom>
        </p:spPr>
      </p:pic>
      <p:grpSp>
        <p:nvGrpSpPr>
          <p:cNvPr id="12" name="Group 11">
            <a:extLst>
              <a:ext uri="{FF2B5EF4-FFF2-40B4-BE49-F238E27FC236}">
                <a16:creationId xmlns:a16="http://schemas.microsoft.com/office/drawing/2014/main" id="{D4505D1B-4BB7-07E4-085C-71FCB1A88374}"/>
              </a:ext>
            </a:extLst>
          </p:cNvPr>
          <p:cNvGrpSpPr/>
          <p:nvPr/>
        </p:nvGrpSpPr>
        <p:grpSpPr>
          <a:xfrm>
            <a:off x="4650185" y="1860573"/>
            <a:ext cx="1517062" cy="2030783"/>
            <a:chOff x="6106438" y="1939399"/>
            <a:chExt cx="1970762" cy="2138867"/>
          </a:xfrm>
        </p:grpSpPr>
        <p:pic>
          <p:nvPicPr>
            <p:cNvPr id="14" name="Picture 13">
              <a:extLst>
                <a:ext uri="{FF2B5EF4-FFF2-40B4-BE49-F238E27FC236}">
                  <a16:creationId xmlns:a16="http://schemas.microsoft.com/office/drawing/2014/main" id="{32F7CB60-B9D5-8080-CA5A-785D3CE3A6D7}"/>
                </a:ext>
              </a:extLst>
            </p:cNvPr>
            <p:cNvPicPr>
              <a:picLocks noChangeAspect="1"/>
            </p:cNvPicPr>
            <p:nvPr/>
          </p:nvPicPr>
          <p:blipFill>
            <a:blip r:embed="rId4"/>
            <a:stretch>
              <a:fillRect/>
            </a:stretch>
          </p:blipFill>
          <p:spPr>
            <a:xfrm>
              <a:off x="6106438" y="1939399"/>
              <a:ext cx="1295400" cy="795746"/>
            </a:xfrm>
            <a:prstGeom prst="rect">
              <a:avLst/>
            </a:prstGeom>
          </p:spPr>
        </p:pic>
        <p:pic>
          <p:nvPicPr>
            <p:cNvPr id="17" name="Picture 16">
              <a:extLst>
                <a:ext uri="{FF2B5EF4-FFF2-40B4-BE49-F238E27FC236}">
                  <a16:creationId xmlns:a16="http://schemas.microsoft.com/office/drawing/2014/main" id="{1FC87F70-1EBC-3851-838E-64E942FC19DB}"/>
                </a:ext>
              </a:extLst>
            </p:cNvPr>
            <p:cNvPicPr>
              <a:picLocks noChangeAspect="1"/>
            </p:cNvPicPr>
            <p:nvPr/>
          </p:nvPicPr>
          <p:blipFill>
            <a:blip r:embed="rId5"/>
            <a:stretch>
              <a:fillRect/>
            </a:stretch>
          </p:blipFill>
          <p:spPr>
            <a:xfrm>
              <a:off x="6132534" y="3276600"/>
              <a:ext cx="1269304" cy="801666"/>
            </a:xfrm>
            <a:prstGeom prst="rect">
              <a:avLst/>
            </a:prstGeom>
          </p:spPr>
        </p:pic>
        <p:sp>
          <p:nvSpPr>
            <p:cNvPr id="18" name="Curved Left Arrow 6">
              <a:extLst>
                <a:ext uri="{FF2B5EF4-FFF2-40B4-BE49-F238E27FC236}">
                  <a16:creationId xmlns:a16="http://schemas.microsoft.com/office/drawing/2014/main" id="{D8CF48C0-E497-1877-888B-A442BB4E5876}"/>
                </a:ext>
              </a:extLst>
            </p:cNvPr>
            <p:cNvSpPr/>
            <p:nvPr/>
          </p:nvSpPr>
          <p:spPr>
            <a:xfrm>
              <a:off x="7326706" y="2201744"/>
              <a:ext cx="750494" cy="1684455"/>
            </a:xfrm>
            <a:prstGeom prst="curvedLeftArrow">
              <a:avLst/>
            </a:prstGeom>
            <a:solidFill>
              <a:srgbClr val="17406D">
                <a:lumMod val="75000"/>
              </a:srgbClr>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Georgia"/>
                <a:ea typeface="+mn-ea"/>
                <a:cs typeface="+mn-cs"/>
              </a:endParaRPr>
            </a:p>
          </p:txBody>
        </p:sp>
      </p:grpSp>
      <p:pic>
        <p:nvPicPr>
          <p:cNvPr id="9" name="Picture 8">
            <a:extLst>
              <a:ext uri="{FF2B5EF4-FFF2-40B4-BE49-F238E27FC236}">
                <a16:creationId xmlns:a16="http://schemas.microsoft.com/office/drawing/2014/main" id="{E49CB6F5-71DF-A0BC-8D31-25A907F13B8F}"/>
              </a:ext>
            </a:extLst>
          </p:cNvPr>
          <p:cNvPicPr>
            <a:picLocks noChangeAspect="1"/>
          </p:cNvPicPr>
          <p:nvPr/>
        </p:nvPicPr>
        <p:blipFill>
          <a:blip r:embed="rId6"/>
          <a:srcRect l="1759" r="29651"/>
          <a:stretch>
            <a:fillRect/>
          </a:stretch>
        </p:blipFill>
        <p:spPr>
          <a:xfrm>
            <a:off x="6418393" y="411347"/>
            <a:ext cx="5556365" cy="6279424"/>
          </a:xfrm>
          <a:prstGeom prst="rect">
            <a:avLst/>
          </a:prstGeom>
        </p:spPr>
      </p:pic>
    </p:spTree>
    <p:extLst>
      <p:ext uri="{BB962C8B-B14F-4D97-AF65-F5344CB8AC3E}">
        <p14:creationId xmlns:p14="http://schemas.microsoft.com/office/powerpoint/2010/main" val="21487859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743AF7-2747-7EDE-DD7E-714A010CE7E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E3A9D8D-4F67-8F76-9969-8E5BBDA6E7C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C7ECE62-449F-048F-2475-D43431A96D4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grpSp>
        <p:nvGrpSpPr>
          <p:cNvPr id="2" name="Group 1">
            <a:extLst>
              <a:ext uri="{FF2B5EF4-FFF2-40B4-BE49-F238E27FC236}">
                <a16:creationId xmlns:a16="http://schemas.microsoft.com/office/drawing/2014/main" id="{DF219390-5310-0F25-D31B-32C26AA34277}"/>
              </a:ext>
            </a:extLst>
          </p:cNvPr>
          <p:cNvGrpSpPr/>
          <p:nvPr/>
        </p:nvGrpSpPr>
        <p:grpSpPr>
          <a:xfrm>
            <a:off x="214276" y="265650"/>
            <a:ext cx="5437130" cy="508000"/>
            <a:chOff x="789624" y="1191463"/>
            <a:chExt cx="5437130" cy="508000"/>
          </a:xfrm>
        </p:grpSpPr>
        <p:sp>
          <p:nvSpPr>
            <p:cNvPr id="3" name="AutoShape 52">
              <a:extLst>
                <a:ext uri="{FF2B5EF4-FFF2-40B4-BE49-F238E27FC236}">
                  <a16:creationId xmlns:a16="http://schemas.microsoft.com/office/drawing/2014/main" id="{B901CC67-EEAC-1EDD-33A1-39D8545117CC}"/>
                </a:ext>
              </a:extLst>
            </p:cNvPr>
            <p:cNvSpPr>
              <a:spLocks noChangeArrowheads="1"/>
            </p:cNvSpPr>
            <p:nvPr/>
          </p:nvSpPr>
          <p:spPr bwMode="gray">
            <a:xfrm>
              <a:off x="990600" y="1191463"/>
              <a:ext cx="523615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4110139B-B95E-7E96-EFBB-9158349EA43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043078-F9B6-7ADF-9011-A5C4402188F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389910B-1877-FB18-952F-A9B081D7B8A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8029BB9-432A-8D63-85C9-6C4B9A78AB7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8" name="Picture 7">
            <a:extLst>
              <a:ext uri="{FF2B5EF4-FFF2-40B4-BE49-F238E27FC236}">
                <a16:creationId xmlns:a16="http://schemas.microsoft.com/office/drawing/2014/main" id="{808D6B30-D74B-8450-83BB-E0C9C316262D}"/>
              </a:ext>
            </a:extLst>
          </p:cNvPr>
          <p:cNvPicPr>
            <a:picLocks noChangeAspect="1"/>
          </p:cNvPicPr>
          <p:nvPr/>
        </p:nvPicPr>
        <p:blipFill>
          <a:blip r:embed="rId3"/>
          <a:stretch>
            <a:fillRect/>
          </a:stretch>
        </p:blipFill>
        <p:spPr>
          <a:xfrm>
            <a:off x="415251" y="1037967"/>
            <a:ext cx="4144464" cy="5023363"/>
          </a:xfrm>
          <a:prstGeom prst="rect">
            <a:avLst/>
          </a:prstGeom>
        </p:spPr>
      </p:pic>
      <p:grpSp>
        <p:nvGrpSpPr>
          <p:cNvPr id="9" name="Group 8">
            <a:extLst>
              <a:ext uri="{FF2B5EF4-FFF2-40B4-BE49-F238E27FC236}">
                <a16:creationId xmlns:a16="http://schemas.microsoft.com/office/drawing/2014/main" id="{9183C5DF-82CC-F69E-BD0E-4B431A59078D}"/>
              </a:ext>
            </a:extLst>
          </p:cNvPr>
          <p:cNvGrpSpPr/>
          <p:nvPr/>
        </p:nvGrpSpPr>
        <p:grpSpPr>
          <a:xfrm>
            <a:off x="4559715" y="1999502"/>
            <a:ext cx="1787997" cy="2138867"/>
            <a:chOff x="6106438" y="1939399"/>
            <a:chExt cx="1787997" cy="2138867"/>
          </a:xfrm>
        </p:grpSpPr>
        <p:pic>
          <p:nvPicPr>
            <p:cNvPr id="10" name="Picture 9">
              <a:extLst>
                <a:ext uri="{FF2B5EF4-FFF2-40B4-BE49-F238E27FC236}">
                  <a16:creationId xmlns:a16="http://schemas.microsoft.com/office/drawing/2014/main" id="{C68E3D8B-A7A3-E10D-0016-50F59EE9A106}"/>
                </a:ext>
              </a:extLst>
            </p:cNvPr>
            <p:cNvPicPr>
              <a:picLocks noChangeAspect="1"/>
            </p:cNvPicPr>
            <p:nvPr/>
          </p:nvPicPr>
          <p:blipFill>
            <a:blip r:embed="rId4"/>
            <a:stretch>
              <a:fillRect/>
            </a:stretch>
          </p:blipFill>
          <p:spPr>
            <a:xfrm>
              <a:off x="6106438" y="1939399"/>
              <a:ext cx="1295400" cy="795746"/>
            </a:xfrm>
            <a:prstGeom prst="rect">
              <a:avLst/>
            </a:prstGeom>
          </p:spPr>
        </p:pic>
        <p:pic>
          <p:nvPicPr>
            <p:cNvPr id="13" name="Picture 12">
              <a:extLst>
                <a:ext uri="{FF2B5EF4-FFF2-40B4-BE49-F238E27FC236}">
                  <a16:creationId xmlns:a16="http://schemas.microsoft.com/office/drawing/2014/main" id="{247410C6-8160-8E3D-081E-8EBA68D1CC81}"/>
                </a:ext>
              </a:extLst>
            </p:cNvPr>
            <p:cNvPicPr>
              <a:picLocks noChangeAspect="1"/>
            </p:cNvPicPr>
            <p:nvPr/>
          </p:nvPicPr>
          <p:blipFill>
            <a:blip r:embed="rId5"/>
            <a:stretch>
              <a:fillRect/>
            </a:stretch>
          </p:blipFill>
          <p:spPr>
            <a:xfrm>
              <a:off x="6132534" y="3276600"/>
              <a:ext cx="1269304" cy="801666"/>
            </a:xfrm>
            <a:prstGeom prst="rect">
              <a:avLst/>
            </a:prstGeom>
          </p:spPr>
        </p:pic>
        <p:sp>
          <p:nvSpPr>
            <p:cNvPr id="15" name="Curved Left Arrow 17">
              <a:extLst>
                <a:ext uri="{FF2B5EF4-FFF2-40B4-BE49-F238E27FC236}">
                  <a16:creationId xmlns:a16="http://schemas.microsoft.com/office/drawing/2014/main" id="{71814228-36DB-0D8F-0A09-4C190E20449F}"/>
                </a:ext>
              </a:extLst>
            </p:cNvPr>
            <p:cNvSpPr/>
            <p:nvPr/>
          </p:nvSpPr>
          <p:spPr>
            <a:xfrm>
              <a:off x="7502948" y="2201744"/>
              <a:ext cx="391487" cy="1684455"/>
            </a:xfrm>
            <a:prstGeom prst="curvedLeftArrow">
              <a:avLst/>
            </a:prstGeom>
            <a:solidFill>
              <a:srgbClr val="17406D">
                <a:lumMod val="75000"/>
              </a:srgbClr>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Georgia"/>
                <a:ea typeface="+mn-ea"/>
                <a:cs typeface="+mn-cs"/>
              </a:endParaRPr>
            </a:p>
          </p:txBody>
        </p:sp>
      </p:grpSp>
      <p:pic>
        <p:nvPicPr>
          <p:cNvPr id="12" name="Picture 11">
            <a:extLst>
              <a:ext uri="{FF2B5EF4-FFF2-40B4-BE49-F238E27FC236}">
                <a16:creationId xmlns:a16="http://schemas.microsoft.com/office/drawing/2014/main" id="{49296DB4-92B5-5086-470F-A6B78625D2C2}"/>
              </a:ext>
            </a:extLst>
          </p:cNvPr>
          <p:cNvPicPr>
            <a:picLocks noChangeAspect="1"/>
          </p:cNvPicPr>
          <p:nvPr/>
        </p:nvPicPr>
        <p:blipFill>
          <a:blip r:embed="rId6"/>
          <a:stretch>
            <a:fillRect/>
          </a:stretch>
        </p:blipFill>
        <p:spPr>
          <a:xfrm>
            <a:off x="6456262" y="464691"/>
            <a:ext cx="5614565" cy="6107989"/>
          </a:xfrm>
          <a:prstGeom prst="rect">
            <a:avLst/>
          </a:prstGeom>
        </p:spPr>
      </p:pic>
    </p:spTree>
    <p:extLst>
      <p:ext uri="{BB962C8B-B14F-4D97-AF65-F5344CB8AC3E}">
        <p14:creationId xmlns:p14="http://schemas.microsoft.com/office/powerpoint/2010/main" val="13655474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EE907C5-46BA-5528-9188-A8E914BF0D3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A156359-E791-08E9-3E2C-179C3EFE4FA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E51DF4F-90F8-85A7-E10C-09D74195C4A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2" name="Group 1">
            <a:extLst>
              <a:ext uri="{FF2B5EF4-FFF2-40B4-BE49-F238E27FC236}">
                <a16:creationId xmlns:a16="http://schemas.microsoft.com/office/drawing/2014/main" id="{9D6DC668-6101-C942-3E37-F9AB66CCA73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63C2C5BE-AD64-FEA4-29B9-6819FAE86EC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2.2.2. ngSwitch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DBD2C8F-73F2-2B26-B81C-CEDB255ECD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EB9AE10-06D6-F528-B201-CA57BDCD4C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F9D2EDB-E022-8E97-E934-0595EA23545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4A0F994-8A73-E746-5919-0BEA4D2D1A3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6BF109A3-25BC-580D-EC9E-BE671A2C1E4B}"/>
              </a:ext>
            </a:extLst>
          </p:cNvPr>
          <p:cNvSpPr txBox="1"/>
          <p:nvPr/>
        </p:nvSpPr>
        <p:spPr>
          <a:xfrm>
            <a:off x="415251" y="877587"/>
            <a:ext cx="11506325"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a:latin typeface="Times New Roman" panose="02020603050405020304" pitchFamily="18" charset="0"/>
                <a:cs typeface="Times New Roman" panose="02020603050405020304" pitchFamily="18" charset="0"/>
              </a:rPr>
              <a:t>*ngSwitch được sử dụng khi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cần render một trong nhiều phần tử dựa trên giá trị của một biến. Nó tương tự như cấu trúc switch-case trong lập trình.</a:t>
            </a:r>
          </a:p>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Cú pháp</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Sử dụng [ngSwitch] trên phần tử cha.</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Sử dụng *ngSwitchCase cho các điều kiện.</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Sử dụng *ngSwitchDefault nếu không có điều kiện nào khớp.</a:t>
            </a:r>
          </a:p>
        </p:txBody>
      </p:sp>
    </p:spTree>
    <p:extLst>
      <p:ext uri="{BB962C8B-B14F-4D97-AF65-F5344CB8AC3E}">
        <p14:creationId xmlns:p14="http://schemas.microsoft.com/office/powerpoint/2010/main" val="8429875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8F1578A-A783-8736-EBBB-9036FD02933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0C1E416-ED99-A6CB-E333-5629B03EBCA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8DE7EB6-AA70-8827-9C6F-B4AA560DA4E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grpSp>
        <p:nvGrpSpPr>
          <p:cNvPr id="2" name="Group 1">
            <a:extLst>
              <a:ext uri="{FF2B5EF4-FFF2-40B4-BE49-F238E27FC236}">
                <a16:creationId xmlns:a16="http://schemas.microsoft.com/office/drawing/2014/main" id="{9510B4D1-AAC0-F02E-B893-879175DA9E4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3FD3CEC-18F1-80E9-5343-44F9FCEDD43A}"/>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2.2.2. ngSwitch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28D076C-9E32-099F-12EC-61161E32793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DC6F2D7-C678-2C18-924E-E87F37EFAFA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4C6BC46-ABFF-76C8-8830-F21D173CE5A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F58EBCB-FA4F-58FB-3CC4-22B875244B0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D8CEC449-A83F-A771-2686-EBD0E0A8C84B}"/>
              </a:ext>
            </a:extLst>
          </p:cNvPr>
          <p:cNvGraphicFramePr>
            <a:graphicFrameLocks noGrp="1"/>
          </p:cNvGraphicFramePr>
          <p:nvPr>
            <p:extLst>
              <p:ext uri="{D42A27DB-BD31-4B8C-83A1-F6EECF244321}">
                <p14:modId xmlns:p14="http://schemas.microsoft.com/office/powerpoint/2010/main" val="3739067581"/>
              </p:ext>
            </p:extLst>
          </p:nvPr>
        </p:nvGraphicFramePr>
        <p:xfrm>
          <a:off x="542786" y="1097293"/>
          <a:ext cx="11127291" cy="4389120"/>
        </p:xfrm>
        <a:graphic>
          <a:graphicData uri="http://schemas.openxmlformats.org/drawingml/2006/table">
            <a:tbl>
              <a:tblPr>
                <a:tableStyleId>{5940675A-B579-460E-94D1-54222C63F5DA}</a:tableStyleId>
              </a:tblPr>
              <a:tblGrid>
                <a:gridCol w="2278713">
                  <a:extLst>
                    <a:ext uri="{9D8B030D-6E8A-4147-A177-3AD203B41FA5}">
                      <a16:colId xmlns:a16="http://schemas.microsoft.com/office/drawing/2014/main" val="1776351571"/>
                    </a:ext>
                  </a:extLst>
                </a:gridCol>
                <a:gridCol w="5139481">
                  <a:extLst>
                    <a:ext uri="{9D8B030D-6E8A-4147-A177-3AD203B41FA5}">
                      <a16:colId xmlns:a16="http://schemas.microsoft.com/office/drawing/2014/main" val="1028643911"/>
                    </a:ext>
                  </a:extLst>
                </a:gridCol>
                <a:gridCol w="3709097">
                  <a:extLst>
                    <a:ext uri="{9D8B030D-6E8A-4147-A177-3AD203B41FA5}">
                      <a16:colId xmlns:a16="http://schemas.microsoft.com/office/drawing/2014/main" val="1856034648"/>
                    </a:ext>
                  </a:extLst>
                </a:gridCol>
              </a:tblGrid>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Đặc điểm</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*ngSwitch (Legacy)</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@switch (Modern)</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3289367809"/>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Bản chất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Structural Directive</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Native Language Block</a:t>
                      </a:r>
                    </a:p>
                  </a:txBody>
                  <a:tcPr marT="121920" marB="121920" anchor="ctr"/>
                </a:tc>
                <a:extLst>
                  <a:ext uri="{0D108BD9-81ED-4DB2-BD59-A6C34878D82A}">
                    <a16:rowId xmlns:a16="http://schemas.microsoft.com/office/drawing/2014/main" val="2477780795"/>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Cú pháp</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Dựa trên thuộc tính (</a:t>
                      </a:r>
                      <a:r>
                        <a:rPr lang="en-US" sz="2200">
                          <a:solidFill>
                            <a:srgbClr val="444746"/>
                          </a:solidFill>
                          <a:effectLst/>
                          <a:latin typeface="Times New Roman" panose="02020603050405020304" pitchFamily="18" charset="0"/>
                          <a:cs typeface="Times New Roman" panose="02020603050405020304" pitchFamily="18" charset="0"/>
                        </a:rPr>
                        <a:t>[ngSwitch]</a:t>
                      </a:r>
                      <a:r>
                        <a:rPr lang="en-US"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Cú pháp khối (</a:t>
                      </a:r>
                      <a:r>
                        <a:rPr lang="en-US" sz="2200">
                          <a:solidFill>
                            <a:srgbClr val="444746"/>
                          </a:solidFill>
                          <a:effectLst/>
                          <a:latin typeface="Times New Roman" panose="02020603050405020304" pitchFamily="18" charset="0"/>
                          <a:cs typeface="Times New Roman" panose="02020603050405020304" pitchFamily="18" charset="0"/>
                        </a:rPr>
                        <a:t>@switch</a:t>
                      </a:r>
                      <a:r>
                        <a:rPr lang="en-US" sz="2200">
                          <a:solidFill>
                            <a:srgbClr val="1F1F1F"/>
                          </a:solidFill>
                          <a:effectLst/>
                          <a:latin typeface="Times New Roman" panose="02020603050405020304" pitchFamily="18" charset="0"/>
                          <a:cs typeface="Times New Roman" panose="02020603050405020304" pitchFamily="18" charset="0"/>
                        </a:rPr>
                        <a:t>, </a:t>
                      </a:r>
                      <a:r>
                        <a:rPr lang="en-US" sz="2200">
                          <a:solidFill>
                            <a:srgbClr val="444746"/>
                          </a:solidFill>
                          <a:effectLst/>
                          <a:latin typeface="Times New Roman" panose="02020603050405020304" pitchFamily="18" charset="0"/>
                          <a:cs typeface="Times New Roman" panose="02020603050405020304" pitchFamily="18" charset="0"/>
                        </a:rPr>
                        <a:t>@case</a:t>
                      </a:r>
                      <a:r>
                        <a:rPr lang="en-US"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extLst>
                  <a:ext uri="{0D108BD9-81ED-4DB2-BD59-A6C34878D82A}">
                    <a16:rowId xmlns:a16="http://schemas.microsoft.com/office/drawing/2014/main" val="4044551005"/>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Yêu cầu Import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Cần </a:t>
                      </a:r>
                      <a:r>
                        <a:rPr lang="en-US" sz="2200">
                          <a:solidFill>
                            <a:srgbClr val="444746"/>
                          </a:solidFill>
                          <a:effectLst/>
                          <a:latin typeface="Times New Roman" panose="02020603050405020304" pitchFamily="18" charset="0"/>
                          <a:cs typeface="Times New Roman" panose="02020603050405020304" pitchFamily="18" charset="0"/>
                        </a:rPr>
                        <a:t>CommonModule</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Tự động (Built-in)</a:t>
                      </a:r>
                    </a:p>
                  </a:txBody>
                  <a:tcPr marT="121920" marB="121920" anchor="ctr"/>
                </a:tc>
                <a:extLst>
                  <a:ext uri="{0D108BD9-81ED-4DB2-BD59-A6C34878D82A}">
                    <a16:rowId xmlns:a16="http://schemas.microsoft.com/office/drawing/2014/main" val="2458742474"/>
                  </a:ext>
                </a:extLst>
              </a:tr>
              <a:tr h="0">
                <a:tc>
                  <a:txBody>
                    <a:bodyPr/>
                    <a:lstStyle/>
                    <a:p>
                      <a:pPr rtl="0">
                        <a:buNone/>
                      </a:pPr>
                      <a:r>
                        <a:rPr lang="vi-VN" sz="2200" b="1">
                          <a:solidFill>
                            <a:srgbClr val="1F1F1F"/>
                          </a:solidFill>
                          <a:effectLst/>
                          <a:latin typeface="Times New Roman" panose="02020603050405020304" pitchFamily="18" charset="0"/>
                          <a:cs typeface="Times New Roman" panose="02020603050405020304" pitchFamily="18" charset="0"/>
                        </a:rPr>
                        <a:t>Tối ưu hóa</a:t>
                      </a:r>
                      <a:endParaRPr lang="vi-VN"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Xử lý runtime (tạo </a:t>
                      </a:r>
                      <a:r>
                        <a:rPr lang="en-US" sz="2200">
                          <a:solidFill>
                            <a:srgbClr val="444746"/>
                          </a:solidFill>
                          <a:effectLst/>
                          <a:latin typeface="Times New Roman" panose="02020603050405020304" pitchFamily="18" charset="0"/>
                          <a:cs typeface="Times New Roman" panose="02020603050405020304" pitchFamily="18" charset="0"/>
                        </a:rPr>
                        <a:t>ng-template</a:t>
                      </a:r>
                      <a:r>
                        <a:rPr lang="en-US" sz="2200">
                          <a:solidFill>
                            <a:srgbClr val="1F1F1F"/>
                          </a:solidFill>
                          <a:effectLst/>
                          <a:latin typeface="Times New Roman" panose="02020603050405020304" pitchFamily="18" charset="0"/>
                          <a:cs typeface="Times New Roman" panose="02020603050405020304" pitchFamily="18" charset="0"/>
                        </a:rPr>
                        <a:t> ẩn)</a:t>
                      </a: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Tối ưu tại compile-time</a:t>
                      </a:r>
                    </a:p>
                  </a:txBody>
                  <a:tcPr marT="121920" marB="121920" anchor="ctr"/>
                </a:tc>
                <a:extLst>
                  <a:ext uri="{0D108BD9-81ED-4DB2-BD59-A6C34878D82A}">
                    <a16:rowId xmlns:a16="http://schemas.microsoft.com/office/drawing/2014/main" val="2683530331"/>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Wrapper DOM</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Thường cần thẻ bao (div, container)</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Không cần, cực kỳ sạch</a:t>
                      </a:r>
                    </a:p>
                  </a:txBody>
                  <a:tcPr marT="121920" marB="121920" anchor="ctr"/>
                </a:tc>
                <a:extLst>
                  <a:ext uri="{0D108BD9-81ED-4DB2-BD59-A6C34878D82A}">
                    <a16:rowId xmlns:a16="http://schemas.microsoft.com/office/drawing/2014/main" val="888532192"/>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Kiểm tra kiểu</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Hạn chế</a:t>
                      </a: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Hỗ trợ tốt hơn với TypeScript</a:t>
                      </a:r>
                    </a:p>
                  </a:txBody>
                  <a:tcPr marT="121920" marB="121920" anchor="ctr"/>
                </a:tc>
                <a:extLst>
                  <a:ext uri="{0D108BD9-81ED-4DB2-BD59-A6C34878D82A}">
                    <a16:rowId xmlns:a16="http://schemas.microsoft.com/office/drawing/2014/main" val="3971685289"/>
                  </a:ext>
                </a:extLst>
              </a:tr>
            </a:tbl>
          </a:graphicData>
        </a:graphic>
      </p:graphicFrame>
    </p:spTree>
    <p:extLst>
      <p:ext uri="{BB962C8B-B14F-4D97-AF65-F5344CB8AC3E}">
        <p14:creationId xmlns:p14="http://schemas.microsoft.com/office/powerpoint/2010/main" val="33010919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A403228-33BA-0936-41FB-53478E9D43D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036FFD-B4C9-CDD8-DF8F-198E40D70D4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35CEB5B-5DD8-C28A-6658-BA9858A379F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grpSp>
        <p:nvGrpSpPr>
          <p:cNvPr id="2" name="Group 1">
            <a:extLst>
              <a:ext uri="{FF2B5EF4-FFF2-40B4-BE49-F238E27FC236}">
                <a16:creationId xmlns:a16="http://schemas.microsoft.com/office/drawing/2014/main" id="{9C678DEA-C63E-9C4F-BB75-6F8B61A0764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2BA5DE4-B35D-37C5-363C-E5054328F7C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2.2.2. ngSwitch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8EDEE6A-ACF4-9E20-E246-D4671E55734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D59D852-2E11-9310-D862-797D90D541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C454085-EF3E-7EE5-8D9F-5BCB41DA611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6D9234C-775C-A243-3432-043A56B4E2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81B34B5-70F0-528C-B498-8E8D8CFF4616}"/>
              </a:ext>
            </a:extLst>
          </p:cNvPr>
          <p:cNvSpPr txBox="1"/>
          <p:nvPr/>
        </p:nvSpPr>
        <p:spPr>
          <a:xfrm>
            <a:off x="728132" y="1339625"/>
            <a:ext cx="5630465" cy="2351221"/>
          </a:xfrm>
          <a:prstGeom prst="rect">
            <a:avLst/>
          </a:prstGeom>
          <a:noFill/>
          <a:ln>
            <a:solidFill>
              <a:schemeClr val="tx1"/>
            </a:solidFill>
          </a:ln>
        </p:spPr>
        <p:txBody>
          <a:bodyPr wrap="square">
            <a:spAutoFit/>
          </a:bodyPr>
          <a:lstStyle/>
          <a:p>
            <a:pPr>
              <a:lnSpc>
                <a:spcPct val="150000"/>
              </a:lnSpc>
              <a:buNone/>
            </a:pPr>
            <a:r>
              <a:rPr lang="en-US" sz="2000" b="0">
                <a:solidFill>
                  <a:srgbClr val="008000"/>
                </a:solidFill>
                <a:effectLst/>
                <a:latin typeface="Consolas" panose="020B0609020204030204" pitchFamily="49" charset="0"/>
              </a:rPr>
              <a:t>// Component logic</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RoleComponent {</a:t>
            </a:r>
          </a:p>
          <a:p>
            <a:pPr>
              <a:lnSpc>
                <a:spcPct val="15000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Define current user role</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000000"/>
                </a:solidFill>
                <a:effectLst/>
                <a:latin typeface="Consolas" panose="020B0609020204030204" pitchFamily="49" charset="0"/>
              </a:rPr>
              <a:t>  userRole: string = </a:t>
            </a:r>
            <a:r>
              <a:rPr lang="en-US" sz="2000" b="0">
                <a:solidFill>
                  <a:srgbClr val="A31515"/>
                </a:solidFill>
                <a:effectLst/>
                <a:latin typeface="Consolas" panose="020B0609020204030204" pitchFamily="49" charset="0"/>
              </a:rPr>
              <a:t>'admin'</a:t>
            </a:r>
            <a:r>
              <a:rPr lang="en-US" sz="2000" b="0">
                <a:solidFill>
                  <a:srgbClr val="000000"/>
                </a:solidFill>
                <a:effectLst/>
                <a:latin typeface="Consolas" panose="020B0609020204030204" pitchFamily="49" charset="0"/>
              </a:rPr>
              <a:t>; </a:t>
            </a:r>
          </a:p>
          <a:p>
            <a:pPr>
              <a:lnSpc>
                <a:spcPct val="150000"/>
              </a:lnSpc>
              <a:buNone/>
            </a:pPr>
            <a:r>
              <a:rPr lang="en-US" sz="2000" b="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6B05DE25-DB84-D250-8EDE-111639258BBA}"/>
              </a:ext>
            </a:extLst>
          </p:cNvPr>
          <p:cNvSpPr txBox="1"/>
          <p:nvPr/>
        </p:nvSpPr>
        <p:spPr>
          <a:xfrm>
            <a:off x="718584" y="4131752"/>
            <a:ext cx="8365071" cy="2157001"/>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[ngSwitch]</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userRole</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*ngSwitchCase</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"'admin'"</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Admin Dashboard</a:t>
            </a: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*ngSwitchCase</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"'moderator'"</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Moderator Tools</a:t>
            </a: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*ngSwitchDefault</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Guest View</a:t>
            </a: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2F547631-9DB2-FFD8-E8F5-22E24176E963}"/>
              </a:ext>
            </a:extLst>
          </p:cNvPr>
          <p:cNvSpPr txBox="1"/>
          <p:nvPr/>
        </p:nvSpPr>
        <p:spPr>
          <a:xfrm>
            <a:off x="564686" y="3551785"/>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9DCF50D-C16F-C751-3236-4F9506E843D1}"/>
              </a:ext>
            </a:extLst>
          </p:cNvPr>
          <p:cNvSpPr txBox="1"/>
          <p:nvPr/>
        </p:nvSpPr>
        <p:spPr>
          <a:xfrm>
            <a:off x="388797" y="759658"/>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TypeScript</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0EFE302-01E2-946C-EBBE-17EF9F91BBED}"/>
              </a:ext>
            </a:extLst>
          </p:cNvPr>
          <p:cNvSpPr txBox="1"/>
          <p:nvPr/>
        </p:nvSpPr>
        <p:spPr>
          <a:xfrm>
            <a:off x="7778570" y="569247"/>
            <a:ext cx="4125621" cy="3315844"/>
          </a:xfrm>
          <a:prstGeom prst="rect">
            <a:avLst/>
          </a:prstGeom>
          <a:noFill/>
          <a:ln>
            <a:solidFill>
              <a:schemeClr val="tx1"/>
            </a:solidFill>
          </a:ln>
        </p:spPr>
        <p:txBody>
          <a:bodyPr wrap="square">
            <a:spAutoFit/>
          </a:bodyPr>
          <a:lstStyle/>
          <a:p>
            <a:pPr>
              <a:lnSpc>
                <a:spcPts val="2250"/>
              </a:lnSpc>
              <a:buNone/>
            </a:pPr>
            <a:r>
              <a:rPr lang="en-US" sz="1600" b="0">
                <a:solidFill>
                  <a:srgbClr val="0000FF"/>
                </a:solidFill>
                <a:effectLst/>
                <a:latin typeface="Consolas" panose="020B0609020204030204" pitchFamily="49" charset="0"/>
              </a:rPr>
              <a:t>@switch</a:t>
            </a:r>
            <a:r>
              <a:rPr lang="en-US" sz="1600" b="0">
                <a:solidFill>
                  <a:srgbClr val="000000"/>
                </a:solidFill>
                <a:effectLst/>
                <a:latin typeface="Consolas" panose="020B0609020204030204" pitchFamily="49" charset="0"/>
              </a:rPr>
              <a:t> (userRole) {</a:t>
            </a:r>
          </a:p>
          <a:p>
            <a:pPr>
              <a:lnSpc>
                <a:spcPts val="2250"/>
              </a:lnSpc>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@case</a:t>
            </a: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'admin'</a:t>
            </a: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r>
              <a:rPr lang="en-US" sz="1600" b="0">
                <a:solidFill>
                  <a:srgbClr val="000000"/>
                </a:solidFill>
                <a:effectLst/>
                <a:latin typeface="Consolas" panose="020B0609020204030204" pitchFamily="49" charset="0"/>
              </a:rPr>
              <a:t>Admin Dashboard</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@case</a:t>
            </a: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'moderator'</a:t>
            </a: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r>
              <a:rPr lang="en-US" sz="1600" b="0">
                <a:solidFill>
                  <a:srgbClr val="000000"/>
                </a:solidFill>
                <a:effectLst/>
                <a:latin typeface="Consolas" panose="020B0609020204030204" pitchFamily="49" charset="0"/>
              </a:rPr>
              <a:t>Moderator Tools</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@default</a:t>
            </a: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r>
              <a:rPr lang="en-US" sz="1600" b="0">
                <a:solidFill>
                  <a:srgbClr val="000000"/>
                </a:solidFill>
                <a:effectLst/>
                <a:latin typeface="Consolas" panose="020B0609020204030204" pitchFamily="49" charset="0"/>
              </a:rPr>
              <a:t>Guest View</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793190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1B808CD-232E-B182-B680-C70CAC0EA31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9F63042-D0E5-FAB3-1F53-25D3E28CB8C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CCBA349-EA1E-7918-CA0D-8F6C959D6A7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pSp>
        <p:nvGrpSpPr>
          <p:cNvPr id="2" name="Group 1">
            <a:extLst>
              <a:ext uri="{FF2B5EF4-FFF2-40B4-BE49-F238E27FC236}">
                <a16:creationId xmlns:a16="http://schemas.microsoft.com/office/drawing/2014/main" id="{0B3DFA3D-5ACC-7B4F-9419-265EDD5B596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2BD24FF-23A1-48A7-B922-6DA24FD7B9E7}"/>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4A39FE5-95B6-C77E-7BDA-64D59CC3F73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1EA31EC-6224-00D5-9219-6A158DAC0EE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2A2A1D5-F42C-6821-0331-80013D12DD1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3090585-15F5-4975-480E-0EBC303DF1D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ECB80EB1-53E0-6292-B478-DB93123AFC2C}"/>
              </a:ext>
            </a:extLst>
          </p:cNvPr>
          <p:cNvSpPr txBox="1"/>
          <p:nvPr/>
        </p:nvSpPr>
        <p:spPr>
          <a:xfrm>
            <a:off x="618767" y="948671"/>
            <a:ext cx="11240932" cy="1687578"/>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sz="2400">
                <a:latin typeface="+mj-lt"/>
              </a:rPr>
              <a:t>*ngFor dùng để lặp qua một danh sách (mảng hoặc đối tượng có thể lặp) và tạo ra một bản sao của phần tử (và các phần tử con) cho mỗi mục trong danh sách. Đây là kỹ thuật cốt lõi để render dữ liệu động.</a:t>
            </a:r>
            <a:endParaRPr lang="en-US" sz="2400">
              <a:latin typeface="+mj-lt"/>
            </a:endParaRPr>
          </a:p>
        </p:txBody>
      </p:sp>
      <p:sp>
        <p:nvSpPr>
          <p:cNvPr id="11" name="TextBox 10">
            <a:extLst>
              <a:ext uri="{FF2B5EF4-FFF2-40B4-BE49-F238E27FC236}">
                <a16:creationId xmlns:a16="http://schemas.microsoft.com/office/drawing/2014/main" id="{80B5D3F8-8627-D16C-B4F3-0E6CE423C61C}"/>
              </a:ext>
            </a:extLst>
          </p:cNvPr>
          <p:cNvSpPr txBox="1"/>
          <p:nvPr/>
        </p:nvSpPr>
        <p:spPr>
          <a:xfrm>
            <a:off x="763691" y="2776279"/>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Cú pháp:</a:t>
            </a:r>
            <a:endParaRPr lang="vi-VN" sz="24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421A5A5-AB40-0890-0F92-86C6E3D2DE6C}"/>
              </a:ext>
            </a:extLst>
          </p:cNvPr>
          <p:cNvSpPr txBox="1"/>
          <p:nvPr/>
        </p:nvSpPr>
        <p:spPr>
          <a:xfrm>
            <a:off x="870256" y="3759592"/>
            <a:ext cx="11169441" cy="387286"/>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&lt;li</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*ngFor</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FF"/>
                </a:solidFill>
                <a:effectLst/>
                <a:latin typeface="Consolas" panose="020B0609020204030204" pitchFamily="49" charset="0"/>
              </a:rPr>
              <a:t>let</a:t>
            </a:r>
            <a:r>
              <a:rPr lang="en-US" sz="2000" b="0">
                <a:solidFill>
                  <a:srgbClr val="000000"/>
                </a:solidFill>
                <a:effectLst/>
                <a:latin typeface="Consolas" panose="020B0609020204030204" pitchFamily="49" charset="0"/>
              </a:rPr>
              <a:t> item </a:t>
            </a:r>
            <a:r>
              <a:rPr lang="en-US" sz="2000" b="0">
                <a:solidFill>
                  <a:srgbClr val="0000FF"/>
                </a:solidFill>
                <a:effectLst/>
                <a:latin typeface="Consolas" panose="020B0609020204030204" pitchFamily="49" charset="0"/>
              </a:rPr>
              <a:t>of</a:t>
            </a:r>
            <a:r>
              <a:rPr lang="en-US" sz="2000" b="0">
                <a:solidFill>
                  <a:srgbClr val="000000"/>
                </a:solidFill>
                <a:effectLst/>
                <a:latin typeface="Consolas" panose="020B0609020204030204" pitchFamily="49" charset="0"/>
              </a:rPr>
              <a:t> items</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 item }}</a:t>
            </a:r>
            <a:r>
              <a:rPr lang="en-US" sz="2000" b="0">
                <a:solidFill>
                  <a:srgbClr val="800000"/>
                </a:solidFill>
                <a:effectLst/>
                <a:latin typeface="Consolas" panose="020B0609020204030204" pitchFamily="49" charset="0"/>
              </a:rPr>
              <a:t>&lt;/li&gt;</a:t>
            </a:r>
            <a:endParaRPr lang="en-US" sz="20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9657340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338D88B-27F3-6859-767C-FA48057ACAF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4017AE-DB1C-03B2-52FF-FC7DEDB64AE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FB71C14-5508-3B21-4B7E-FFE29AAE86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grpSp>
        <p:nvGrpSpPr>
          <p:cNvPr id="2" name="Group 1">
            <a:extLst>
              <a:ext uri="{FF2B5EF4-FFF2-40B4-BE49-F238E27FC236}">
                <a16:creationId xmlns:a16="http://schemas.microsoft.com/office/drawing/2014/main" id="{DA0DD476-0A63-A27B-56C4-C0045B1560B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A68553C-971F-3807-56D7-95F78716E7E2}"/>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1958A4F-B979-6524-BA98-E46E63577BF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7A4CA2B-F477-2207-279F-201FD1102D3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1E88E60-8332-5A69-36DB-FB30188B660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47C324E-1637-B35B-3218-AF88C610E75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24B20397-1C81-99C3-1B2A-941B934D7F75}"/>
              </a:ext>
            </a:extLst>
          </p:cNvPr>
          <p:cNvGraphicFramePr>
            <a:graphicFrameLocks noGrp="1"/>
          </p:cNvGraphicFramePr>
          <p:nvPr>
            <p:extLst>
              <p:ext uri="{D42A27DB-BD31-4B8C-83A1-F6EECF244321}">
                <p14:modId xmlns:p14="http://schemas.microsoft.com/office/powerpoint/2010/main" val="109276103"/>
              </p:ext>
            </p:extLst>
          </p:nvPr>
        </p:nvGraphicFramePr>
        <p:xfrm>
          <a:off x="564685" y="964180"/>
          <a:ext cx="10978755" cy="4724400"/>
        </p:xfrm>
        <a:graphic>
          <a:graphicData uri="http://schemas.openxmlformats.org/drawingml/2006/table">
            <a:tbl>
              <a:tblPr>
                <a:tableStyleId>{5940675A-B579-460E-94D1-54222C63F5DA}</a:tableStyleId>
              </a:tblPr>
              <a:tblGrid>
                <a:gridCol w="2662078">
                  <a:extLst>
                    <a:ext uri="{9D8B030D-6E8A-4147-A177-3AD203B41FA5}">
                      <a16:colId xmlns:a16="http://schemas.microsoft.com/office/drawing/2014/main" val="3410883696"/>
                    </a:ext>
                  </a:extLst>
                </a:gridCol>
                <a:gridCol w="4657092">
                  <a:extLst>
                    <a:ext uri="{9D8B030D-6E8A-4147-A177-3AD203B41FA5}">
                      <a16:colId xmlns:a16="http://schemas.microsoft.com/office/drawing/2014/main" val="300577209"/>
                    </a:ext>
                  </a:extLst>
                </a:gridCol>
                <a:gridCol w="3659585">
                  <a:extLst>
                    <a:ext uri="{9D8B030D-6E8A-4147-A177-3AD203B41FA5}">
                      <a16:colId xmlns:a16="http://schemas.microsoft.com/office/drawing/2014/main" val="1812794812"/>
                    </a:ext>
                  </a:extLst>
                </a:gridCol>
              </a:tblGrid>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Đặc điểm</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*ngFor (Structural Directive)</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@for (Built-in Control Flow)</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3795114054"/>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Bản chất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Directive (Cần gắn vào thẻ)</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Cấu trúc lập trình (Block)</a:t>
                      </a:r>
                    </a:p>
                  </a:txBody>
                  <a:tcPr marT="121920" marB="121920" anchor="ctr"/>
                </a:tc>
                <a:extLst>
                  <a:ext uri="{0D108BD9-81ED-4DB2-BD59-A6C34878D82A}">
                    <a16:rowId xmlns:a16="http://schemas.microsoft.com/office/drawing/2014/main" val="3119891125"/>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Import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Cần </a:t>
                      </a:r>
                      <a:r>
                        <a:rPr lang="en-US" sz="2200">
                          <a:solidFill>
                            <a:srgbClr val="444746"/>
                          </a:solidFill>
                          <a:effectLst/>
                          <a:latin typeface="Times New Roman" panose="02020603050405020304" pitchFamily="18" charset="0"/>
                          <a:cs typeface="Times New Roman" panose="02020603050405020304" pitchFamily="18" charset="0"/>
                        </a:rPr>
                        <a:t>CommonModule</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Không cần (Tích hợp sẵn)</a:t>
                      </a:r>
                    </a:p>
                  </a:txBody>
                  <a:tcPr marT="121920" marB="121920" anchor="ctr"/>
                </a:tc>
                <a:extLst>
                  <a:ext uri="{0D108BD9-81ED-4DB2-BD59-A6C34878D82A}">
                    <a16:rowId xmlns:a16="http://schemas.microsoft.com/office/drawing/2014/main" val="1902932454"/>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Tracking</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444746"/>
                          </a:solidFill>
                          <a:effectLst/>
                          <a:latin typeface="Times New Roman" panose="02020603050405020304" pitchFamily="18" charset="0"/>
                          <a:cs typeface="Times New Roman" panose="02020603050405020304" pitchFamily="18" charset="0"/>
                        </a:rPr>
                        <a:t>trackBy</a:t>
                      </a:r>
                      <a:r>
                        <a:rPr lang="en-US" sz="2200">
                          <a:solidFill>
                            <a:srgbClr val="1F1F1F"/>
                          </a:solidFill>
                          <a:effectLst/>
                          <a:latin typeface="Times New Roman" panose="02020603050405020304" pitchFamily="18" charset="0"/>
                          <a:cs typeface="Times New Roman" panose="02020603050405020304" pitchFamily="18" charset="0"/>
                        </a:rPr>
                        <a:t> (Cần hàm ở TS)</a:t>
                      </a:r>
                    </a:p>
                  </a:txBody>
                  <a:tcPr marT="121920" marB="121920" anchor="ctr"/>
                </a:tc>
                <a:tc>
                  <a:txBody>
                    <a:bodyPr/>
                    <a:lstStyle/>
                    <a:p>
                      <a:pPr rtl="0">
                        <a:buNone/>
                      </a:pPr>
                      <a:r>
                        <a:rPr lang="en-US" sz="2200">
                          <a:solidFill>
                            <a:srgbClr val="444746"/>
                          </a:solidFill>
                          <a:effectLst/>
                          <a:latin typeface="Times New Roman" panose="02020603050405020304" pitchFamily="18" charset="0"/>
                          <a:cs typeface="Times New Roman" panose="02020603050405020304" pitchFamily="18" charset="0"/>
                        </a:rPr>
                        <a:t>track</a:t>
                      </a:r>
                      <a:r>
                        <a:rPr lang="en-US" sz="2200">
                          <a:solidFill>
                            <a:srgbClr val="1F1F1F"/>
                          </a:solidFill>
                          <a:effectLst/>
                          <a:latin typeface="Times New Roman" panose="02020603050405020304" pitchFamily="18" charset="0"/>
                          <a:cs typeface="Times New Roman" panose="02020603050405020304" pitchFamily="18" charset="0"/>
                        </a:rPr>
                        <a:t> (Cú pháp biểu thức)</a:t>
                      </a:r>
                    </a:p>
                  </a:txBody>
                  <a:tcPr marT="121920" marB="121920" anchor="ctr"/>
                </a:tc>
                <a:extLst>
                  <a:ext uri="{0D108BD9-81ED-4DB2-BD59-A6C34878D82A}">
                    <a16:rowId xmlns:a16="http://schemas.microsoft.com/office/drawing/2014/main" val="1968799865"/>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Xử lý mảng rỗng</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Cần thêm </a:t>
                      </a:r>
                      <a:r>
                        <a:rPr lang="en-US" sz="2200">
                          <a:solidFill>
                            <a:srgbClr val="444746"/>
                          </a:solidFill>
                          <a:effectLst/>
                          <a:latin typeface="Times New Roman" panose="02020603050405020304" pitchFamily="18" charset="0"/>
                          <a:cs typeface="Times New Roman" panose="02020603050405020304" pitchFamily="18" charset="0"/>
                        </a:rPr>
                        <a:t>*ngIf</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Dùng block </a:t>
                      </a:r>
                      <a:r>
                        <a:rPr lang="en-US" sz="2200">
                          <a:solidFill>
                            <a:srgbClr val="444746"/>
                          </a:solidFill>
                          <a:effectLst/>
                          <a:latin typeface="Times New Roman" panose="02020603050405020304" pitchFamily="18" charset="0"/>
                          <a:cs typeface="Times New Roman" panose="02020603050405020304" pitchFamily="18" charset="0"/>
                        </a:rPr>
                        <a:t>@empty</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extLst>
                  <a:ext uri="{0D108BD9-81ED-4DB2-BD59-A6C34878D82A}">
                    <a16:rowId xmlns:a16="http://schemas.microsoft.com/office/drawing/2014/main" val="176939994"/>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Hiệu năng</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Runtime (Làm việc qua </a:t>
                      </a:r>
                      <a:r>
                        <a:rPr lang="en-US" sz="2200">
                          <a:solidFill>
                            <a:srgbClr val="444746"/>
                          </a:solidFill>
                          <a:effectLst/>
                          <a:latin typeface="Times New Roman" panose="02020603050405020304" pitchFamily="18" charset="0"/>
                          <a:cs typeface="Times New Roman" panose="02020603050405020304" pitchFamily="18" charset="0"/>
                        </a:rPr>
                        <a:t>ng-template</a:t>
                      </a:r>
                      <a:r>
                        <a:rPr lang="en-US"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Compile-time (Tối ưu hóa mạnh)</a:t>
                      </a:r>
                    </a:p>
                  </a:txBody>
                  <a:tcPr marT="121920" marB="121920" anchor="ctr"/>
                </a:tc>
                <a:extLst>
                  <a:ext uri="{0D108BD9-81ED-4DB2-BD59-A6C34878D82A}">
                    <a16:rowId xmlns:a16="http://schemas.microsoft.com/office/drawing/2014/main" val="971216534"/>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Cú pháp</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fi-FI" sz="2200">
                          <a:solidFill>
                            <a:srgbClr val="1F1F1F"/>
                          </a:solidFill>
                          <a:effectLst/>
                          <a:latin typeface="Times New Roman" panose="02020603050405020304" pitchFamily="18" charset="0"/>
                          <a:cs typeface="Times New Roman" panose="02020603050405020304" pitchFamily="18" charset="0"/>
                        </a:rPr>
                        <a:t>Syntax khó nhớ, dễ sai </a:t>
                      </a:r>
                      <a:r>
                        <a:rPr lang="fi-FI" sz="2200">
                          <a:solidFill>
                            <a:srgbClr val="444746"/>
                          </a:solidFill>
                          <a:effectLst/>
                          <a:latin typeface="Times New Roman" panose="02020603050405020304" pitchFamily="18" charset="0"/>
                          <a:cs typeface="Times New Roman" panose="02020603050405020304" pitchFamily="18" charset="0"/>
                        </a:rPr>
                        <a:t>*</a:t>
                      </a:r>
                      <a:endParaRPr lang="fi-FI"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Trực quan, giống ngôn ngữ lập trình</a:t>
                      </a:r>
                    </a:p>
                  </a:txBody>
                  <a:tcPr marT="121920" marB="121920" anchor="ctr"/>
                </a:tc>
                <a:extLst>
                  <a:ext uri="{0D108BD9-81ED-4DB2-BD59-A6C34878D82A}">
                    <a16:rowId xmlns:a16="http://schemas.microsoft.com/office/drawing/2014/main" val="990337193"/>
                  </a:ext>
                </a:extLst>
              </a:tr>
            </a:tbl>
          </a:graphicData>
        </a:graphic>
      </p:graphicFrame>
    </p:spTree>
    <p:extLst>
      <p:ext uri="{BB962C8B-B14F-4D97-AF65-F5344CB8AC3E}">
        <p14:creationId xmlns:p14="http://schemas.microsoft.com/office/powerpoint/2010/main" val="10122235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5D354F9-7305-1DDD-A511-72E7103E428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B68DB7B-EBEE-56B6-0993-2A867BA159E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6F595A9-61BA-9813-14D7-688C3A50A70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grpSp>
        <p:nvGrpSpPr>
          <p:cNvPr id="2" name="Group 1">
            <a:extLst>
              <a:ext uri="{FF2B5EF4-FFF2-40B4-BE49-F238E27FC236}">
                <a16:creationId xmlns:a16="http://schemas.microsoft.com/office/drawing/2014/main" id="{3BAFEB36-CA3B-CE53-66A5-83868F5A1A4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47C4AF0A-1E1F-3A30-ED3F-60941419FBC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0489D4E-62B9-CBE3-1D5E-070A98B691E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37FD97A-3561-C6B4-8608-90A7C4771D0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8D379CF-92D8-5521-203A-A598CB11CCF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8B8B196-956D-7FE2-5356-DECF0D15815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76D605F1-2734-1B6F-41E7-FF0B44EFBE30}"/>
              </a:ext>
            </a:extLst>
          </p:cNvPr>
          <p:cNvSpPr txBox="1"/>
          <p:nvPr/>
        </p:nvSpPr>
        <p:spPr>
          <a:xfrm>
            <a:off x="564686" y="3177201"/>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BC9B639D-C6F8-B880-A6DB-938DCD9DEBEF}"/>
              </a:ext>
            </a:extLst>
          </p:cNvPr>
          <p:cNvSpPr txBox="1"/>
          <p:nvPr/>
        </p:nvSpPr>
        <p:spPr>
          <a:xfrm>
            <a:off x="542786" y="916275"/>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TypeScript</a:t>
            </a:r>
            <a:endParaRPr lang="vi-VN" sz="24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CDB98C2-7044-9E40-F2C1-40D41C264F36}"/>
              </a:ext>
            </a:extLst>
          </p:cNvPr>
          <p:cNvSpPr txBox="1"/>
          <p:nvPr/>
        </p:nvSpPr>
        <p:spPr>
          <a:xfrm>
            <a:off x="666892" y="1548100"/>
            <a:ext cx="9288379" cy="1552733"/>
          </a:xfrm>
          <a:prstGeom prst="rect">
            <a:avLst/>
          </a:prstGeom>
          <a:noFill/>
          <a:ln>
            <a:solidFill>
              <a:schemeClr val="tx1"/>
            </a:solidFill>
          </a:ln>
        </p:spPr>
        <p:txBody>
          <a:bodyPr wrap="square">
            <a:spAutoFit/>
          </a:bodyPr>
          <a:lstStyle/>
          <a:p>
            <a:pPr>
              <a:lnSpc>
                <a:spcPts val="2250"/>
              </a:lnSpc>
              <a:buNone/>
            </a:pPr>
            <a:r>
              <a:rPr lang="en-US" sz="2000" b="0">
                <a:solidFill>
                  <a:srgbClr val="008000"/>
                </a:solidFill>
                <a:effectLst/>
                <a:latin typeface="Consolas" panose="020B0609020204030204" pitchFamily="49" charset="0"/>
              </a:rPr>
              <a:t>// Component logic</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ProductList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Define product data array</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products: string[] = [</a:t>
            </a:r>
            <a:r>
              <a:rPr lang="en-US" sz="2000" b="0">
                <a:solidFill>
                  <a:srgbClr val="A31515"/>
                </a:solidFill>
                <a:effectLst/>
                <a:latin typeface="Consolas" panose="020B0609020204030204" pitchFamily="49" charset="0"/>
              </a:rPr>
              <a:t>'Laptop'</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'Smartphone'</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'Tablet'</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a:t>
            </a:r>
          </a:p>
        </p:txBody>
      </p:sp>
      <p:sp>
        <p:nvSpPr>
          <p:cNvPr id="17" name="TextBox 16">
            <a:extLst>
              <a:ext uri="{FF2B5EF4-FFF2-40B4-BE49-F238E27FC236}">
                <a16:creationId xmlns:a16="http://schemas.microsoft.com/office/drawing/2014/main" id="{E1E80BBC-68D4-914B-144A-BB128C926EDD}"/>
              </a:ext>
            </a:extLst>
          </p:cNvPr>
          <p:cNvSpPr txBox="1"/>
          <p:nvPr/>
        </p:nvSpPr>
        <p:spPr>
          <a:xfrm>
            <a:off x="666893" y="3833536"/>
            <a:ext cx="5142642" cy="1572546"/>
          </a:xfrm>
          <a:prstGeom prst="rect">
            <a:avLst/>
          </a:prstGeom>
          <a:noFill/>
          <a:ln>
            <a:solidFill>
              <a:schemeClr val="tx1"/>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&lt;ul&gt;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&lt;li</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*ngFor</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FF"/>
                </a:solidFill>
                <a:effectLst/>
                <a:latin typeface="Consolas" panose="020B0609020204030204" pitchFamily="49" charset="0"/>
              </a:rPr>
              <a:t>let</a:t>
            </a:r>
            <a:r>
              <a:rPr lang="en-US" sz="1800" b="0">
                <a:solidFill>
                  <a:srgbClr val="000000"/>
                </a:solidFill>
                <a:effectLst/>
                <a:latin typeface="Consolas" panose="020B0609020204030204" pitchFamily="49" charset="0"/>
              </a:rPr>
              <a:t> product </a:t>
            </a:r>
            <a:r>
              <a:rPr lang="en-US" sz="1800" b="0">
                <a:solidFill>
                  <a:srgbClr val="0000FF"/>
                </a:solidFill>
                <a:effectLst/>
                <a:latin typeface="Consolas" panose="020B0609020204030204" pitchFamily="49" charset="0"/>
              </a:rPr>
              <a:t>of</a:t>
            </a:r>
            <a:r>
              <a:rPr lang="en-US" sz="1800" b="0">
                <a:solidFill>
                  <a:srgbClr val="000000"/>
                </a:solidFill>
                <a:effectLst/>
                <a:latin typeface="Consolas" panose="020B0609020204030204" pitchFamily="49" charset="0"/>
              </a:rPr>
              <a:t> products</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 product }}</a:t>
            </a: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&lt;/li&gt;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800000"/>
                </a:solidFill>
                <a:effectLst/>
                <a:latin typeface="Consolas" panose="020B0609020204030204" pitchFamily="49" charset="0"/>
              </a:rPr>
              <a:t>&lt;/ul&gt;</a:t>
            </a:r>
            <a:endParaRPr lang="en-US" sz="1800" b="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7D3ABC7D-EC29-C17F-D331-8AC453E5B1A0}"/>
              </a:ext>
            </a:extLst>
          </p:cNvPr>
          <p:cNvSpPr txBox="1"/>
          <p:nvPr/>
        </p:nvSpPr>
        <p:spPr>
          <a:xfrm>
            <a:off x="6040998" y="3833536"/>
            <a:ext cx="5988289" cy="1552733"/>
          </a:xfrm>
          <a:prstGeom prst="rect">
            <a:avLst/>
          </a:prstGeom>
          <a:noFill/>
          <a:ln>
            <a:solidFill>
              <a:schemeClr val="tx1"/>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&lt;ul&gt;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@for</a:t>
            </a:r>
            <a:r>
              <a:rPr lang="en-US" sz="1800" b="0">
                <a:solidFill>
                  <a:srgbClr val="000000"/>
                </a:solidFill>
                <a:effectLst/>
                <a:latin typeface="Consolas" panose="020B0609020204030204" pitchFamily="49" charset="0"/>
              </a:rPr>
              <a:t> (product </a:t>
            </a:r>
            <a:r>
              <a:rPr lang="en-US" sz="1800" b="0">
                <a:solidFill>
                  <a:srgbClr val="0000FF"/>
                </a:solidFill>
                <a:effectLst/>
                <a:latin typeface="Consolas" panose="020B0609020204030204" pitchFamily="49" charset="0"/>
              </a:rPr>
              <a:t>of</a:t>
            </a:r>
            <a:r>
              <a:rPr lang="en-US" sz="1800" b="0">
                <a:solidFill>
                  <a:srgbClr val="000000"/>
                </a:solidFill>
                <a:effectLst/>
                <a:latin typeface="Consolas" panose="020B0609020204030204" pitchFamily="49" charset="0"/>
              </a:rPr>
              <a:t> products; </a:t>
            </a:r>
            <a:r>
              <a:rPr lang="en-US" sz="1800" b="0">
                <a:solidFill>
                  <a:srgbClr val="0000FF"/>
                </a:solidFill>
                <a:effectLst/>
                <a:latin typeface="Consolas" panose="020B0609020204030204" pitchFamily="49" charset="0"/>
              </a:rPr>
              <a:t>track</a:t>
            </a:r>
            <a:r>
              <a:rPr lang="en-US" sz="1800" b="0">
                <a:solidFill>
                  <a:srgbClr val="000000"/>
                </a:solidFill>
                <a:effectLst/>
                <a:latin typeface="Consolas" panose="020B0609020204030204" pitchFamily="49" charset="0"/>
              </a:rPr>
              <a:t> product) {</a:t>
            </a: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&lt;li&gt;</a:t>
            </a:r>
            <a:r>
              <a:rPr lang="en-US" sz="1800" b="0">
                <a:solidFill>
                  <a:srgbClr val="000000"/>
                </a:solidFill>
                <a:effectLst/>
                <a:latin typeface="Consolas" panose="020B0609020204030204" pitchFamily="49" charset="0"/>
              </a:rPr>
              <a:t>{{ product }}</a:t>
            </a:r>
            <a:r>
              <a:rPr lang="en-US" sz="1800" b="0">
                <a:solidFill>
                  <a:srgbClr val="800000"/>
                </a:solidFill>
                <a:effectLst/>
                <a:latin typeface="Consolas" panose="020B0609020204030204" pitchFamily="49" charset="0"/>
              </a:rPr>
              <a:t>&lt;/li&gt;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p>
          <a:p>
            <a:pPr>
              <a:lnSpc>
                <a:spcPts val="2250"/>
              </a:lnSpc>
              <a:buNone/>
            </a:pPr>
            <a:r>
              <a:rPr lang="en-US" sz="1800" b="0">
                <a:solidFill>
                  <a:srgbClr val="800000"/>
                </a:solidFill>
                <a:effectLst/>
                <a:latin typeface="Consolas" panose="020B0609020204030204" pitchFamily="49" charset="0"/>
              </a:rPr>
              <a:t>&lt;/ul&gt;</a:t>
            </a:r>
            <a:endParaRPr lang="en-US"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8573547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852AEAE-BEB9-68F8-17F2-17240F68531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0563919-76A5-8FD9-9224-EE5AAC3E9CB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03D51A8-7902-D038-E73E-378AD8F2042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grpSp>
        <p:nvGrpSpPr>
          <p:cNvPr id="2" name="Group 1">
            <a:extLst>
              <a:ext uri="{FF2B5EF4-FFF2-40B4-BE49-F238E27FC236}">
                <a16:creationId xmlns:a16="http://schemas.microsoft.com/office/drawing/2014/main" id="{DCA31FC4-2017-D51E-3BB7-D1075E9DA9C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44911E5-5F63-FA56-D6DE-F96B007306E7}"/>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549E585-440C-3D15-6E4A-8C0F06D36BB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715DC0E-25A8-DF2F-FBA9-C7EFB39E89B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955F15C-A093-A841-605E-3D76EB54133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0590E05-19E8-A00B-A2A0-EBF06E50B30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058605D8-798E-DEE1-2B9C-5283EC155CF4}"/>
              </a:ext>
            </a:extLst>
          </p:cNvPr>
          <p:cNvSpPr txBox="1"/>
          <p:nvPr/>
        </p:nvSpPr>
        <p:spPr>
          <a:xfrm>
            <a:off x="564686" y="773650"/>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Minh họa hướng đối tượng là Danh Sách Products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DE5D90D-BC42-6CC6-3D29-EA8058202C10}"/>
              </a:ext>
            </a:extLst>
          </p:cNvPr>
          <p:cNvPicPr>
            <a:picLocks noChangeAspect="1"/>
          </p:cNvPicPr>
          <p:nvPr/>
        </p:nvPicPr>
        <p:blipFill>
          <a:blip r:embed="rId3"/>
          <a:stretch>
            <a:fillRect/>
          </a:stretch>
        </p:blipFill>
        <p:spPr>
          <a:xfrm>
            <a:off x="671052" y="2069599"/>
            <a:ext cx="5830114" cy="2181529"/>
          </a:xfrm>
          <a:prstGeom prst="rect">
            <a:avLst/>
          </a:prstGeom>
        </p:spPr>
      </p:pic>
      <p:pic>
        <p:nvPicPr>
          <p:cNvPr id="12" name="Picture 11">
            <a:extLst>
              <a:ext uri="{FF2B5EF4-FFF2-40B4-BE49-F238E27FC236}">
                <a16:creationId xmlns:a16="http://schemas.microsoft.com/office/drawing/2014/main" id="{B5B1BDF4-06BC-5E01-03CA-BF0C8EA6598F}"/>
              </a:ext>
            </a:extLst>
          </p:cNvPr>
          <p:cNvPicPr>
            <a:picLocks noChangeAspect="1"/>
          </p:cNvPicPr>
          <p:nvPr/>
        </p:nvPicPr>
        <p:blipFill>
          <a:blip r:embed="rId4"/>
          <a:stretch>
            <a:fillRect/>
          </a:stretch>
        </p:blipFill>
        <p:spPr>
          <a:xfrm>
            <a:off x="7126454" y="2124601"/>
            <a:ext cx="2476715" cy="2194750"/>
          </a:xfrm>
          <a:prstGeom prst="rect">
            <a:avLst/>
          </a:prstGeom>
        </p:spPr>
      </p:pic>
      <p:sp>
        <p:nvSpPr>
          <p:cNvPr id="14" name="TextBox 13">
            <a:extLst>
              <a:ext uri="{FF2B5EF4-FFF2-40B4-BE49-F238E27FC236}">
                <a16:creationId xmlns:a16="http://schemas.microsoft.com/office/drawing/2014/main" id="{A54D87DC-4168-9A79-CC32-AA68412F181C}"/>
              </a:ext>
            </a:extLst>
          </p:cNvPr>
          <p:cNvSpPr txBox="1"/>
          <p:nvPr/>
        </p:nvSpPr>
        <p:spPr>
          <a:xfrm>
            <a:off x="580599" y="1282800"/>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1: Trong thư mục app tạo một thư mục con tên là </a:t>
            </a:r>
            <a:r>
              <a:rPr lang="en-US" sz="2400" b="1">
                <a:latin typeface="Times New Roman" panose="02020603050405020304" pitchFamily="18" charset="0"/>
                <a:cs typeface="Times New Roman" panose="02020603050405020304" pitchFamily="18" charset="0"/>
              </a:rPr>
              <a:t>classes</a:t>
            </a:r>
            <a:endParaRPr lang="vi-V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0125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9FB7CC9-397A-C37E-6342-EDCB8046D82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D2EF957-884B-BEAD-06EC-425515B7BDB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1B4B953-5843-EB4A-3A89-5A519BD9BBC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grpSp>
        <p:nvGrpSpPr>
          <p:cNvPr id="2" name="Group 1">
            <a:extLst>
              <a:ext uri="{FF2B5EF4-FFF2-40B4-BE49-F238E27FC236}">
                <a16:creationId xmlns:a16="http://schemas.microsoft.com/office/drawing/2014/main" id="{FCC21684-50AF-F727-AD9F-542065117A36}"/>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C3A1197-DB38-0DAF-2EF1-E74A159EC24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7974B01-B816-E558-FA1C-80FE0DEA200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6D6E939-543A-1D4D-76B2-2F18A543C2A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9C47E71-ACF8-7B18-C456-85AAD25AA3E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A895205-7880-BBCC-831A-EBBFC360E85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F0383ACE-0442-5FD7-E72D-2FD60D3A83B9}"/>
              </a:ext>
            </a:extLst>
          </p:cNvPr>
          <p:cNvPicPr>
            <a:picLocks noChangeAspect="1"/>
          </p:cNvPicPr>
          <p:nvPr/>
        </p:nvPicPr>
        <p:blipFill>
          <a:blip r:embed="rId3"/>
          <a:stretch>
            <a:fillRect/>
          </a:stretch>
        </p:blipFill>
        <p:spPr>
          <a:xfrm>
            <a:off x="564686" y="1463422"/>
            <a:ext cx="9030483" cy="4465707"/>
          </a:xfrm>
          <a:prstGeom prst="rect">
            <a:avLst/>
          </a:prstGeom>
        </p:spPr>
      </p:pic>
      <p:sp>
        <p:nvSpPr>
          <p:cNvPr id="13" name="TextBox 12">
            <a:extLst>
              <a:ext uri="{FF2B5EF4-FFF2-40B4-BE49-F238E27FC236}">
                <a16:creationId xmlns:a16="http://schemas.microsoft.com/office/drawing/2014/main" id="{4734C357-2467-DC9F-9369-0400845FF81E}"/>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2: Tạo một file tên là </a:t>
            </a:r>
            <a:r>
              <a:rPr lang="en-US" sz="2400" b="1">
                <a:latin typeface="Times New Roman" panose="02020603050405020304" pitchFamily="18" charset="0"/>
                <a:cs typeface="Times New Roman" panose="02020603050405020304" pitchFamily="18" charset="0"/>
              </a:rPr>
              <a:t>IProduct.ts</a:t>
            </a:r>
            <a:r>
              <a:rPr lang="en-US" sz="2400">
                <a:latin typeface="Times New Roman" panose="02020603050405020304" pitchFamily="18" charset="0"/>
                <a:cs typeface="Times New Roman" panose="02020603050405020304" pitchFamily="18" charset="0"/>
              </a:rPr>
              <a:t>, khai báo một interface </a:t>
            </a:r>
            <a:r>
              <a:rPr lang="en-US" sz="2400" b="1">
                <a:latin typeface="Times New Roman" panose="02020603050405020304" pitchFamily="18" charset="0"/>
                <a:cs typeface="Times New Roman" panose="02020603050405020304" pitchFamily="18" charset="0"/>
              </a:rPr>
              <a:t>Product </a:t>
            </a:r>
            <a:r>
              <a:rPr lang="en-US" sz="2400">
                <a:latin typeface="Times New Roman" panose="02020603050405020304" pitchFamily="18" charset="0"/>
                <a:cs typeface="Times New Roman" panose="02020603050405020304" pitchFamily="18" charset="0"/>
              </a:rPr>
              <a:t>như hình:</a:t>
            </a:r>
            <a:endParaRPr lang="vi-V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94678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6955EDA-FEC2-1B6B-A9C4-F357F2A957D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8F1A336-3011-6D47-2822-3F7C5DB0139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606B1E7-C0C1-E4B7-68DF-328A2B6447F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grpSp>
        <p:nvGrpSpPr>
          <p:cNvPr id="2" name="Group 1">
            <a:extLst>
              <a:ext uri="{FF2B5EF4-FFF2-40B4-BE49-F238E27FC236}">
                <a16:creationId xmlns:a16="http://schemas.microsoft.com/office/drawing/2014/main" id="{918E5165-C3F6-B099-A275-0B12C5F9385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5087837-2CF6-9842-3200-3C3D389167D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0A09434-F7F5-A426-C378-BB7B62CB22D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AB0454E-A198-3B48-C73F-17284CB56A1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A0957B9-9A3C-685B-6C00-E31618D7271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7849670-D2DD-4F8F-05A5-E0933B71143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86624F12-D8EB-6AF3-D26C-3EA0162D1D90}"/>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Step 3: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ProductListComponent</a:t>
            </a:r>
            <a:endParaRPr lang="vi-VN" sz="2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80CF22E-4989-1602-904D-CCEBF231CCB7}"/>
              </a:ext>
            </a:extLst>
          </p:cNvPr>
          <p:cNvPicPr>
            <a:picLocks noChangeAspect="1"/>
          </p:cNvPicPr>
          <p:nvPr/>
        </p:nvPicPr>
        <p:blipFill>
          <a:blip r:embed="rId3"/>
          <a:stretch>
            <a:fillRect/>
          </a:stretch>
        </p:blipFill>
        <p:spPr>
          <a:xfrm>
            <a:off x="3297765" y="1515467"/>
            <a:ext cx="3406435" cy="3208298"/>
          </a:xfrm>
          <a:prstGeom prst="rect">
            <a:avLst/>
          </a:prstGeom>
        </p:spPr>
      </p:pic>
    </p:spTree>
    <p:extLst>
      <p:ext uri="{BB962C8B-B14F-4D97-AF65-F5344CB8AC3E}">
        <p14:creationId xmlns:p14="http://schemas.microsoft.com/office/powerpoint/2010/main" val="40818045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DEF3981-3130-4ADB-A744-E378D70866A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0EF4FCD-921C-7A5C-ED22-E0415EDF809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AB24E1E-29F8-553A-5F25-A8CD4264319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grpSp>
        <p:nvGrpSpPr>
          <p:cNvPr id="2" name="Group 1">
            <a:extLst>
              <a:ext uri="{FF2B5EF4-FFF2-40B4-BE49-F238E27FC236}">
                <a16:creationId xmlns:a16="http://schemas.microsoft.com/office/drawing/2014/main" id="{065F032E-D30A-5EFA-7A9F-5DC4C7FB575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53299386-9A2D-9FCB-0808-95920F65DCFE}"/>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B92A7CC-17D4-E61C-AB7C-4CDA6E9D6CD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20805DC-080F-E34A-82F2-73220522506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A82DFCC-AF9E-B37F-F2FF-E9C6930AC03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AA59187-4964-2010-ECF3-A4F5A9200B2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204E4D0D-A18A-B00C-F769-6FE1C84A3CFC}"/>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4: </a:t>
            </a:r>
            <a:r>
              <a:rPr lang="en-US" sz="2400" b="1">
                <a:latin typeface="Times New Roman" panose="02020603050405020304" pitchFamily="18" charset="0"/>
                <a:cs typeface="Times New Roman" panose="02020603050405020304" pitchFamily="18" charset="0"/>
              </a:rPr>
              <a:t>ProductListComponent.ts </a:t>
            </a:r>
            <a:r>
              <a:rPr lang="en-US" sz="2400">
                <a:latin typeface="Times New Roman" panose="02020603050405020304" pitchFamily="18" charset="0"/>
                <a:cs typeface="Times New Roman" panose="02020603050405020304" pitchFamily="18" charset="0"/>
              </a:rPr>
              <a:t>bổ sung mã lệnh:</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2664C1E-FD48-9CA6-91AD-50F9B4375A85}"/>
              </a:ext>
            </a:extLst>
          </p:cNvPr>
          <p:cNvPicPr>
            <a:picLocks noChangeAspect="1"/>
          </p:cNvPicPr>
          <p:nvPr/>
        </p:nvPicPr>
        <p:blipFill>
          <a:blip r:embed="rId3"/>
          <a:stretch>
            <a:fillRect/>
          </a:stretch>
        </p:blipFill>
        <p:spPr>
          <a:xfrm>
            <a:off x="3732849" y="1342724"/>
            <a:ext cx="5909795" cy="5168079"/>
          </a:xfrm>
          <a:prstGeom prst="rect">
            <a:avLst/>
          </a:prstGeom>
        </p:spPr>
      </p:pic>
    </p:spTree>
    <p:extLst>
      <p:ext uri="{BB962C8B-B14F-4D97-AF65-F5344CB8AC3E}">
        <p14:creationId xmlns:p14="http://schemas.microsoft.com/office/powerpoint/2010/main" val="36316794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8583702-D0E8-046D-B4D5-504465B5387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859D0F9-081F-5C89-7033-DC80CC62D45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56B410A-C009-6669-BA8A-13E7074B69D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grpSp>
        <p:nvGrpSpPr>
          <p:cNvPr id="2" name="Group 1">
            <a:extLst>
              <a:ext uri="{FF2B5EF4-FFF2-40B4-BE49-F238E27FC236}">
                <a16:creationId xmlns:a16="http://schemas.microsoft.com/office/drawing/2014/main" id="{995A1DBC-075A-1D3B-90B2-87E8F435F1F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090F8CA-9917-1D61-3B48-AF56E38C05B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E899D32-E4B3-C93A-1CF7-12AD77120CF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3C2B998-F58D-7F3E-960B-E6AAEFF98FC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CF392A2-6618-92D8-2430-268487FB9C0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B4EDBDE-415D-D74F-EEE4-9A57B822A39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6CC8F13B-58AB-B1E8-2E25-4B017F187654}"/>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ProductListComponent.html </a:t>
            </a:r>
            <a:r>
              <a:rPr lang="en-US" sz="2400">
                <a:latin typeface="Times New Roman" panose="02020603050405020304" pitchFamily="18" charset="0"/>
                <a:cs typeface="Times New Roman" panose="02020603050405020304" pitchFamily="18" charset="0"/>
              </a:rPr>
              <a:t>bổ sung mã lệnh:</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776EBAF-A1A8-5BC5-0005-500A663B8E17}"/>
              </a:ext>
            </a:extLst>
          </p:cNvPr>
          <p:cNvPicPr>
            <a:picLocks noChangeAspect="1"/>
          </p:cNvPicPr>
          <p:nvPr/>
        </p:nvPicPr>
        <p:blipFill>
          <a:blip r:embed="rId3"/>
          <a:stretch>
            <a:fillRect/>
          </a:stretch>
        </p:blipFill>
        <p:spPr>
          <a:xfrm>
            <a:off x="923806" y="1297708"/>
            <a:ext cx="7580801" cy="5053868"/>
          </a:xfrm>
          <a:prstGeom prst="rect">
            <a:avLst/>
          </a:prstGeom>
        </p:spPr>
      </p:pic>
    </p:spTree>
    <p:extLst>
      <p:ext uri="{BB962C8B-B14F-4D97-AF65-F5344CB8AC3E}">
        <p14:creationId xmlns:p14="http://schemas.microsoft.com/office/powerpoint/2010/main" val="28259700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F86D469-C007-6ED5-BEE5-650D5C0757F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0B8A71E-36DD-EF9B-916C-39B36F2B65E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F4B7E4F-23FE-EB71-C6E0-3EC908C1EF6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pSp>
        <p:nvGrpSpPr>
          <p:cNvPr id="2" name="Group 1">
            <a:extLst>
              <a:ext uri="{FF2B5EF4-FFF2-40B4-BE49-F238E27FC236}">
                <a16:creationId xmlns:a16="http://schemas.microsoft.com/office/drawing/2014/main" id="{E65EB41D-5A4F-8136-28C1-A65F53FD606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353CD11-3DCE-CB57-3F60-929CC8292E11}"/>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4D9434F-20BA-300C-4B0B-28520EA9EA0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B914C0B-F85D-DBD9-2157-FC1E4550376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1710FF5-FBE9-1D50-179E-891242CD673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0BD3950-A54A-04EF-72E1-6702255B34A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98BBF95A-B5A1-CC7E-6173-AE6F42631AC1}"/>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6: Triệu gọi component trong app.html và chạy</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732D40C-BE4E-CAFD-7A70-6187DAFFA783}"/>
              </a:ext>
            </a:extLst>
          </p:cNvPr>
          <p:cNvPicPr>
            <a:picLocks noChangeAspect="1"/>
          </p:cNvPicPr>
          <p:nvPr/>
        </p:nvPicPr>
        <p:blipFill>
          <a:blip r:embed="rId3"/>
          <a:stretch>
            <a:fillRect/>
          </a:stretch>
        </p:blipFill>
        <p:spPr>
          <a:xfrm>
            <a:off x="840141" y="2524746"/>
            <a:ext cx="7239000" cy="3714750"/>
          </a:xfrm>
          <a:prstGeom prst="rect">
            <a:avLst/>
          </a:prstGeom>
        </p:spPr>
      </p:pic>
      <p:sp>
        <p:nvSpPr>
          <p:cNvPr id="12" name="TextBox 11">
            <a:extLst>
              <a:ext uri="{FF2B5EF4-FFF2-40B4-BE49-F238E27FC236}">
                <a16:creationId xmlns:a16="http://schemas.microsoft.com/office/drawing/2014/main" id="{055160EB-745C-12D5-B7F4-D4FFE30D3E4D}"/>
              </a:ext>
            </a:extLst>
          </p:cNvPr>
          <p:cNvSpPr txBox="1"/>
          <p:nvPr/>
        </p:nvSpPr>
        <p:spPr>
          <a:xfrm>
            <a:off x="840141" y="1368653"/>
            <a:ext cx="8970751" cy="966227"/>
          </a:xfrm>
          <a:prstGeom prst="rect">
            <a:avLst/>
          </a:prstGeom>
          <a:noFill/>
          <a:ln>
            <a:solidFill>
              <a:schemeClr val="tx1"/>
            </a:solidFill>
          </a:ln>
        </p:spPr>
        <p:txBody>
          <a:bodyPr wrap="square">
            <a:spAutoFit/>
          </a:bodyPr>
          <a:lstStyle/>
          <a:p>
            <a:pPr>
              <a:lnSpc>
                <a:spcPct val="150000"/>
              </a:lnSpc>
              <a:buNone/>
            </a:pPr>
            <a:r>
              <a:rPr lang="en-US" sz="2000" b="0">
                <a:solidFill>
                  <a:srgbClr val="800000"/>
                </a:solidFill>
                <a:effectLst/>
                <a:latin typeface="Consolas" panose="020B0609020204030204" pitchFamily="49" charset="0"/>
              </a:rPr>
              <a:t>&lt;app-product-list-component&gt;&lt;/app-product-list-component&gt;</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800000"/>
                </a:solidFill>
                <a:effectLst/>
                <a:latin typeface="Consolas" panose="020B0609020204030204" pitchFamily="49" charset="0"/>
              </a:rPr>
              <a:t>&lt;router-outlet</a:t>
            </a: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7135119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AFF7E83-AEFA-C8C9-C480-2BA4D70CC88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BA01A33-CACB-F92D-EC14-8C5D80B2EFD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C7087F0-61B0-F7E0-AE5F-3D42D9ADFE6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grpSp>
        <p:nvGrpSpPr>
          <p:cNvPr id="2" name="Group 1">
            <a:extLst>
              <a:ext uri="{FF2B5EF4-FFF2-40B4-BE49-F238E27FC236}">
                <a16:creationId xmlns:a16="http://schemas.microsoft.com/office/drawing/2014/main" id="{A5C089A5-3587-2470-3A18-5C871174EF4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0119248C-B0A5-EB63-691F-518722D03CC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7DEEC16-EE8A-308B-1153-D090023339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F148BEE-C8D6-A165-FCB1-963C555AB04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ADBF93A-A0EA-BBE5-7604-B9715AF1E30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6AE8D92-EF4B-F821-CD65-9EF559E8D05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44A615E-D209-91F0-8DFF-3A060D20BB78}"/>
              </a:ext>
            </a:extLst>
          </p:cNvPr>
          <p:cNvSpPr txBox="1"/>
          <p:nvPr/>
        </p:nvSpPr>
        <p:spPr>
          <a:xfrm>
            <a:off x="415251" y="877587"/>
            <a:ext cx="11020926"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Tại sao cần trackBy?</a:t>
            </a:r>
          </a:p>
          <a:p>
            <a:pPr algn="just">
              <a:lnSpc>
                <a:spcPct val="150000"/>
              </a:lnSpc>
              <a:buNone/>
            </a:pPr>
            <a:r>
              <a:rPr lang="vi-VN" sz="2400">
                <a:latin typeface="Times New Roman" panose="02020603050405020304" pitchFamily="18" charset="0"/>
                <a:cs typeface="Times New Roman" panose="02020603050405020304" pitchFamily="18" charset="0"/>
              </a:rPr>
              <a:t>Khi Angular cần cập nhật danh sách (thêm/xóa/sắp xếp), mặc định nó sẽ </a:t>
            </a:r>
            <a:r>
              <a:rPr lang="vi-VN" sz="2400" b="1">
                <a:latin typeface="Times New Roman" panose="02020603050405020304" pitchFamily="18" charset="0"/>
                <a:cs typeface="Times New Roman" panose="02020603050405020304" pitchFamily="18" charset="0"/>
              </a:rPr>
              <a:t>render lại toàn bộ danh sách</a:t>
            </a:r>
            <a:r>
              <a:rPr lang="vi-VN" sz="2400">
                <a:latin typeface="Times New Roman" panose="02020603050405020304" pitchFamily="18" charset="0"/>
                <a:cs typeface="Times New Roman" panose="02020603050405020304" pitchFamily="18" charset="0"/>
              </a:rPr>
              <a:t> nếu không có định danh duy nhất. Với trackBy, Angular có thể xác định chính xác item nào đã thay đổi dựa trên id và chỉ cập nhật phần tử DOM đó.</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Cú pháp:</a:t>
            </a:r>
            <a:r>
              <a:rPr lang="vi-VN" sz="2400">
                <a:latin typeface="Times New Roman" panose="02020603050405020304" pitchFamily="18" charset="0"/>
                <a:cs typeface="Times New Roman" panose="02020603050405020304" pitchFamily="18" charset="0"/>
              </a:rPr>
              <a:t> *ngFor="let p of products; trackBy: trackByProductId"</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Lợi ích:</a:t>
            </a:r>
            <a:r>
              <a:rPr lang="vi-VN" sz="2400">
                <a:latin typeface="Times New Roman" panose="02020603050405020304" pitchFamily="18" charset="0"/>
                <a:cs typeface="Times New Roman" panose="02020603050405020304" pitchFamily="18" charset="0"/>
              </a:rPr>
              <a:t> Tăng hiệu năng rõ rệt khi danh sách lớn hoặc dữ liệu thay đổi thường xuyên.</a:t>
            </a:r>
          </a:p>
        </p:txBody>
      </p:sp>
    </p:spTree>
    <p:extLst>
      <p:ext uri="{BB962C8B-B14F-4D97-AF65-F5344CB8AC3E}">
        <p14:creationId xmlns:p14="http://schemas.microsoft.com/office/powerpoint/2010/main" val="2155598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D2802F3-747A-6EC5-5CC3-298D9D837AD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9D70F64-FC1C-DD71-01B7-041F58C081B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DE271A4-6B70-3056-2A78-996B0909104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grpSp>
        <p:nvGrpSpPr>
          <p:cNvPr id="2" name="Group 1">
            <a:extLst>
              <a:ext uri="{FF2B5EF4-FFF2-40B4-BE49-F238E27FC236}">
                <a16:creationId xmlns:a16="http://schemas.microsoft.com/office/drawing/2014/main" id="{5BE84497-21A1-4CAF-B691-1C39E10082C0}"/>
              </a:ext>
            </a:extLst>
          </p:cNvPr>
          <p:cNvGrpSpPr/>
          <p:nvPr/>
        </p:nvGrpSpPr>
        <p:grpSpPr>
          <a:xfrm>
            <a:off x="214276" y="265650"/>
            <a:ext cx="5368378" cy="508000"/>
            <a:chOff x="789624" y="1191463"/>
            <a:chExt cx="5368378" cy="508000"/>
          </a:xfrm>
        </p:grpSpPr>
        <p:sp>
          <p:nvSpPr>
            <p:cNvPr id="3" name="AutoShape 52">
              <a:extLst>
                <a:ext uri="{FF2B5EF4-FFF2-40B4-BE49-F238E27FC236}">
                  <a16:creationId xmlns:a16="http://schemas.microsoft.com/office/drawing/2014/main" id="{80A3991A-2853-60C9-F4D4-D9DDD667A057}"/>
                </a:ext>
              </a:extLst>
            </p:cNvPr>
            <p:cNvSpPr>
              <a:spLocks noChangeArrowheads="1"/>
            </p:cNvSpPr>
            <p:nvPr/>
          </p:nvSpPr>
          <p:spPr bwMode="gray">
            <a:xfrm>
              <a:off x="990600" y="1191463"/>
              <a:ext cx="51674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663685E-FB5B-FCCB-E267-D017B3C766F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F89DD65-C698-60CA-641F-E1CCDB90159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C25CE1F-7721-EA5B-CDD1-7749306D9E1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DF1945D-F1BD-4327-8596-2C66D42A46D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928045CE-FB29-4E8D-AA65-50A01735C3FE}"/>
              </a:ext>
            </a:extLst>
          </p:cNvPr>
          <p:cNvSpPr txBox="1"/>
          <p:nvPr/>
        </p:nvSpPr>
        <p:spPr>
          <a:xfrm>
            <a:off x="415251" y="762757"/>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New Control Flow (version &gt;=17)</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1B8644C-FE6A-03D4-3EFE-0AF702CD6F3B}"/>
              </a:ext>
            </a:extLst>
          </p:cNvPr>
          <p:cNvPicPr>
            <a:picLocks noChangeAspect="1"/>
          </p:cNvPicPr>
          <p:nvPr/>
        </p:nvPicPr>
        <p:blipFill>
          <a:blip r:embed="rId3"/>
          <a:stretch>
            <a:fillRect/>
          </a:stretch>
        </p:blipFill>
        <p:spPr>
          <a:xfrm>
            <a:off x="6335259" y="442849"/>
            <a:ext cx="5516195" cy="5972302"/>
          </a:xfrm>
          <a:prstGeom prst="rect">
            <a:avLst/>
          </a:prstGeom>
        </p:spPr>
      </p:pic>
      <p:pic>
        <p:nvPicPr>
          <p:cNvPr id="15" name="Picture 14">
            <a:extLst>
              <a:ext uri="{FF2B5EF4-FFF2-40B4-BE49-F238E27FC236}">
                <a16:creationId xmlns:a16="http://schemas.microsoft.com/office/drawing/2014/main" id="{88DBCC57-5717-3B6A-2D5F-49E05851DCD1}"/>
              </a:ext>
            </a:extLst>
          </p:cNvPr>
          <p:cNvPicPr>
            <a:picLocks noChangeAspect="1"/>
          </p:cNvPicPr>
          <p:nvPr/>
        </p:nvPicPr>
        <p:blipFill>
          <a:blip r:embed="rId4"/>
          <a:stretch>
            <a:fillRect/>
          </a:stretch>
        </p:blipFill>
        <p:spPr>
          <a:xfrm>
            <a:off x="340546" y="1988066"/>
            <a:ext cx="5378497" cy="2881867"/>
          </a:xfrm>
          <a:prstGeom prst="rect">
            <a:avLst/>
          </a:prstGeom>
        </p:spPr>
      </p:pic>
      <p:sp>
        <p:nvSpPr>
          <p:cNvPr id="16" name="Arrow: Left 15">
            <a:extLst>
              <a:ext uri="{FF2B5EF4-FFF2-40B4-BE49-F238E27FC236}">
                <a16:creationId xmlns:a16="http://schemas.microsoft.com/office/drawing/2014/main" id="{66C7847D-82AF-ED81-3A0A-E83278AAAE6D}"/>
              </a:ext>
            </a:extLst>
          </p:cNvPr>
          <p:cNvSpPr/>
          <p:nvPr/>
        </p:nvSpPr>
        <p:spPr>
          <a:xfrm>
            <a:off x="5884794" y="3309582"/>
            <a:ext cx="586854" cy="320722"/>
          </a:xfrm>
          <a:prstGeom prst="lef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9414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A638730-FA61-597A-5CED-0F21EB46A6E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A16723C-9BFA-25B8-DC07-EF13341E1F6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8667522-44A6-3CB0-A894-B8A421E9A16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grpSp>
        <p:nvGrpSpPr>
          <p:cNvPr id="2" name="Group 1">
            <a:extLst>
              <a:ext uri="{FF2B5EF4-FFF2-40B4-BE49-F238E27FC236}">
                <a16:creationId xmlns:a16="http://schemas.microsoft.com/office/drawing/2014/main" id="{4D63315E-1B24-D151-8A4F-27F85E28DEC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99C4DB4-A22C-30A9-42F6-2280E510850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0DD1E8E-EE98-621C-7987-57DF1D9A7D3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4411116-FC59-414F-09B1-3B3A0669750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22C1AEC-E838-4A65-8E0C-23E4DAC8A01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AB729EE-4792-BF38-4CA6-559BB3F88E0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10" name="Table 9">
            <a:extLst>
              <a:ext uri="{FF2B5EF4-FFF2-40B4-BE49-F238E27FC236}">
                <a16:creationId xmlns:a16="http://schemas.microsoft.com/office/drawing/2014/main" id="{6DB2F703-E11F-1C54-F2F2-3155479447B8}"/>
              </a:ext>
            </a:extLst>
          </p:cNvPr>
          <p:cNvGraphicFramePr>
            <a:graphicFrameLocks noGrp="1"/>
          </p:cNvGraphicFramePr>
          <p:nvPr>
            <p:extLst>
              <p:ext uri="{D42A27DB-BD31-4B8C-83A1-F6EECF244321}">
                <p14:modId xmlns:p14="http://schemas.microsoft.com/office/powerpoint/2010/main" val="2039061557"/>
              </p:ext>
            </p:extLst>
          </p:nvPr>
        </p:nvGraphicFramePr>
        <p:xfrm>
          <a:off x="619687" y="941836"/>
          <a:ext cx="10515600" cy="3657600"/>
        </p:xfrm>
        <a:graphic>
          <a:graphicData uri="http://schemas.openxmlformats.org/drawingml/2006/table">
            <a:tbl>
              <a:tblPr>
                <a:tableStyleId>{5940675A-B579-460E-94D1-54222C63F5DA}</a:tableStyleId>
              </a:tblPr>
              <a:tblGrid>
                <a:gridCol w="2776656">
                  <a:extLst>
                    <a:ext uri="{9D8B030D-6E8A-4147-A177-3AD203B41FA5}">
                      <a16:colId xmlns:a16="http://schemas.microsoft.com/office/drawing/2014/main" val="1443745297"/>
                    </a:ext>
                  </a:extLst>
                </a:gridCol>
                <a:gridCol w="7738944">
                  <a:extLst>
                    <a:ext uri="{9D8B030D-6E8A-4147-A177-3AD203B41FA5}">
                      <a16:colId xmlns:a16="http://schemas.microsoft.com/office/drawing/2014/main" val="3065553156"/>
                    </a:ext>
                  </a:extLst>
                </a:gridCol>
              </a:tblGrid>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Biến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Ý nghĩa</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2559967280"/>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index</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Số thứ tự của phần tử hiện tại (bắt đầu từ 0)</a:t>
                      </a:r>
                    </a:p>
                  </a:txBody>
                  <a:tcPr marT="121920" marB="121920" anchor="ctr"/>
                </a:tc>
                <a:extLst>
                  <a:ext uri="{0D108BD9-81ED-4DB2-BD59-A6C34878D82A}">
                    <a16:rowId xmlns:a16="http://schemas.microsoft.com/office/drawing/2014/main" val="2024368421"/>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first</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Trả về </a:t>
                      </a:r>
                      <a:r>
                        <a:rPr lang="en-US" sz="2400">
                          <a:solidFill>
                            <a:srgbClr val="444746"/>
                          </a:solidFill>
                          <a:effectLst/>
                          <a:latin typeface="Times New Roman" panose="02020603050405020304" pitchFamily="18" charset="0"/>
                          <a:cs typeface="Times New Roman" panose="02020603050405020304" pitchFamily="18" charset="0"/>
                        </a:rPr>
                        <a:t>true</a:t>
                      </a:r>
                      <a:r>
                        <a:rPr lang="en-US" sz="2400">
                          <a:solidFill>
                            <a:srgbClr val="1F1F1F"/>
                          </a:solidFill>
                          <a:effectLst/>
                          <a:latin typeface="Times New Roman" panose="02020603050405020304" pitchFamily="18" charset="0"/>
                          <a:cs typeface="Times New Roman" panose="02020603050405020304" pitchFamily="18" charset="0"/>
                        </a:rPr>
                        <a:t> nếu là phần tử đầu tiên</a:t>
                      </a:r>
                    </a:p>
                  </a:txBody>
                  <a:tcPr marT="121920" marB="121920" anchor="ctr"/>
                </a:tc>
                <a:extLst>
                  <a:ext uri="{0D108BD9-81ED-4DB2-BD59-A6C34878D82A}">
                    <a16:rowId xmlns:a16="http://schemas.microsoft.com/office/drawing/2014/main" val="792099499"/>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last</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Trả về </a:t>
                      </a:r>
                      <a:r>
                        <a:rPr lang="en-US" sz="2400">
                          <a:solidFill>
                            <a:srgbClr val="444746"/>
                          </a:solidFill>
                          <a:effectLst/>
                          <a:latin typeface="Times New Roman" panose="02020603050405020304" pitchFamily="18" charset="0"/>
                          <a:cs typeface="Times New Roman" panose="02020603050405020304" pitchFamily="18" charset="0"/>
                        </a:rPr>
                        <a:t>true</a:t>
                      </a:r>
                      <a:r>
                        <a:rPr lang="en-US" sz="2400">
                          <a:solidFill>
                            <a:srgbClr val="1F1F1F"/>
                          </a:solidFill>
                          <a:effectLst/>
                          <a:latin typeface="Times New Roman" panose="02020603050405020304" pitchFamily="18" charset="0"/>
                          <a:cs typeface="Times New Roman" panose="02020603050405020304" pitchFamily="18" charset="0"/>
                        </a:rPr>
                        <a:t> nếu là phần tử cuối cùng</a:t>
                      </a:r>
                    </a:p>
                  </a:txBody>
                  <a:tcPr marT="121920" marB="121920" anchor="ctr"/>
                </a:tc>
                <a:extLst>
                  <a:ext uri="{0D108BD9-81ED-4DB2-BD59-A6C34878D82A}">
                    <a16:rowId xmlns:a16="http://schemas.microsoft.com/office/drawing/2014/main" val="4226861970"/>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even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Trả về </a:t>
                      </a:r>
                      <a:r>
                        <a:rPr lang="en-US" sz="2400">
                          <a:solidFill>
                            <a:srgbClr val="444746"/>
                          </a:solidFill>
                          <a:effectLst/>
                          <a:latin typeface="Times New Roman" panose="02020603050405020304" pitchFamily="18" charset="0"/>
                          <a:cs typeface="Times New Roman" panose="02020603050405020304" pitchFamily="18" charset="0"/>
                        </a:rPr>
                        <a:t>true</a:t>
                      </a:r>
                      <a:r>
                        <a:rPr lang="en-US" sz="2400">
                          <a:solidFill>
                            <a:srgbClr val="1F1F1F"/>
                          </a:solidFill>
                          <a:effectLst/>
                          <a:latin typeface="Times New Roman" panose="02020603050405020304" pitchFamily="18" charset="0"/>
                          <a:cs typeface="Times New Roman" panose="02020603050405020304" pitchFamily="18" charset="0"/>
                        </a:rPr>
                        <a:t> nếu index là số chẵn</a:t>
                      </a:r>
                    </a:p>
                  </a:txBody>
                  <a:tcPr marT="121920" marB="121920" anchor="ctr"/>
                </a:tc>
                <a:extLst>
                  <a:ext uri="{0D108BD9-81ED-4DB2-BD59-A6C34878D82A}">
                    <a16:rowId xmlns:a16="http://schemas.microsoft.com/office/drawing/2014/main" val="4123288532"/>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odd</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Trả về </a:t>
                      </a:r>
                      <a:r>
                        <a:rPr lang="en-US" sz="2400">
                          <a:solidFill>
                            <a:srgbClr val="444746"/>
                          </a:solidFill>
                          <a:effectLst/>
                          <a:latin typeface="Times New Roman" panose="02020603050405020304" pitchFamily="18" charset="0"/>
                          <a:cs typeface="Times New Roman" panose="02020603050405020304" pitchFamily="18" charset="0"/>
                        </a:rPr>
                        <a:t>true</a:t>
                      </a:r>
                      <a:r>
                        <a:rPr lang="en-US" sz="2400">
                          <a:solidFill>
                            <a:srgbClr val="1F1F1F"/>
                          </a:solidFill>
                          <a:effectLst/>
                          <a:latin typeface="Times New Roman" panose="02020603050405020304" pitchFamily="18" charset="0"/>
                          <a:cs typeface="Times New Roman" panose="02020603050405020304" pitchFamily="18" charset="0"/>
                        </a:rPr>
                        <a:t> nếu index là số lẻ</a:t>
                      </a:r>
                    </a:p>
                  </a:txBody>
                  <a:tcPr marT="121920" marB="121920" anchor="ctr"/>
                </a:tc>
                <a:extLst>
                  <a:ext uri="{0D108BD9-81ED-4DB2-BD59-A6C34878D82A}">
                    <a16:rowId xmlns:a16="http://schemas.microsoft.com/office/drawing/2014/main" val="632843883"/>
                  </a:ext>
                </a:extLst>
              </a:tr>
            </a:tbl>
          </a:graphicData>
        </a:graphic>
      </p:graphicFrame>
      <p:sp>
        <p:nvSpPr>
          <p:cNvPr id="12" name="TextBox 11">
            <a:extLst>
              <a:ext uri="{FF2B5EF4-FFF2-40B4-BE49-F238E27FC236}">
                <a16:creationId xmlns:a16="http://schemas.microsoft.com/office/drawing/2014/main" id="{08E5715E-35D6-9784-4636-AFD1A6437E1F}"/>
              </a:ext>
            </a:extLst>
          </p:cNvPr>
          <p:cNvSpPr txBox="1"/>
          <p:nvPr/>
        </p:nvSpPr>
        <p:spPr>
          <a:xfrm>
            <a:off x="619687" y="4908087"/>
            <a:ext cx="10566244" cy="1160767"/>
          </a:xfrm>
          <a:prstGeom prst="rect">
            <a:avLst/>
          </a:prstGeom>
          <a:noFill/>
          <a:ln>
            <a:solidFill>
              <a:schemeClr val="tx1"/>
            </a:solidFill>
          </a:ln>
        </p:spPr>
        <p:txBody>
          <a:bodyPr wrap="square">
            <a:spAutoFit/>
          </a:bodyPr>
          <a:lstStyle/>
          <a:p>
            <a:pPr>
              <a:lnSpc>
                <a:spcPct val="150000"/>
              </a:lnSpc>
              <a:buNone/>
            </a:pPr>
            <a:r>
              <a:rPr lang="en-US" sz="1600" b="0">
                <a:solidFill>
                  <a:srgbClr val="800000"/>
                </a:solidFill>
                <a:effectLst/>
                <a:latin typeface="Consolas" panose="020B0609020204030204" pitchFamily="49" charset="0"/>
              </a:rPr>
              <a:t>&lt;tr</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*ngFor</a:t>
            </a:r>
            <a:r>
              <a:rPr lang="en-US" sz="1600" b="0">
                <a:solidFill>
                  <a:srgbClr val="000000"/>
                </a:solidFill>
                <a:effectLst/>
                <a:latin typeface="Consolas" panose="020B0609020204030204" pitchFamily="49" charset="0"/>
              </a:rPr>
              <a:t>=</a:t>
            </a:r>
            <a:r>
              <a:rPr lang="en-US" sz="1600" b="0">
                <a:solidFill>
                  <a:srgbClr val="A31515"/>
                </a:solidFill>
                <a:effectLst/>
                <a:latin typeface="Consolas" panose="020B0609020204030204" pitchFamily="49" charset="0"/>
              </a:rPr>
              <a:t>"</a:t>
            </a:r>
            <a:r>
              <a:rPr lang="en-US" sz="1600" b="0">
                <a:solidFill>
                  <a:srgbClr val="0000FF"/>
                </a:solidFill>
                <a:effectLst/>
                <a:latin typeface="Consolas" panose="020B0609020204030204" pitchFamily="49" charset="0"/>
              </a:rPr>
              <a:t>let</a:t>
            </a:r>
            <a:r>
              <a:rPr lang="en-US" sz="1600" b="0">
                <a:solidFill>
                  <a:srgbClr val="000000"/>
                </a:solidFill>
                <a:effectLst/>
                <a:latin typeface="Consolas" panose="020B0609020204030204" pitchFamily="49" charset="0"/>
              </a:rPr>
              <a:t> p </a:t>
            </a:r>
            <a:r>
              <a:rPr lang="en-US" sz="1600" b="0">
                <a:solidFill>
                  <a:srgbClr val="0000FF"/>
                </a:solidFill>
                <a:effectLst/>
                <a:latin typeface="Consolas" panose="020B0609020204030204" pitchFamily="49" charset="0"/>
              </a:rPr>
              <a:t>of</a:t>
            </a:r>
            <a:r>
              <a:rPr lang="en-US" sz="1600" b="0">
                <a:solidFill>
                  <a:srgbClr val="000000"/>
                </a:solidFill>
                <a:effectLst/>
                <a:latin typeface="Consolas" panose="020B0609020204030204" pitchFamily="49" charset="0"/>
              </a:rPr>
              <a:t> products; </a:t>
            </a:r>
            <a:r>
              <a:rPr lang="en-US" sz="1600" b="0">
                <a:solidFill>
                  <a:srgbClr val="0000FF"/>
                </a:solidFill>
                <a:effectLst/>
                <a:latin typeface="Consolas" panose="020B0609020204030204" pitchFamily="49" charset="0"/>
              </a:rPr>
              <a:t>let</a:t>
            </a:r>
            <a:r>
              <a:rPr lang="en-US" sz="1600" b="0">
                <a:solidFill>
                  <a:srgbClr val="000000"/>
                </a:solidFill>
                <a:effectLst/>
                <a:latin typeface="Consolas" panose="020B0609020204030204" pitchFamily="49" charset="0"/>
              </a:rPr>
              <a:t> i = index; </a:t>
            </a:r>
            <a:r>
              <a:rPr lang="en-US" sz="1600" b="0">
                <a:solidFill>
                  <a:srgbClr val="0000FF"/>
                </a:solidFill>
                <a:effectLst/>
                <a:latin typeface="Consolas" panose="020B0609020204030204" pitchFamily="49" charset="0"/>
              </a:rPr>
              <a:t>let</a:t>
            </a:r>
            <a:r>
              <a:rPr lang="en-US" sz="1600" b="0">
                <a:solidFill>
                  <a:srgbClr val="000000"/>
                </a:solidFill>
                <a:effectLst/>
                <a:latin typeface="Consolas" panose="020B0609020204030204" pitchFamily="49" charset="0"/>
              </a:rPr>
              <a:t> isOdd = odd</a:t>
            </a:r>
            <a:r>
              <a:rPr lang="en-US" sz="1600" b="0">
                <a:solidFill>
                  <a:srgbClr val="A31515"/>
                </a:solidFill>
                <a:effectLst/>
                <a:latin typeface="Consolas" panose="020B0609020204030204" pitchFamily="49" charset="0"/>
              </a:rPr>
              <a:t>"</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[class.bg-grey]</a:t>
            </a:r>
            <a:r>
              <a:rPr lang="en-US" sz="1600" b="0">
                <a:solidFill>
                  <a:srgbClr val="000000"/>
                </a:solidFill>
                <a:effectLst/>
                <a:latin typeface="Consolas" panose="020B0609020204030204" pitchFamily="49" charset="0"/>
              </a:rPr>
              <a:t>=</a:t>
            </a:r>
            <a:r>
              <a:rPr lang="en-US" sz="1600" b="0">
                <a:solidFill>
                  <a:srgbClr val="A31515"/>
                </a:solidFill>
                <a:effectLst/>
                <a:latin typeface="Consolas" panose="020B0609020204030204" pitchFamily="49" charset="0"/>
              </a:rPr>
              <a:t>"</a:t>
            </a:r>
            <a:r>
              <a:rPr lang="en-US" sz="1600" b="0">
                <a:solidFill>
                  <a:srgbClr val="000000"/>
                </a:solidFill>
                <a:effectLst/>
                <a:latin typeface="Consolas" panose="020B0609020204030204" pitchFamily="49" charset="0"/>
              </a:rPr>
              <a:t>isOdd</a:t>
            </a:r>
            <a:r>
              <a:rPr lang="en-US" sz="1600" b="0">
                <a:solidFill>
                  <a:srgbClr val="A31515"/>
                </a:solidFill>
                <a:effectLst/>
                <a:latin typeface="Consolas" panose="020B0609020204030204" pitchFamily="49" charset="0"/>
              </a:rPr>
              <a:t>"</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lnSpc>
                <a:spcPct val="15000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&lt;td&gt;</a:t>
            </a:r>
            <a:r>
              <a:rPr lang="en-US" sz="1600" b="0">
                <a:solidFill>
                  <a:srgbClr val="000000"/>
                </a:solidFill>
                <a:effectLst/>
                <a:latin typeface="Consolas" panose="020B0609020204030204" pitchFamily="49" charset="0"/>
              </a:rPr>
              <a:t>{{ i + </a:t>
            </a:r>
            <a:r>
              <a:rPr lang="en-US" sz="1600" b="0">
                <a:solidFill>
                  <a:srgbClr val="098658"/>
                </a:solidFill>
                <a:effectLst/>
                <a:latin typeface="Consolas" panose="020B0609020204030204" pitchFamily="49" charset="0"/>
              </a:rPr>
              <a:t>1</a:t>
            </a: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&lt;/td&gt;</a:t>
            </a: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&lt;td&gt;</a:t>
            </a:r>
            <a:r>
              <a:rPr lang="en-US" sz="1600" b="0">
                <a:solidFill>
                  <a:srgbClr val="000000"/>
                </a:solidFill>
                <a:effectLst/>
                <a:latin typeface="Consolas" panose="020B0609020204030204" pitchFamily="49" charset="0"/>
              </a:rPr>
              <a:t>{{ p.name }}</a:t>
            </a:r>
            <a:r>
              <a:rPr lang="en-US" sz="1600" b="0">
                <a:solidFill>
                  <a:srgbClr val="800000"/>
                </a:solidFill>
                <a:effectLst/>
                <a:latin typeface="Consolas" panose="020B0609020204030204" pitchFamily="49" charset="0"/>
              </a:rPr>
              <a:t>&lt;/td&gt;</a:t>
            </a:r>
            <a:endParaRPr lang="en-US" sz="1600" b="0">
              <a:solidFill>
                <a:srgbClr val="000000"/>
              </a:solidFill>
              <a:effectLst/>
              <a:latin typeface="Consolas" panose="020B0609020204030204" pitchFamily="49" charset="0"/>
            </a:endParaRPr>
          </a:p>
          <a:p>
            <a:pPr>
              <a:lnSpc>
                <a:spcPct val="150000"/>
              </a:lnSpc>
              <a:buNone/>
            </a:pPr>
            <a:r>
              <a:rPr lang="en-US" sz="1600" b="0">
                <a:solidFill>
                  <a:srgbClr val="800000"/>
                </a:solidFill>
                <a:effectLst/>
                <a:latin typeface="Consolas" panose="020B0609020204030204" pitchFamily="49" charset="0"/>
              </a:rPr>
              <a:t>&lt;/tr&gt;</a:t>
            </a:r>
            <a:endParaRPr lang="en-US" sz="16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720604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0565D75-616F-24D9-37B6-223BD6EF32E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00BAF01-79AD-3BA1-83D3-6525BE0BF64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8B1919F-4077-63B9-A0BF-2EC50B8A84F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grpSp>
        <p:nvGrpSpPr>
          <p:cNvPr id="2" name="Group 1">
            <a:extLst>
              <a:ext uri="{FF2B5EF4-FFF2-40B4-BE49-F238E27FC236}">
                <a16:creationId xmlns:a16="http://schemas.microsoft.com/office/drawing/2014/main" id="{B581C794-C0B6-6F78-FD7E-286D4F1C53F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4CA77CF-FB5A-0773-4BD0-52345D002031}"/>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A8ED548-6E8D-A865-7EAE-2CAA108E633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948A7ED-94B2-55AD-6F1D-F11B58C6BF1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00EA09E-B5DB-3F1E-FC8F-310B748223D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F36FE63-6F6F-B57D-8B65-5C83B5E1B41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9" name="Table 8">
            <a:extLst>
              <a:ext uri="{FF2B5EF4-FFF2-40B4-BE49-F238E27FC236}">
                <a16:creationId xmlns:a16="http://schemas.microsoft.com/office/drawing/2014/main" id="{E6C8F845-FDE3-A802-E628-3563F4ADC9D6}"/>
              </a:ext>
            </a:extLst>
          </p:cNvPr>
          <p:cNvGraphicFramePr>
            <a:graphicFrameLocks noGrp="1"/>
          </p:cNvGraphicFramePr>
          <p:nvPr>
            <p:extLst>
              <p:ext uri="{D42A27DB-BD31-4B8C-83A1-F6EECF244321}">
                <p14:modId xmlns:p14="http://schemas.microsoft.com/office/powerpoint/2010/main" val="13588147"/>
              </p:ext>
            </p:extLst>
          </p:nvPr>
        </p:nvGraphicFramePr>
        <p:xfrm>
          <a:off x="415251" y="1489966"/>
          <a:ext cx="10515600" cy="2316480"/>
        </p:xfrm>
        <a:graphic>
          <a:graphicData uri="http://schemas.openxmlformats.org/drawingml/2006/table">
            <a:tbl>
              <a:tblPr>
                <a:tableStyleId>{5940675A-B579-460E-94D1-54222C63F5DA}</a:tableStyleId>
              </a:tblPr>
              <a:tblGrid>
                <a:gridCol w="3505200">
                  <a:extLst>
                    <a:ext uri="{9D8B030D-6E8A-4147-A177-3AD203B41FA5}">
                      <a16:colId xmlns:a16="http://schemas.microsoft.com/office/drawing/2014/main" val="4241756921"/>
                    </a:ext>
                  </a:extLst>
                </a:gridCol>
                <a:gridCol w="3505200">
                  <a:extLst>
                    <a:ext uri="{9D8B030D-6E8A-4147-A177-3AD203B41FA5}">
                      <a16:colId xmlns:a16="http://schemas.microsoft.com/office/drawing/2014/main" val="2393893196"/>
                    </a:ext>
                  </a:extLst>
                </a:gridCol>
                <a:gridCol w="3505200">
                  <a:extLst>
                    <a:ext uri="{9D8B030D-6E8A-4147-A177-3AD203B41FA5}">
                      <a16:colId xmlns:a16="http://schemas.microsoft.com/office/drawing/2014/main" val="839620349"/>
                    </a:ext>
                  </a:extLst>
                </a:gridCol>
              </a:tblGrid>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Directive</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Mục đích</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Dấu hiệu nhận biết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3083766248"/>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*ngIf</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Render có điều kiện</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Dựa trên boolean</a:t>
                      </a:r>
                    </a:p>
                  </a:txBody>
                  <a:tcPr marT="121920" marB="121920" anchor="ctr"/>
                </a:tc>
                <a:extLst>
                  <a:ext uri="{0D108BD9-81ED-4DB2-BD59-A6C34878D82A}">
                    <a16:rowId xmlns:a16="http://schemas.microsoft.com/office/drawing/2014/main" val="3215182760"/>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*ngSwitch</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Chọn 1 trong nhiều</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Dựa trên giá trị biến</a:t>
                      </a:r>
                    </a:p>
                  </a:txBody>
                  <a:tcPr marT="121920" marB="121920" anchor="ctr"/>
                </a:tc>
                <a:extLst>
                  <a:ext uri="{0D108BD9-81ED-4DB2-BD59-A6C34878D82A}">
                    <a16:rowId xmlns:a16="http://schemas.microsoft.com/office/drawing/2014/main" val="2887612378"/>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*ngFor</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Lặp danh sách</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Dựa trên mảng/iterable</a:t>
                      </a:r>
                    </a:p>
                  </a:txBody>
                  <a:tcPr marT="121920" marB="121920" anchor="ctr"/>
                </a:tc>
                <a:extLst>
                  <a:ext uri="{0D108BD9-81ED-4DB2-BD59-A6C34878D82A}">
                    <a16:rowId xmlns:a16="http://schemas.microsoft.com/office/drawing/2014/main" val="3092302994"/>
                  </a:ext>
                </a:extLst>
              </a:tr>
            </a:tbl>
          </a:graphicData>
        </a:graphic>
      </p:graphicFrame>
      <p:sp>
        <p:nvSpPr>
          <p:cNvPr id="8" name="TextBox 7">
            <a:extLst>
              <a:ext uri="{FF2B5EF4-FFF2-40B4-BE49-F238E27FC236}">
                <a16:creationId xmlns:a16="http://schemas.microsoft.com/office/drawing/2014/main" id="{5DEB7511-D444-457B-49CD-25C5DF3023E5}"/>
              </a:ext>
            </a:extLst>
          </p:cNvPr>
          <p:cNvSpPr txBox="1"/>
          <p:nvPr/>
        </p:nvSpPr>
        <p:spPr>
          <a:xfrm>
            <a:off x="415251" y="762757"/>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Tóm tắt 3 directive:</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81551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15D7BAB-83FD-A67A-62ED-52E330E61D4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1ACBA8E-3709-E13D-1921-94E8F9A34BB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55C4597-3267-5D77-7EBE-5D8BDA3321E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grpSp>
        <p:nvGrpSpPr>
          <p:cNvPr id="2" name="Group 1">
            <a:extLst>
              <a:ext uri="{FF2B5EF4-FFF2-40B4-BE49-F238E27FC236}">
                <a16:creationId xmlns:a16="http://schemas.microsoft.com/office/drawing/2014/main" id="{52821BE2-82B2-CAEB-08A5-5FA4DF5E249F}"/>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6116C1BC-5D1F-EEE7-CDA5-A20478BAA29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E713448-A775-3C17-9783-BE75934CF3F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26D4393-2DF0-C89C-234C-1376C32FD84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BF0789-4C3A-FA90-47CC-1168E2B7E7E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19EF53D-E83C-ABA0-5761-377B62988ED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B89530B-E20C-27E8-AC6C-4775B7F61AF4}"/>
              </a:ext>
            </a:extLst>
          </p:cNvPr>
          <p:cNvSpPr txBox="1"/>
          <p:nvPr/>
        </p:nvSpPr>
        <p:spPr>
          <a:xfrm>
            <a:off x="415252" y="810009"/>
            <a:ext cx="11564547" cy="2241960"/>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a:t>
            </a:r>
            <a:r>
              <a:rPr lang="vi-VN" sz="2400">
                <a:latin typeface="Times New Roman" panose="02020603050405020304" pitchFamily="18" charset="0"/>
                <a:cs typeface="Times New Roman" panose="02020603050405020304" pitchFamily="18" charset="0"/>
              </a:rPr>
              <a:t>rong kiến trúc Angular, Component Interaction (Giao tiếp giữa các thành phần) là kỹ thuật then chốt để xây dựng các ứng dụng có tính module cao.</a:t>
            </a:r>
            <a:endParaRPr lang="en-US" sz="24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Trong mối quan hệ Cha - Con (Parent-Child), chúng ta sử dụng hai Decorator chính: </a:t>
            </a:r>
            <a:r>
              <a:rPr lang="en-US" sz="2400">
                <a:solidFill>
                  <a:srgbClr val="FF0000"/>
                </a:solidFill>
                <a:latin typeface="Times New Roman" panose="02020603050405020304" pitchFamily="18" charset="0"/>
                <a:cs typeface="Times New Roman" panose="02020603050405020304" pitchFamily="18" charset="0"/>
              </a:rPr>
              <a:t>@Input() </a:t>
            </a:r>
            <a:r>
              <a:rPr lang="en-US" sz="2400">
                <a:latin typeface="Times New Roman" panose="02020603050405020304" pitchFamily="18" charset="0"/>
                <a:cs typeface="Times New Roman" panose="02020603050405020304" pitchFamily="18" charset="0"/>
              </a:rPr>
              <a:t>để truyền dữ liệu xuống và </a:t>
            </a:r>
            <a:r>
              <a:rPr lang="en-US" sz="2400">
                <a:solidFill>
                  <a:srgbClr val="FF0000"/>
                </a:solidFill>
                <a:latin typeface="Times New Roman" panose="02020603050405020304" pitchFamily="18" charset="0"/>
                <a:cs typeface="Times New Roman" panose="02020603050405020304" pitchFamily="18" charset="0"/>
              </a:rPr>
              <a:t>@Output() </a:t>
            </a:r>
            <a:r>
              <a:rPr lang="en-US" sz="2400">
                <a:latin typeface="Times New Roman" panose="02020603050405020304" pitchFamily="18" charset="0"/>
                <a:cs typeface="Times New Roman" panose="02020603050405020304" pitchFamily="18" charset="0"/>
              </a:rPr>
              <a:t>để gửi tín hiệu lên.</a:t>
            </a:r>
            <a:endParaRPr lang="vi-VN" sz="240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5FB6529D-E7A1-D2DC-1DA4-84CB57275F5D}"/>
              </a:ext>
            </a:extLst>
          </p:cNvPr>
          <p:cNvGrpSpPr/>
          <p:nvPr/>
        </p:nvGrpSpPr>
        <p:grpSpPr>
          <a:xfrm>
            <a:off x="2917622" y="3231975"/>
            <a:ext cx="5373032" cy="2741349"/>
            <a:chOff x="1295400" y="2258380"/>
            <a:chExt cx="5373032" cy="2741349"/>
          </a:xfrm>
        </p:grpSpPr>
        <p:sp>
          <p:nvSpPr>
            <p:cNvPr id="10" name="Rectangle 9">
              <a:extLst>
                <a:ext uri="{FF2B5EF4-FFF2-40B4-BE49-F238E27FC236}">
                  <a16:creationId xmlns:a16="http://schemas.microsoft.com/office/drawing/2014/main" id="{61F2EC57-377E-F08C-ABEC-6A65B5E19706}"/>
                </a:ext>
              </a:extLst>
            </p:cNvPr>
            <p:cNvSpPr/>
            <p:nvPr/>
          </p:nvSpPr>
          <p:spPr>
            <a:xfrm>
              <a:off x="3048000" y="2258380"/>
              <a:ext cx="2120372" cy="1034086"/>
            </a:xfrm>
            <a:prstGeom prst="rect">
              <a:avLst/>
            </a:prstGeom>
            <a:blipFill>
              <a:blip r:embed="rId3">
                <a:duotone>
                  <a:sysClr val="windowText" lastClr="000000">
                    <a:shade val="48000"/>
                  </a:sysClr>
                  <a:sysClr val="windowText" lastClr="000000">
                    <a:tint val="96000"/>
                    <a:satMod val="150000"/>
                  </a:sysClr>
                </a:duotone>
              </a:blip>
              <a:tile tx="0" ty="0" sx="80000" sy="80000" flip="none" algn="tl"/>
            </a:blip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AppComponent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(parent)</a:t>
              </a:r>
            </a:p>
          </p:txBody>
        </p:sp>
        <p:sp>
          <p:nvSpPr>
            <p:cNvPr id="11" name="Rectangle 10">
              <a:extLst>
                <a:ext uri="{FF2B5EF4-FFF2-40B4-BE49-F238E27FC236}">
                  <a16:creationId xmlns:a16="http://schemas.microsoft.com/office/drawing/2014/main" id="{DADE00B3-309E-7BC4-5AE8-4E3858DD0871}"/>
                </a:ext>
              </a:extLst>
            </p:cNvPr>
            <p:cNvSpPr/>
            <p:nvPr/>
          </p:nvSpPr>
          <p:spPr>
            <a:xfrm>
              <a:off x="3056351" y="3965643"/>
              <a:ext cx="2120372" cy="1034086"/>
            </a:xfrm>
            <a:prstGeom prst="rect">
              <a:avLst/>
            </a:prstGeom>
            <a:solidFill>
              <a:srgbClr val="17406D"/>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FirstComponent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(child)</a:t>
              </a:r>
            </a:p>
          </p:txBody>
        </p:sp>
        <p:cxnSp>
          <p:nvCxnSpPr>
            <p:cNvPr id="12" name="Elbow Connector 20">
              <a:extLst>
                <a:ext uri="{FF2B5EF4-FFF2-40B4-BE49-F238E27FC236}">
                  <a16:creationId xmlns:a16="http://schemas.microsoft.com/office/drawing/2014/main" id="{6D7D890A-CCD4-CCBC-45E6-6E5C0F56A13E}"/>
                </a:ext>
              </a:extLst>
            </p:cNvPr>
            <p:cNvCxnSpPr>
              <a:stCxn id="11" idx="1"/>
              <a:endCxn id="10" idx="1"/>
            </p:cNvCxnSpPr>
            <p:nvPr/>
          </p:nvCxnSpPr>
          <p:spPr>
            <a:xfrm rot="10800000">
              <a:off x="3048001" y="2775424"/>
              <a:ext cx="8351" cy="1707263"/>
            </a:xfrm>
            <a:prstGeom prst="bentConnector3">
              <a:avLst>
                <a:gd name="adj1" fmla="val 5087319"/>
              </a:avLst>
            </a:prstGeom>
            <a:noFill/>
            <a:ln w="9525" cap="flat" cmpd="sng" algn="ctr">
              <a:solidFill>
                <a:srgbClr val="17406D">
                  <a:lumMod val="75000"/>
                </a:srgbClr>
              </a:solidFill>
              <a:prstDash val="solid"/>
              <a:tailEnd type="triangle"/>
            </a:ln>
            <a:effectLst/>
          </p:spPr>
        </p:cxnSp>
        <p:cxnSp>
          <p:nvCxnSpPr>
            <p:cNvPr id="13" name="Elbow Connector 21">
              <a:extLst>
                <a:ext uri="{FF2B5EF4-FFF2-40B4-BE49-F238E27FC236}">
                  <a16:creationId xmlns:a16="http://schemas.microsoft.com/office/drawing/2014/main" id="{0D742505-4A23-297A-1E86-A06E0ECD53DF}"/>
                </a:ext>
              </a:extLst>
            </p:cNvPr>
            <p:cNvCxnSpPr>
              <a:stCxn id="10" idx="3"/>
              <a:endCxn id="11" idx="3"/>
            </p:cNvCxnSpPr>
            <p:nvPr/>
          </p:nvCxnSpPr>
          <p:spPr>
            <a:xfrm>
              <a:off x="5168372" y="2775423"/>
              <a:ext cx="8351" cy="1707263"/>
            </a:xfrm>
            <a:prstGeom prst="bentConnector3">
              <a:avLst>
                <a:gd name="adj1" fmla="val 5237313"/>
              </a:avLst>
            </a:prstGeom>
            <a:noFill/>
            <a:ln w="9525" cap="flat" cmpd="sng" algn="ctr">
              <a:solidFill>
                <a:srgbClr val="17406D">
                  <a:lumMod val="75000"/>
                </a:srgbClr>
              </a:solidFill>
              <a:prstDash val="solid"/>
              <a:tailEnd type="triangle"/>
            </a:ln>
            <a:effectLst/>
          </p:spPr>
        </p:cxnSp>
        <p:sp>
          <p:nvSpPr>
            <p:cNvPr id="14" name="TextBox 13">
              <a:extLst>
                <a:ext uri="{FF2B5EF4-FFF2-40B4-BE49-F238E27FC236}">
                  <a16:creationId xmlns:a16="http://schemas.microsoft.com/office/drawing/2014/main" id="{81666233-C287-D42E-1EC9-FE50BBEF809E}"/>
                </a:ext>
              </a:extLst>
            </p:cNvPr>
            <p:cNvSpPr txBox="1"/>
            <p:nvPr/>
          </p:nvSpPr>
          <p:spPr>
            <a:xfrm>
              <a:off x="5745582" y="3214663"/>
              <a:ext cx="70083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Data</a:t>
              </a:r>
            </a:p>
          </p:txBody>
        </p:sp>
        <p:sp>
          <p:nvSpPr>
            <p:cNvPr id="15" name="TextBox 14">
              <a:extLst>
                <a:ext uri="{FF2B5EF4-FFF2-40B4-BE49-F238E27FC236}">
                  <a16:creationId xmlns:a16="http://schemas.microsoft.com/office/drawing/2014/main" id="{E0D33552-03DE-8085-39D6-44FE14C680DC}"/>
                </a:ext>
              </a:extLst>
            </p:cNvPr>
            <p:cNvSpPr txBox="1"/>
            <p:nvPr/>
          </p:nvSpPr>
          <p:spPr>
            <a:xfrm>
              <a:off x="5523567" y="3519463"/>
              <a:ext cx="1144865"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@Input()</a:t>
              </a:r>
            </a:p>
          </p:txBody>
        </p:sp>
        <p:sp>
          <p:nvSpPr>
            <p:cNvPr id="16" name="TextBox 15">
              <a:extLst>
                <a:ext uri="{FF2B5EF4-FFF2-40B4-BE49-F238E27FC236}">
                  <a16:creationId xmlns:a16="http://schemas.microsoft.com/office/drawing/2014/main" id="{24442223-0CB9-5CCD-6CB8-0FFB45B18E44}"/>
                </a:ext>
              </a:extLst>
            </p:cNvPr>
            <p:cNvSpPr txBox="1"/>
            <p:nvPr/>
          </p:nvSpPr>
          <p:spPr>
            <a:xfrm>
              <a:off x="1649618" y="3124200"/>
              <a:ext cx="70083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Data</a:t>
              </a:r>
            </a:p>
          </p:txBody>
        </p:sp>
        <p:sp>
          <p:nvSpPr>
            <p:cNvPr id="17" name="TextBox 16">
              <a:extLst>
                <a:ext uri="{FF2B5EF4-FFF2-40B4-BE49-F238E27FC236}">
                  <a16:creationId xmlns:a16="http://schemas.microsoft.com/office/drawing/2014/main" id="{67BCE9F7-50F2-DF6C-9318-EAF0C5A7254C}"/>
                </a:ext>
              </a:extLst>
            </p:cNvPr>
            <p:cNvSpPr txBox="1"/>
            <p:nvPr/>
          </p:nvSpPr>
          <p:spPr>
            <a:xfrm>
              <a:off x="1295400" y="3429000"/>
              <a:ext cx="130035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@Output()</a:t>
              </a:r>
            </a:p>
          </p:txBody>
        </p:sp>
      </p:grpSp>
    </p:spTree>
    <p:extLst>
      <p:ext uri="{BB962C8B-B14F-4D97-AF65-F5344CB8AC3E}">
        <p14:creationId xmlns:p14="http://schemas.microsoft.com/office/powerpoint/2010/main" val="9838003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D3501F6-5443-31C2-4A51-F2C43850951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70469FD-1C48-D212-10ED-E9F6C34D1DB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1759F65-F31D-1B56-F3E2-39C41B41BE8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grpSp>
        <p:nvGrpSpPr>
          <p:cNvPr id="2" name="Group 1">
            <a:extLst>
              <a:ext uri="{FF2B5EF4-FFF2-40B4-BE49-F238E27FC236}">
                <a16:creationId xmlns:a16="http://schemas.microsoft.com/office/drawing/2014/main" id="{FFBA700A-7354-0B51-4294-88A4FF716FC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24E93DD-2491-34D4-BEA0-81A41AE1D2BE}"/>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7374A4D-BED5-EC92-4A67-6D329AA41D4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38EC257-6C65-54E0-7257-C0657D02CB2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BD3E089-2E85-0327-7FBB-99C7ACC322B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F635122-4B39-198B-8151-29742462FDF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8" name="Rectangle 1">
            <a:extLst>
              <a:ext uri="{FF2B5EF4-FFF2-40B4-BE49-F238E27FC236}">
                <a16:creationId xmlns:a16="http://schemas.microsoft.com/office/drawing/2014/main" id="{BA7CCE0C-3CB9-BC4C-51BC-7439E011A2FF}"/>
              </a:ext>
            </a:extLst>
          </p:cNvPr>
          <p:cNvSpPr>
            <a:spLocks noChangeArrowheads="1"/>
          </p:cNvSpPr>
          <p:nvPr/>
        </p:nvSpPr>
        <p:spPr bwMode="auto">
          <a:xfrm>
            <a:off x="388797" y="825508"/>
            <a:ext cx="11512153" cy="3303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Truyền dữ liệu từ Cha sang Con (Parent to Child) -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@Input()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Kỹ thuật này sử dụng thuộc tính @Input(). Component cha sẽ "đẩy" dữ liệu xuống Component con thông qua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Property Binding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(liên kết thuộc tính). Component con sẽ lắng nghe và nhận dữ liệu này thông qua một thuộc tính được đánh dấu bằng @Input().</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Direction:</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Parent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Child.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Mechanism:</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Property Binding [property]="value".</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6160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43035E2-16FB-16FF-14FE-BFEDBF9D0E5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F3BFBB6-E702-178E-9502-8BEB6250799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030BD04-39E4-CA93-7CAF-FB434ECD413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grpSp>
        <p:nvGrpSpPr>
          <p:cNvPr id="2" name="Group 1">
            <a:extLst>
              <a:ext uri="{FF2B5EF4-FFF2-40B4-BE49-F238E27FC236}">
                <a16:creationId xmlns:a16="http://schemas.microsoft.com/office/drawing/2014/main" id="{B025F21E-FAF0-A3A1-69EF-8E57E75D066C}"/>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5C8642B5-BB26-6E89-DF5A-E94AE94C9639}"/>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233F033-CAE0-9FEC-E671-EC982D2E0E5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183B3CF-9E89-7B62-B190-9C198D798BD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0BCAA2F-91FB-1B40-0FA0-B68A74FB5F3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C1057F7-C4EA-C98B-3CE4-D186CA8EBA8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8" name="Rectangle 1">
            <a:extLst>
              <a:ext uri="{FF2B5EF4-FFF2-40B4-BE49-F238E27FC236}">
                <a16:creationId xmlns:a16="http://schemas.microsoft.com/office/drawing/2014/main" id="{18B96AD3-DC7B-AE81-1F3F-AE332B6836C5}"/>
              </a:ext>
            </a:extLst>
          </p:cNvPr>
          <p:cNvSpPr>
            <a:spLocks noChangeArrowheads="1"/>
          </p:cNvSpPr>
          <p:nvPr/>
        </p:nvSpPr>
        <p:spPr bwMode="auto">
          <a:xfrm>
            <a:off x="388797" y="877587"/>
            <a:ext cx="11512153" cy="5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Truyền dữ liệu từ Cha sang Con (Parent to Child) -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@Input()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9" name="TextBox 8">
            <a:extLst>
              <a:ext uri="{FF2B5EF4-FFF2-40B4-BE49-F238E27FC236}">
                <a16:creationId xmlns:a16="http://schemas.microsoft.com/office/drawing/2014/main" id="{BD8B4A9A-9213-8996-1AC9-22990981204C}"/>
              </a:ext>
            </a:extLst>
          </p:cNvPr>
          <p:cNvSpPr txBox="1"/>
          <p:nvPr/>
        </p:nvSpPr>
        <p:spPr>
          <a:xfrm>
            <a:off x="542786" y="1450125"/>
            <a:ext cx="6297672" cy="461665"/>
          </a:xfrm>
          <a:prstGeom prst="rect">
            <a:avLst/>
          </a:prstGeom>
          <a:noFill/>
        </p:spPr>
        <p:txBody>
          <a:bodyPr wrap="square">
            <a:spAutoFit/>
          </a:bodyPr>
          <a:lstStyle/>
          <a:p>
            <a:pPr marL="285750" indent="-285750">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Child Component (B):</a:t>
            </a:r>
            <a:endParaRPr lang="en-US"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ADDD1F5-3855-9BA1-843A-14C0A1D462CF}"/>
              </a:ext>
            </a:extLst>
          </p:cNvPr>
          <p:cNvSpPr txBox="1"/>
          <p:nvPr/>
        </p:nvSpPr>
        <p:spPr>
          <a:xfrm>
            <a:off x="685227" y="2098636"/>
            <a:ext cx="10821545" cy="3309239"/>
          </a:xfrm>
          <a:prstGeom prst="rect">
            <a:avLst/>
          </a:prstGeom>
          <a:noFill/>
          <a:ln>
            <a:solidFill>
              <a:schemeClr val="tx1"/>
            </a:solidFill>
          </a:ln>
        </p:spPr>
        <p:txBody>
          <a:bodyPr wrap="square">
            <a:spAutoFit/>
          </a:bodyPr>
          <a:lstStyle/>
          <a:p>
            <a:pPr>
              <a:lnSpc>
                <a:spcPts val="2250"/>
              </a:lnSpc>
              <a:buNone/>
            </a:pPr>
            <a:r>
              <a:rPr lang="en-US" sz="2000" b="0">
                <a:solidFill>
                  <a:srgbClr val="0000FF"/>
                </a:solidFill>
                <a:effectLst/>
                <a:latin typeface="Consolas" panose="020B0609020204030204" pitchFamily="49" charset="0"/>
              </a:rPr>
              <a:t>import</a:t>
            </a:r>
            <a:r>
              <a:rPr lang="en-US" sz="2000" b="0">
                <a:solidFill>
                  <a:srgbClr val="000000"/>
                </a:solidFill>
                <a:effectLst/>
                <a:latin typeface="Consolas" panose="020B0609020204030204" pitchFamily="49" charset="0"/>
              </a:rPr>
              <a:t> { Component, Input } </a:t>
            </a:r>
            <a:r>
              <a:rPr lang="en-US" sz="2000" b="0">
                <a:solidFill>
                  <a:srgbClr val="0000FF"/>
                </a:solidFill>
                <a:effectLst/>
                <a:latin typeface="Consolas" panose="020B0609020204030204" pitchFamily="49" charset="0"/>
              </a:rPr>
              <a:t>from</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'@angular/core'</a:t>
            </a:r>
            <a:r>
              <a:rPr lang="en-US" sz="2000" b="0">
                <a:solidFill>
                  <a:srgbClr val="000000"/>
                </a:solidFill>
                <a:effectLst/>
                <a:latin typeface="Consolas" panose="020B0609020204030204" pitchFamily="49" charset="0"/>
              </a:rPr>
              <a:t>;</a:t>
            </a:r>
          </a:p>
          <a:p>
            <a:pPr>
              <a:lnSpc>
                <a:spcPts val="2250"/>
              </a:lnSpc>
              <a:buNone/>
            </a:pPr>
            <a:br>
              <a:rPr lang="en-US" sz="2000" b="0">
                <a:solidFill>
                  <a:srgbClr val="000000"/>
                </a:solidFill>
                <a:effectLst/>
                <a:latin typeface="Consolas" panose="020B0609020204030204" pitchFamily="49" charset="0"/>
              </a:rPr>
            </a:b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@Component({</a:t>
            </a:r>
          </a:p>
          <a:p>
            <a:pPr>
              <a:lnSpc>
                <a:spcPts val="2250"/>
              </a:lnSpc>
              <a:buNone/>
            </a:pPr>
            <a:r>
              <a:rPr lang="en-US" sz="2000" b="0">
                <a:solidFill>
                  <a:srgbClr val="000000"/>
                </a:solidFill>
                <a:effectLst/>
                <a:latin typeface="Consolas" panose="020B0609020204030204" pitchFamily="49" charset="0"/>
              </a:rPr>
              <a:t>  selector: </a:t>
            </a:r>
            <a:r>
              <a:rPr lang="en-US" sz="2000" b="0">
                <a:solidFill>
                  <a:srgbClr val="A31515"/>
                </a:solidFill>
                <a:effectLst/>
                <a:latin typeface="Consolas" panose="020B0609020204030204" pitchFamily="49" charset="0"/>
              </a:rPr>
              <a:t>'app-child'</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template: </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&lt;p&gt;</a:t>
            </a:r>
            <a:r>
              <a:rPr lang="en-US" sz="2000" b="0">
                <a:solidFill>
                  <a:srgbClr val="000000"/>
                </a:solidFill>
                <a:effectLst/>
                <a:latin typeface="Consolas" panose="020B0609020204030204" pitchFamily="49" charset="0"/>
              </a:rPr>
              <a:t>Data from parent: {{ receivedData }}</a:t>
            </a:r>
            <a:r>
              <a:rPr lang="en-US" sz="2000" b="0">
                <a:solidFill>
                  <a:srgbClr val="800000"/>
                </a:solidFill>
                <a:effectLst/>
                <a:latin typeface="Consolas" panose="020B0609020204030204" pitchFamily="49" charset="0"/>
              </a:rPr>
              <a:t>&lt;/p&gt;</a:t>
            </a:r>
            <a:r>
              <a:rPr lang="en-US" sz="2000" b="0">
                <a:solidFill>
                  <a:srgbClr val="A31515"/>
                </a:solidFill>
                <a:effectLst/>
                <a:latin typeface="Consolas" panose="020B0609020204030204" pitchFamily="49" charset="0"/>
              </a:rPr>
              <a: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ChildComponent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Decorator to receive data from parent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@Input() receivedData: string = </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102765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1E6E5C8-DD35-22E0-E2F8-3A08F4FEADB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3DB16A2-192C-5D7F-928E-0BAA5FCC1EA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4F2102D-CC79-525D-664C-56ACBCB0547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grpSp>
        <p:nvGrpSpPr>
          <p:cNvPr id="2" name="Group 1">
            <a:extLst>
              <a:ext uri="{FF2B5EF4-FFF2-40B4-BE49-F238E27FC236}">
                <a16:creationId xmlns:a16="http://schemas.microsoft.com/office/drawing/2014/main" id="{D12B0170-BDF3-9951-5330-9104010B79F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0FF83FE-61CE-EFEC-9EC7-4FF68A7595F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4530143-8D29-F9D1-C364-CD0B7A70ACE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B74256A-5F52-5EEE-7552-C81E68EBB26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C83EF7-A9FC-E68D-C9D5-4D6D1E7AE6E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4F3BD6A-D323-27E5-8BC5-A06DB2EEC58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8" name="Rectangle 1">
            <a:extLst>
              <a:ext uri="{FF2B5EF4-FFF2-40B4-BE49-F238E27FC236}">
                <a16:creationId xmlns:a16="http://schemas.microsoft.com/office/drawing/2014/main" id="{54A73464-436F-DC46-D4EA-64B0F2680B67}"/>
              </a:ext>
            </a:extLst>
          </p:cNvPr>
          <p:cNvSpPr>
            <a:spLocks noChangeArrowheads="1"/>
          </p:cNvSpPr>
          <p:nvPr/>
        </p:nvSpPr>
        <p:spPr bwMode="auto">
          <a:xfrm>
            <a:off x="388797" y="877587"/>
            <a:ext cx="11512153" cy="5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Truyền dữ liệu từ Cha sang Con (Parent to Child) -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@Input()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9" name="TextBox 8">
            <a:extLst>
              <a:ext uri="{FF2B5EF4-FFF2-40B4-BE49-F238E27FC236}">
                <a16:creationId xmlns:a16="http://schemas.microsoft.com/office/drawing/2014/main" id="{7A0DA8BF-30A5-F05D-C8AD-9941F4428708}"/>
              </a:ext>
            </a:extLst>
          </p:cNvPr>
          <p:cNvSpPr txBox="1"/>
          <p:nvPr/>
        </p:nvSpPr>
        <p:spPr>
          <a:xfrm>
            <a:off x="542786" y="1515324"/>
            <a:ext cx="6297672" cy="461665"/>
          </a:xfrm>
          <a:prstGeom prst="rect">
            <a:avLst/>
          </a:prstGeom>
          <a:noFill/>
        </p:spPr>
        <p:txBody>
          <a:bodyPr wrap="square">
            <a:spAutoFit/>
          </a:bodyPr>
          <a:lstStyle/>
          <a:p>
            <a:pPr marL="457200" indent="-457200">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Parent Component (A):</a:t>
            </a:r>
            <a:endParaRPr lang="en-US"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2910898-E3EE-E111-FE1F-D0705177CC3B}"/>
              </a:ext>
            </a:extLst>
          </p:cNvPr>
          <p:cNvSpPr txBox="1"/>
          <p:nvPr/>
        </p:nvSpPr>
        <p:spPr>
          <a:xfrm>
            <a:off x="805766" y="2205834"/>
            <a:ext cx="9926402" cy="387286"/>
          </a:xfrm>
          <a:prstGeom prst="rect">
            <a:avLst/>
          </a:prstGeom>
          <a:noFill/>
          <a:ln>
            <a:solidFill>
              <a:schemeClr val="tx1"/>
            </a:solidFill>
          </a:ln>
        </p:spPr>
        <p:txBody>
          <a:bodyPr wrap="square">
            <a:spAutoFit/>
          </a:bodyPr>
          <a:lstStyle/>
          <a:p>
            <a:pPr>
              <a:lnSpc>
                <a:spcPts val="2250"/>
              </a:lnSpc>
              <a:buNone/>
            </a:pPr>
            <a:r>
              <a:rPr lang="en-US" sz="2000" b="0" dirty="0">
                <a:solidFill>
                  <a:srgbClr val="800000"/>
                </a:solidFill>
                <a:effectLst/>
                <a:latin typeface="Consolas" panose="020B0609020204030204" pitchFamily="49" charset="0"/>
              </a:rPr>
              <a:t>&lt;app-child</a:t>
            </a:r>
            <a:r>
              <a:rPr lang="en-US" sz="2000" b="0" dirty="0">
                <a:solidFill>
                  <a:srgbClr val="000000"/>
                </a:solidFill>
                <a:effectLst/>
                <a:latin typeface="Consolas" panose="020B0609020204030204" pitchFamily="49" charset="0"/>
              </a:rPr>
              <a:t> </a:t>
            </a:r>
            <a:r>
              <a:rPr lang="en-US" sz="2000" b="0" dirty="0">
                <a:solidFill>
                  <a:srgbClr val="E50000"/>
                </a:solidFill>
                <a:effectLst/>
                <a:latin typeface="Consolas" panose="020B0609020204030204" pitchFamily="49" charset="0"/>
              </a:rPr>
              <a:t>[</a:t>
            </a:r>
            <a:r>
              <a:rPr lang="en-US" sz="2000" b="0" dirty="0" err="1">
                <a:solidFill>
                  <a:srgbClr val="E50000"/>
                </a:solidFill>
                <a:effectLst/>
                <a:latin typeface="Consolas" panose="020B0609020204030204" pitchFamily="49" charset="0"/>
              </a:rPr>
              <a:t>receivedData</a:t>
            </a:r>
            <a:r>
              <a:rPr lang="en-US" sz="2000" b="0" dirty="0">
                <a:solidFill>
                  <a:srgbClr val="E50000"/>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"'Hello from Parent A'"</a:t>
            </a:r>
            <a:r>
              <a:rPr lang="en-US" sz="2000" b="0" dirty="0">
                <a:solidFill>
                  <a:srgbClr val="800000"/>
                </a:solidFill>
                <a:effectLst/>
                <a:latin typeface="Consolas" panose="020B0609020204030204" pitchFamily="49" charset="0"/>
              </a:rPr>
              <a:t>&gt;&lt;/app-child&gt;</a:t>
            </a:r>
            <a:endParaRPr lang="en-US" sz="20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6646150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68A5F7D-6A5E-4EB7-4F62-E32091F3859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3C76FEE-7130-E61B-3D56-5CCEC4524C5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1A70B9C-4AEF-6D16-C362-1430837A8A4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grpSp>
        <p:nvGrpSpPr>
          <p:cNvPr id="2" name="Group 1">
            <a:extLst>
              <a:ext uri="{FF2B5EF4-FFF2-40B4-BE49-F238E27FC236}">
                <a16:creationId xmlns:a16="http://schemas.microsoft.com/office/drawing/2014/main" id="{3FF1873A-9E08-0364-8316-1C154ADCD74E}"/>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ECC8F826-D6DE-A0CB-5F94-48F5D3B8699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876F846-7205-41E4-39CD-829EAF31BB6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4279317-AA82-1E87-2BBB-10B87DEE85D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7B1B00B-0FAC-70AE-1A50-53F42D5717B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29A23B9-70B2-B9DC-2ABE-4264F697299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8" name="Rectangle 1">
            <a:extLst>
              <a:ext uri="{FF2B5EF4-FFF2-40B4-BE49-F238E27FC236}">
                <a16:creationId xmlns:a16="http://schemas.microsoft.com/office/drawing/2014/main" id="{11BA3F47-41E7-95BA-9FCA-98D114BD9AD0}"/>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Truyền dữ liệu từ Con sang Cha (Child to Parent) - @Output()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8" name="Rectangle 1">
            <a:extLst>
              <a:ext uri="{FF2B5EF4-FFF2-40B4-BE49-F238E27FC236}">
                <a16:creationId xmlns:a16="http://schemas.microsoft.com/office/drawing/2014/main" id="{A337594D-E54F-A41D-409F-4957361F8B99}"/>
              </a:ext>
            </a:extLst>
          </p:cNvPr>
          <p:cNvSpPr>
            <a:spLocks noChangeArrowheads="1"/>
          </p:cNvSpPr>
          <p:nvPr/>
        </p:nvSpPr>
        <p:spPr bwMode="auto">
          <a:xfrm>
            <a:off x="427868" y="1515324"/>
            <a:ext cx="11336264" cy="27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Kỹ</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thuật</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này</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sử</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dụng</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@Output()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kết</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hợp</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với</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EventEmitter</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Component con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sẽ</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phát</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(emit)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một</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sự</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kiện</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kèm</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theo</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dữ</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liệu</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ra</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bên</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ngoài</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Component cha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sẽ</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lắng</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nghe</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sự</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kiện</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này</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bằng</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Event Binding</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Direction:</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Child </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Parent.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Mechanism:</a:t>
            </a:r>
            <a:r>
              <a:rPr kumimoji="0" lang="en-US" altLang="en-US" sz="24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Event Binding (event)="handler($event)".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06915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FFFB0E9-F24B-044D-D1BE-AE4ADFEC207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D86FC9-5937-8822-AA23-E6852A9C20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228A2E7-A7DC-DC1D-EA34-5E64C103962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grpSp>
        <p:nvGrpSpPr>
          <p:cNvPr id="2" name="Group 1">
            <a:extLst>
              <a:ext uri="{FF2B5EF4-FFF2-40B4-BE49-F238E27FC236}">
                <a16:creationId xmlns:a16="http://schemas.microsoft.com/office/drawing/2014/main" id="{6937B274-DD58-F797-DF12-FE0EA6B85EB5}"/>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F3EE24D1-CA59-18EC-90DC-FA2CB4FEF2A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61F52F8-0259-859C-53BC-6975B425C1F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4CB9880-D91B-FAC9-FF1B-B980BC83E51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1168CA1-8821-6384-76E1-AFF76DE91D2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E219AD3-C34E-4585-BFDA-3810F5F3D0A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6588B0B6-B60C-AAE7-60BA-E468A2458EE1}"/>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Truyền dữ liệu từ Con sang Cha (Child to Parent) - @Output()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10" name="TextBox 9">
            <a:extLst>
              <a:ext uri="{FF2B5EF4-FFF2-40B4-BE49-F238E27FC236}">
                <a16:creationId xmlns:a16="http://schemas.microsoft.com/office/drawing/2014/main" id="{6B268581-3FED-677E-4230-E8C9A3C7BFCD}"/>
              </a:ext>
            </a:extLst>
          </p:cNvPr>
          <p:cNvSpPr txBox="1"/>
          <p:nvPr/>
        </p:nvSpPr>
        <p:spPr>
          <a:xfrm>
            <a:off x="728132" y="1515324"/>
            <a:ext cx="6297672" cy="461665"/>
          </a:xfrm>
          <a:prstGeom prst="rect">
            <a:avLst/>
          </a:prstGeom>
          <a:noFill/>
        </p:spPr>
        <p:txBody>
          <a:bodyPr wrap="square">
            <a:spAutoFit/>
          </a:bodyPr>
          <a:lstStyle/>
          <a:p>
            <a:pPr marL="285750" indent="-285750">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Child Component (B):</a:t>
            </a:r>
            <a:endParaRPr lang="en-US" sz="24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689EE43-4BAB-C72E-D2DF-71D818247DB7}"/>
              </a:ext>
            </a:extLst>
          </p:cNvPr>
          <p:cNvSpPr txBox="1"/>
          <p:nvPr/>
        </p:nvSpPr>
        <p:spPr>
          <a:xfrm>
            <a:off x="852523" y="2066412"/>
            <a:ext cx="10718418" cy="4221669"/>
          </a:xfrm>
          <a:prstGeom prst="rect">
            <a:avLst/>
          </a:prstGeom>
          <a:noFill/>
          <a:ln>
            <a:solidFill>
              <a:schemeClr val="tx1"/>
            </a:solidFill>
          </a:ln>
        </p:spPr>
        <p:txBody>
          <a:bodyPr wrap="square">
            <a:spAutoFit/>
          </a:bodyPr>
          <a:lstStyle/>
          <a:p>
            <a:pPr>
              <a:lnSpc>
                <a:spcPts val="2250"/>
              </a:lnSpc>
              <a:buNone/>
            </a:pPr>
            <a:r>
              <a:rPr lang="en-US" sz="2000" b="0">
                <a:solidFill>
                  <a:srgbClr val="0000FF"/>
                </a:solidFill>
                <a:effectLst/>
                <a:latin typeface="Consolas" panose="020B0609020204030204" pitchFamily="49" charset="0"/>
              </a:rPr>
              <a:t>import</a:t>
            </a:r>
            <a:r>
              <a:rPr lang="en-US" sz="2000" b="0">
                <a:solidFill>
                  <a:srgbClr val="000000"/>
                </a:solidFill>
                <a:effectLst/>
                <a:latin typeface="Consolas" panose="020B0609020204030204" pitchFamily="49" charset="0"/>
              </a:rPr>
              <a:t> { Component, Output, EventEmitter } </a:t>
            </a:r>
            <a:r>
              <a:rPr lang="en-US" sz="2000" b="0">
                <a:solidFill>
                  <a:srgbClr val="0000FF"/>
                </a:solidFill>
                <a:effectLst/>
                <a:latin typeface="Consolas" panose="020B0609020204030204" pitchFamily="49" charset="0"/>
              </a:rPr>
              <a:t>from</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'@angular/core'</a:t>
            </a:r>
            <a:r>
              <a:rPr lang="en-US" sz="2000" b="0">
                <a:solidFill>
                  <a:srgbClr val="000000"/>
                </a:solidFill>
                <a:effectLst/>
                <a:latin typeface="Consolas" panose="020B0609020204030204" pitchFamily="49" charset="0"/>
              </a:rPr>
              <a:t>;</a:t>
            </a:r>
          </a:p>
          <a:p>
            <a:pPr>
              <a:lnSpc>
                <a:spcPts val="2250"/>
              </a:lnSpc>
              <a:buNone/>
            </a:pP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@Component({</a:t>
            </a:r>
          </a:p>
          <a:p>
            <a:pPr>
              <a:lnSpc>
                <a:spcPts val="2250"/>
              </a:lnSpc>
              <a:buNone/>
            </a:pPr>
            <a:r>
              <a:rPr lang="en-US" sz="2000" b="0">
                <a:solidFill>
                  <a:srgbClr val="000000"/>
                </a:solidFill>
                <a:effectLst/>
                <a:latin typeface="Consolas" panose="020B0609020204030204" pitchFamily="49" charset="0"/>
              </a:rPr>
              <a:t>  selector: </a:t>
            </a:r>
            <a:r>
              <a:rPr lang="en-US" sz="2000" b="0">
                <a:solidFill>
                  <a:srgbClr val="A31515"/>
                </a:solidFill>
                <a:effectLst/>
                <a:latin typeface="Consolas" panose="020B0609020204030204" pitchFamily="49" charset="0"/>
              </a:rPr>
              <a:t>'app-child'</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template: </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&lt;button</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(click)</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sendToParent()</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Send to Parent</a:t>
            </a:r>
            <a:r>
              <a:rPr lang="en-US" sz="2000" b="0">
                <a:solidFill>
                  <a:srgbClr val="800000"/>
                </a:solidFill>
                <a:effectLst/>
                <a:latin typeface="Consolas" panose="020B0609020204030204" pitchFamily="49" charset="0"/>
              </a:rPr>
              <a:t>&lt;/button&gt;</a:t>
            </a:r>
            <a:r>
              <a:rPr lang="en-US" sz="2000" b="0">
                <a:solidFill>
                  <a:srgbClr val="A31515"/>
                </a:solidFill>
                <a:effectLst/>
                <a:latin typeface="Consolas" panose="020B0609020204030204" pitchFamily="49" charset="0"/>
              </a:rPr>
              <a: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ChildComponent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EventEmitter to send data up to the parent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@Output() notifyParent = </a:t>
            </a:r>
            <a:r>
              <a:rPr lang="en-US" sz="2000" b="0">
                <a:solidFill>
                  <a:srgbClr val="0000FF"/>
                </a:solidFill>
                <a:effectLst/>
                <a:latin typeface="Consolas" panose="020B0609020204030204" pitchFamily="49" charset="0"/>
              </a:rPr>
              <a:t>new</a:t>
            </a:r>
            <a:r>
              <a:rPr lang="en-US" sz="2000" b="0">
                <a:solidFill>
                  <a:srgbClr val="000000"/>
                </a:solidFill>
                <a:effectLst/>
                <a:latin typeface="Consolas" panose="020B0609020204030204" pitchFamily="49" charset="0"/>
              </a:rPr>
              <a:t> EventEmitter&lt;string&gt;();</a:t>
            </a:r>
          </a:p>
          <a:p>
            <a:pPr>
              <a:lnSpc>
                <a:spcPts val="2250"/>
              </a:lnSpc>
              <a:buNone/>
            </a:pPr>
            <a:br>
              <a:rPr lang="en-US" sz="2000" b="0">
                <a:solidFill>
                  <a:srgbClr val="000000"/>
                </a:solidFill>
                <a:effectLst/>
                <a:latin typeface="Consolas" panose="020B0609020204030204" pitchFamily="49" charset="0"/>
              </a:rPr>
            </a:br>
            <a:r>
              <a:rPr lang="en-US" sz="2000" b="0">
                <a:solidFill>
                  <a:srgbClr val="000000"/>
                </a:solidFill>
                <a:effectLst/>
                <a:latin typeface="Consolas" panose="020B0609020204030204" pitchFamily="49" charset="0"/>
              </a:rPr>
              <a:t>  sendToParent()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this</a:t>
            </a:r>
            <a:r>
              <a:rPr lang="en-US" sz="2000" b="0">
                <a:solidFill>
                  <a:srgbClr val="000000"/>
                </a:solidFill>
                <a:effectLst/>
                <a:latin typeface="Consolas" panose="020B0609020204030204" pitchFamily="49" charset="0"/>
              </a:rPr>
              <a:t>.notifyParent.emit(</a:t>
            </a:r>
            <a:r>
              <a:rPr lang="en-US" sz="2000" b="0">
                <a:solidFill>
                  <a:srgbClr val="A31515"/>
                </a:solidFill>
                <a:effectLst/>
                <a:latin typeface="Consolas" panose="020B0609020204030204" pitchFamily="49" charset="0"/>
              </a:rPr>
              <a:t>'Hello from Child B'</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0725385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EF0B1D0-38CF-00D5-CB2C-FD8876308F6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0C7DDD9-E9E9-44F9-2A60-995B6354457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509DA50-9F2C-26FF-2CC5-91573242D56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grpSp>
        <p:nvGrpSpPr>
          <p:cNvPr id="2" name="Group 1">
            <a:extLst>
              <a:ext uri="{FF2B5EF4-FFF2-40B4-BE49-F238E27FC236}">
                <a16:creationId xmlns:a16="http://schemas.microsoft.com/office/drawing/2014/main" id="{D14163E9-6146-1BA9-301A-98507CFD956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89BBD93-E0EA-8FCE-5319-164FFD879A0A}"/>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971662B-FD22-FF94-0F51-24B44C585A6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4113E02-5445-D955-03D8-099C2E82715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00D7BD5-EC42-FA3C-9559-F83F4D0E9A1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658BD3-1CB4-FB15-59E2-FD20C86D094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811BD0F2-6E00-BDCD-50A0-C71B616B0ED9}"/>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Truyền dữ liệu từ Con sang Cha (Child to Parent) - @Output()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10" name="TextBox 9">
            <a:extLst>
              <a:ext uri="{FF2B5EF4-FFF2-40B4-BE49-F238E27FC236}">
                <a16:creationId xmlns:a16="http://schemas.microsoft.com/office/drawing/2014/main" id="{20764C2A-739D-5F40-0BED-2D18A41C8535}"/>
              </a:ext>
            </a:extLst>
          </p:cNvPr>
          <p:cNvSpPr txBox="1"/>
          <p:nvPr/>
        </p:nvSpPr>
        <p:spPr>
          <a:xfrm>
            <a:off x="728132" y="1515324"/>
            <a:ext cx="6297672" cy="461665"/>
          </a:xfrm>
          <a:prstGeom prst="rect">
            <a:avLst/>
          </a:prstGeom>
          <a:noFill/>
        </p:spPr>
        <p:txBody>
          <a:bodyPr wrap="square">
            <a:spAutoFit/>
          </a:bodyPr>
          <a:lstStyle/>
          <a:p>
            <a:pPr marL="342900" indent="-342900">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Parent Component (A):</a:t>
            </a:r>
            <a:endParaRPr lang="en-US"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3777F74-29B9-C70C-243A-04F79CA5BE5A}"/>
              </a:ext>
            </a:extLst>
          </p:cNvPr>
          <p:cNvSpPr txBox="1"/>
          <p:nvPr/>
        </p:nvSpPr>
        <p:spPr>
          <a:xfrm>
            <a:off x="1058777" y="2705053"/>
            <a:ext cx="9515259" cy="387286"/>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&lt;app-child</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(notifyParent)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handleMessage($event)</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&gt;&lt;/app-child&gt;</a:t>
            </a:r>
            <a:endParaRPr lang="en-US" sz="2000" b="0">
              <a:solidFill>
                <a:srgbClr val="000000"/>
              </a:solidFill>
              <a:effectLst/>
              <a:latin typeface="Consolas" panose="020B0609020204030204" pitchFamily="49" charset="0"/>
            </a:endParaRPr>
          </a:p>
        </p:txBody>
      </p:sp>
      <p:sp>
        <p:nvSpPr>
          <p:cNvPr id="14" name="TextBox 13">
            <a:extLst>
              <a:ext uri="{FF2B5EF4-FFF2-40B4-BE49-F238E27FC236}">
                <a16:creationId xmlns:a16="http://schemas.microsoft.com/office/drawing/2014/main" id="{71FEF9D4-6A1B-420A-BE57-0CD9F74E27B9}"/>
              </a:ext>
            </a:extLst>
          </p:cNvPr>
          <p:cNvSpPr txBox="1"/>
          <p:nvPr/>
        </p:nvSpPr>
        <p:spPr>
          <a:xfrm>
            <a:off x="1058777" y="3820403"/>
            <a:ext cx="9515260" cy="1272143"/>
          </a:xfrm>
          <a:prstGeom prst="rect">
            <a:avLst/>
          </a:prstGeom>
          <a:noFill/>
          <a:ln>
            <a:solidFill>
              <a:schemeClr val="tx1"/>
            </a:solidFill>
          </a:ln>
        </p:spPr>
        <p:txBody>
          <a:bodyPr wrap="square">
            <a:spAutoFit/>
          </a:bodyPr>
          <a:lstStyle/>
          <a:p>
            <a:pPr>
              <a:lnSpc>
                <a:spcPts val="2250"/>
              </a:lnSpc>
              <a:buNone/>
            </a:pPr>
            <a:r>
              <a:rPr lang="en-US" sz="2000" b="0">
                <a:solidFill>
                  <a:srgbClr val="008000"/>
                </a:solidFill>
                <a:effectLst/>
                <a:latin typeface="Consolas" panose="020B0609020204030204" pitchFamily="49" charset="0"/>
              </a:rPr>
              <a:t>// Parent component method to handle the incoming data</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handleMessage(message: string): </a:t>
            </a:r>
            <a:r>
              <a:rPr lang="en-US" sz="2000" b="0">
                <a:solidFill>
                  <a:srgbClr val="0000FF"/>
                </a:solidFill>
                <a:effectLst/>
                <a:latin typeface="Consolas" panose="020B0609020204030204" pitchFamily="49" charset="0"/>
              </a:rPr>
              <a:t>void</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console.log(message);</a:t>
            </a:r>
          </a:p>
          <a:p>
            <a:pPr>
              <a:lnSpc>
                <a:spcPts val="2250"/>
              </a:lnSpc>
              <a:buNone/>
            </a:pPr>
            <a:r>
              <a:rPr lang="en-US" sz="2000" b="0">
                <a:solidFill>
                  <a:srgbClr val="000000"/>
                </a:solidFill>
                <a:effectLst/>
                <a:latin typeface="Consolas" panose="020B0609020204030204" pitchFamily="49" charset="0"/>
              </a:rPr>
              <a:t>}</a:t>
            </a:r>
          </a:p>
        </p:txBody>
      </p:sp>
      <p:sp>
        <p:nvSpPr>
          <p:cNvPr id="15" name="TextBox 14">
            <a:extLst>
              <a:ext uri="{FF2B5EF4-FFF2-40B4-BE49-F238E27FC236}">
                <a16:creationId xmlns:a16="http://schemas.microsoft.com/office/drawing/2014/main" id="{4DE86149-7A11-84DA-0CDB-C02E302E417B}"/>
              </a:ext>
            </a:extLst>
          </p:cNvPr>
          <p:cNvSpPr txBox="1"/>
          <p:nvPr/>
        </p:nvSpPr>
        <p:spPr>
          <a:xfrm>
            <a:off x="1202520" y="2153700"/>
            <a:ext cx="6297672" cy="461665"/>
          </a:xfrm>
          <a:prstGeom prst="rect">
            <a:avLst/>
          </a:prstGeom>
          <a:noFill/>
        </p:spPr>
        <p:txBody>
          <a:bodyPr wrap="square">
            <a:spAutoFit/>
          </a:bodyPr>
          <a:lstStyle/>
          <a:p>
            <a:pPr marL="342900" indent="-342900">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HTML</a:t>
            </a:r>
            <a:endParaRPr lang="en-US" sz="240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DB0E72C-3450-F0E0-500B-F2C5C3F7E9D5}"/>
              </a:ext>
            </a:extLst>
          </p:cNvPr>
          <p:cNvSpPr txBox="1"/>
          <p:nvPr/>
        </p:nvSpPr>
        <p:spPr>
          <a:xfrm>
            <a:off x="1265034" y="3263490"/>
            <a:ext cx="6297672" cy="461665"/>
          </a:xfrm>
          <a:prstGeom prst="rect">
            <a:avLst/>
          </a:prstGeom>
          <a:noFill/>
        </p:spPr>
        <p:txBody>
          <a:bodyPr wrap="square">
            <a:spAutoFit/>
          </a:bodyPr>
          <a:lstStyle/>
          <a:p>
            <a:pPr marL="342900" indent="-342900">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TypeScript</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77035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94F67A-B39C-BD92-3A39-6FAA6260E13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67DC15D-CCE4-73E2-BF04-843C0B7F155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CEC97ED-A367-1040-E3DD-3663FEC906B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grpSp>
        <p:nvGrpSpPr>
          <p:cNvPr id="2" name="Group 1">
            <a:extLst>
              <a:ext uri="{FF2B5EF4-FFF2-40B4-BE49-F238E27FC236}">
                <a16:creationId xmlns:a16="http://schemas.microsoft.com/office/drawing/2014/main" id="{84E423BC-4B6F-327F-C91A-3BB8CF69F017}"/>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54E9107-93FB-7942-9C44-C4872D4CAC94}"/>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013CC48-88D2-97CF-FDDC-4595A75503E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A916A27-58DD-9D81-8DC1-03CE8BF7012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861E4B3-D8B0-4858-A919-33510236174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3654570-1590-2769-7FC0-35B55E2D102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D6A5D6EF-9944-24EC-986E-EB5D82C44B2E}"/>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MORE:</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grpSp>
        <p:nvGrpSpPr>
          <p:cNvPr id="20" name="Group 19">
            <a:extLst>
              <a:ext uri="{FF2B5EF4-FFF2-40B4-BE49-F238E27FC236}">
                <a16:creationId xmlns:a16="http://schemas.microsoft.com/office/drawing/2014/main" id="{95B63029-A9AB-1E28-CA34-D1710BF0A58A}"/>
              </a:ext>
            </a:extLst>
          </p:cNvPr>
          <p:cNvGrpSpPr/>
          <p:nvPr/>
        </p:nvGrpSpPr>
        <p:grpSpPr>
          <a:xfrm>
            <a:off x="1512542" y="1646915"/>
            <a:ext cx="3616748" cy="2776954"/>
            <a:chOff x="3124200" y="1490246"/>
            <a:chExt cx="3616748" cy="2776954"/>
          </a:xfrm>
        </p:grpSpPr>
        <p:pic>
          <p:nvPicPr>
            <p:cNvPr id="21" name="Picture 20">
              <a:extLst>
                <a:ext uri="{FF2B5EF4-FFF2-40B4-BE49-F238E27FC236}">
                  <a16:creationId xmlns:a16="http://schemas.microsoft.com/office/drawing/2014/main" id="{48F51419-29EE-9FDE-30FA-4859E72E270C}"/>
                </a:ext>
              </a:extLst>
            </p:cNvPr>
            <p:cNvPicPr>
              <a:picLocks noChangeAspect="1"/>
            </p:cNvPicPr>
            <p:nvPr/>
          </p:nvPicPr>
          <p:blipFill>
            <a:blip r:embed="rId3"/>
            <a:stretch>
              <a:fillRect/>
            </a:stretch>
          </p:blipFill>
          <p:spPr>
            <a:xfrm>
              <a:off x="3200400" y="1819414"/>
              <a:ext cx="3540548" cy="2447786"/>
            </a:xfrm>
            <a:prstGeom prst="rect">
              <a:avLst/>
            </a:prstGeom>
          </p:spPr>
        </p:pic>
        <p:sp>
          <p:nvSpPr>
            <p:cNvPr id="22" name="TextBox 21">
              <a:extLst>
                <a:ext uri="{FF2B5EF4-FFF2-40B4-BE49-F238E27FC236}">
                  <a16:creationId xmlns:a16="http://schemas.microsoft.com/office/drawing/2014/main" id="{5A6BF4BF-8FC8-61BA-8D45-FC2BE9D8347F}"/>
                </a:ext>
              </a:extLst>
            </p:cNvPr>
            <p:cNvSpPr txBox="1"/>
            <p:nvPr/>
          </p:nvSpPr>
          <p:spPr>
            <a:xfrm>
              <a:off x="3124200" y="1490246"/>
              <a:ext cx="1834156" cy="338554"/>
            </a:xfrm>
            <a:prstGeom prst="rect">
              <a:avLst/>
            </a:prstGeom>
            <a:noFill/>
          </p:spPr>
          <p:txBody>
            <a:bodyPr wrap="none" rtlCol="0">
              <a:spAutoFit/>
            </a:bodyPr>
            <a:lstStyle/>
            <a:p>
              <a:pPr>
                <a:buClrTx/>
                <a:buFontTx/>
                <a:buNone/>
              </a:pPr>
              <a:r>
                <a:rPr lang="en-US" sz="1600" i="1" kern="1200">
                  <a:solidFill>
                    <a:prstClr val="black"/>
                  </a:solidFill>
                  <a:latin typeface="Georgia"/>
                  <a:ea typeface="+mn-ea"/>
                  <a:cs typeface="+mn-cs"/>
                </a:rPr>
                <a:t>app</a:t>
              </a:r>
              <a:r>
                <a:rPr lang="en-VN" sz="1600" i="1" kern="1200">
                  <a:solidFill>
                    <a:prstClr val="black"/>
                  </a:solidFill>
                  <a:latin typeface="Georgia"/>
                  <a:ea typeface="+mn-ea"/>
                  <a:cs typeface="+mn-cs"/>
                </a:rPr>
                <a:t>.component.ts</a:t>
              </a:r>
            </a:p>
          </p:txBody>
        </p:sp>
      </p:grpSp>
      <p:grpSp>
        <p:nvGrpSpPr>
          <p:cNvPr id="23" name="Group 22">
            <a:extLst>
              <a:ext uri="{FF2B5EF4-FFF2-40B4-BE49-F238E27FC236}">
                <a16:creationId xmlns:a16="http://schemas.microsoft.com/office/drawing/2014/main" id="{F4DE9EFF-AFCE-7A78-1605-919D2CEAD473}"/>
              </a:ext>
            </a:extLst>
          </p:cNvPr>
          <p:cNvGrpSpPr/>
          <p:nvPr/>
        </p:nvGrpSpPr>
        <p:grpSpPr>
          <a:xfrm>
            <a:off x="5561260" y="1630268"/>
            <a:ext cx="5247682" cy="1353651"/>
            <a:chOff x="6667966" y="1473599"/>
            <a:chExt cx="5247682" cy="1353651"/>
          </a:xfrm>
        </p:grpSpPr>
        <p:pic>
          <p:nvPicPr>
            <p:cNvPr id="24" name="Picture 23">
              <a:extLst>
                <a:ext uri="{FF2B5EF4-FFF2-40B4-BE49-F238E27FC236}">
                  <a16:creationId xmlns:a16="http://schemas.microsoft.com/office/drawing/2014/main" id="{B159DDD0-1EB1-70B8-A95F-E005871EF943}"/>
                </a:ext>
              </a:extLst>
            </p:cNvPr>
            <p:cNvPicPr>
              <a:picLocks noChangeAspect="1"/>
            </p:cNvPicPr>
            <p:nvPr/>
          </p:nvPicPr>
          <p:blipFill>
            <a:blip r:embed="rId4"/>
            <a:stretch>
              <a:fillRect/>
            </a:stretch>
          </p:blipFill>
          <p:spPr>
            <a:xfrm>
              <a:off x="6784848" y="1819414"/>
              <a:ext cx="5130800" cy="1007836"/>
            </a:xfrm>
            <a:prstGeom prst="rect">
              <a:avLst/>
            </a:prstGeom>
          </p:spPr>
        </p:pic>
        <p:sp>
          <p:nvSpPr>
            <p:cNvPr id="25" name="TextBox 24">
              <a:extLst>
                <a:ext uri="{FF2B5EF4-FFF2-40B4-BE49-F238E27FC236}">
                  <a16:creationId xmlns:a16="http://schemas.microsoft.com/office/drawing/2014/main" id="{9709D1C7-EBC0-A442-00C1-27044FA29A5B}"/>
                </a:ext>
              </a:extLst>
            </p:cNvPr>
            <p:cNvSpPr txBox="1"/>
            <p:nvPr/>
          </p:nvSpPr>
          <p:spPr>
            <a:xfrm>
              <a:off x="6667966" y="1473599"/>
              <a:ext cx="2101857" cy="338554"/>
            </a:xfrm>
            <a:prstGeom prst="rect">
              <a:avLst/>
            </a:prstGeom>
            <a:noFill/>
          </p:spPr>
          <p:txBody>
            <a:bodyPr wrap="none" rtlCol="0">
              <a:spAutoFit/>
            </a:bodyPr>
            <a:lstStyle/>
            <a:p>
              <a:pPr>
                <a:buClrTx/>
                <a:buFontTx/>
                <a:buNone/>
              </a:pPr>
              <a:r>
                <a:rPr lang="en-US" sz="1600" i="1" kern="1200">
                  <a:solidFill>
                    <a:prstClr val="black"/>
                  </a:solidFill>
                  <a:latin typeface="Georgia"/>
                  <a:ea typeface="+mn-ea"/>
                  <a:cs typeface="+mn-cs"/>
                </a:rPr>
                <a:t>app</a:t>
              </a:r>
              <a:r>
                <a:rPr lang="en-VN" sz="1600" i="1" kern="1200">
                  <a:solidFill>
                    <a:prstClr val="black"/>
                  </a:solidFill>
                  <a:latin typeface="Georgia"/>
                  <a:ea typeface="+mn-ea"/>
                  <a:cs typeface="+mn-cs"/>
                </a:rPr>
                <a:t>.component.html</a:t>
              </a:r>
            </a:p>
          </p:txBody>
        </p:sp>
      </p:grpSp>
    </p:spTree>
    <p:extLst>
      <p:ext uri="{BB962C8B-B14F-4D97-AF65-F5344CB8AC3E}">
        <p14:creationId xmlns:p14="http://schemas.microsoft.com/office/powerpoint/2010/main" val="4573932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BFE25DA-0F82-E53B-A418-5255BEE9450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1342365-C52A-BC24-8E8C-E24DCD39266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BCE233A-96BE-0D04-4DE2-9476C684957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pSp>
        <p:nvGrpSpPr>
          <p:cNvPr id="2" name="Group 1">
            <a:extLst>
              <a:ext uri="{FF2B5EF4-FFF2-40B4-BE49-F238E27FC236}">
                <a16:creationId xmlns:a16="http://schemas.microsoft.com/office/drawing/2014/main" id="{4C112C6A-A2F6-2194-42D5-416D52A5F99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67C9D955-AB4E-28C4-FB36-FC34F5A5D20C}"/>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6FA7AB5-6C50-E445-768D-4974CA3FDF8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1A614DD-3AB9-6BC7-0081-8BFDBBBF6D6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C57A889-508F-C710-00ED-4B94E72871C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E702D07-3D5B-441D-83DD-966BE3C1B52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55BD18F1-82F3-08C4-956C-010D68634B30}"/>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MORE:</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grpSp>
        <p:nvGrpSpPr>
          <p:cNvPr id="9" name="Group 8">
            <a:extLst>
              <a:ext uri="{FF2B5EF4-FFF2-40B4-BE49-F238E27FC236}">
                <a16:creationId xmlns:a16="http://schemas.microsoft.com/office/drawing/2014/main" id="{E870088D-FBAD-D861-33D0-77CB7A52E32A}"/>
              </a:ext>
            </a:extLst>
          </p:cNvPr>
          <p:cNvGrpSpPr/>
          <p:nvPr/>
        </p:nvGrpSpPr>
        <p:grpSpPr>
          <a:xfrm>
            <a:off x="977472" y="1273722"/>
            <a:ext cx="5519007" cy="5129712"/>
            <a:chOff x="1719993" y="1642646"/>
            <a:chExt cx="5519007" cy="5129712"/>
          </a:xfrm>
        </p:grpSpPr>
        <p:pic>
          <p:nvPicPr>
            <p:cNvPr id="10" name="Picture 9">
              <a:extLst>
                <a:ext uri="{FF2B5EF4-FFF2-40B4-BE49-F238E27FC236}">
                  <a16:creationId xmlns:a16="http://schemas.microsoft.com/office/drawing/2014/main" id="{8DAEDA4C-0A12-7870-BB4F-6D1A4588E8F4}"/>
                </a:ext>
              </a:extLst>
            </p:cNvPr>
            <p:cNvPicPr>
              <a:picLocks noChangeAspect="1"/>
            </p:cNvPicPr>
            <p:nvPr/>
          </p:nvPicPr>
          <p:blipFill>
            <a:blip r:embed="rId3"/>
            <a:stretch>
              <a:fillRect/>
            </a:stretch>
          </p:blipFill>
          <p:spPr>
            <a:xfrm>
              <a:off x="1752600" y="1957924"/>
              <a:ext cx="5486400" cy="4814434"/>
            </a:xfrm>
            <a:prstGeom prst="rect">
              <a:avLst/>
            </a:prstGeom>
          </p:spPr>
        </p:pic>
        <p:sp>
          <p:nvSpPr>
            <p:cNvPr id="11" name="TextBox 10">
              <a:extLst>
                <a:ext uri="{FF2B5EF4-FFF2-40B4-BE49-F238E27FC236}">
                  <a16:creationId xmlns:a16="http://schemas.microsoft.com/office/drawing/2014/main" id="{387EFF94-2ED5-D951-9F6D-3C5C76A554AE}"/>
                </a:ext>
              </a:extLst>
            </p:cNvPr>
            <p:cNvSpPr txBox="1"/>
            <p:nvPr/>
          </p:nvSpPr>
          <p:spPr>
            <a:xfrm>
              <a:off x="1719993" y="1642646"/>
              <a:ext cx="1861407" cy="338554"/>
            </a:xfrm>
            <a:prstGeom prst="rect">
              <a:avLst/>
            </a:prstGeom>
            <a:noFill/>
          </p:spPr>
          <p:txBody>
            <a:bodyPr wrap="none" rtlCol="0">
              <a:spAutoFit/>
            </a:bodyPr>
            <a:lstStyle/>
            <a:p>
              <a:pPr>
                <a:buClrTx/>
                <a:buFontTx/>
                <a:buNone/>
              </a:pPr>
              <a:r>
                <a:rPr lang="en-US" sz="1600" i="1" kern="1200">
                  <a:solidFill>
                    <a:prstClr val="black"/>
                  </a:solidFill>
                  <a:latin typeface="Georgia"/>
                  <a:ea typeface="+mn-ea"/>
                  <a:cs typeface="+mn-cs"/>
                </a:rPr>
                <a:t>first</a:t>
              </a:r>
              <a:r>
                <a:rPr lang="en-VN" sz="1600" i="1" kern="1200">
                  <a:solidFill>
                    <a:prstClr val="black"/>
                  </a:solidFill>
                  <a:latin typeface="Georgia"/>
                  <a:ea typeface="+mn-ea"/>
                  <a:cs typeface="+mn-cs"/>
                </a:rPr>
                <a:t>.component.ts</a:t>
              </a:r>
            </a:p>
          </p:txBody>
        </p:sp>
      </p:grpSp>
      <p:grpSp>
        <p:nvGrpSpPr>
          <p:cNvPr id="12" name="Group 11">
            <a:extLst>
              <a:ext uri="{FF2B5EF4-FFF2-40B4-BE49-F238E27FC236}">
                <a16:creationId xmlns:a16="http://schemas.microsoft.com/office/drawing/2014/main" id="{5E5CD886-6D9A-4394-F842-977ED75EAF16}"/>
              </a:ext>
            </a:extLst>
          </p:cNvPr>
          <p:cNvGrpSpPr/>
          <p:nvPr/>
        </p:nvGrpSpPr>
        <p:grpSpPr>
          <a:xfrm>
            <a:off x="6896387" y="1612276"/>
            <a:ext cx="4524248" cy="2724030"/>
            <a:chOff x="7391400" y="1619370"/>
            <a:chExt cx="4524248" cy="2724030"/>
          </a:xfrm>
        </p:grpSpPr>
        <p:pic>
          <p:nvPicPr>
            <p:cNvPr id="13" name="Picture 12">
              <a:extLst>
                <a:ext uri="{FF2B5EF4-FFF2-40B4-BE49-F238E27FC236}">
                  <a16:creationId xmlns:a16="http://schemas.microsoft.com/office/drawing/2014/main" id="{9B5FC3F7-3045-80A5-FB4E-141EB3309F83}"/>
                </a:ext>
              </a:extLst>
            </p:cNvPr>
            <p:cNvPicPr>
              <a:picLocks noChangeAspect="1"/>
            </p:cNvPicPr>
            <p:nvPr/>
          </p:nvPicPr>
          <p:blipFill>
            <a:blip r:embed="rId4"/>
            <a:stretch>
              <a:fillRect/>
            </a:stretch>
          </p:blipFill>
          <p:spPr>
            <a:xfrm>
              <a:off x="7391400" y="1957924"/>
              <a:ext cx="4524248" cy="834570"/>
            </a:xfrm>
            <a:prstGeom prst="rect">
              <a:avLst/>
            </a:prstGeom>
          </p:spPr>
        </p:pic>
        <p:sp>
          <p:nvSpPr>
            <p:cNvPr id="14" name="TextBox 13">
              <a:extLst>
                <a:ext uri="{FF2B5EF4-FFF2-40B4-BE49-F238E27FC236}">
                  <a16:creationId xmlns:a16="http://schemas.microsoft.com/office/drawing/2014/main" id="{1DE1AACF-F2BB-CECC-593F-7AF5ED812758}"/>
                </a:ext>
              </a:extLst>
            </p:cNvPr>
            <p:cNvSpPr txBox="1"/>
            <p:nvPr/>
          </p:nvSpPr>
          <p:spPr>
            <a:xfrm>
              <a:off x="7391400" y="1619370"/>
              <a:ext cx="2129109"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Georgia"/>
                  <a:ea typeface="+mn-ea"/>
                  <a:cs typeface="+mn-cs"/>
                </a:rPr>
                <a:t>first</a:t>
              </a:r>
              <a:r>
                <a:rPr kumimoji="0" lang="en-VN" sz="1600" b="0" i="1" u="none" strike="noStrike" kern="1200" cap="none" spc="0" normalizeH="0" baseline="0" noProof="0">
                  <a:ln>
                    <a:noFill/>
                  </a:ln>
                  <a:solidFill>
                    <a:prstClr val="black"/>
                  </a:solidFill>
                  <a:effectLst/>
                  <a:uLnTx/>
                  <a:uFillTx/>
                  <a:latin typeface="Georgia"/>
                  <a:ea typeface="+mn-ea"/>
                  <a:cs typeface="+mn-cs"/>
                </a:rPr>
                <a:t>.component.html</a:t>
              </a:r>
            </a:p>
          </p:txBody>
        </p:sp>
        <p:pic>
          <p:nvPicPr>
            <p:cNvPr id="15" name="Picture 14">
              <a:extLst>
                <a:ext uri="{FF2B5EF4-FFF2-40B4-BE49-F238E27FC236}">
                  <a16:creationId xmlns:a16="http://schemas.microsoft.com/office/drawing/2014/main" id="{10F97025-6D39-C05D-9094-B14FCFE00ADE}"/>
                </a:ext>
              </a:extLst>
            </p:cNvPr>
            <p:cNvPicPr>
              <a:picLocks noChangeAspect="1"/>
            </p:cNvPicPr>
            <p:nvPr/>
          </p:nvPicPr>
          <p:blipFill>
            <a:blip r:embed="rId5"/>
            <a:stretch>
              <a:fillRect/>
            </a:stretch>
          </p:blipFill>
          <p:spPr>
            <a:xfrm>
              <a:off x="7400795" y="3047228"/>
              <a:ext cx="4514853" cy="1296172"/>
            </a:xfrm>
            <a:prstGeom prst="rect">
              <a:avLst/>
            </a:prstGeom>
            <a:ln w="3175">
              <a:solidFill>
                <a:srgbClr val="17406D">
                  <a:lumMod val="75000"/>
                </a:srgbClr>
              </a:solidFill>
            </a:ln>
          </p:spPr>
        </p:pic>
      </p:grpSp>
    </p:spTree>
    <p:extLst>
      <p:ext uri="{BB962C8B-B14F-4D97-AF65-F5344CB8AC3E}">
        <p14:creationId xmlns:p14="http://schemas.microsoft.com/office/powerpoint/2010/main" val="18305620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Bài học tiếp theo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15252" y="810009"/>
            <a:ext cx="11564547" cy="2954655"/>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Chương III-Services trong Angular</a:t>
            </a:r>
            <a:endParaRPr lang="en-US" sz="2400" b="1">
              <a:latin typeface="Times New Roman" panose="02020603050405020304" pitchFamily="18" charset="0"/>
              <a:cs typeface="Times New Roman" panose="02020603050405020304" pitchFamily="18" charset="0"/>
            </a:endParaRP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tạo và lập trình Service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3.3.</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triệu gọi Service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3.4.</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tạo Service với External Data – HTTP protocol</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3.5. Cách triệu gọi Service – HTTP Protocol</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3.6. Cách lập trình Service với Handle Error</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58999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1364</TotalTime>
  <Words>4972</Words>
  <Application>Microsoft Office PowerPoint</Application>
  <PresentationFormat>Widescreen</PresentationFormat>
  <Paragraphs>688</Paragraphs>
  <Slides>83</Slides>
  <Notes>83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83</vt:i4>
      </vt:variant>
    </vt:vector>
  </HeadingPairs>
  <TitlesOfParts>
    <vt:vector size="94" baseType="lpstr">
      <vt:lpstr>Cambria</vt:lpstr>
      <vt:lpstr>Consolas</vt:lpstr>
      <vt:lpstr>Wingdings</vt:lpstr>
      <vt:lpstr>Lato Black</vt:lpstr>
      <vt:lpstr>Lato</vt:lpstr>
      <vt:lpstr>Times New Roman</vt:lpstr>
      <vt:lpstr>Arial</vt:lpstr>
      <vt:lpstr>Georgia</vt:lpstr>
      <vt:lpstr>Times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Phạm Quang Vinh</cp:lastModifiedBy>
  <cp:revision>761</cp:revision>
  <dcterms:created xsi:type="dcterms:W3CDTF">2022-12-02T04:21:00Z</dcterms:created>
  <dcterms:modified xsi:type="dcterms:W3CDTF">2026-09-11T09:14:45Z</dcterms:modified>
</cp:coreProperties>
</file>